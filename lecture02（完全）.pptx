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61" r:id="rId2"/>
  </p:sldMasterIdLst>
  <p:notesMasterIdLst>
    <p:notesMasterId r:id="rId54"/>
  </p:notesMasterIdLst>
  <p:handoutMasterIdLst>
    <p:handoutMasterId r:id="rId55"/>
  </p:handoutMasterIdLst>
  <p:sldIdLst>
    <p:sldId id="256" r:id="rId3"/>
    <p:sldId id="415" r:id="rId4"/>
    <p:sldId id="416" r:id="rId5"/>
    <p:sldId id="417" r:id="rId6"/>
    <p:sldId id="418" r:id="rId7"/>
    <p:sldId id="419" r:id="rId8"/>
    <p:sldId id="420" r:id="rId9"/>
    <p:sldId id="421" r:id="rId10"/>
    <p:sldId id="422" r:id="rId11"/>
    <p:sldId id="304" r:id="rId12"/>
    <p:sldId id="311" r:id="rId13"/>
    <p:sldId id="321" r:id="rId14"/>
    <p:sldId id="305" r:id="rId15"/>
    <p:sldId id="322" r:id="rId16"/>
    <p:sldId id="341" r:id="rId17"/>
    <p:sldId id="342" r:id="rId18"/>
    <p:sldId id="343" r:id="rId19"/>
    <p:sldId id="344" r:id="rId20"/>
    <p:sldId id="345" r:id="rId21"/>
    <p:sldId id="346" r:id="rId22"/>
    <p:sldId id="347" r:id="rId23"/>
    <p:sldId id="348" r:id="rId24"/>
    <p:sldId id="349" r:id="rId25"/>
    <p:sldId id="350" r:id="rId26"/>
    <p:sldId id="351" r:id="rId27"/>
    <p:sldId id="352" r:id="rId28"/>
    <p:sldId id="353" r:id="rId29"/>
    <p:sldId id="354" r:id="rId30"/>
    <p:sldId id="355" r:id="rId31"/>
    <p:sldId id="395" r:id="rId32"/>
    <p:sldId id="306" r:id="rId33"/>
    <p:sldId id="427" r:id="rId34"/>
    <p:sldId id="323" r:id="rId35"/>
    <p:sldId id="428" r:id="rId36"/>
    <p:sldId id="430" r:id="rId37"/>
    <p:sldId id="431" r:id="rId38"/>
    <p:sldId id="434" r:id="rId39"/>
    <p:sldId id="432" r:id="rId40"/>
    <p:sldId id="433" r:id="rId41"/>
    <p:sldId id="401" r:id="rId42"/>
    <p:sldId id="402" r:id="rId43"/>
    <p:sldId id="403" r:id="rId44"/>
    <p:sldId id="404" r:id="rId45"/>
    <p:sldId id="408" r:id="rId46"/>
    <p:sldId id="409" r:id="rId47"/>
    <p:sldId id="410" r:id="rId48"/>
    <p:sldId id="411" r:id="rId49"/>
    <p:sldId id="412" r:id="rId50"/>
    <p:sldId id="413" r:id="rId51"/>
    <p:sldId id="1542" r:id="rId52"/>
    <p:sldId id="1543" r:id="rId53"/>
  </p:sldIdLst>
  <p:sldSz cx="9144000" cy="6858000" type="screen4x3"/>
  <p:notesSz cx="6858000" cy="9144000"/>
  <p:defaultTextStyle>
    <a:defPPr>
      <a:defRPr lang="zh-CN"/>
    </a:defPPr>
    <a:lvl1pPr algn="ctr" rtl="0" fontAlgn="base">
      <a:spcBef>
        <a:spcPct val="0"/>
      </a:spcBef>
      <a:spcAft>
        <a:spcPct val="0"/>
      </a:spcAft>
      <a:defRPr kumimoji="1" sz="2000" b="1" i="1" kern="1200">
        <a:solidFill>
          <a:srgbClr val="800080"/>
        </a:solidFill>
        <a:latin typeface="Times New Roman" pitchFamily="18" charset="0"/>
        <a:ea typeface="宋体" pitchFamily="2" charset="-122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umimoji="1" sz="2000" b="1" i="1" kern="1200">
        <a:solidFill>
          <a:srgbClr val="800080"/>
        </a:solidFill>
        <a:latin typeface="Times New Roman" pitchFamily="18" charset="0"/>
        <a:ea typeface="宋体" pitchFamily="2" charset="-122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umimoji="1" sz="2000" b="1" i="1" kern="1200">
        <a:solidFill>
          <a:srgbClr val="800080"/>
        </a:solidFill>
        <a:latin typeface="Times New Roman" pitchFamily="18" charset="0"/>
        <a:ea typeface="宋体" pitchFamily="2" charset="-122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umimoji="1" sz="2000" b="1" i="1" kern="1200">
        <a:solidFill>
          <a:srgbClr val="800080"/>
        </a:solidFill>
        <a:latin typeface="Times New Roman" pitchFamily="18" charset="0"/>
        <a:ea typeface="宋体" pitchFamily="2" charset="-122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umimoji="1" sz="2000" b="1" i="1" kern="1200">
        <a:solidFill>
          <a:srgbClr val="800080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000" b="1" i="1" kern="1200">
        <a:solidFill>
          <a:srgbClr val="800080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000" b="1" i="1" kern="1200">
        <a:solidFill>
          <a:srgbClr val="800080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000" b="1" i="1" kern="1200">
        <a:solidFill>
          <a:srgbClr val="800080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000" b="1" i="1" kern="1200">
        <a:solidFill>
          <a:srgbClr val="800080"/>
        </a:solidFill>
        <a:latin typeface="Times New Roman" pitchFamily="18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  <a:srgbClr val="000000"/>
    <a:srgbClr val="CC99FF"/>
    <a:srgbClr val="993366"/>
    <a:srgbClr val="333399"/>
    <a:srgbClr val="000066"/>
    <a:srgbClr val="800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9D25EF-84F4-3542-8BB9-7D620DCB9D80}" v="39" dt="2025-09-04T04:38:07.4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301" autoAdjust="0"/>
    <p:restoredTop sz="83113" autoAdjust="0"/>
  </p:normalViewPr>
  <p:slideViewPr>
    <p:cSldViewPr>
      <p:cViewPr varScale="1">
        <p:scale>
          <a:sx n="132" d="100"/>
          <a:sy n="132" d="100"/>
        </p:scale>
        <p:origin x="5776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1764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theme" Target="theme/theme1.xml"/><Relationship Id="rId5" Type="http://schemas.openxmlformats.org/officeDocument/2006/relationships/slide" Target="slides/slide3.xml"/><Relationship Id="rId61" Type="http://schemas.microsoft.com/office/2015/10/relationships/revisionInfo" Target="revisionInfo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viewProps" Target="viewProp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uebo Liu" userId="03ca8e3e-ef5d-4c2c-a759-93b02397f0c8" providerId="ADAL" clId="{022DD2CF-199B-5498-A7B6-9D2C3327383C}"/>
    <pc:docChg chg="custSel modSld">
      <pc:chgData name="Xuebo Liu" userId="03ca8e3e-ef5d-4c2c-a759-93b02397f0c8" providerId="ADAL" clId="{022DD2CF-199B-5498-A7B6-9D2C3327383C}" dt="2025-09-04T04:38:07.483" v="103"/>
      <pc:docMkLst>
        <pc:docMk/>
      </pc:docMkLst>
      <pc:sldChg chg="modSp mod">
        <pc:chgData name="Xuebo Liu" userId="03ca8e3e-ef5d-4c2c-a759-93b02397f0c8" providerId="ADAL" clId="{022DD2CF-199B-5498-A7B6-9D2C3327383C}" dt="2025-09-04T04:38:06.912" v="97"/>
        <pc:sldMkLst>
          <pc:docMk/>
          <pc:sldMk cId="606560257" sldId="432"/>
        </pc:sldMkLst>
        <pc:spChg chg="mod">
          <ac:chgData name="Xuebo Liu" userId="03ca8e3e-ef5d-4c2c-a759-93b02397f0c8" providerId="ADAL" clId="{022DD2CF-199B-5498-A7B6-9D2C3327383C}" dt="2025-09-04T04:38:06.908" v="92" actId="20577"/>
          <ac:spMkLst>
            <pc:docMk/>
            <pc:sldMk cId="606560257" sldId="432"/>
            <ac:spMk id="9" creationId="{957389D3-02D0-4B00-9F8F-F8161FCFBCB0}"/>
          </ac:spMkLst>
        </pc:spChg>
        <pc:spChg chg="mod">
          <ac:chgData name="Xuebo Liu" userId="03ca8e3e-ef5d-4c2c-a759-93b02397f0c8" providerId="ADAL" clId="{022DD2CF-199B-5498-A7B6-9D2C3327383C}" dt="2025-09-04T04:38:06.909" v="93" actId="20577"/>
          <ac:spMkLst>
            <pc:docMk/>
            <pc:sldMk cId="606560257" sldId="432"/>
            <ac:spMk id="10" creationId="{4F0B5EB1-608C-4992-9325-86FC4A5EFAA4}"/>
          </ac:spMkLst>
        </pc:spChg>
        <pc:spChg chg="mod">
          <ac:chgData name="Xuebo Liu" userId="03ca8e3e-ef5d-4c2c-a759-93b02397f0c8" providerId="ADAL" clId="{022DD2CF-199B-5498-A7B6-9D2C3327383C}" dt="2025-09-04T04:38:06.910" v="94" actId="20577"/>
          <ac:spMkLst>
            <pc:docMk/>
            <pc:sldMk cId="606560257" sldId="432"/>
            <ac:spMk id="11" creationId="{9D9F1DBE-5FD0-4423-A851-A55216A910CA}"/>
          </ac:spMkLst>
        </pc:spChg>
        <pc:spChg chg="mod">
          <ac:chgData name="Xuebo Liu" userId="03ca8e3e-ef5d-4c2c-a759-93b02397f0c8" providerId="ADAL" clId="{022DD2CF-199B-5498-A7B6-9D2C3327383C}" dt="2025-09-04T04:38:06.910" v="95" actId="20577"/>
          <ac:spMkLst>
            <pc:docMk/>
            <pc:sldMk cId="606560257" sldId="432"/>
            <ac:spMk id="12" creationId="{2BCE3839-770E-4776-91C2-2CBED8D9037D}"/>
          </ac:spMkLst>
        </pc:spChg>
        <pc:spChg chg="mod">
          <ac:chgData name="Xuebo Liu" userId="03ca8e3e-ef5d-4c2c-a759-93b02397f0c8" providerId="ADAL" clId="{022DD2CF-199B-5498-A7B6-9D2C3327383C}" dt="2025-09-04T04:38:06.911" v="96"/>
          <ac:spMkLst>
            <pc:docMk/>
            <pc:sldMk cId="606560257" sldId="432"/>
            <ac:spMk id="14" creationId="{01D90A9D-A2DF-4C14-B8A5-8484A0D49D1F}"/>
          </ac:spMkLst>
        </pc:spChg>
        <pc:picChg chg="mod">
          <ac:chgData name="Xuebo Liu" userId="03ca8e3e-ef5d-4c2c-a759-93b02397f0c8" providerId="ADAL" clId="{022DD2CF-199B-5498-A7B6-9D2C3327383C}" dt="2025-09-04T04:38:06.912" v="97"/>
          <ac:picMkLst>
            <pc:docMk/>
            <pc:sldMk cId="606560257" sldId="432"/>
            <ac:picMk id="3" creationId="{D731E6F9-35B9-4586-99F6-7646925E5324}"/>
          </ac:picMkLst>
        </pc:picChg>
      </pc:sldChg>
      <pc:sldChg chg="modSp mod">
        <pc:chgData name="Xuebo Liu" userId="03ca8e3e-ef5d-4c2c-a759-93b02397f0c8" providerId="ADAL" clId="{022DD2CF-199B-5498-A7B6-9D2C3327383C}" dt="2025-09-04T04:38:07.483" v="103"/>
        <pc:sldMkLst>
          <pc:docMk/>
          <pc:sldMk cId="635319004" sldId="433"/>
        </pc:sldMkLst>
        <pc:spChg chg="mod">
          <ac:chgData name="Xuebo Liu" userId="03ca8e3e-ef5d-4c2c-a759-93b02397f0c8" providerId="ADAL" clId="{022DD2CF-199B-5498-A7B6-9D2C3327383C}" dt="2025-09-04T04:38:07.478" v="98" actId="20577"/>
          <ac:spMkLst>
            <pc:docMk/>
            <pc:sldMk cId="635319004" sldId="433"/>
            <ac:spMk id="9" creationId="{FFC6A3F9-6A80-47F4-A21A-CE809B62BCA9}"/>
          </ac:spMkLst>
        </pc:spChg>
        <pc:spChg chg="mod">
          <ac:chgData name="Xuebo Liu" userId="03ca8e3e-ef5d-4c2c-a759-93b02397f0c8" providerId="ADAL" clId="{022DD2CF-199B-5498-A7B6-9D2C3327383C}" dt="2025-09-04T04:38:07.479" v="99" actId="20577"/>
          <ac:spMkLst>
            <pc:docMk/>
            <pc:sldMk cId="635319004" sldId="433"/>
            <ac:spMk id="10" creationId="{8143947E-5822-423B-A2F6-4B04985619E0}"/>
          </ac:spMkLst>
        </pc:spChg>
        <pc:spChg chg="mod">
          <ac:chgData name="Xuebo Liu" userId="03ca8e3e-ef5d-4c2c-a759-93b02397f0c8" providerId="ADAL" clId="{022DD2CF-199B-5498-A7B6-9D2C3327383C}" dt="2025-09-04T04:38:07.480" v="100" actId="20577"/>
          <ac:spMkLst>
            <pc:docMk/>
            <pc:sldMk cId="635319004" sldId="433"/>
            <ac:spMk id="11" creationId="{9F58FD48-5599-492C-A0E3-04FEE2C74770}"/>
          </ac:spMkLst>
        </pc:spChg>
        <pc:spChg chg="mod">
          <ac:chgData name="Xuebo Liu" userId="03ca8e3e-ef5d-4c2c-a759-93b02397f0c8" providerId="ADAL" clId="{022DD2CF-199B-5498-A7B6-9D2C3327383C}" dt="2025-09-04T04:38:07.482" v="101" actId="20577"/>
          <ac:spMkLst>
            <pc:docMk/>
            <pc:sldMk cId="635319004" sldId="433"/>
            <ac:spMk id="12" creationId="{BB690213-D6CA-4763-826C-D76417A21483}"/>
          </ac:spMkLst>
        </pc:spChg>
        <pc:spChg chg="mod">
          <ac:chgData name="Xuebo Liu" userId="03ca8e3e-ef5d-4c2c-a759-93b02397f0c8" providerId="ADAL" clId="{022DD2CF-199B-5498-A7B6-9D2C3327383C}" dt="2025-09-04T04:38:07.483" v="102"/>
          <ac:spMkLst>
            <pc:docMk/>
            <pc:sldMk cId="635319004" sldId="433"/>
            <ac:spMk id="14" creationId="{F39DED01-D19B-49D4-B51E-F0D80F8E7F0B}"/>
          </ac:spMkLst>
        </pc:spChg>
        <pc:picChg chg="mod">
          <ac:chgData name="Xuebo Liu" userId="03ca8e3e-ef5d-4c2c-a759-93b02397f0c8" providerId="ADAL" clId="{022DD2CF-199B-5498-A7B6-9D2C3327383C}" dt="2025-09-04T04:38:07.483" v="103"/>
          <ac:picMkLst>
            <pc:docMk/>
            <pc:sldMk cId="635319004" sldId="433"/>
            <ac:picMk id="3" creationId="{CE9FBBEF-C3D9-4869-A77E-C8D060BE723B}"/>
          </ac:picMkLst>
        </pc:picChg>
      </pc:sldChg>
      <pc:sldChg chg="modSp mod">
        <pc:chgData name="Xuebo Liu" userId="03ca8e3e-ef5d-4c2c-a759-93b02397f0c8" providerId="ADAL" clId="{022DD2CF-199B-5498-A7B6-9D2C3327383C}" dt="2025-09-04T04:37:57.776" v="79"/>
        <pc:sldMkLst>
          <pc:docMk/>
          <pc:sldMk cId="1262377886" sldId="434"/>
        </pc:sldMkLst>
        <pc:spChg chg="mod">
          <ac:chgData name="Xuebo Liu" userId="03ca8e3e-ef5d-4c2c-a759-93b02397f0c8" providerId="ADAL" clId="{022DD2CF-199B-5498-A7B6-9D2C3327383C}" dt="2025-09-04T04:37:57.774" v="76" actId="20577"/>
          <ac:spMkLst>
            <pc:docMk/>
            <pc:sldMk cId="1262377886" sldId="434"/>
            <ac:spMk id="9" creationId="{98800673-47CB-4E75-94DB-A92FCCF1AF5C}"/>
          </ac:spMkLst>
        </pc:spChg>
        <pc:spChg chg="mod">
          <ac:chgData name="Xuebo Liu" userId="03ca8e3e-ef5d-4c2c-a759-93b02397f0c8" providerId="ADAL" clId="{022DD2CF-199B-5498-A7B6-9D2C3327383C}" dt="2025-09-04T04:37:57.775" v="77" actId="20577"/>
          <ac:spMkLst>
            <pc:docMk/>
            <pc:sldMk cId="1262377886" sldId="434"/>
            <ac:spMk id="10" creationId="{AEC3EE96-852E-42EF-9AFB-13DB014DE671}"/>
          </ac:spMkLst>
        </pc:spChg>
        <pc:spChg chg="mod">
          <ac:chgData name="Xuebo Liu" userId="03ca8e3e-ef5d-4c2c-a759-93b02397f0c8" providerId="ADAL" clId="{022DD2CF-199B-5498-A7B6-9D2C3327383C}" dt="2025-09-04T04:37:57.776" v="78"/>
          <ac:spMkLst>
            <pc:docMk/>
            <pc:sldMk cId="1262377886" sldId="434"/>
            <ac:spMk id="14" creationId="{F0ED137E-EF0C-4F96-85C9-FE3457C28A01}"/>
          </ac:spMkLst>
        </pc:spChg>
        <pc:picChg chg="mod">
          <ac:chgData name="Xuebo Liu" userId="03ca8e3e-ef5d-4c2c-a759-93b02397f0c8" providerId="ADAL" clId="{022DD2CF-199B-5498-A7B6-9D2C3327383C}" dt="2025-09-04T04:37:57.776" v="79"/>
          <ac:picMkLst>
            <pc:docMk/>
            <pc:sldMk cId="1262377886" sldId="434"/>
            <ac:picMk id="3" creationId="{E2D141BC-2B80-4474-9626-D73688B2D25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b="0" i="0">
                <a:solidFill>
                  <a:schemeClr val="tx1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 i="0">
                <a:solidFill>
                  <a:schemeClr val="tx1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b="0" i="0">
                <a:solidFill>
                  <a:schemeClr val="tx1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 i="0">
                <a:solidFill>
                  <a:schemeClr val="tx1"/>
                </a:solidFill>
              </a:defRPr>
            </a:lvl1pPr>
          </a:lstStyle>
          <a:p>
            <a:fld id="{D698F90D-B8BF-47DA-A28C-A9A25739066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136215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3CD1DE-0D6F-2645-9B3D-909D7F33AF5B}" type="datetimeFigureOut">
              <a:rPr kumimoji="1" lang="zh-CN" altLang="en-US" smtClean="0"/>
              <a:t>2025/9/4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A7BA8E-DBA0-5046-AEF9-1299FC42283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31306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/>
              <a:t>数字电路设计</a:t>
            </a:r>
            <a:endParaRPr lang="zh-CN" altLang="en-US" dirty="0"/>
          </a:p>
          <a:p>
            <a:r>
              <a:rPr lang="zh-CN" altLang="en-US" dirty="0"/>
              <a:t>组合逻辑电路依赖于输入，但</a:t>
            </a:r>
            <a:r>
              <a:rPr lang="zh-CN" altLang="en-US" b="1" dirty="0"/>
              <a:t>时序逻辑电路</a:t>
            </a:r>
            <a:r>
              <a:rPr lang="zh-CN" altLang="en-US" dirty="0"/>
              <a:t>（寄存器、计数器、控制器）本质上就是有限状态机。</a:t>
            </a:r>
          </a:p>
          <a:p>
            <a:r>
              <a:rPr lang="zh-CN" altLang="en-US" dirty="0"/>
              <a:t>电路在每个时钟沿触发时处于某个状态，根据输入转移到下一个状态。</a:t>
            </a:r>
          </a:p>
          <a:p>
            <a:r>
              <a:rPr lang="zh-CN" altLang="en-US" b="1" dirty="0"/>
              <a:t>例子</a:t>
            </a:r>
            <a:r>
              <a:rPr lang="zh-CN" altLang="en-US" dirty="0"/>
              <a:t>：一个</a:t>
            </a:r>
            <a:r>
              <a:rPr lang="en-US" altLang="zh-CN" dirty="0"/>
              <a:t>3</a:t>
            </a:r>
            <a:r>
              <a:rPr lang="zh-CN" altLang="en-US" dirty="0"/>
              <a:t>位二进制计数器，有 </a:t>
            </a:r>
            <a:r>
              <a:rPr lang="en-US" altLang="zh-CN" dirty="0"/>
              <a:t>8 </a:t>
            </a:r>
            <a:r>
              <a:rPr lang="zh-CN" altLang="en-US" dirty="0"/>
              <a:t>个状态 </a:t>
            </a:r>
            <a:r>
              <a:rPr lang="en-US" altLang="zh-CN" dirty="0"/>
              <a:t>(000 ~ 111)</a:t>
            </a:r>
            <a:r>
              <a:rPr lang="zh-CN" altLang="en-US" dirty="0"/>
              <a:t>，按时钟循环转移。</a:t>
            </a:r>
          </a:p>
          <a:p>
            <a:r>
              <a:rPr lang="zh-CN" altLang="en-US" b="1" dirty="0"/>
              <a:t>计算机游戏设计</a:t>
            </a:r>
            <a:endParaRPr lang="zh-CN" altLang="en-US" dirty="0"/>
          </a:p>
          <a:p>
            <a:r>
              <a:rPr lang="zh-CN" altLang="en-US" dirty="0"/>
              <a:t>游戏角色或敌人通常有有限的动作状态（</a:t>
            </a:r>
            <a:r>
              <a:rPr lang="en" altLang="zh-CN" dirty="0"/>
              <a:t>Idle, Walk, Attack, Dead</a:t>
            </a:r>
            <a:r>
              <a:rPr lang="zh-CN" altLang="en" dirty="0"/>
              <a:t>），</a:t>
            </a:r>
            <a:r>
              <a:rPr lang="zh-CN" altLang="en-US" dirty="0"/>
              <a:t>玩家输入或系统事件触发状态变化。</a:t>
            </a:r>
          </a:p>
          <a:p>
            <a:r>
              <a:rPr lang="zh-CN" altLang="en-US" b="1" dirty="0"/>
              <a:t>例子</a:t>
            </a:r>
            <a:r>
              <a:rPr lang="zh-CN" altLang="en-US" dirty="0"/>
              <a:t>：马里奥游戏中角色的状态机：站立 → 跳跃 → 落地 → 奔跑；被敌人碰到 → 死亡。</a:t>
            </a:r>
          </a:p>
          <a:p>
            <a:r>
              <a:rPr lang="zh-CN" altLang="en-US" b="1" dirty="0"/>
              <a:t>通信协议（</a:t>
            </a:r>
            <a:r>
              <a:rPr lang="en" altLang="zh-CN" b="1" dirty="0"/>
              <a:t>TCP, HTTP, Bluetooth, </a:t>
            </a:r>
            <a:r>
              <a:rPr lang="en" altLang="zh-CN" b="1" dirty="0" err="1"/>
              <a:t>WiFi</a:t>
            </a:r>
            <a:r>
              <a:rPr lang="zh-CN" altLang="en" b="1" dirty="0"/>
              <a:t>）</a:t>
            </a:r>
            <a:endParaRPr lang="en" altLang="zh-CN" dirty="0"/>
          </a:p>
          <a:p>
            <a:r>
              <a:rPr lang="zh-CN" altLang="en-US" dirty="0"/>
              <a:t>协议通信的流程就是一个有限状态机，必须按既定状态转换顺序执行。</a:t>
            </a:r>
          </a:p>
          <a:p>
            <a:r>
              <a:rPr lang="zh-CN" altLang="en-US" b="1" dirty="0"/>
              <a:t>例子</a:t>
            </a:r>
            <a:r>
              <a:rPr lang="zh-CN" altLang="en-US" dirty="0"/>
              <a:t>：</a:t>
            </a:r>
            <a:r>
              <a:rPr lang="en" altLang="zh-CN" dirty="0"/>
              <a:t>TCP</a:t>
            </a:r>
            <a:r>
              <a:rPr lang="zh-CN" altLang="en-US" dirty="0"/>
              <a:t>三次握手：</a:t>
            </a:r>
            <a:r>
              <a:rPr lang="en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CLOSED → SYN_SENT → SYN_RECEIVED → ESTABLISHED</a:t>
            </a:r>
            <a:r>
              <a:rPr lang="zh-CN" altLang="en" dirty="0"/>
              <a:t>，</a:t>
            </a:r>
            <a:r>
              <a:rPr lang="zh-CN" altLang="en-US" dirty="0"/>
              <a:t>状态有限且有转移条件。</a:t>
            </a:r>
          </a:p>
          <a:p>
            <a:r>
              <a:rPr lang="zh-CN" altLang="en-US" b="1" dirty="0"/>
              <a:t>文本搜索</a:t>
            </a:r>
            <a:endParaRPr lang="zh-CN" altLang="en-US" dirty="0"/>
          </a:p>
          <a:p>
            <a:r>
              <a:rPr lang="zh-CN" altLang="en-US" dirty="0"/>
              <a:t>字符串匹配（如 </a:t>
            </a:r>
            <a:r>
              <a:rPr lang="en" altLang="zh-CN" dirty="0"/>
              <a:t>KMP </a:t>
            </a:r>
            <a:r>
              <a:rPr lang="zh-CN" altLang="en-US" dirty="0"/>
              <a:t>算法、正则表达式引擎）底层就是有限状态自动机。</a:t>
            </a:r>
          </a:p>
          <a:p>
            <a:r>
              <a:rPr lang="zh-CN" altLang="en-US" b="1" dirty="0"/>
              <a:t>例子</a:t>
            </a:r>
            <a:r>
              <a:rPr lang="zh-CN" altLang="en-US" dirty="0"/>
              <a:t>：要在一段文本中搜索“</a:t>
            </a:r>
            <a:r>
              <a:rPr lang="en" altLang="zh-CN" dirty="0" err="1"/>
              <a:t>abc</a:t>
            </a:r>
            <a:r>
              <a:rPr lang="en" altLang="zh-CN" dirty="0"/>
              <a:t>”</a:t>
            </a:r>
            <a:r>
              <a:rPr lang="zh-CN" altLang="en" dirty="0"/>
              <a:t>，</a:t>
            </a:r>
            <a:r>
              <a:rPr lang="zh-CN" altLang="en-US" dirty="0"/>
              <a:t>自动机依次读取字符并在状态间转移，若成功到达接受状态则匹配成功。</a:t>
            </a:r>
          </a:p>
          <a:p>
            <a:r>
              <a:rPr lang="zh-CN" altLang="en-US" b="1" dirty="0"/>
              <a:t>词法分析</a:t>
            </a:r>
            <a:endParaRPr lang="zh-CN" altLang="en-US" dirty="0"/>
          </a:p>
          <a:p>
            <a:r>
              <a:rPr lang="zh-CN" altLang="en-US" dirty="0"/>
              <a:t>编译器的词法分析器就是典型的有限状态机，负责把字符流转化为单词（</a:t>
            </a:r>
            <a:r>
              <a:rPr lang="en" altLang="zh-CN" dirty="0"/>
              <a:t>token</a:t>
            </a:r>
            <a:r>
              <a:rPr lang="zh-CN" altLang="en" dirty="0"/>
              <a:t>）。</a:t>
            </a:r>
          </a:p>
          <a:p>
            <a:r>
              <a:rPr lang="zh-CN" altLang="en-US" b="1" dirty="0"/>
              <a:t>例子</a:t>
            </a:r>
            <a:r>
              <a:rPr lang="zh-CN" altLang="en-US" dirty="0"/>
              <a:t>：识别数字：读到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</a:t>
            </a:r>
            <a:r>
              <a:rPr lang="zh-CN" altLang="en-US" dirty="0"/>
              <a:t> 进入整数状态，若读到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zh-CN" altLang="en-US" dirty="0"/>
              <a:t> 转到小数状态，再读到 </a:t>
            </a:r>
            <a:r>
              <a:rPr lang="en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</a:t>
            </a:r>
            <a:r>
              <a:rPr lang="en" altLang="zh-CN" dirty="0"/>
              <a:t> </a:t>
            </a:r>
            <a:r>
              <a:rPr lang="zh-CN" altLang="en-US" dirty="0"/>
              <a:t>转到科学计数状态。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A7BA8E-DBA0-5046-AEF9-1299FC42283A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338120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026"/>
          <p:cNvSpPr>
            <a:spLocks noChangeArrowheads="1"/>
          </p:cNvSpPr>
          <p:nvPr/>
        </p:nvSpPr>
        <p:spPr bwMode="auto">
          <a:xfrm>
            <a:off x="0" y="0"/>
            <a:ext cx="4572000" cy="68580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zh-CN" sz="2400" b="0" i="0">
              <a:solidFill>
                <a:schemeClr val="tx1"/>
              </a:solidFill>
            </a:endParaRPr>
          </a:p>
        </p:txBody>
      </p:sp>
      <p:sp>
        <p:nvSpPr>
          <p:cNvPr id="6147" name="AutoShape 1027"/>
          <p:cNvSpPr>
            <a:spLocks noChangeArrowheads="1"/>
          </p:cNvSpPr>
          <p:nvPr/>
        </p:nvSpPr>
        <p:spPr bwMode="auto">
          <a:xfrm>
            <a:off x="685800" y="990600"/>
            <a:ext cx="5181600" cy="1905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zh-CN" sz="2400" b="0" i="0">
              <a:solidFill>
                <a:schemeClr val="tx1"/>
              </a:solidFill>
            </a:endParaRPr>
          </a:p>
        </p:txBody>
      </p:sp>
      <p:sp>
        <p:nvSpPr>
          <p:cNvPr id="6148" name="Rectangle 1028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673600" y="2927350"/>
            <a:ext cx="3657600" cy="18224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marL="0" indent="0">
              <a:buFont typeface="Wingdings" pitchFamily="2" charset="2"/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grpSp>
        <p:nvGrpSpPr>
          <p:cNvPr id="6149" name="Group 1029"/>
          <p:cNvGrpSpPr>
            <a:grpSpLocks/>
          </p:cNvGrpSpPr>
          <p:nvPr/>
        </p:nvGrpSpPr>
        <p:grpSpPr bwMode="auto">
          <a:xfrm>
            <a:off x="3632200" y="4889500"/>
            <a:ext cx="4876800" cy="319088"/>
            <a:chOff x="2288" y="3080"/>
            <a:chExt cx="3072" cy="201"/>
          </a:xfrm>
        </p:grpSpPr>
        <p:sp>
          <p:nvSpPr>
            <p:cNvPr id="6150" name="AutoShape 1030"/>
            <p:cNvSpPr>
              <a:spLocks noChangeArrowheads="1"/>
            </p:cNvSpPr>
            <p:nvPr/>
          </p:nvSpPr>
          <p:spPr bwMode="auto">
            <a:xfrm flipH="1">
              <a:off x="2288" y="3080"/>
              <a:ext cx="2914" cy="200"/>
            </a:xfrm>
            <a:prstGeom prst="roundRect">
              <a:avLst>
                <a:gd name="adj" fmla="val 0"/>
              </a:avLst>
            </a:prstGeom>
            <a:solidFill>
              <a:schemeClr val="bg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51" name="AutoShape 1031"/>
            <p:cNvSpPr>
              <a:spLocks noChangeArrowheads="1"/>
            </p:cNvSpPr>
            <p:nvPr/>
          </p:nvSpPr>
          <p:spPr bwMode="auto">
            <a:xfrm>
              <a:off x="5196" y="3080"/>
              <a:ext cx="164" cy="201"/>
            </a:xfrm>
            <a:prstGeom prst="flowChartDelay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152" name="Rectangle 1032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2667000" y="6553200"/>
            <a:ext cx="1905000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r">
              <a:defRPr kumimoji="0" sz="14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6153" name="Rectangle 103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195888" y="6553200"/>
            <a:ext cx="3279775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r">
              <a:defRPr kumimoji="0" sz="1400" b="0" i="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6154" name="Rectangle 103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525" y="6359525"/>
            <a:ext cx="587375" cy="4889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l">
              <a:defRPr kumimoji="0" sz="2600" i="0">
                <a:solidFill>
                  <a:schemeClr val="bg1"/>
                </a:solidFill>
                <a:latin typeface="+mn-lt"/>
              </a:defRPr>
            </a:lvl1pPr>
          </a:lstStyle>
          <a:p>
            <a:fld id="{EEE7CE51-4FF9-47C7-A52F-02F910E5A6FF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155" name="Rectangle 1035"/>
          <p:cNvSpPr>
            <a:spLocks noGrp="1" noChangeArrowheads="1"/>
          </p:cNvSpPr>
          <p:nvPr>
            <p:ph type="ctrTitle" sz="quarter"/>
          </p:nvPr>
        </p:nvSpPr>
        <p:spPr bwMode="auto">
          <a:xfrm>
            <a:off x="609600" y="1371600"/>
            <a:ext cx="7772400" cy="6318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156" name="Line 1036"/>
          <p:cNvSpPr>
            <a:spLocks noChangeShapeType="1"/>
          </p:cNvSpPr>
          <p:nvPr userDrawn="1"/>
        </p:nvSpPr>
        <p:spPr bwMode="auto">
          <a:xfrm>
            <a:off x="685800" y="1219200"/>
            <a:ext cx="7651750" cy="0"/>
          </a:xfrm>
          <a:prstGeom prst="line">
            <a:avLst/>
          </a:prstGeom>
          <a:noFill/>
          <a:ln w="47625" cmpd="thinThick">
            <a:solidFill>
              <a:srgbClr val="80008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58" name="Text Box 1038"/>
          <p:cNvSpPr txBox="1">
            <a:spLocks noChangeArrowheads="1"/>
          </p:cNvSpPr>
          <p:nvPr userDrawn="1"/>
        </p:nvSpPr>
        <p:spPr bwMode="auto">
          <a:xfrm>
            <a:off x="914400" y="395288"/>
            <a:ext cx="60293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800" i="0">
                <a:latin typeface="Arial" pitchFamily="34" charset="0"/>
                <a:cs typeface="Times New Roman" pitchFamily="18" charset="0"/>
              </a:rPr>
              <a:t>Formal Languages and Automata</a:t>
            </a:r>
          </a:p>
        </p:txBody>
      </p:sp>
    </p:spTree>
  </p:cSld>
  <p:clrMapOvr>
    <a:masterClrMapping/>
  </p:clrMapOvr>
  <p:transition spd="med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med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med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med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med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ransition spd="med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med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med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med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med"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auto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530820CF-B880-4189-942D-D702A7CBA730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2025/9/3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34865453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14476" y="108461"/>
            <a:ext cx="8229600" cy="854076"/>
          </a:xfrm>
        </p:spPr>
        <p:txBody>
          <a:bodyPr/>
          <a:lstStyle>
            <a:lvl1pPr algn="l">
              <a:defRPr sz="3000" b="1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STXingkai" panose="02010800040101010101" pitchFamily="2" charset="-122"/>
                <a:cs typeface="Times New Roman" panose="02020603050405020304" pitchFamily="18" charset="0"/>
              </a:defRPr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100"/>
            </a:lvl1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二级</a:t>
            </a:r>
          </a:p>
          <a:p>
            <a:pPr lvl="2" fontAlgn="auto"/>
            <a:r>
              <a:rPr lang="zh-CN" altLang="en-US" strike="noStrike" noProof="1"/>
              <a:t>三级</a:t>
            </a:r>
          </a:p>
          <a:p>
            <a:pPr lvl="3" fontAlgn="auto"/>
            <a:r>
              <a:rPr lang="zh-CN" altLang="en-US" strike="noStrike" noProof="1"/>
              <a:t>四级</a:t>
            </a:r>
          </a:p>
          <a:p>
            <a:pPr lvl="4" fontAlgn="auto"/>
            <a:r>
              <a:rPr lang="zh-CN" altLang="en-US" strike="noStrike" noProof="1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fld id="{E03C2985-DA0A-423A-A02E-2E38F06C445F}" type="datetime1">
              <a:rPr lang="zh-CN" altLang="en-US" smtClean="0"/>
              <a:t>2025/9/3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fld id="{A60C455B-B212-44F5-BDE5-4E865130930B}" type="slidenum">
              <a:rPr lang="en-US" altLang="zh-CN" smtClean="0"/>
              <a:t>‹#›</a:t>
            </a:fld>
            <a:endParaRPr lang="en-US" altLang="zh-CN"/>
          </a:p>
        </p:txBody>
      </p:sp>
      <p:grpSp>
        <p:nvGrpSpPr>
          <p:cNvPr id="10" name="Group 1041">
            <a:extLst>
              <a:ext uri="{FF2B5EF4-FFF2-40B4-BE49-F238E27FC236}">
                <a16:creationId xmlns:a16="http://schemas.microsoft.com/office/drawing/2014/main" id="{17DDE112-9DF3-364D-ACDD-F3637498474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0"/>
            <a:ext cx="1476375" cy="6884988"/>
            <a:chOff x="0" y="0"/>
            <a:chExt cx="2016" cy="4320"/>
          </a:xfrm>
        </p:grpSpPr>
        <p:sp>
          <p:nvSpPr>
            <p:cNvPr id="12" name="Rectangle 1042">
              <a:extLst>
                <a:ext uri="{FF2B5EF4-FFF2-40B4-BE49-F238E27FC236}">
                  <a16:creationId xmlns:a16="http://schemas.microsoft.com/office/drawing/2014/main" id="{28111F18-B447-4C40-8C8C-C6EB1E8FEC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80" cy="4320"/>
            </a:xfrm>
            <a:prstGeom prst="rect">
              <a:avLst/>
            </a:prstGeom>
            <a:gradFill rotWithShape="0">
              <a:gsLst>
                <a:gs pos="0">
                  <a:srgbClr val="800080"/>
                </a:gs>
                <a:gs pos="100000">
                  <a:srgbClr val="800080">
                    <a:gamma/>
                    <a:tint val="20000"/>
                    <a:invGamma/>
                  </a:srgb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250"/>
            </a:p>
          </p:txBody>
        </p:sp>
        <p:sp>
          <p:nvSpPr>
            <p:cNvPr id="13" name="Rectangle 1043">
              <a:extLst>
                <a:ext uri="{FF2B5EF4-FFF2-40B4-BE49-F238E27FC236}">
                  <a16:creationId xmlns:a16="http://schemas.microsoft.com/office/drawing/2014/main" id="{1C9474D0-193B-E84A-803C-DE422894ED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0"/>
              <a:ext cx="1584" cy="672"/>
            </a:xfrm>
            <a:prstGeom prst="rect">
              <a:avLst/>
            </a:prstGeom>
            <a:gradFill rotWithShape="0">
              <a:gsLst>
                <a:gs pos="0">
                  <a:srgbClr val="800080"/>
                </a:gs>
                <a:gs pos="100000">
                  <a:srgbClr val="800080">
                    <a:gamma/>
                    <a:tint val="20000"/>
                    <a:invGamma/>
                  </a:srgb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250"/>
            </a:p>
          </p:txBody>
        </p:sp>
      </p:grpSp>
      <p:sp>
        <p:nvSpPr>
          <p:cNvPr id="14" name="Line 1044">
            <a:extLst>
              <a:ext uri="{FF2B5EF4-FFF2-40B4-BE49-F238E27FC236}">
                <a16:creationId xmlns:a16="http://schemas.microsoft.com/office/drawing/2014/main" id="{8D8752F3-28A0-C742-9655-124928D60579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514476" y="1008064"/>
            <a:ext cx="7515225" cy="9525"/>
          </a:xfrm>
          <a:prstGeom prst="line">
            <a:avLst/>
          </a:prstGeom>
          <a:noFill/>
          <a:ln w="57150" cmpd="thinThick">
            <a:solidFill>
              <a:srgbClr val="80008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 sz="2250"/>
          </a:p>
        </p:txBody>
      </p:sp>
    </p:spTree>
    <p:extLst>
      <p:ext uri="{BB962C8B-B14F-4D97-AF65-F5344CB8AC3E}">
        <p14:creationId xmlns:p14="http://schemas.microsoft.com/office/powerpoint/2010/main" val="214305732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00200" y="0"/>
            <a:ext cx="5554960" cy="990600"/>
          </a:xfrm>
        </p:spPr>
        <p:txBody>
          <a:bodyPr>
            <a:noAutofit/>
          </a:bodyPr>
          <a:lstStyle>
            <a:lvl1pPr algn="l">
              <a:defRPr sz="300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STXingkai" panose="02010800040101010101" pitchFamily="2" charset="-122"/>
                <a:cs typeface="Times New Roman" panose="02020603050405020304" pitchFamily="18" charset="0"/>
              </a:defRPr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fld id="{702554A5-A581-4AB9-AEA0-FA3C5F0DF619}" type="datetime1">
              <a:rPr lang="zh-CN" altLang="en-US" smtClean="0"/>
              <a:t>2025/9/3</a:t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fld id="{A60C455B-B212-44F5-BDE5-4E865130930B}" type="slidenum">
              <a:rPr lang="en-US" altLang="zh-CN" smtClean="0"/>
              <a:t>‹#›</a:t>
            </a:fld>
            <a:endParaRPr lang="en-US" altLang="zh-CN"/>
          </a:p>
        </p:txBody>
      </p:sp>
      <p:grpSp>
        <p:nvGrpSpPr>
          <p:cNvPr id="9" name="Group 1041">
            <a:extLst>
              <a:ext uri="{FF2B5EF4-FFF2-40B4-BE49-F238E27FC236}">
                <a16:creationId xmlns:a16="http://schemas.microsoft.com/office/drawing/2014/main" id="{FC5645F4-9663-344B-A756-60E8A56B8F7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0"/>
            <a:ext cx="1476375" cy="6884988"/>
            <a:chOff x="0" y="0"/>
            <a:chExt cx="2016" cy="4320"/>
          </a:xfrm>
        </p:grpSpPr>
        <p:sp>
          <p:nvSpPr>
            <p:cNvPr id="10" name="Rectangle 1042">
              <a:extLst>
                <a:ext uri="{FF2B5EF4-FFF2-40B4-BE49-F238E27FC236}">
                  <a16:creationId xmlns:a16="http://schemas.microsoft.com/office/drawing/2014/main" id="{C294A66E-2277-9F40-82E2-2B0BDA805A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80" cy="4320"/>
            </a:xfrm>
            <a:prstGeom prst="rect">
              <a:avLst/>
            </a:prstGeom>
            <a:gradFill rotWithShape="0">
              <a:gsLst>
                <a:gs pos="0">
                  <a:srgbClr val="800080"/>
                </a:gs>
                <a:gs pos="100000">
                  <a:srgbClr val="800080">
                    <a:gamma/>
                    <a:tint val="20000"/>
                    <a:invGamma/>
                  </a:srgb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250"/>
            </a:p>
          </p:txBody>
        </p:sp>
        <p:sp>
          <p:nvSpPr>
            <p:cNvPr id="12" name="Rectangle 1043">
              <a:extLst>
                <a:ext uri="{FF2B5EF4-FFF2-40B4-BE49-F238E27FC236}">
                  <a16:creationId xmlns:a16="http://schemas.microsoft.com/office/drawing/2014/main" id="{9616663D-EA66-E943-A37C-719A63E9C2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0"/>
              <a:ext cx="1584" cy="672"/>
            </a:xfrm>
            <a:prstGeom prst="rect">
              <a:avLst/>
            </a:prstGeom>
            <a:gradFill rotWithShape="0">
              <a:gsLst>
                <a:gs pos="0">
                  <a:srgbClr val="800080"/>
                </a:gs>
                <a:gs pos="100000">
                  <a:srgbClr val="800080">
                    <a:gamma/>
                    <a:tint val="20000"/>
                    <a:invGamma/>
                  </a:srgb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250"/>
            </a:p>
          </p:txBody>
        </p:sp>
      </p:grpSp>
      <p:sp>
        <p:nvSpPr>
          <p:cNvPr id="13" name="Line 1044">
            <a:extLst>
              <a:ext uri="{FF2B5EF4-FFF2-40B4-BE49-F238E27FC236}">
                <a16:creationId xmlns:a16="http://schemas.microsoft.com/office/drawing/2014/main" id="{BD9E9547-2D09-BE4D-AC0E-E85CCE7E79E5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514476" y="1008064"/>
            <a:ext cx="7515225" cy="9525"/>
          </a:xfrm>
          <a:prstGeom prst="line">
            <a:avLst/>
          </a:prstGeom>
          <a:noFill/>
          <a:ln w="57150" cmpd="thinThick">
            <a:solidFill>
              <a:srgbClr val="80008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 sz="2250"/>
          </a:p>
        </p:txBody>
      </p:sp>
    </p:spTree>
    <p:extLst>
      <p:ext uri="{BB962C8B-B14F-4D97-AF65-F5344CB8AC3E}">
        <p14:creationId xmlns:p14="http://schemas.microsoft.com/office/powerpoint/2010/main" val="3663386725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二级</a:t>
            </a:r>
          </a:p>
          <a:p>
            <a:pPr lvl="2" fontAlgn="auto"/>
            <a:r>
              <a:rPr lang="zh-CN" altLang="en-US" strike="noStrike" noProof="1"/>
              <a:t>三级</a:t>
            </a:r>
          </a:p>
          <a:p>
            <a:pPr lvl="3" fontAlgn="auto"/>
            <a:r>
              <a:rPr lang="zh-CN" altLang="en-US" strike="noStrike" noProof="1"/>
              <a:t>四级</a:t>
            </a:r>
          </a:p>
          <a:p>
            <a:pPr lvl="4" fontAlgn="auto"/>
            <a:r>
              <a:rPr lang="zh-CN" altLang="en-US" strike="noStrike" noProof="1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9A53FDE-4960-4598-8A19-D798676052A7}" type="datetime1">
              <a:rPr lang="zh-CN" altLang="en-US" smtClean="0"/>
              <a:t>2025/9/3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83664474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auto"/>
            <a:r>
              <a:rPr lang="zh-CN" altLang="en-US" strike="noStrike" noProof="1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4EC92D9-5065-4D74-9A70-DE43FE41D507}" type="datetime1">
              <a:rPr lang="zh-CN" altLang="en-US" smtClean="0"/>
              <a:t>2025/9/3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79497667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二级</a:t>
            </a:r>
          </a:p>
          <a:p>
            <a:pPr lvl="2" fontAlgn="auto"/>
            <a:r>
              <a:rPr lang="zh-CN" altLang="en-US" strike="noStrike" noProof="1"/>
              <a:t>三级</a:t>
            </a:r>
          </a:p>
          <a:p>
            <a:pPr lvl="3" fontAlgn="auto"/>
            <a:r>
              <a:rPr lang="zh-CN" altLang="en-US" strike="noStrike" noProof="1"/>
              <a:t>四级</a:t>
            </a:r>
          </a:p>
          <a:p>
            <a:pPr lvl="4" fontAlgn="auto"/>
            <a:r>
              <a:rPr lang="zh-CN" altLang="en-US" strike="noStrike" noProof="1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8D7EF7E-B2EB-447F-B03C-8795FC4C954A}" type="datetime1">
              <a:rPr lang="zh-CN" altLang="en-US" smtClean="0"/>
              <a:t>2025/9/3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3595123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二级</a:t>
            </a:r>
          </a:p>
          <a:p>
            <a:pPr lvl="2" fontAlgn="auto"/>
            <a:r>
              <a:rPr lang="zh-CN" altLang="en-US" strike="noStrike" noProof="1"/>
              <a:t>三级</a:t>
            </a:r>
          </a:p>
          <a:p>
            <a:pPr lvl="3" fontAlgn="auto"/>
            <a:r>
              <a:rPr lang="zh-CN" altLang="en-US" strike="noStrike" noProof="1"/>
              <a:t>四级</a:t>
            </a:r>
          </a:p>
          <a:p>
            <a:pPr lvl="4" fontAlgn="auto"/>
            <a:r>
              <a:rPr lang="zh-CN" altLang="en-US" strike="noStrike" noProof="1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7332379-8504-4B52-80B8-13CE9A735353}" type="datetime1">
              <a:rPr lang="zh-CN" altLang="en-US" smtClean="0"/>
              <a:t>2025/9/3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0449460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D805BAE-7F85-46FF-B8DD-D1ED4022A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7332379-8504-4B52-80B8-13CE9A735353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2025/9/3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47AB0BD-F62B-4D11-AE9D-FF1F2C35E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8CDC48-8C07-4F64-9D52-BF12CFEA5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1585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50" name="Group 1054"/>
          <p:cNvGrpSpPr>
            <a:grpSpLocks/>
          </p:cNvGrpSpPr>
          <p:nvPr userDrawn="1"/>
        </p:nvGrpSpPr>
        <p:grpSpPr bwMode="auto">
          <a:xfrm>
            <a:off x="-36513" y="0"/>
            <a:ext cx="1476376" cy="6884988"/>
            <a:chOff x="0" y="0"/>
            <a:chExt cx="2016" cy="4320"/>
          </a:xfrm>
        </p:grpSpPr>
        <p:sp>
          <p:nvSpPr>
            <p:cNvPr id="5151" name="Rectangle 1055"/>
            <p:cNvSpPr>
              <a:spLocks noChangeArrowheads="1"/>
            </p:cNvSpPr>
            <p:nvPr/>
          </p:nvSpPr>
          <p:spPr bwMode="auto">
            <a:xfrm>
              <a:off x="0" y="0"/>
              <a:ext cx="480" cy="4320"/>
            </a:xfrm>
            <a:prstGeom prst="rect">
              <a:avLst/>
            </a:prstGeom>
            <a:gradFill rotWithShape="0">
              <a:gsLst>
                <a:gs pos="0">
                  <a:srgbClr val="800080"/>
                </a:gs>
                <a:gs pos="100000">
                  <a:srgbClr val="800080">
                    <a:gamma/>
                    <a:tint val="20000"/>
                    <a:invGamma/>
                  </a:srgb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52" name="Rectangle 1056"/>
            <p:cNvSpPr>
              <a:spLocks noChangeArrowheads="1"/>
            </p:cNvSpPr>
            <p:nvPr/>
          </p:nvSpPr>
          <p:spPr bwMode="auto">
            <a:xfrm>
              <a:off x="432" y="0"/>
              <a:ext cx="1584" cy="672"/>
            </a:xfrm>
            <a:prstGeom prst="rect">
              <a:avLst/>
            </a:prstGeom>
            <a:gradFill rotWithShape="0">
              <a:gsLst>
                <a:gs pos="0">
                  <a:srgbClr val="800080"/>
                </a:gs>
                <a:gs pos="100000">
                  <a:srgbClr val="800080">
                    <a:gamma/>
                    <a:tint val="20000"/>
                    <a:invGamma/>
                  </a:srgb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153" name="Line 1057"/>
          <p:cNvSpPr>
            <a:spLocks noChangeShapeType="1"/>
          </p:cNvSpPr>
          <p:nvPr userDrawn="1"/>
        </p:nvSpPr>
        <p:spPr bwMode="auto">
          <a:xfrm>
            <a:off x="1477963" y="1008063"/>
            <a:ext cx="7515225" cy="9525"/>
          </a:xfrm>
          <a:prstGeom prst="line">
            <a:avLst/>
          </a:prstGeom>
          <a:noFill/>
          <a:ln w="57150" cmpd="thinThick">
            <a:solidFill>
              <a:srgbClr val="80008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56" name="AutoShape 1060"/>
          <p:cNvSpPr>
            <a:spLocks noChangeArrowheads="1"/>
          </p:cNvSpPr>
          <p:nvPr userDrawn="1"/>
        </p:nvSpPr>
        <p:spPr bwMode="auto">
          <a:xfrm>
            <a:off x="1117600" y="215900"/>
            <a:ext cx="3311525" cy="6477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zh-CN" sz="2400" b="0" i="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ransition spd="med">
    <p:wipe dir="r"/>
  </p:transition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Arial" pitchFamily="34" charset="0"/>
          <a:ea typeface="宋体" pitchFamily="2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Arial" pitchFamily="34" charset="0"/>
          <a:ea typeface="宋体" pitchFamily="2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Arial" pitchFamily="34" charset="0"/>
          <a:ea typeface="宋体" pitchFamily="2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Arial" pitchFamily="34" charset="0"/>
          <a:ea typeface="宋体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Arial" pitchFamily="34" charset="0"/>
          <a:ea typeface="宋体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Arial" pitchFamily="34" charset="0"/>
          <a:ea typeface="宋体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Arial" pitchFamily="34" charset="0"/>
          <a:ea typeface="宋体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Char char="–"/>
        <a:defRPr kumimoji="1" sz="24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0000"/>
        <a:buChar char="–"/>
        <a:defRPr kumimoji="1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77332379-8504-4B52-80B8-13CE9A735353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2025/9/3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60C455B-B212-44F5-BDE5-4E865130930B}" type="slidenum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7546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</p:sldLayoutIdLst>
  <p:hf hdr="0" ftr="0" dt="0"/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4" Type="http://schemas.openxmlformats.org/officeDocument/2006/relationships/slide" Target="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4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6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8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10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12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emf"/><Relationship Id="rId4" Type="http://schemas.openxmlformats.org/officeDocument/2006/relationships/oleObject" Target="../embeddings/oleObject14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emf"/><Relationship Id="rId4" Type="http://schemas.openxmlformats.org/officeDocument/2006/relationships/oleObject" Target="../embeddings/oleObject16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18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20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22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24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26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oleObject" Target="../embeddings/oleObject27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28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oleObject" Target="../embeddings/oleObject29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emf"/><Relationship Id="rId4" Type="http://schemas.openxmlformats.org/officeDocument/2006/relationships/oleObject" Target="../embeddings/oleObject30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oleObject" Target="../embeddings/oleObject31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32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oleObject" Target="../embeddings/oleObject33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34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emf"/><Relationship Id="rId4" Type="http://schemas.openxmlformats.org/officeDocument/2006/relationships/image" Target="../media/image16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35.bin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5.png"/><Relationship Id="rId4" Type="http://schemas.openxmlformats.org/officeDocument/2006/relationships/image" Target="../media/image18.e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7" Type="http://schemas.openxmlformats.org/officeDocument/2006/relationships/image" Target="../media/image19.emf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6.bin"/><Relationship Id="rId5" Type="http://schemas.openxmlformats.org/officeDocument/2006/relationships/image" Target="../media/image18.emf"/><Relationship Id="rId4" Type="http://schemas.openxmlformats.org/officeDocument/2006/relationships/image" Target="../media/image53.png"/><Relationship Id="rId9" Type="http://schemas.openxmlformats.org/officeDocument/2006/relationships/image" Target="../media/image57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image" Target="../media/image20.tmp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tags" Target="../tags/tag21.xml"/><Relationship Id="rId13" Type="http://schemas.openxmlformats.org/officeDocument/2006/relationships/tags" Target="../tags/tag26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6.xml"/><Relationship Id="rId7" Type="http://schemas.openxmlformats.org/officeDocument/2006/relationships/tags" Target="../tags/tag20.xml"/><Relationship Id="rId12" Type="http://schemas.openxmlformats.org/officeDocument/2006/relationships/tags" Target="../tags/tag25.xml"/><Relationship Id="rId17" Type="http://schemas.openxmlformats.org/officeDocument/2006/relationships/tags" Target="../tags/tag30.xml"/><Relationship Id="rId2" Type="http://schemas.openxmlformats.org/officeDocument/2006/relationships/tags" Target="../tags/tag15.xml"/><Relationship Id="rId16" Type="http://schemas.openxmlformats.org/officeDocument/2006/relationships/tags" Target="../tags/tag29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11" Type="http://schemas.openxmlformats.org/officeDocument/2006/relationships/tags" Target="../tags/tag24.xml"/><Relationship Id="rId5" Type="http://schemas.openxmlformats.org/officeDocument/2006/relationships/tags" Target="../tags/tag18.xml"/><Relationship Id="rId15" Type="http://schemas.openxmlformats.org/officeDocument/2006/relationships/tags" Target="../tags/tag28.xml"/><Relationship Id="rId10" Type="http://schemas.openxmlformats.org/officeDocument/2006/relationships/tags" Target="../tags/tag23.xml"/><Relationship Id="rId19" Type="http://schemas.openxmlformats.org/officeDocument/2006/relationships/image" Target="../media/image20.tmp"/><Relationship Id="rId4" Type="http://schemas.openxmlformats.org/officeDocument/2006/relationships/tags" Target="../tags/tag17.xml"/><Relationship Id="rId9" Type="http://schemas.openxmlformats.org/officeDocument/2006/relationships/tags" Target="../tags/tag22.xml"/><Relationship Id="rId14" Type="http://schemas.openxmlformats.org/officeDocument/2006/relationships/tags" Target="../tags/tag27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tags" Target="../tags/tag38.xml"/><Relationship Id="rId13" Type="http://schemas.openxmlformats.org/officeDocument/2006/relationships/tags" Target="../tags/tag4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3.xml"/><Relationship Id="rId7" Type="http://schemas.openxmlformats.org/officeDocument/2006/relationships/tags" Target="../tags/tag37.xml"/><Relationship Id="rId12" Type="http://schemas.openxmlformats.org/officeDocument/2006/relationships/tags" Target="../tags/tag42.xml"/><Relationship Id="rId17" Type="http://schemas.openxmlformats.org/officeDocument/2006/relationships/tags" Target="../tags/tag47.xml"/><Relationship Id="rId2" Type="http://schemas.openxmlformats.org/officeDocument/2006/relationships/tags" Target="../tags/tag32.xml"/><Relationship Id="rId16" Type="http://schemas.openxmlformats.org/officeDocument/2006/relationships/tags" Target="../tags/tag46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11" Type="http://schemas.openxmlformats.org/officeDocument/2006/relationships/tags" Target="../tags/tag41.xml"/><Relationship Id="rId5" Type="http://schemas.openxmlformats.org/officeDocument/2006/relationships/tags" Target="../tags/tag35.xml"/><Relationship Id="rId15" Type="http://schemas.openxmlformats.org/officeDocument/2006/relationships/tags" Target="../tags/tag45.xml"/><Relationship Id="rId10" Type="http://schemas.openxmlformats.org/officeDocument/2006/relationships/tags" Target="../tags/tag40.xml"/><Relationship Id="rId19" Type="http://schemas.openxmlformats.org/officeDocument/2006/relationships/image" Target="../media/image20.tmp"/><Relationship Id="rId4" Type="http://schemas.openxmlformats.org/officeDocument/2006/relationships/tags" Target="../tags/tag34.xml"/><Relationship Id="rId9" Type="http://schemas.openxmlformats.org/officeDocument/2006/relationships/tags" Target="../tags/tag39.xml"/><Relationship Id="rId14" Type="http://schemas.openxmlformats.org/officeDocument/2006/relationships/tags" Target="../tags/tag4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7" Type="http://schemas.openxmlformats.org/officeDocument/2006/relationships/image" Target="../media/image26.e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emf"/><Relationship Id="rId5" Type="http://schemas.openxmlformats.org/officeDocument/2006/relationships/image" Target="../media/image24.emf"/><Relationship Id="rId4" Type="http://schemas.openxmlformats.org/officeDocument/2006/relationships/image" Target="../media/image23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emf"/><Relationship Id="rId5" Type="http://schemas.openxmlformats.org/officeDocument/2006/relationships/image" Target="../media/image30.emf"/><Relationship Id="rId4" Type="http://schemas.openxmlformats.org/officeDocument/2006/relationships/image" Target="../media/image29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emf"/><Relationship Id="rId5" Type="http://schemas.openxmlformats.org/officeDocument/2006/relationships/image" Target="../media/image31.emf"/><Relationship Id="rId4" Type="http://schemas.openxmlformats.org/officeDocument/2006/relationships/image" Target="../media/image30.emf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1597642" y="195263"/>
            <a:ext cx="1973618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4000" i="0" dirty="0">
                <a:latin typeface="华文行楷" pitchFamily="2" charset="-122"/>
                <a:ea typeface="华文行楷" pitchFamily="2" charset="-122"/>
              </a:rPr>
              <a:t>第 二 讲</a:t>
            </a:r>
          </a:p>
        </p:txBody>
      </p:sp>
      <p:sp>
        <p:nvSpPr>
          <p:cNvPr id="2067" name="Text Box 19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720725" y="1635125"/>
            <a:ext cx="824388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600" i="0" dirty="0">
                <a:latin typeface="Arial" pitchFamily="34" charset="0"/>
                <a:ea typeface="楷体_GB2312" pitchFamily="49" charset="-122"/>
              </a:rPr>
              <a:t>  </a:t>
            </a:r>
            <a:r>
              <a:rPr lang="zh-CN" altLang="en-US" sz="3600" i="0" dirty="0">
                <a:latin typeface="Arial" pitchFamily="34" charset="0"/>
                <a:ea typeface="楷体_GB2312" pitchFamily="49" charset="-122"/>
              </a:rPr>
              <a:t>有限状态系统简介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79EBC97-C22E-CE43-BD06-ADF432F0C6B1}"/>
              </a:ext>
            </a:extLst>
          </p:cNvPr>
          <p:cNvSpPr txBox="1"/>
          <p:nvPr/>
        </p:nvSpPr>
        <p:spPr>
          <a:xfrm>
            <a:off x="8604448" y="6471931"/>
            <a:ext cx="5395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0" i="0" dirty="0">
                <a:solidFill>
                  <a:srgbClr val="000066"/>
                </a:solidFill>
              </a:rPr>
              <a:t>01</a:t>
            </a:r>
            <a:endParaRPr kumimoji="1" lang="zh-CN" altLang="en-US" sz="2000" b="0" i="0" dirty="0">
              <a:solidFill>
                <a:srgbClr val="000066"/>
              </a:solidFill>
            </a:endParaRPr>
          </a:p>
        </p:txBody>
      </p:sp>
      <p:sp>
        <p:nvSpPr>
          <p:cNvPr id="5" name="Text Box 19">
            <a:hlinkClick r:id="rId2" action="ppaction://hlinksldjump"/>
            <a:extLst>
              <a:ext uri="{FF2B5EF4-FFF2-40B4-BE49-F238E27FC236}">
                <a16:creationId xmlns:a16="http://schemas.microsoft.com/office/drawing/2014/main" id="{051274B7-13EF-BB48-BFAA-C5EB834133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725" y="2433637"/>
            <a:ext cx="824388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600" i="0" dirty="0">
                <a:latin typeface="Arial" pitchFamily="34" charset="0"/>
                <a:ea typeface="楷体_GB2312" pitchFamily="49" charset="-122"/>
              </a:rPr>
              <a:t>  </a:t>
            </a:r>
            <a:r>
              <a:rPr lang="zh-CN" altLang="en-US" sz="3600" i="0" dirty="0">
                <a:latin typeface="Arial" pitchFamily="34" charset="0"/>
                <a:ea typeface="楷体_GB2312" pitchFamily="49" charset="-122"/>
              </a:rPr>
              <a:t>有限状态自动机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7">
            <a:extLst>
              <a:ext uri="{FF2B5EF4-FFF2-40B4-BE49-F238E27FC236}">
                <a16:creationId xmlns:a16="http://schemas.microsoft.com/office/drawing/2014/main" id="{16AD672F-C20C-EC4F-9C39-B153A4F793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195263"/>
            <a:ext cx="3887788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lnSpc>
                <a:spcPct val="90000"/>
              </a:lnSpc>
            </a:pPr>
            <a:r>
              <a:rPr lang="zh-CN" altLang="en-US" sz="4000" i="0" dirty="0">
                <a:ea typeface="华文行楷" pitchFamily="2" charset="-122"/>
              </a:rPr>
              <a:t>有限状态系统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A6C048E-51B8-B149-A1D8-88B45ABA2BC5}"/>
              </a:ext>
            </a:extLst>
          </p:cNvPr>
          <p:cNvSpPr txBox="1"/>
          <p:nvPr/>
        </p:nvSpPr>
        <p:spPr>
          <a:xfrm>
            <a:off x="755576" y="1196752"/>
            <a:ext cx="799288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3200" i="0" dirty="0">
                <a:latin typeface="KaiTi_GB2312" panose="02010609030101010101" pitchFamily="49" charset="-122"/>
                <a:ea typeface="KaiTi_GB2312" panose="02010609030101010101" pitchFamily="49" charset="-122"/>
              </a:rPr>
              <a:t>定义：在系统的运行过程中，系统的状态在</a:t>
            </a:r>
            <a:r>
              <a:rPr lang="zh-CN" altLang="en-US" sz="3200" i="0" dirty="0">
                <a:solidFill>
                  <a:srgbClr val="011893"/>
                </a:solidFill>
                <a:latin typeface="KaiTi_GB2312" panose="02010609030101010101" pitchFamily="49" charset="-122"/>
                <a:ea typeface="KaiTi_GB2312" panose="02010609030101010101" pitchFamily="49" charset="-122"/>
              </a:rPr>
              <a:t>有限状态间</a:t>
            </a:r>
            <a:r>
              <a:rPr lang="zh-CN" altLang="en-US" sz="3200" i="0" dirty="0">
                <a:latin typeface="KaiTi_GB2312" panose="02010609030101010101" pitchFamily="49" charset="-122"/>
                <a:ea typeface="KaiTi_GB2312" panose="02010609030101010101" pitchFamily="49" charset="-122"/>
              </a:rPr>
              <a:t>不断变化，每个状态可以迁移到零个或多个状态，</a:t>
            </a:r>
            <a:r>
              <a:rPr lang="zh-CN" altLang="en-US" sz="3200" i="0" dirty="0">
                <a:solidFill>
                  <a:srgbClr val="011893"/>
                </a:solidFill>
                <a:latin typeface="KaiTi_GB2312" panose="02010609030101010101" pitchFamily="49" charset="-122"/>
                <a:ea typeface="KaiTi_GB2312" panose="02010609030101010101" pitchFamily="49" charset="-122"/>
              </a:rPr>
              <a:t>系统的输入决定</a:t>
            </a:r>
            <a:r>
              <a:rPr lang="zh-CN" altLang="en-US" sz="3200" i="0" dirty="0">
                <a:latin typeface="KaiTi_GB2312" panose="02010609030101010101" pitchFamily="49" charset="-122"/>
                <a:ea typeface="KaiTi_GB2312" panose="02010609030101010101" pitchFamily="49" charset="-122"/>
              </a:rPr>
              <a:t>执行哪个状态的迁移。</a:t>
            </a:r>
            <a:endParaRPr lang="en-US" altLang="zh-CN" sz="3200" i="0" dirty="0">
              <a:latin typeface="KaiTi_GB2312" panose="02010609030101010101" pitchFamily="49" charset="-122"/>
              <a:ea typeface="KaiTi_GB2312" panose="02010609030101010101" pitchFamily="49" charset="-122"/>
            </a:endParaRPr>
          </a:p>
          <a:p>
            <a:pPr algn="l"/>
            <a:endParaRPr lang="zh-CN" altLang="en-US" sz="3200" i="0" dirty="0">
              <a:latin typeface="KaiTi_GB2312" panose="02010609030101010101" pitchFamily="49" charset="-122"/>
              <a:ea typeface="KaiTi_GB2312" panose="02010609030101010101" pitchFamily="49" charset="-122"/>
            </a:endParaRPr>
          </a:p>
          <a:p>
            <a:pPr algn="l"/>
            <a:endParaRPr lang="en-AU" altLang="zh-CN" sz="3200" i="0" dirty="0">
              <a:latin typeface="KaiTi_GB2312" panose="02010609030101010101" pitchFamily="49" charset="-122"/>
              <a:ea typeface="KaiTi_GB2312" panose="0201060903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32741453"/>
      </p:ext>
    </p:extLst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590117D-E340-1F41-8CE9-0D893CA21977}"/>
              </a:ext>
            </a:extLst>
          </p:cNvPr>
          <p:cNvSpPr txBox="1"/>
          <p:nvPr/>
        </p:nvSpPr>
        <p:spPr>
          <a:xfrm>
            <a:off x="755576" y="1196752"/>
            <a:ext cx="7992888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3200" i="0" dirty="0">
                <a:latin typeface="KaiTi_GB2312" panose="02010609030101010101" pitchFamily="49" charset="-122"/>
                <a:ea typeface="KaiTi_GB2312" panose="02010609030101010101" pitchFamily="49" charset="-122"/>
              </a:rPr>
              <a:t>定义：在系统的运行过程中，系统的状态在</a:t>
            </a:r>
            <a:r>
              <a:rPr lang="zh-CN" altLang="en-US" sz="3200" i="0" dirty="0">
                <a:solidFill>
                  <a:srgbClr val="011893"/>
                </a:solidFill>
                <a:latin typeface="KaiTi_GB2312" panose="02010609030101010101" pitchFamily="49" charset="-122"/>
                <a:ea typeface="KaiTi_GB2312" panose="02010609030101010101" pitchFamily="49" charset="-122"/>
              </a:rPr>
              <a:t>有限状态间</a:t>
            </a:r>
            <a:r>
              <a:rPr lang="zh-CN" altLang="en-US" sz="3200" i="0" dirty="0">
                <a:latin typeface="KaiTi_GB2312" panose="02010609030101010101" pitchFamily="49" charset="-122"/>
                <a:ea typeface="KaiTi_GB2312" panose="02010609030101010101" pitchFamily="49" charset="-122"/>
              </a:rPr>
              <a:t>不断变化，每个状态可以迁移到零个或多个状态，</a:t>
            </a:r>
            <a:r>
              <a:rPr lang="zh-CN" altLang="en-US" sz="3200" i="0" dirty="0">
                <a:solidFill>
                  <a:srgbClr val="011893"/>
                </a:solidFill>
                <a:latin typeface="KaiTi_GB2312" panose="02010609030101010101" pitchFamily="49" charset="-122"/>
                <a:ea typeface="KaiTi_GB2312" panose="02010609030101010101" pitchFamily="49" charset="-122"/>
              </a:rPr>
              <a:t>系统的输入决定</a:t>
            </a:r>
            <a:r>
              <a:rPr lang="zh-CN" altLang="en-US" sz="3200" i="0" dirty="0">
                <a:latin typeface="KaiTi_GB2312" panose="02010609030101010101" pitchFamily="49" charset="-122"/>
                <a:ea typeface="KaiTi_GB2312" panose="02010609030101010101" pitchFamily="49" charset="-122"/>
              </a:rPr>
              <a:t>执行哪个状态的迁移。</a:t>
            </a:r>
            <a:endParaRPr lang="en-US" altLang="zh-CN" sz="3200" i="0" dirty="0">
              <a:latin typeface="KaiTi_GB2312" panose="02010609030101010101" pitchFamily="49" charset="-122"/>
              <a:ea typeface="KaiTi_GB2312" panose="02010609030101010101" pitchFamily="49" charset="-122"/>
            </a:endParaRPr>
          </a:p>
          <a:p>
            <a:pPr algn="l"/>
            <a:r>
              <a:rPr lang="zh-CN" altLang="en-US" sz="3200" i="0" dirty="0">
                <a:latin typeface="KaiTi_GB2312" panose="02010609030101010101" pitchFamily="49" charset="-122"/>
                <a:ea typeface="KaiTi_GB2312" panose="02010609030101010101" pitchFamily="49" charset="-122"/>
              </a:rPr>
              <a:t>例</a:t>
            </a:r>
            <a:r>
              <a:rPr lang="en-US" altLang="zh-CN" sz="3200" i="0" dirty="0">
                <a:latin typeface="KaiTi_GB2312" panose="02010609030101010101" pitchFamily="49" charset="-122"/>
                <a:ea typeface="KaiTi_GB2312" panose="02010609030101010101" pitchFamily="49" charset="-122"/>
              </a:rPr>
              <a:t>:</a:t>
            </a:r>
            <a:r>
              <a:rPr lang="zh-CN" altLang="en-US" sz="3200" i="0" dirty="0">
                <a:latin typeface="KaiTi_GB2312" panose="02010609030101010101" pitchFamily="49" charset="-122"/>
                <a:ea typeface="KaiTi_GB2312" panose="02010609030101010101" pitchFamily="49" charset="-122"/>
              </a:rPr>
              <a:t>电视遥控器开关</a:t>
            </a:r>
          </a:p>
          <a:p>
            <a:pPr algn="l"/>
            <a:endParaRPr lang="en-US" altLang="zh-CN" sz="3200" i="0" dirty="0">
              <a:latin typeface="KaiTi_GB2312" panose="02010609030101010101" pitchFamily="49" charset="-122"/>
              <a:ea typeface="KaiTi_GB2312" panose="02010609030101010101" pitchFamily="49" charset="-122"/>
            </a:endParaRPr>
          </a:p>
          <a:p>
            <a:pPr algn="l"/>
            <a:endParaRPr lang="zh-CN" altLang="en-US" sz="3200" i="0" dirty="0">
              <a:latin typeface="KaiTi_GB2312" panose="02010609030101010101" pitchFamily="49" charset="-122"/>
              <a:ea typeface="KaiTi_GB2312" panose="02010609030101010101" pitchFamily="49" charset="-122"/>
            </a:endParaRPr>
          </a:p>
          <a:p>
            <a:pPr algn="l"/>
            <a:endParaRPr lang="en-AU" altLang="zh-CN" sz="3200" i="0" dirty="0">
              <a:latin typeface="KaiTi_GB2312" panose="02010609030101010101" pitchFamily="49" charset="-122"/>
              <a:ea typeface="KaiTi_GB2312" panose="02010609030101010101" pitchFamily="49" charset="-122"/>
            </a:endParaRPr>
          </a:p>
        </p:txBody>
      </p:sp>
      <p:sp>
        <p:nvSpPr>
          <p:cNvPr id="6" name="Rectangle 17">
            <a:extLst>
              <a:ext uri="{FF2B5EF4-FFF2-40B4-BE49-F238E27FC236}">
                <a16:creationId xmlns:a16="http://schemas.microsoft.com/office/drawing/2014/main" id="{16AD672F-C20C-EC4F-9C39-B153A4F793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195263"/>
            <a:ext cx="3887788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lnSpc>
                <a:spcPct val="90000"/>
              </a:lnSpc>
            </a:pPr>
            <a:r>
              <a:rPr lang="zh-CN" altLang="en-US" sz="4000" i="0" dirty="0">
                <a:ea typeface="华文行楷" pitchFamily="2" charset="-122"/>
              </a:rPr>
              <a:t>有限状态系统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53B97D9-8810-DF42-8700-BFC276A3B9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4138707"/>
            <a:ext cx="7239000" cy="275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245892"/>
      </p:ext>
    </p:extLst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590117D-E340-1F41-8CE9-0D893CA21977}"/>
              </a:ext>
            </a:extLst>
          </p:cNvPr>
          <p:cNvSpPr txBox="1"/>
          <p:nvPr/>
        </p:nvSpPr>
        <p:spPr>
          <a:xfrm>
            <a:off x="755576" y="1196752"/>
            <a:ext cx="799288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3200" i="0" dirty="0">
                <a:latin typeface="KaiTi_GB2312" panose="02010609030101010101" pitchFamily="49" charset="-122"/>
                <a:ea typeface="KaiTi_GB2312" panose="02010609030101010101" pitchFamily="49" charset="-122"/>
              </a:rPr>
              <a:t>定义：在系统的运行过程中，系统的状态在</a:t>
            </a:r>
            <a:r>
              <a:rPr lang="zh-CN" altLang="en-US" sz="3200" i="0" dirty="0">
                <a:solidFill>
                  <a:srgbClr val="011893"/>
                </a:solidFill>
                <a:latin typeface="KaiTi_GB2312" panose="02010609030101010101" pitchFamily="49" charset="-122"/>
                <a:ea typeface="KaiTi_GB2312" panose="02010609030101010101" pitchFamily="49" charset="-122"/>
              </a:rPr>
              <a:t>有限状态间</a:t>
            </a:r>
            <a:r>
              <a:rPr lang="zh-CN" altLang="en-US" sz="3200" i="0" dirty="0">
                <a:latin typeface="KaiTi_GB2312" panose="02010609030101010101" pitchFamily="49" charset="-122"/>
                <a:ea typeface="KaiTi_GB2312" panose="02010609030101010101" pitchFamily="49" charset="-122"/>
              </a:rPr>
              <a:t>不断变化，每个状态可以迁移到零个或多个状态，</a:t>
            </a:r>
            <a:r>
              <a:rPr lang="zh-CN" altLang="en-US" sz="3200" i="0" dirty="0">
                <a:solidFill>
                  <a:srgbClr val="011893"/>
                </a:solidFill>
                <a:latin typeface="KaiTi_GB2312" panose="02010609030101010101" pitchFamily="49" charset="-122"/>
                <a:ea typeface="KaiTi_GB2312" panose="02010609030101010101" pitchFamily="49" charset="-122"/>
              </a:rPr>
              <a:t>系统的输入决定</a:t>
            </a:r>
            <a:r>
              <a:rPr lang="zh-CN" altLang="en-US" sz="3200" i="0" dirty="0">
                <a:latin typeface="KaiTi_GB2312" panose="02010609030101010101" pitchFamily="49" charset="-122"/>
                <a:ea typeface="KaiTi_GB2312" panose="02010609030101010101" pitchFamily="49" charset="-122"/>
              </a:rPr>
              <a:t>执行哪个状态的迁移。</a:t>
            </a:r>
            <a:endParaRPr lang="en-US" altLang="zh-CN" sz="3200" i="0" dirty="0">
              <a:latin typeface="KaiTi_GB2312" panose="02010609030101010101" pitchFamily="49" charset="-122"/>
              <a:ea typeface="KaiTi_GB2312" panose="02010609030101010101" pitchFamily="49" charset="-122"/>
            </a:endParaRPr>
          </a:p>
          <a:p>
            <a:pPr algn="l"/>
            <a:r>
              <a:rPr lang="zh-CN" altLang="en-US" sz="3200" i="0" dirty="0">
                <a:latin typeface="KaiTi_GB2312" panose="02010609030101010101" pitchFamily="49" charset="-122"/>
                <a:ea typeface="KaiTi_GB2312" panose="02010609030101010101" pitchFamily="49" charset="-122"/>
              </a:rPr>
              <a:t>例</a:t>
            </a:r>
            <a:r>
              <a:rPr lang="en-US" altLang="zh-CN" sz="3200" i="0" dirty="0">
                <a:latin typeface="KaiTi_GB2312" panose="02010609030101010101" pitchFamily="49" charset="-122"/>
                <a:ea typeface="KaiTi_GB2312" panose="02010609030101010101" pitchFamily="49" charset="-122"/>
              </a:rPr>
              <a:t>:</a:t>
            </a:r>
            <a:r>
              <a:rPr lang="zh-CN" altLang="en-US" sz="3200" i="0" dirty="0">
                <a:latin typeface="KaiTi_GB2312" panose="02010609030101010101" pitchFamily="49" charset="-122"/>
                <a:ea typeface="KaiTi_GB2312" panose="02010609030101010101" pitchFamily="49" charset="-122"/>
              </a:rPr>
              <a:t>交通信号灯</a:t>
            </a:r>
            <a:endParaRPr lang="en-US" altLang="zh-CN" sz="3200" i="0" dirty="0">
              <a:latin typeface="KaiTi_GB2312" panose="02010609030101010101" pitchFamily="49" charset="-122"/>
              <a:ea typeface="KaiTi_GB2312" panose="02010609030101010101" pitchFamily="49" charset="-122"/>
            </a:endParaRPr>
          </a:p>
          <a:p>
            <a:pPr algn="l"/>
            <a:endParaRPr lang="zh-CN" altLang="en-US" sz="3200" i="0" dirty="0">
              <a:latin typeface="KaiTi_GB2312" panose="02010609030101010101" pitchFamily="49" charset="-122"/>
              <a:ea typeface="KaiTi_GB2312" panose="02010609030101010101" pitchFamily="49" charset="-122"/>
            </a:endParaRPr>
          </a:p>
          <a:p>
            <a:pPr algn="l"/>
            <a:endParaRPr lang="en-AU" altLang="zh-CN" sz="3200" i="0" dirty="0">
              <a:latin typeface="KaiTi_GB2312" panose="02010609030101010101" pitchFamily="49" charset="-122"/>
              <a:ea typeface="KaiTi_GB2312" panose="02010609030101010101" pitchFamily="49" charset="-122"/>
            </a:endParaRPr>
          </a:p>
        </p:txBody>
      </p:sp>
      <p:sp>
        <p:nvSpPr>
          <p:cNvPr id="6" name="Rectangle 17">
            <a:extLst>
              <a:ext uri="{FF2B5EF4-FFF2-40B4-BE49-F238E27FC236}">
                <a16:creationId xmlns:a16="http://schemas.microsoft.com/office/drawing/2014/main" id="{16AD672F-C20C-EC4F-9C39-B153A4F793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195263"/>
            <a:ext cx="3887788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lnSpc>
                <a:spcPct val="90000"/>
              </a:lnSpc>
            </a:pPr>
            <a:r>
              <a:rPr lang="zh-CN" altLang="en-US" sz="4000" i="0" dirty="0">
                <a:ea typeface="华文行楷" pitchFamily="2" charset="-122"/>
              </a:rPr>
              <a:t>有限状态系统</a:t>
            </a:r>
          </a:p>
        </p:txBody>
      </p:sp>
      <p:pic>
        <p:nvPicPr>
          <p:cNvPr id="5" name="Picture 16" descr="A picture containing shape&#10;&#10;Description automatically generated">
            <a:extLst>
              <a:ext uri="{FF2B5EF4-FFF2-40B4-BE49-F238E27FC236}">
                <a16:creationId xmlns:a16="http://schemas.microsoft.com/office/drawing/2014/main" id="{6527B8B8-F098-6942-B505-7A61D34BF180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5896" y="3782042"/>
            <a:ext cx="3708612" cy="2880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580182"/>
      </p:ext>
    </p:extLst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7">
            <a:extLst>
              <a:ext uri="{FF2B5EF4-FFF2-40B4-BE49-F238E27FC236}">
                <a16:creationId xmlns:a16="http://schemas.microsoft.com/office/drawing/2014/main" id="{16AD672F-C20C-EC4F-9C39-B153A4F793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195263"/>
            <a:ext cx="3887788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lnSpc>
                <a:spcPct val="90000"/>
              </a:lnSpc>
            </a:pPr>
            <a:r>
              <a:rPr lang="zh-CN" altLang="en-US" sz="4000" i="0" dirty="0">
                <a:ea typeface="华文行楷" pitchFamily="2" charset="-122"/>
              </a:rPr>
              <a:t>有限状态系统</a:t>
            </a:r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30FF8766-239A-284D-BAFB-40CD52663D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1556792"/>
            <a:ext cx="7488832" cy="27084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buFont typeface="Symbol" pitchFamily="18" charset="2"/>
              <a:buChar char="-"/>
            </a:pPr>
            <a:r>
              <a:rPr lang="en-US" altLang="zh-CN" sz="2400" i="0" dirty="0"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400" i="0" dirty="0">
                <a:ea typeface="楷体_GB2312" pitchFamily="49" charset="-122"/>
                <a:cs typeface="Times New Roman" panose="02020603050405020304" pitchFamily="18" charset="0"/>
              </a:rPr>
              <a:t>数字电路设计</a:t>
            </a:r>
            <a:endParaRPr lang="zh-CN" altLang="en-US" sz="2400" baseline="-25000" dirty="0">
              <a:ea typeface="楷体_GB2312" pitchFamily="49" charset="-122"/>
              <a:cs typeface="Times New Roman" panose="02020603050405020304" pitchFamily="18" charset="0"/>
            </a:endParaRPr>
          </a:p>
          <a:p>
            <a:pPr algn="l">
              <a:buFont typeface="Wingdings" pitchFamily="2" charset="2"/>
              <a:buChar char=" "/>
            </a:pPr>
            <a:r>
              <a:rPr lang="zh-CN" altLang="en-US" sz="1000" i="0" dirty="0">
                <a:solidFill>
                  <a:srgbClr val="333399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</a:p>
          <a:p>
            <a:pPr algn="l">
              <a:buFont typeface="Symbol" pitchFamily="18" charset="2"/>
              <a:buChar char="-"/>
            </a:pPr>
            <a:r>
              <a:rPr lang="zh-CN" altLang="en-US" sz="2400" i="0" dirty="0">
                <a:ea typeface="楷体_GB2312" pitchFamily="49" charset="-122"/>
                <a:cs typeface="Times New Roman" panose="02020603050405020304" pitchFamily="18" charset="0"/>
              </a:rPr>
              <a:t> 电脑游戏设计</a:t>
            </a:r>
          </a:p>
          <a:p>
            <a:pPr algn="l">
              <a:buFont typeface="Wingdings" pitchFamily="2" charset="2"/>
              <a:buChar char=" "/>
            </a:pPr>
            <a:r>
              <a:rPr lang="zh-CN" altLang="en-US" sz="1000" i="0" dirty="0">
                <a:solidFill>
                  <a:srgbClr val="333399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</a:p>
          <a:p>
            <a:pPr algn="l">
              <a:buFont typeface="Symbol" pitchFamily="18" charset="2"/>
              <a:buChar char="-"/>
            </a:pPr>
            <a:r>
              <a:rPr lang="zh-CN" altLang="en-US" sz="2400" i="0" dirty="0">
                <a:ea typeface="楷体_GB2312" pitchFamily="49" charset="-122"/>
                <a:cs typeface="Times New Roman" panose="02020603050405020304" pitchFamily="18" charset="0"/>
              </a:rPr>
              <a:t> 各种通信协议：</a:t>
            </a:r>
            <a:r>
              <a:rPr lang="en-US" altLang="zh-CN" sz="2400" i="0" dirty="0">
                <a:ea typeface="楷体_GB2312" pitchFamily="49" charset="-122"/>
                <a:cs typeface="Times New Roman" panose="02020603050405020304" pitchFamily="18" charset="0"/>
              </a:rPr>
              <a:t>TCP,</a:t>
            </a:r>
            <a:r>
              <a:rPr lang="zh-CN" altLang="en-US" sz="2400" i="0" dirty="0"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i="0" dirty="0">
                <a:ea typeface="楷体_GB2312" pitchFamily="49" charset="-122"/>
                <a:cs typeface="Times New Roman" panose="02020603050405020304" pitchFamily="18" charset="0"/>
              </a:rPr>
              <a:t>HTTP,</a:t>
            </a:r>
            <a:r>
              <a:rPr lang="zh-CN" altLang="en-US" sz="2400" i="0" dirty="0"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i="0" dirty="0">
                <a:ea typeface="楷体_GB2312" pitchFamily="49" charset="-122"/>
                <a:cs typeface="Times New Roman" panose="02020603050405020304" pitchFamily="18" charset="0"/>
              </a:rPr>
              <a:t>Bluetooth,</a:t>
            </a:r>
            <a:r>
              <a:rPr lang="zh-CN" altLang="en-US" sz="2400" i="0" dirty="0"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i="0" dirty="0" err="1">
                <a:ea typeface="楷体_GB2312" pitchFamily="49" charset="-122"/>
                <a:cs typeface="Times New Roman" panose="02020603050405020304" pitchFamily="18" charset="0"/>
              </a:rPr>
              <a:t>WiFi</a:t>
            </a:r>
            <a:endParaRPr lang="zh-CN" altLang="en-US" sz="2400" i="0" dirty="0">
              <a:ea typeface="楷体_GB2312" pitchFamily="49" charset="-122"/>
              <a:cs typeface="Times New Roman" panose="02020603050405020304" pitchFamily="18" charset="0"/>
            </a:endParaRPr>
          </a:p>
          <a:p>
            <a:pPr algn="l">
              <a:buFont typeface="Wingdings" pitchFamily="2" charset="2"/>
              <a:buChar char=" "/>
            </a:pPr>
            <a:r>
              <a:rPr lang="zh-CN" altLang="en-US" sz="1000" i="0" dirty="0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 </a:t>
            </a:r>
          </a:p>
          <a:p>
            <a:pPr algn="l">
              <a:buFont typeface="Symbol" pitchFamily="18" charset="2"/>
              <a:buChar char="-"/>
            </a:pPr>
            <a:r>
              <a:rPr lang="zh-CN" altLang="en-US" sz="2400" i="0" dirty="0">
                <a:latin typeface="楷体_GB2312" pitchFamily="49" charset="-122"/>
                <a:ea typeface="楷体_GB2312" pitchFamily="49" charset="-122"/>
              </a:rPr>
              <a:t> 文本搜索</a:t>
            </a:r>
          </a:p>
          <a:p>
            <a:pPr algn="l">
              <a:buFont typeface="Wingdings" pitchFamily="2" charset="2"/>
              <a:buChar char=" "/>
            </a:pPr>
            <a:r>
              <a:rPr lang="zh-CN" altLang="en-US" sz="1000" i="0" dirty="0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 </a:t>
            </a:r>
          </a:p>
          <a:p>
            <a:pPr algn="l">
              <a:buFont typeface="Symbol" pitchFamily="18" charset="2"/>
              <a:buChar char="-"/>
            </a:pPr>
            <a:r>
              <a:rPr lang="zh-CN" altLang="en-US" sz="2400" i="0" dirty="0">
                <a:latin typeface="楷体_GB2312" pitchFamily="49" charset="-122"/>
                <a:ea typeface="楷体_GB2312" pitchFamily="49" charset="-122"/>
              </a:rPr>
              <a:t> 词法分析</a:t>
            </a:r>
            <a:endParaRPr lang="en-US" altLang="zh-CN" sz="2400" i="0" dirty="0">
              <a:latin typeface="楷体_GB2312" pitchFamily="49" charset="-122"/>
              <a:ea typeface="楷体_GB2312" pitchFamily="49" charset="-122"/>
            </a:endParaRPr>
          </a:p>
          <a:p>
            <a:pPr algn="l">
              <a:buFont typeface="Wingdings" pitchFamily="2" charset="2"/>
              <a:buChar char=" "/>
            </a:pPr>
            <a:r>
              <a:rPr lang="zh-CN" altLang="en-US" sz="1000" i="0" dirty="0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05757964"/>
      </p:ext>
    </p:extLst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7">
            <a:extLst>
              <a:ext uri="{FF2B5EF4-FFF2-40B4-BE49-F238E27FC236}">
                <a16:creationId xmlns:a16="http://schemas.microsoft.com/office/drawing/2014/main" id="{16AD672F-C20C-EC4F-9C39-B153A4F793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4" y="195263"/>
            <a:ext cx="5183857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</a:pPr>
            <a:r>
              <a:rPr lang="zh-CN" altLang="en-US" sz="4000" i="0" dirty="0">
                <a:ea typeface="华文行楷" pitchFamily="2" charset="-122"/>
              </a:rPr>
              <a:t>有限自动机抽象装置</a:t>
            </a:r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30FF8766-239A-284D-BAFB-40CD52663D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1556792"/>
            <a:ext cx="3024336" cy="16619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buFont typeface="Symbol" pitchFamily="18" charset="2"/>
              <a:buChar char="-"/>
            </a:pPr>
            <a:r>
              <a:rPr lang="en-US" altLang="zh-CN" sz="2400" i="0" dirty="0"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400" i="0" dirty="0">
                <a:ea typeface="楷体_GB2312" pitchFamily="49" charset="-122"/>
                <a:cs typeface="Times New Roman" panose="02020603050405020304" pitchFamily="18" charset="0"/>
              </a:rPr>
              <a:t>一条输入带</a:t>
            </a:r>
            <a:endParaRPr lang="zh-CN" altLang="en-US" sz="2400" baseline="-25000" dirty="0">
              <a:ea typeface="楷体_GB2312" pitchFamily="49" charset="-122"/>
              <a:cs typeface="Times New Roman" panose="02020603050405020304" pitchFamily="18" charset="0"/>
            </a:endParaRPr>
          </a:p>
          <a:p>
            <a:pPr algn="l">
              <a:buFont typeface="Wingdings" pitchFamily="2" charset="2"/>
              <a:buChar char=" "/>
            </a:pPr>
            <a:r>
              <a:rPr lang="zh-CN" altLang="en-US" sz="1000" i="0" dirty="0">
                <a:solidFill>
                  <a:srgbClr val="333399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</a:p>
          <a:p>
            <a:pPr algn="l">
              <a:buFont typeface="Symbol" pitchFamily="18" charset="2"/>
              <a:buChar char="-"/>
            </a:pPr>
            <a:r>
              <a:rPr lang="zh-CN" altLang="en-US" sz="2400" i="0" dirty="0">
                <a:ea typeface="楷体_GB2312" pitchFamily="49" charset="-122"/>
                <a:cs typeface="Times New Roman" panose="02020603050405020304" pitchFamily="18" charset="0"/>
              </a:rPr>
              <a:t> 一个读头</a:t>
            </a:r>
          </a:p>
          <a:p>
            <a:pPr algn="l">
              <a:buFont typeface="Wingdings" pitchFamily="2" charset="2"/>
              <a:buChar char=" "/>
            </a:pPr>
            <a:r>
              <a:rPr lang="zh-CN" altLang="en-US" sz="1000" i="0" dirty="0">
                <a:solidFill>
                  <a:srgbClr val="333399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</a:p>
          <a:p>
            <a:pPr algn="l">
              <a:buFont typeface="Symbol" pitchFamily="18" charset="2"/>
              <a:buChar char="-"/>
            </a:pPr>
            <a:r>
              <a:rPr lang="zh-CN" altLang="en-US" sz="2400" i="0" dirty="0">
                <a:ea typeface="楷体_GB2312" pitchFamily="49" charset="-122"/>
                <a:cs typeface="Times New Roman" panose="02020603050405020304" pitchFamily="18" charset="0"/>
              </a:rPr>
              <a:t> 一个有穷控制器</a:t>
            </a:r>
          </a:p>
          <a:p>
            <a:pPr algn="l">
              <a:buFont typeface="Wingdings" pitchFamily="2" charset="2"/>
              <a:buChar char=" "/>
            </a:pPr>
            <a:r>
              <a:rPr lang="zh-CN" altLang="en-US" sz="1000" i="0" dirty="0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</a:p>
        </p:txBody>
      </p:sp>
      <p:pic>
        <p:nvPicPr>
          <p:cNvPr id="4" name="Picture 5" descr="Diagram&#10;&#10;Description automatically generated">
            <a:extLst>
              <a:ext uri="{FF2B5EF4-FFF2-40B4-BE49-F238E27FC236}">
                <a16:creationId xmlns:a16="http://schemas.microsoft.com/office/drawing/2014/main" id="{A6FB84BA-59D9-1E44-B378-6358596D45E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936" y="1124744"/>
            <a:ext cx="4799655" cy="2895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355A1FE-9E5A-BC44-8741-DC588438C810}"/>
              </a:ext>
            </a:extLst>
          </p:cNvPr>
          <p:cNvSpPr txBox="1"/>
          <p:nvPr/>
        </p:nvSpPr>
        <p:spPr>
          <a:xfrm flipH="1">
            <a:off x="701038" y="4027944"/>
            <a:ext cx="7452362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Tx/>
              <a:buChar char="-"/>
            </a:pPr>
            <a:r>
              <a:rPr lang="zh-CN" altLang="en-US" sz="2400" i="0" dirty="0">
                <a:latin typeface="KaiTi_GB2312" panose="02010609030101010101" pitchFamily="49" charset="-122"/>
                <a:ea typeface="KaiTi_GB2312" panose="02010609030101010101" pitchFamily="49" charset="-122"/>
              </a:rPr>
              <a:t>输入带划分为单元格，每个格子可以放置一个字符，整条输入带可以表示一个符号串。</a:t>
            </a:r>
            <a:endParaRPr lang="en-AU" altLang="zh-CN" sz="2400" i="0" dirty="0">
              <a:latin typeface="KaiTi_GB2312" panose="02010609030101010101" pitchFamily="49" charset="-122"/>
              <a:ea typeface="KaiTi_GB2312" panose="02010609030101010101" pitchFamily="49" charset="-122"/>
            </a:endParaRPr>
          </a:p>
          <a:p>
            <a:pPr marL="342900" indent="-342900">
              <a:buFontTx/>
              <a:buChar char="-"/>
            </a:pPr>
            <a:endParaRPr lang="en-AU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24296753"/>
      </p:ext>
    </p:extLst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7">
            <a:extLst>
              <a:ext uri="{FF2B5EF4-FFF2-40B4-BE49-F238E27FC236}">
                <a16:creationId xmlns:a16="http://schemas.microsoft.com/office/drawing/2014/main" id="{16AD672F-C20C-EC4F-9C39-B153A4F793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4" y="195263"/>
            <a:ext cx="5183857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</a:pPr>
            <a:r>
              <a:rPr lang="zh-CN" altLang="en-US" sz="4000" i="0" dirty="0">
                <a:ea typeface="华文行楷" pitchFamily="2" charset="-122"/>
              </a:rPr>
              <a:t>有限自动机抽象装置</a:t>
            </a:r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30FF8766-239A-284D-BAFB-40CD52663D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1556792"/>
            <a:ext cx="3024336" cy="16619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buFont typeface="Symbol" pitchFamily="18" charset="2"/>
              <a:buChar char="-"/>
            </a:pPr>
            <a:r>
              <a:rPr lang="en-US" altLang="zh-CN" sz="2400" i="0" dirty="0"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400" i="0" dirty="0">
                <a:ea typeface="楷体_GB2312" pitchFamily="49" charset="-122"/>
                <a:cs typeface="Times New Roman" panose="02020603050405020304" pitchFamily="18" charset="0"/>
              </a:rPr>
              <a:t>一条输入带</a:t>
            </a:r>
            <a:endParaRPr lang="zh-CN" altLang="en-US" sz="2400" baseline="-25000" dirty="0">
              <a:ea typeface="楷体_GB2312" pitchFamily="49" charset="-122"/>
              <a:cs typeface="Times New Roman" panose="02020603050405020304" pitchFamily="18" charset="0"/>
            </a:endParaRPr>
          </a:p>
          <a:p>
            <a:pPr algn="l">
              <a:buFont typeface="Wingdings" pitchFamily="2" charset="2"/>
              <a:buChar char=" "/>
            </a:pPr>
            <a:r>
              <a:rPr lang="zh-CN" altLang="en-US" sz="1000" i="0" dirty="0">
                <a:solidFill>
                  <a:srgbClr val="333399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</a:p>
          <a:p>
            <a:pPr algn="l">
              <a:buFont typeface="Symbol" pitchFamily="18" charset="2"/>
              <a:buChar char="-"/>
            </a:pPr>
            <a:r>
              <a:rPr lang="zh-CN" altLang="en-US" sz="2400" i="0" dirty="0">
                <a:ea typeface="楷体_GB2312" pitchFamily="49" charset="-122"/>
                <a:cs typeface="Times New Roman" panose="02020603050405020304" pitchFamily="18" charset="0"/>
              </a:rPr>
              <a:t> 一个读头</a:t>
            </a:r>
          </a:p>
          <a:p>
            <a:pPr algn="l">
              <a:buFont typeface="Wingdings" pitchFamily="2" charset="2"/>
              <a:buChar char=" "/>
            </a:pPr>
            <a:r>
              <a:rPr lang="zh-CN" altLang="en-US" sz="1000" i="0" dirty="0">
                <a:solidFill>
                  <a:srgbClr val="333399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</a:p>
          <a:p>
            <a:pPr algn="l">
              <a:buFont typeface="Symbol" pitchFamily="18" charset="2"/>
              <a:buChar char="-"/>
            </a:pPr>
            <a:r>
              <a:rPr lang="zh-CN" altLang="en-US" sz="2400" i="0" dirty="0">
                <a:ea typeface="楷体_GB2312" pitchFamily="49" charset="-122"/>
                <a:cs typeface="Times New Roman" panose="02020603050405020304" pitchFamily="18" charset="0"/>
              </a:rPr>
              <a:t> 一个有穷控制器</a:t>
            </a:r>
          </a:p>
          <a:p>
            <a:pPr algn="l">
              <a:buFont typeface="Wingdings" pitchFamily="2" charset="2"/>
              <a:buChar char=" "/>
            </a:pPr>
            <a:r>
              <a:rPr lang="zh-CN" altLang="en-US" sz="1000" i="0" dirty="0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</a:p>
        </p:txBody>
      </p:sp>
      <p:pic>
        <p:nvPicPr>
          <p:cNvPr id="4" name="Picture 5" descr="Diagram&#10;&#10;Description automatically generated">
            <a:extLst>
              <a:ext uri="{FF2B5EF4-FFF2-40B4-BE49-F238E27FC236}">
                <a16:creationId xmlns:a16="http://schemas.microsoft.com/office/drawing/2014/main" id="{A6FB84BA-59D9-1E44-B378-6358596D45E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936" y="1124744"/>
            <a:ext cx="4799655" cy="2895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355A1FE-9E5A-BC44-8741-DC588438C810}"/>
              </a:ext>
            </a:extLst>
          </p:cNvPr>
          <p:cNvSpPr txBox="1"/>
          <p:nvPr/>
        </p:nvSpPr>
        <p:spPr>
          <a:xfrm flipH="1">
            <a:off x="701038" y="4027944"/>
            <a:ext cx="745236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Tx/>
              <a:buChar char="-"/>
            </a:pPr>
            <a:r>
              <a:rPr lang="zh-CN" altLang="en-US" sz="2400" i="0" dirty="0">
                <a:latin typeface="KaiTi_GB2312" panose="02010609030101010101" pitchFamily="49" charset="-122"/>
                <a:ea typeface="KaiTi_GB2312" panose="02010609030101010101" pitchFamily="49" charset="-122"/>
              </a:rPr>
              <a:t>输入带划分为单元格，每个格子可以放置一个字符，整条输入带可以表示一个符号串。</a:t>
            </a:r>
            <a:endParaRPr lang="en-US" altLang="zh-CN" sz="2400" i="0" dirty="0">
              <a:latin typeface="KaiTi_GB2312" panose="02010609030101010101" pitchFamily="49" charset="-122"/>
              <a:ea typeface="KaiTi_GB2312" panose="02010609030101010101" pitchFamily="49" charset="-122"/>
            </a:endParaRPr>
          </a:p>
          <a:p>
            <a:pPr marL="342900" indent="-342900" algn="l">
              <a:buFontTx/>
              <a:buChar char="-"/>
            </a:pPr>
            <a:r>
              <a:rPr lang="zh-CN" altLang="en-US" sz="2400" i="0" dirty="0">
                <a:latin typeface="KaiTi_GB2312" panose="02010609030101010101" pitchFamily="49" charset="-122"/>
                <a:ea typeface="KaiTi_GB2312" panose="02010609030101010101" pitchFamily="49" charset="-122"/>
              </a:rPr>
              <a:t>读头可以从左到右扫描输入带，将每次的字符传输给控制器。</a:t>
            </a:r>
          </a:p>
          <a:p>
            <a:pPr algn="l"/>
            <a:endParaRPr lang="en-AU" altLang="zh-CN" sz="2400" i="0" dirty="0">
              <a:latin typeface="KaiTi_GB2312" panose="02010609030101010101" pitchFamily="49" charset="-122"/>
              <a:ea typeface="KaiTi_GB2312" panose="02010609030101010101" pitchFamily="49" charset="-122"/>
            </a:endParaRPr>
          </a:p>
          <a:p>
            <a:pPr marL="342900" indent="-342900">
              <a:buFontTx/>
              <a:buChar char="-"/>
            </a:pPr>
            <a:endParaRPr lang="en-AU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98288934"/>
      </p:ext>
    </p:extLst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7">
            <a:extLst>
              <a:ext uri="{FF2B5EF4-FFF2-40B4-BE49-F238E27FC236}">
                <a16:creationId xmlns:a16="http://schemas.microsoft.com/office/drawing/2014/main" id="{16AD672F-C20C-EC4F-9C39-B153A4F793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4" y="195263"/>
            <a:ext cx="5183857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</a:pPr>
            <a:r>
              <a:rPr lang="zh-CN" altLang="en-US" sz="4000" i="0" dirty="0">
                <a:ea typeface="华文行楷" pitchFamily="2" charset="-122"/>
              </a:rPr>
              <a:t>有限自动机抽象装置</a:t>
            </a:r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30FF8766-239A-284D-BAFB-40CD52663D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1556792"/>
            <a:ext cx="3024336" cy="16619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buFont typeface="Symbol" pitchFamily="18" charset="2"/>
              <a:buChar char="-"/>
            </a:pPr>
            <a:r>
              <a:rPr lang="en-US" altLang="zh-CN" sz="2400" i="0" dirty="0"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400" i="0" dirty="0">
                <a:ea typeface="楷体_GB2312" pitchFamily="49" charset="-122"/>
                <a:cs typeface="Times New Roman" panose="02020603050405020304" pitchFamily="18" charset="0"/>
              </a:rPr>
              <a:t>一条输入带</a:t>
            </a:r>
            <a:endParaRPr lang="zh-CN" altLang="en-US" sz="2400" baseline="-25000" dirty="0">
              <a:ea typeface="楷体_GB2312" pitchFamily="49" charset="-122"/>
              <a:cs typeface="Times New Roman" panose="02020603050405020304" pitchFamily="18" charset="0"/>
            </a:endParaRPr>
          </a:p>
          <a:p>
            <a:pPr algn="l">
              <a:buFont typeface="Wingdings" pitchFamily="2" charset="2"/>
              <a:buChar char=" "/>
            </a:pPr>
            <a:r>
              <a:rPr lang="zh-CN" altLang="en-US" sz="1000" i="0" dirty="0">
                <a:solidFill>
                  <a:srgbClr val="333399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</a:p>
          <a:p>
            <a:pPr algn="l">
              <a:buFont typeface="Symbol" pitchFamily="18" charset="2"/>
              <a:buChar char="-"/>
            </a:pPr>
            <a:r>
              <a:rPr lang="zh-CN" altLang="en-US" sz="2400" i="0" dirty="0">
                <a:ea typeface="楷体_GB2312" pitchFamily="49" charset="-122"/>
                <a:cs typeface="Times New Roman" panose="02020603050405020304" pitchFamily="18" charset="0"/>
              </a:rPr>
              <a:t> 一个读头</a:t>
            </a:r>
          </a:p>
          <a:p>
            <a:pPr algn="l">
              <a:buFont typeface="Wingdings" pitchFamily="2" charset="2"/>
              <a:buChar char=" "/>
            </a:pPr>
            <a:r>
              <a:rPr lang="zh-CN" altLang="en-US" sz="1000" i="0" dirty="0">
                <a:solidFill>
                  <a:srgbClr val="333399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</a:p>
          <a:p>
            <a:pPr algn="l">
              <a:buFont typeface="Symbol" pitchFamily="18" charset="2"/>
              <a:buChar char="-"/>
            </a:pPr>
            <a:r>
              <a:rPr lang="zh-CN" altLang="en-US" sz="2400" i="0" dirty="0">
                <a:ea typeface="楷体_GB2312" pitchFamily="49" charset="-122"/>
                <a:cs typeface="Times New Roman" panose="02020603050405020304" pitchFamily="18" charset="0"/>
              </a:rPr>
              <a:t> 一个有穷控制器</a:t>
            </a:r>
          </a:p>
          <a:p>
            <a:pPr algn="l">
              <a:buFont typeface="Wingdings" pitchFamily="2" charset="2"/>
              <a:buChar char=" "/>
            </a:pPr>
            <a:r>
              <a:rPr lang="zh-CN" altLang="en-US" sz="1000" i="0" dirty="0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</a:p>
        </p:txBody>
      </p:sp>
      <p:pic>
        <p:nvPicPr>
          <p:cNvPr id="4" name="Picture 5" descr="Diagram&#10;&#10;Description automatically generated">
            <a:extLst>
              <a:ext uri="{FF2B5EF4-FFF2-40B4-BE49-F238E27FC236}">
                <a16:creationId xmlns:a16="http://schemas.microsoft.com/office/drawing/2014/main" id="{A6FB84BA-59D9-1E44-B378-6358596D45E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936" y="1124744"/>
            <a:ext cx="4799655" cy="2895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355A1FE-9E5A-BC44-8741-DC588438C810}"/>
              </a:ext>
            </a:extLst>
          </p:cNvPr>
          <p:cNvSpPr txBox="1"/>
          <p:nvPr/>
        </p:nvSpPr>
        <p:spPr>
          <a:xfrm flipH="1">
            <a:off x="701038" y="4027944"/>
            <a:ext cx="745236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Tx/>
              <a:buChar char="-"/>
            </a:pPr>
            <a:r>
              <a:rPr lang="zh-CN" altLang="en-US" sz="2400" i="0" dirty="0">
                <a:latin typeface="KaiTi_GB2312" panose="02010609030101010101" pitchFamily="49" charset="-122"/>
                <a:ea typeface="KaiTi_GB2312" panose="02010609030101010101" pitchFamily="49" charset="-122"/>
              </a:rPr>
              <a:t>输入带划分为单元格，每个格子可以放置一个字符，整条输入带可以表示一个符号串。</a:t>
            </a:r>
            <a:endParaRPr lang="en-US" altLang="zh-CN" sz="2400" i="0" dirty="0">
              <a:latin typeface="KaiTi_GB2312" panose="02010609030101010101" pitchFamily="49" charset="-122"/>
              <a:ea typeface="KaiTi_GB2312" panose="02010609030101010101" pitchFamily="49" charset="-122"/>
            </a:endParaRPr>
          </a:p>
          <a:p>
            <a:pPr marL="342900" indent="-342900" algn="l">
              <a:buFontTx/>
              <a:buChar char="-"/>
            </a:pPr>
            <a:r>
              <a:rPr lang="zh-CN" altLang="en-US" sz="2400" i="0" dirty="0">
                <a:latin typeface="KaiTi_GB2312" panose="02010609030101010101" pitchFamily="49" charset="-122"/>
                <a:ea typeface="KaiTi_GB2312" panose="02010609030101010101" pitchFamily="49" charset="-122"/>
              </a:rPr>
              <a:t>读头可以从左到右扫描输入带，将每次的字符传输给控制器。</a:t>
            </a:r>
            <a:endParaRPr lang="en-US" altLang="zh-CN" sz="2400" i="0" dirty="0">
              <a:latin typeface="KaiTi_GB2312" panose="02010609030101010101" pitchFamily="49" charset="-122"/>
              <a:ea typeface="KaiTi_GB2312" panose="02010609030101010101" pitchFamily="49" charset="-122"/>
            </a:endParaRPr>
          </a:p>
          <a:p>
            <a:pPr marL="342900" indent="-342900" algn="l">
              <a:buFontTx/>
              <a:buChar char="-"/>
            </a:pPr>
            <a:r>
              <a:rPr lang="zh-CN" altLang="en-US" sz="2400" i="0" dirty="0">
                <a:latin typeface="KaiTi_GB2312" panose="02010609030101010101" pitchFamily="49" charset="-122"/>
                <a:ea typeface="KaiTi_GB2312" panose="02010609030101010101" pitchFamily="49" charset="-122"/>
              </a:rPr>
              <a:t>控制器根据读入的字符和当前的状态，进行状态转移。然后控制读头进行下一个字符的读取。</a:t>
            </a:r>
          </a:p>
          <a:p>
            <a:pPr algn="l"/>
            <a:endParaRPr lang="en-AU" altLang="zh-CN" sz="2400" i="0" dirty="0">
              <a:latin typeface="KaiTi_GB2312" panose="02010609030101010101" pitchFamily="49" charset="-122"/>
              <a:ea typeface="KaiTi_GB2312" panose="02010609030101010101" pitchFamily="49" charset="-122"/>
            </a:endParaRPr>
          </a:p>
          <a:p>
            <a:pPr marL="342900" indent="-342900">
              <a:buFontTx/>
              <a:buChar char="-"/>
            </a:pPr>
            <a:endParaRPr lang="en-AU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48224664"/>
      </p:ext>
    </p:extLst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1597642" y="195263"/>
            <a:ext cx="1973618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4000" i="0" dirty="0">
                <a:latin typeface="华文行楷" pitchFamily="2" charset="-122"/>
                <a:ea typeface="华文行楷" pitchFamily="2" charset="-122"/>
              </a:rPr>
              <a:t>第 二 讲</a:t>
            </a:r>
          </a:p>
        </p:txBody>
      </p:sp>
      <p:sp>
        <p:nvSpPr>
          <p:cNvPr id="2067" name="Text Box 19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720725" y="1635125"/>
            <a:ext cx="824388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600" i="0" dirty="0">
                <a:solidFill>
                  <a:srgbClr val="800080">
                    <a:alpha val="20277"/>
                  </a:srgbClr>
                </a:solidFill>
                <a:latin typeface="Arial" pitchFamily="34" charset="0"/>
                <a:ea typeface="楷体_GB2312" pitchFamily="49" charset="-122"/>
              </a:rPr>
              <a:t>  </a:t>
            </a:r>
            <a:r>
              <a:rPr lang="zh-CN" altLang="en-US" sz="3600" i="0" dirty="0">
                <a:solidFill>
                  <a:srgbClr val="800080">
                    <a:alpha val="20277"/>
                  </a:srgbClr>
                </a:solidFill>
                <a:latin typeface="Arial" pitchFamily="34" charset="0"/>
                <a:ea typeface="楷体_GB2312" pitchFamily="49" charset="-122"/>
              </a:rPr>
              <a:t>有限状态系统简介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79EBC97-C22E-CE43-BD06-ADF432F0C6B1}"/>
              </a:ext>
            </a:extLst>
          </p:cNvPr>
          <p:cNvSpPr txBox="1"/>
          <p:nvPr/>
        </p:nvSpPr>
        <p:spPr>
          <a:xfrm>
            <a:off x="8604448" y="6471931"/>
            <a:ext cx="5395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0" i="0" dirty="0">
                <a:solidFill>
                  <a:srgbClr val="000066"/>
                </a:solidFill>
              </a:rPr>
              <a:t>01</a:t>
            </a:r>
            <a:endParaRPr kumimoji="1" lang="zh-CN" altLang="en-US" sz="2000" b="0" i="0" dirty="0">
              <a:solidFill>
                <a:srgbClr val="000066"/>
              </a:solidFill>
            </a:endParaRPr>
          </a:p>
        </p:txBody>
      </p:sp>
      <p:sp>
        <p:nvSpPr>
          <p:cNvPr id="5" name="Text Box 19">
            <a:hlinkClick r:id="rId2" action="ppaction://hlinksldjump"/>
            <a:extLst>
              <a:ext uri="{FF2B5EF4-FFF2-40B4-BE49-F238E27FC236}">
                <a16:creationId xmlns:a16="http://schemas.microsoft.com/office/drawing/2014/main" id="{051274B7-13EF-BB48-BFAA-C5EB834133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725" y="2433637"/>
            <a:ext cx="824388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600" i="0" dirty="0">
                <a:latin typeface="Arial" pitchFamily="34" charset="0"/>
                <a:ea typeface="楷体_GB2312" pitchFamily="49" charset="-122"/>
              </a:rPr>
              <a:t>  </a:t>
            </a:r>
            <a:r>
              <a:rPr lang="zh-CN" altLang="en-US" sz="3600" i="0" dirty="0">
                <a:latin typeface="Arial" pitchFamily="34" charset="0"/>
                <a:ea typeface="楷体_GB2312" pitchFamily="49" charset="-122"/>
              </a:rPr>
              <a:t>有限状态自动机</a:t>
            </a:r>
          </a:p>
        </p:txBody>
      </p:sp>
    </p:spTree>
    <p:extLst>
      <p:ext uri="{BB962C8B-B14F-4D97-AF65-F5344CB8AC3E}">
        <p14:creationId xmlns:p14="http://schemas.microsoft.com/office/powerpoint/2010/main" val="456884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ext Box 2"/>
          <p:cNvSpPr txBox="1">
            <a:spLocks noChangeArrowheads="1"/>
          </p:cNvSpPr>
          <p:nvPr/>
        </p:nvSpPr>
        <p:spPr bwMode="auto">
          <a:xfrm>
            <a:off x="900113" y="2781300"/>
            <a:ext cx="3224212" cy="2836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buFont typeface="Symbol" pitchFamily="18" charset="2"/>
              <a:buChar char="-"/>
            </a:pPr>
            <a:r>
              <a:rPr lang="en-US" altLang="zh-CN" sz="2800" i="0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i="0" dirty="0">
                <a:latin typeface="楷体_GB2312" pitchFamily="49" charset="-122"/>
                <a:ea typeface="楷体_GB2312" pitchFamily="49" charset="-122"/>
              </a:rPr>
              <a:t>有限状态集</a:t>
            </a:r>
            <a:endParaRPr lang="zh-CN" altLang="en-US" sz="2800" baseline="-25000" dirty="0">
              <a:latin typeface="楷体_GB2312" pitchFamily="49" charset="-122"/>
              <a:ea typeface="楷体_GB2312" pitchFamily="49" charset="-122"/>
            </a:endParaRPr>
          </a:p>
          <a:p>
            <a:pPr algn="l">
              <a:buFont typeface="Wingdings" pitchFamily="2" charset="2"/>
              <a:buChar char=" "/>
            </a:pPr>
            <a:r>
              <a:rPr lang="zh-CN" altLang="en-US" sz="1000" i="0" dirty="0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 </a:t>
            </a:r>
          </a:p>
          <a:p>
            <a:pPr algn="l">
              <a:buFont typeface="Symbol" pitchFamily="18" charset="2"/>
              <a:buChar char="-"/>
            </a:pPr>
            <a:r>
              <a:rPr lang="zh-CN" altLang="en-US" sz="2800" i="0" dirty="0">
                <a:latin typeface="楷体_GB2312" pitchFamily="49" charset="-122"/>
                <a:ea typeface="楷体_GB2312" pitchFamily="49" charset="-122"/>
              </a:rPr>
              <a:t> 有限输入符号集</a:t>
            </a:r>
          </a:p>
          <a:p>
            <a:pPr algn="l">
              <a:buFont typeface="Wingdings" pitchFamily="2" charset="2"/>
              <a:buChar char=" "/>
            </a:pPr>
            <a:r>
              <a:rPr lang="zh-CN" altLang="en-US" sz="1000" i="0" dirty="0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 </a:t>
            </a:r>
          </a:p>
          <a:p>
            <a:pPr algn="l">
              <a:buFont typeface="Symbol" pitchFamily="18" charset="2"/>
              <a:buChar char="-"/>
            </a:pPr>
            <a:r>
              <a:rPr lang="zh-CN" altLang="en-US" sz="2800" i="0" dirty="0">
                <a:latin typeface="楷体_GB2312" pitchFamily="49" charset="-122"/>
                <a:ea typeface="楷体_GB2312" pitchFamily="49" charset="-122"/>
              </a:rPr>
              <a:t> 转移函数</a:t>
            </a:r>
          </a:p>
          <a:p>
            <a:pPr algn="l">
              <a:buFont typeface="Wingdings" pitchFamily="2" charset="2"/>
              <a:buChar char=" "/>
            </a:pPr>
            <a:r>
              <a:rPr lang="zh-CN" altLang="en-US" sz="1000" i="0" dirty="0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 </a:t>
            </a:r>
          </a:p>
          <a:p>
            <a:pPr algn="l">
              <a:buFont typeface="Symbol" pitchFamily="18" charset="2"/>
              <a:buChar char="-"/>
            </a:pPr>
            <a:r>
              <a:rPr lang="zh-CN" altLang="en-US" sz="2800" i="0" dirty="0">
                <a:latin typeface="楷体_GB2312" pitchFamily="49" charset="-122"/>
                <a:ea typeface="楷体_GB2312" pitchFamily="49" charset="-122"/>
              </a:rPr>
              <a:t> 一个开始状态</a:t>
            </a:r>
          </a:p>
          <a:p>
            <a:pPr algn="l">
              <a:buFont typeface="Wingdings" pitchFamily="2" charset="2"/>
              <a:buChar char=" "/>
            </a:pPr>
            <a:r>
              <a:rPr lang="zh-CN" altLang="en-US" sz="1000" i="0" dirty="0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 </a:t>
            </a:r>
          </a:p>
          <a:p>
            <a:pPr algn="l">
              <a:buFont typeface="Symbol" pitchFamily="18" charset="2"/>
              <a:buChar char="-"/>
            </a:pPr>
            <a:r>
              <a:rPr lang="zh-CN" altLang="en-US" sz="2800" i="0" dirty="0">
                <a:latin typeface="楷体_GB2312" pitchFamily="49" charset="-122"/>
                <a:ea typeface="楷体_GB2312" pitchFamily="49" charset="-122"/>
              </a:rPr>
              <a:t> 一个终态集合</a:t>
            </a:r>
          </a:p>
        </p:txBody>
      </p:sp>
      <p:sp>
        <p:nvSpPr>
          <p:cNvPr id="56330" name="Text Box 10"/>
          <p:cNvSpPr txBox="1">
            <a:spLocks noChangeArrowheads="1"/>
          </p:cNvSpPr>
          <p:nvPr/>
        </p:nvSpPr>
        <p:spPr bwMode="auto">
          <a:xfrm>
            <a:off x="5441950" y="2924175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q</a:t>
            </a:r>
            <a:r>
              <a:rPr lang="en-US" altLang="zh-CN" sz="2400" baseline="-25000"/>
              <a:t>0</a:t>
            </a:r>
          </a:p>
        </p:txBody>
      </p:sp>
      <p:sp>
        <p:nvSpPr>
          <p:cNvPr id="56331" name="Text Box 11"/>
          <p:cNvSpPr txBox="1">
            <a:spLocks noChangeArrowheads="1"/>
          </p:cNvSpPr>
          <p:nvPr/>
        </p:nvSpPr>
        <p:spPr bwMode="auto">
          <a:xfrm>
            <a:off x="7499350" y="2924175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q</a:t>
            </a:r>
            <a:r>
              <a:rPr lang="en-US" altLang="zh-CN" sz="2400" baseline="-25000"/>
              <a:t>1</a:t>
            </a:r>
          </a:p>
        </p:txBody>
      </p:sp>
      <p:sp>
        <p:nvSpPr>
          <p:cNvPr id="56332" name="Text Box 12"/>
          <p:cNvSpPr txBox="1">
            <a:spLocks noChangeArrowheads="1"/>
          </p:cNvSpPr>
          <p:nvPr/>
        </p:nvSpPr>
        <p:spPr bwMode="auto">
          <a:xfrm>
            <a:off x="5441950" y="4981575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q</a:t>
            </a:r>
            <a:r>
              <a:rPr lang="en-US" altLang="zh-CN" sz="2400" baseline="-25000"/>
              <a:t>2</a:t>
            </a:r>
          </a:p>
        </p:txBody>
      </p:sp>
      <p:sp>
        <p:nvSpPr>
          <p:cNvPr id="56333" name="Text Box 13"/>
          <p:cNvSpPr txBox="1">
            <a:spLocks noChangeArrowheads="1"/>
          </p:cNvSpPr>
          <p:nvPr/>
        </p:nvSpPr>
        <p:spPr bwMode="auto">
          <a:xfrm>
            <a:off x="7499350" y="4981575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q</a:t>
            </a:r>
            <a:r>
              <a:rPr lang="en-US" altLang="zh-CN" sz="2400" baseline="-25000"/>
              <a:t>3</a:t>
            </a:r>
          </a:p>
        </p:txBody>
      </p:sp>
      <p:graphicFrame>
        <p:nvGraphicFramePr>
          <p:cNvPr id="56334" name="Object 14"/>
          <p:cNvGraphicFramePr>
            <a:graphicFrameLocks noChangeAspect="1"/>
          </p:cNvGraphicFramePr>
          <p:nvPr/>
        </p:nvGraphicFramePr>
        <p:xfrm>
          <a:off x="4356100" y="2609850"/>
          <a:ext cx="4114800" cy="326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3203640" imgH="2543040" progId="Visio.Drawing.11">
                  <p:embed/>
                </p:oleObj>
              </mc:Choice>
              <mc:Fallback>
                <p:oleObj name="VISIO" r:id="rId2" imgW="3203640" imgH="2543040" progId="Visio.Drawing.11">
                  <p:embed/>
                  <p:pic>
                    <p:nvPicPr>
                      <p:cNvPr id="56334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2609850"/>
                        <a:ext cx="4114800" cy="326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37" name="Rectangle 17"/>
          <p:cNvSpPr>
            <a:spLocks noChangeArrowheads="1"/>
          </p:cNvSpPr>
          <p:nvPr/>
        </p:nvSpPr>
        <p:spPr bwMode="auto">
          <a:xfrm>
            <a:off x="1476375" y="195263"/>
            <a:ext cx="3887788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4000" i="0" dirty="0">
                <a:ea typeface="华文行楷" pitchFamily="2" charset="-122"/>
              </a:rPr>
              <a:t>确定有限自动机</a:t>
            </a:r>
          </a:p>
        </p:txBody>
      </p:sp>
      <p:sp>
        <p:nvSpPr>
          <p:cNvPr id="56338" name="Text Box 18">
            <a:hlinkClick r:id="rId4" action="ppaction://hlinksldjump"/>
          </p:cNvPr>
          <p:cNvSpPr txBox="1">
            <a:spLocks noChangeArrowheads="1"/>
          </p:cNvSpPr>
          <p:nvPr/>
        </p:nvSpPr>
        <p:spPr bwMode="auto">
          <a:xfrm>
            <a:off x="827088" y="1336675"/>
            <a:ext cx="453707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 i="0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200" i="0" dirty="0">
                <a:latin typeface="楷体_GB2312" pitchFamily="49" charset="-122"/>
                <a:ea typeface="楷体_GB2312" pitchFamily="49" charset="-122"/>
              </a:rPr>
              <a:t>有限自动机的五要素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7FEE96E-8440-FB4D-93F1-02F3A82DAE9B}"/>
              </a:ext>
            </a:extLst>
          </p:cNvPr>
          <p:cNvSpPr txBox="1"/>
          <p:nvPr/>
        </p:nvSpPr>
        <p:spPr>
          <a:xfrm>
            <a:off x="8604448" y="6471931"/>
            <a:ext cx="5395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0" i="0" dirty="0">
                <a:solidFill>
                  <a:srgbClr val="000066"/>
                </a:solidFill>
              </a:rPr>
              <a:t>03</a:t>
            </a:r>
            <a:endParaRPr kumimoji="1" lang="zh-CN" altLang="en-US" sz="2000" b="0" i="0" dirty="0">
              <a:solidFill>
                <a:srgbClr val="000066"/>
              </a:solidFill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ext Box 2"/>
          <p:cNvSpPr txBox="1">
            <a:spLocks noChangeArrowheads="1"/>
          </p:cNvSpPr>
          <p:nvPr/>
        </p:nvSpPr>
        <p:spPr bwMode="auto">
          <a:xfrm>
            <a:off x="990600" y="3349625"/>
            <a:ext cx="2819400" cy="2527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buFont typeface="Symbol" pitchFamily="18" charset="2"/>
              <a:buChar char="-"/>
            </a:pPr>
            <a:r>
              <a:rPr lang="en-US" altLang="zh-CN" sz="2400" i="0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400" i="0" dirty="0">
                <a:latin typeface="楷体_GB2312" pitchFamily="49" charset="-122"/>
                <a:ea typeface="楷体_GB2312" pitchFamily="49" charset="-122"/>
              </a:rPr>
              <a:t>有限状态集</a:t>
            </a:r>
            <a:endParaRPr lang="zh-CN" altLang="en-US" sz="2400" baseline="-25000" dirty="0">
              <a:latin typeface="楷体_GB2312" pitchFamily="49" charset="-122"/>
              <a:ea typeface="楷体_GB2312" pitchFamily="49" charset="-122"/>
            </a:endParaRPr>
          </a:p>
          <a:p>
            <a:pPr algn="l">
              <a:buFont typeface="Wingdings" pitchFamily="2" charset="2"/>
              <a:buChar char=" "/>
            </a:pPr>
            <a:r>
              <a:rPr lang="zh-CN" altLang="en-US" sz="1000" i="0" dirty="0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 </a:t>
            </a:r>
          </a:p>
          <a:p>
            <a:pPr algn="l">
              <a:buFont typeface="Symbol" pitchFamily="18" charset="2"/>
              <a:buChar char="-"/>
            </a:pPr>
            <a:r>
              <a:rPr lang="zh-CN" altLang="en-US" sz="2400" i="0" dirty="0">
                <a:latin typeface="楷体_GB2312" pitchFamily="49" charset="-122"/>
                <a:ea typeface="楷体_GB2312" pitchFamily="49" charset="-122"/>
              </a:rPr>
              <a:t> 有限输入符号集</a:t>
            </a:r>
          </a:p>
          <a:p>
            <a:pPr algn="l">
              <a:buFont typeface="Wingdings" pitchFamily="2" charset="2"/>
              <a:buChar char=" "/>
            </a:pPr>
            <a:r>
              <a:rPr lang="zh-CN" altLang="en-US" sz="1000" i="0" dirty="0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 </a:t>
            </a:r>
          </a:p>
          <a:p>
            <a:pPr algn="l">
              <a:buFont typeface="Symbol" pitchFamily="18" charset="2"/>
              <a:buChar char="-"/>
            </a:pPr>
            <a:r>
              <a:rPr lang="zh-CN" altLang="en-US" sz="2400" i="0" dirty="0">
                <a:latin typeface="楷体_GB2312" pitchFamily="49" charset="-122"/>
                <a:ea typeface="楷体_GB2312" pitchFamily="49" charset="-122"/>
              </a:rPr>
              <a:t> 转移函数</a:t>
            </a:r>
          </a:p>
          <a:p>
            <a:pPr algn="l">
              <a:buFont typeface="Wingdings" pitchFamily="2" charset="2"/>
              <a:buChar char=" "/>
            </a:pPr>
            <a:r>
              <a:rPr lang="zh-CN" altLang="en-US" sz="1000" i="0" dirty="0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 </a:t>
            </a:r>
          </a:p>
          <a:p>
            <a:pPr algn="l">
              <a:buFont typeface="Symbol" pitchFamily="18" charset="2"/>
              <a:buChar char="-"/>
            </a:pPr>
            <a:r>
              <a:rPr lang="zh-CN" altLang="en-US" sz="2400" i="0" dirty="0">
                <a:latin typeface="楷体_GB2312" pitchFamily="49" charset="-122"/>
                <a:ea typeface="楷体_GB2312" pitchFamily="49" charset="-122"/>
              </a:rPr>
              <a:t> 一个开始状态</a:t>
            </a:r>
          </a:p>
          <a:p>
            <a:pPr algn="l">
              <a:buFont typeface="Wingdings" pitchFamily="2" charset="2"/>
              <a:buChar char=" "/>
            </a:pPr>
            <a:r>
              <a:rPr lang="zh-CN" altLang="en-US" sz="1000" i="0" dirty="0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 </a:t>
            </a:r>
          </a:p>
          <a:p>
            <a:pPr algn="l">
              <a:buFont typeface="Symbol" pitchFamily="18" charset="2"/>
              <a:buChar char="-"/>
            </a:pPr>
            <a:r>
              <a:rPr lang="zh-CN" altLang="en-US" sz="2400" i="0" dirty="0">
                <a:latin typeface="楷体_GB2312" pitchFamily="49" charset="-122"/>
                <a:ea typeface="楷体_GB2312" pitchFamily="49" charset="-122"/>
              </a:rPr>
              <a:t> 一个终态集合</a:t>
            </a:r>
          </a:p>
        </p:txBody>
      </p:sp>
      <p:sp>
        <p:nvSpPr>
          <p:cNvPr id="63501" name="Text Box 13"/>
          <p:cNvSpPr txBox="1">
            <a:spLocks noChangeArrowheads="1"/>
          </p:cNvSpPr>
          <p:nvPr/>
        </p:nvSpPr>
        <p:spPr bwMode="auto">
          <a:xfrm>
            <a:off x="685800" y="2354263"/>
            <a:ext cx="813435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 i="0" dirty="0">
                <a:solidFill>
                  <a:schemeClr val="tx1"/>
                </a:solidFill>
                <a:latin typeface="Arial" pitchFamily="34" charset="0"/>
                <a:ea typeface="楷体_GB2312" pitchFamily="49" charset="-122"/>
              </a:rPr>
              <a:t>         </a:t>
            </a:r>
            <a:r>
              <a:rPr lang="zh-CN" altLang="en-US" sz="2400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一个确定有限状态自动机</a:t>
            </a:r>
            <a:r>
              <a:rPr lang="zh-CN" altLang="en-US" sz="2400" i="0" dirty="0">
                <a:solidFill>
                  <a:schemeClr val="tx1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lang="en-US" altLang="zh-CN" sz="2400" dirty="0">
                <a:latin typeface="Arial" pitchFamily="34" charset="0"/>
                <a:ea typeface="楷体_GB2312" pitchFamily="49" charset="-122"/>
              </a:rPr>
              <a:t>DFA</a:t>
            </a:r>
            <a:r>
              <a:rPr lang="en-US" altLang="zh-CN" sz="2400" dirty="0">
                <a:solidFill>
                  <a:schemeClr val="tx1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lang="en-US" altLang="zh-CN" sz="24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(deterministic finite </a:t>
            </a:r>
          </a:p>
          <a:p>
            <a:pPr algn="l"/>
            <a:r>
              <a:rPr lang="en-US" altLang="zh-CN" sz="24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automata) </a:t>
            </a:r>
            <a:r>
              <a:rPr lang="zh-CN" altLang="en-US" sz="2400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是一个五元组</a:t>
            </a:r>
            <a:r>
              <a:rPr lang="zh-CN" altLang="en-US" sz="2400" i="0" dirty="0">
                <a:solidFill>
                  <a:schemeClr val="tx1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lang="en-US" altLang="zh-CN" sz="2400" dirty="0">
                <a:latin typeface="Arial" pitchFamily="34" charset="0"/>
                <a:ea typeface="楷体_GB2312" pitchFamily="49" charset="-122"/>
              </a:rPr>
              <a:t>A</a:t>
            </a:r>
            <a:r>
              <a:rPr lang="en-US" altLang="zh-CN" sz="2400" i="0" dirty="0">
                <a:latin typeface="Arial" pitchFamily="34" charset="0"/>
                <a:ea typeface="楷体_GB2312" pitchFamily="49" charset="-122"/>
              </a:rPr>
              <a:t> = (</a:t>
            </a:r>
            <a:r>
              <a:rPr lang="en-US" altLang="zh-CN" sz="2400" dirty="0">
                <a:latin typeface="Arial" pitchFamily="34" charset="0"/>
                <a:ea typeface="楷体_GB2312" pitchFamily="49" charset="-122"/>
              </a:rPr>
              <a:t>Q,</a:t>
            </a:r>
            <a:r>
              <a:rPr lang="en-US" altLang="zh-CN" sz="2400" i="0" dirty="0">
                <a:latin typeface="Arial" pitchFamily="34" charset="0"/>
                <a:ea typeface="楷体_GB2312" pitchFamily="49" charset="-122"/>
              </a:rPr>
              <a:t> </a:t>
            </a:r>
            <a:r>
              <a:rPr lang="en-US" altLang="zh-CN" sz="2400" i="0" dirty="0">
                <a:latin typeface="Arial" pitchFamily="34" charset="0"/>
                <a:ea typeface="楷体_GB2312" pitchFamily="49" charset="-122"/>
                <a:sym typeface="Symbol" pitchFamily="18" charset="2"/>
              </a:rPr>
              <a:t></a:t>
            </a:r>
            <a:r>
              <a:rPr lang="en-US" altLang="zh-CN" sz="2400" dirty="0">
                <a:latin typeface="Arial" pitchFamily="34" charset="0"/>
                <a:ea typeface="楷体_GB2312" pitchFamily="49" charset="-122"/>
              </a:rPr>
              <a:t>, </a:t>
            </a:r>
            <a:r>
              <a:rPr lang="en-US" altLang="zh-CN" sz="2400" dirty="0">
                <a:latin typeface="Arial" pitchFamily="34" charset="0"/>
                <a:ea typeface="楷体_GB2312" pitchFamily="49" charset="-122"/>
                <a:sym typeface="Symbol" pitchFamily="18" charset="2"/>
              </a:rPr>
              <a:t></a:t>
            </a:r>
            <a:r>
              <a:rPr lang="en-US" altLang="zh-CN" sz="2400" dirty="0">
                <a:latin typeface="Arial" pitchFamily="34" charset="0"/>
                <a:ea typeface="楷体_GB2312" pitchFamily="49" charset="-122"/>
              </a:rPr>
              <a:t>, q</a:t>
            </a:r>
            <a:r>
              <a:rPr lang="en-US" altLang="zh-CN" sz="2400" baseline="-25000" dirty="0">
                <a:latin typeface="Arial" pitchFamily="34" charset="0"/>
                <a:ea typeface="楷体_GB2312" pitchFamily="49" charset="-122"/>
              </a:rPr>
              <a:t>0 </a:t>
            </a:r>
            <a:r>
              <a:rPr lang="en-US" altLang="zh-CN" sz="2400" dirty="0">
                <a:latin typeface="Arial" pitchFamily="34" charset="0"/>
                <a:ea typeface="楷体_GB2312" pitchFamily="49" charset="-122"/>
              </a:rPr>
              <a:t>, F </a:t>
            </a:r>
            <a:r>
              <a:rPr lang="en-US" altLang="zh-CN" sz="2400" i="0" dirty="0">
                <a:latin typeface="Arial" pitchFamily="34" charset="0"/>
                <a:ea typeface="楷体_GB2312" pitchFamily="49" charset="-122"/>
              </a:rPr>
              <a:t>)</a:t>
            </a:r>
            <a:r>
              <a:rPr lang="en-US" altLang="zh-CN" sz="2400" i="0" dirty="0">
                <a:solidFill>
                  <a:schemeClr val="tx1"/>
                </a:solidFill>
                <a:latin typeface="Arial" pitchFamily="34" charset="0"/>
                <a:ea typeface="楷体_GB2312" pitchFamily="49" charset="-122"/>
              </a:rPr>
              <a:t>.</a:t>
            </a:r>
          </a:p>
        </p:txBody>
      </p:sp>
      <p:grpSp>
        <p:nvGrpSpPr>
          <p:cNvPr id="63509" name="Group 21"/>
          <p:cNvGrpSpPr>
            <a:grpSpLocks/>
          </p:cNvGrpSpPr>
          <p:nvPr/>
        </p:nvGrpSpPr>
        <p:grpSpPr bwMode="auto">
          <a:xfrm>
            <a:off x="3657600" y="3209925"/>
            <a:ext cx="1371600" cy="381000"/>
            <a:chOff x="2448" y="1968"/>
            <a:chExt cx="864" cy="240"/>
          </a:xfrm>
        </p:grpSpPr>
        <p:sp>
          <p:nvSpPr>
            <p:cNvPr id="63505" name="Line 17"/>
            <p:cNvSpPr>
              <a:spLocks noChangeShapeType="1"/>
            </p:cNvSpPr>
            <p:nvPr/>
          </p:nvSpPr>
          <p:spPr bwMode="auto">
            <a:xfrm>
              <a:off x="2448" y="2208"/>
              <a:ext cx="8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3508" name="Line 20"/>
            <p:cNvSpPr>
              <a:spLocks noChangeShapeType="1"/>
            </p:cNvSpPr>
            <p:nvPr/>
          </p:nvSpPr>
          <p:spPr bwMode="auto">
            <a:xfrm flipV="1">
              <a:off x="3312" y="196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63511" name="Group 23"/>
          <p:cNvGrpSpPr>
            <a:grpSpLocks/>
          </p:cNvGrpSpPr>
          <p:nvPr/>
        </p:nvGrpSpPr>
        <p:grpSpPr bwMode="auto">
          <a:xfrm>
            <a:off x="3657600" y="3209925"/>
            <a:ext cx="1752600" cy="914400"/>
            <a:chOff x="2880" y="1968"/>
            <a:chExt cx="1056" cy="576"/>
          </a:xfrm>
        </p:grpSpPr>
        <p:sp>
          <p:nvSpPr>
            <p:cNvPr id="63507" name="Line 19"/>
            <p:cNvSpPr>
              <a:spLocks noChangeShapeType="1"/>
            </p:cNvSpPr>
            <p:nvPr/>
          </p:nvSpPr>
          <p:spPr bwMode="auto">
            <a:xfrm>
              <a:off x="2880" y="2544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3510" name="Line 22"/>
            <p:cNvSpPr>
              <a:spLocks noChangeShapeType="1"/>
            </p:cNvSpPr>
            <p:nvPr/>
          </p:nvSpPr>
          <p:spPr bwMode="auto">
            <a:xfrm flipV="1">
              <a:off x="3936" y="19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63512" name="Group 24"/>
          <p:cNvGrpSpPr>
            <a:grpSpLocks/>
          </p:cNvGrpSpPr>
          <p:nvPr/>
        </p:nvGrpSpPr>
        <p:grpSpPr bwMode="auto">
          <a:xfrm>
            <a:off x="3657600" y="3209925"/>
            <a:ext cx="2057400" cy="1447800"/>
            <a:chOff x="2880" y="1968"/>
            <a:chExt cx="1056" cy="576"/>
          </a:xfrm>
        </p:grpSpPr>
        <p:sp>
          <p:nvSpPr>
            <p:cNvPr id="63513" name="Line 25"/>
            <p:cNvSpPr>
              <a:spLocks noChangeShapeType="1"/>
            </p:cNvSpPr>
            <p:nvPr/>
          </p:nvSpPr>
          <p:spPr bwMode="auto">
            <a:xfrm>
              <a:off x="2880" y="2544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3514" name="Line 26"/>
            <p:cNvSpPr>
              <a:spLocks noChangeShapeType="1"/>
            </p:cNvSpPr>
            <p:nvPr/>
          </p:nvSpPr>
          <p:spPr bwMode="auto">
            <a:xfrm flipV="1">
              <a:off x="3936" y="19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63515" name="Group 27"/>
          <p:cNvGrpSpPr>
            <a:grpSpLocks/>
          </p:cNvGrpSpPr>
          <p:nvPr/>
        </p:nvGrpSpPr>
        <p:grpSpPr bwMode="auto">
          <a:xfrm>
            <a:off x="3657600" y="3209925"/>
            <a:ext cx="2438400" cy="1905000"/>
            <a:chOff x="2880" y="1968"/>
            <a:chExt cx="1056" cy="576"/>
          </a:xfrm>
        </p:grpSpPr>
        <p:sp>
          <p:nvSpPr>
            <p:cNvPr id="63516" name="Line 28"/>
            <p:cNvSpPr>
              <a:spLocks noChangeShapeType="1"/>
            </p:cNvSpPr>
            <p:nvPr/>
          </p:nvSpPr>
          <p:spPr bwMode="auto">
            <a:xfrm>
              <a:off x="2880" y="2544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3517" name="Line 29"/>
            <p:cNvSpPr>
              <a:spLocks noChangeShapeType="1"/>
            </p:cNvSpPr>
            <p:nvPr/>
          </p:nvSpPr>
          <p:spPr bwMode="auto">
            <a:xfrm flipV="1">
              <a:off x="3936" y="19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63518" name="Group 30"/>
          <p:cNvGrpSpPr>
            <a:grpSpLocks/>
          </p:cNvGrpSpPr>
          <p:nvPr/>
        </p:nvGrpSpPr>
        <p:grpSpPr bwMode="auto">
          <a:xfrm>
            <a:off x="3657600" y="3209925"/>
            <a:ext cx="2895600" cy="2514600"/>
            <a:chOff x="2880" y="1968"/>
            <a:chExt cx="1056" cy="576"/>
          </a:xfrm>
        </p:grpSpPr>
        <p:sp>
          <p:nvSpPr>
            <p:cNvPr id="63519" name="Line 31"/>
            <p:cNvSpPr>
              <a:spLocks noChangeShapeType="1"/>
            </p:cNvSpPr>
            <p:nvPr/>
          </p:nvSpPr>
          <p:spPr bwMode="auto">
            <a:xfrm>
              <a:off x="2880" y="2544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3520" name="Line 32"/>
            <p:cNvSpPr>
              <a:spLocks noChangeShapeType="1"/>
            </p:cNvSpPr>
            <p:nvPr/>
          </p:nvSpPr>
          <p:spPr bwMode="auto">
            <a:xfrm flipV="1">
              <a:off x="3936" y="19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63521" name="Text Box 33"/>
          <p:cNvSpPr txBox="1">
            <a:spLocks noChangeArrowheads="1"/>
          </p:cNvSpPr>
          <p:nvPr/>
        </p:nvSpPr>
        <p:spPr bwMode="auto">
          <a:xfrm>
            <a:off x="6781800" y="4384675"/>
            <a:ext cx="2209800" cy="149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buFont typeface="Wingdings" pitchFamily="2" charset="2"/>
              <a:buNone/>
            </a:pPr>
            <a:r>
              <a:rPr lang="en-US" altLang="zh-CN" sz="2400" dirty="0">
                <a:latin typeface="Arial" pitchFamily="34" charset="0"/>
                <a:ea typeface="华文行楷" pitchFamily="2" charset="-122"/>
                <a:sym typeface="Symbol" pitchFamily="18" charset="2"/>
              </a:rPr>
              <a:t> :  Q </a:t>
            </a:r>
            <a:r>
              <a:rPr lang="en-US" altLang="zh-CN" sz="2400" i="0" dirty="0">
                <a:latin typeface="Arial" pitchFamily="34" charset="0"/>
                <a:ea typeface="华文行楷" pitchFamily="2" charset="-122"/>
                <a:sym typeface="Symbol" pitchFamily="18" charset="2"/>
              </a:rPr>
              <a:t> </a:t>
            </a:r>
            <a:r>
              <a:rPr lang="en-US" altLang="zh-CN" sz="2400" i="0" dirty="0">
                <a:sym typeface="Symbol" pitchFamily="18" charset="2"/>
              </a:rPr>
              <a:t></a:t>
            </a:r>
            <a:r>
              <a:rPr lang="en-US" altLang="zh-CN" sz="2400" dirty="0">
                <a:latin typeface="Arial" pitchFamily="34" charset="0"/>
                <a:ea typeface="华文行楷" pitchFamily="2" charset="-122"/>
                <a:sym typeface="Symbol" pitchFamily="18" charset="2"/>
              </a:rPr>
              <a:t> </a:t>
            </a:r>
            <a:r>
              <a:rPr lang="en-US" altLang="zh-CN" sz="2400" i="0" dirty="0">
                <a:latin typeface="Arial" pitchFamily="34" charset="0"/>
                <a:ea typeface="华文行楷" pitchFamily="2" charset="-122"/>
                <a:sym typeface="Symbol" pitchFamily="18" charset="2"/>
              </a:rPr>
              <a:t> </a:t>
            </a:r>
            <a:r>
              <a:rPr lang="en-US" altLang="zh-CN" sz="2400" dirty="0">
                <a:latin typeface="Arial" pitchFamily="34" charset="0"/>
                <a:ea typeface="华文行楷" pitchFamily="2" charset="-122"/>
                <a:sym typeface="Symbol" pitchFamily="18" charset="2"/>
              </a:rPr>
              <a:t>Q</a:t>
            </a:r>
            <a:endParaRPr lang="en-US" altLang="zh-CN" sz="2400" i="0" dirty="0">
              <a:ea typeface="华文行楷" pitchFamily="2" charset="-122"/>
            </a:endParaRPr>
          </a:p>
          <a:p>
            <a:pPr algn="l">
              <a:buFont typeface="Wingdings" pitchFamily="2" charset="2"/>
              <a:buChar char=" "/>
            </a:pPr>
            <a:r>
              <a:rPr lang="en-US" altLang="zh-CN" sz="1000" i="0" dirty="0">
                <a:solidFill>
                  <a:srgbClr val="333399"/>
                </a:solidFill>
                <a:ea typeface="楷体_GB2312" pitchFamily="49" charset="-122"/>
              </a:rPr>
              <a:t> </a:t>
            </a:r>
          </a:p>
          <a:p>
            <a:pPr algn="l">
              <a:buFont typeface="Wingdings" pitchFamily="2" charset="2"/>
              <a:buNone/>
            </a:pPr>
            <a:r>
              <a:rPr lang="en-US" altLang="zh-CN" sz="2400" dirty="0">
                <a:latin typeface="Arial" pitchFamily="34" charset="0"/>
                <a:ea typeface="华文行楷" pitchFamily="2" charset="-122"/>
              </a:rPr>
              <a:t>q</a:t>
            </a:r>
            <a:r>
              <a:rPr lang="en-US" altLang="zh-CN" sz="2400" baseline="-25000" dirty="0">
                <a:latin typeface="Arial" pitchFamily="34" charset="0"/>
                <a:ea typeface="华文行楷" pitchFamily="2" charset="-122"/>
              </a:rPr>
              <a:t>0</a:t>
            </a:r>
            <a:r>
              <a:rPr lang="en-US" altLang="zh-CN" sz="2400" i="0" dirty="0">
                <a:ea typeface="华文行楷" pitchFamily="2" charset="-122"/>
                <a:sym typeface="Symbol" pitchFamily="18" charset="2"/>
              </a:rPr>
              <a:t>  </a:t>
            </a:r>
            <a:r>
              <a:rPr lang="en-US" altLang="zh-CN" sz="2400" dirty="0">
                <a:latin typeface="Arial" pitchFamily="34" charset="0"/>
                <a:ea typeface="华文行楷" pitchFamily="2" charset="-122"/>
                <a:sym typeface="Symbol" pitchFamily="18" charset="2"/>
              </a:rPr>
              <a:t>Q</a:t>
            </a:r>
            <a:endParaRPr lang="en-US" altLang="zh-CN" sz="2400" i="0" dirty="0">
              <a:ea typeface="华文行楷" pitchFamily="2" charset="-122"/>
            </a:endParaRPr>
          </a:p>
          <a:p>
            <a:pPr algn="l">
              <a:buFont typeface="Wingdings" pitchFamily="2" charset="2"/>
              <a:buChar char=" "/>
            </a:pPr>
            <a:r>
              <a:rPr lang="en-US" altLang="zh-CN" sz="1000" i="0" dirty="0">
                <a:solidFill>
                  <a:srgbClr val="333399"/>
                </a:solidFill>
                <a:ea typeface="楷体_GB2312" pitchFamily="49" charset="-122"/>
              </a:rPr>
              <a:t> </a:t>
            </a:r>
          </a:p>
          <a:p>
            <a:pPr algn="l">
              <a:buFont typeface="Wingdings" pitchFamily="2" charset="2"/>
              <a:buNone/>
            </a:pPr>
            <a:r>
              <a:rPr lang="en-US" altLang="zh-CN" sz="2400" dirty="0">
                <a:latin typeface="Arial" pitchFamily="34" charset="0"/>
                <a:ea typeface="华文行楷" pitchFamily="2" charset="-122"/>
              </a:rPr>
              <a:t>F</a:t>
            </a:r>
            <a:r>
              <a:rPr lang="en-US" altLang="zh-CN" sz="2400" i="0" dirty="0">
                <a:ea typeface="华文行楷" pitchFamily="2" charset="-122"/>
                <a:sym typeface="Symbol" pitchFamily="18" charset="2"/>
              </a:rPr>
              <a:t>  </a:t>
            </a:r>
            <a:r>
              <a:rPr lang="en-US" altLang="zh-CN" sz="2400" dirty="0">
                <a:latin typeface="Arial" pitchFamily="34" charset="0"/>
                <a:ea typeface="华文行楷" pitchFamily="2" charset="-122"/>
                <a:sym typeface="Symbol" pitchFamily="18" charset="2"/>
              </a:rPr>
              <a:t>Q</a:t>
            </a:r>
          </a:p>
        </p:txBody>
      </p:sp>
      <p:sp>
        <p:nvSpPr>
          <p:cNvPr id="63522" name="Rectangle 34"/>
          <p:cNvSpPr>
            <a:spLocks noChangeArrowheads="1"/>
          </p:cNvSpPr>
          <p:nvPr/>
        </p:nvSpPr>
        <p:spPr bwMode="auto">
          <a:xfrm>
            <a:off x="1476375" y="195263"/>
            <a:ext cx="3887788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4000" i="0">
                <a:ea typeface="华文行楷" pitchFamily="2" charset="-122"/>
              </a:rPr>
              <a:t>确定有限自动机</a:t>
            </a:r>
          </a:p>
        </p:txBody>
      </p:sp>
      <p:sp>
        <p:nvSpPr>
          <p:cNvPr id="63523" name="Text Box 35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827088" y="1336675"/>
            <a:ext cx="56896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 i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200" i="0">
                <a:latin typeface="楷体_GB2312" pitchFamily="49" charset="-122"/>
                <a:ea typeface="楷体_GB2312" pitchFamily="49" charset="-122"/>
              </a:rPr>
              <a:t>确定有限自动机的形式定义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4D45EE8-E7DF-9C4C-9394-6F4747EF8401}"/>
              </a:ext>
            </a:extLst>
          </p:cNvPr>
          <p:cNvSpPr txBox="1"/>
          <p:nvPr/>
        </p:nvSpPr>
        <p:spPr>
          <a:xfrm>
            <a:off x="8604448" y="6471931"/>
            <a:ext cx="5395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0" i="0" dirty="0">
                <a:solidFill>
                  <a:srgbClr val="000066"/>
                </a:solidFill>
              </a:rPr>
              <a:t>04</a:t>
            </a:r>
            <a:endParaRPr kumimoji="1" lang="zh-CN" altLang="en-US" sz="2000" b="0" i="0" dirty="0">
              <a:solidFill>
                <a:srgbClr val="000066"/>
              </a:solidFill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63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35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35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35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35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4" dur="500"/>
                                        <p:tgtEl>
                                          <p:spTgt spid="63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9" dur="500"/>
                                        <p:tgtEl>
                                          <p:spTgt spid="63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4" dur="500"/>
                                        <p:tgtEl>
                                          <p:spTgt spid="63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500"/>
                                        <p:tgtEl>
                                          <p:spTgt spid="63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0" grpId="0" autoUpdateAnimBg="0"/>
      <p:bldP spid="63521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ext Box 2"/>
          <p:cNvSpPr txBox="1">
            <a:spLocks noChangeArrowheads="1"/>
          </p:cNvSpPr>
          <p:nvPr/>
        </p:nvSpPr>
        <p:spPr bwMode="auto">
          <a:xfrm>
            <a:off x="4643438" y="2397125"/>
            <a:ext cx="4114800" cy="362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buClr>
                <a:srgbClr val="800080"/>
              </a:buClr>
              <a:buFont typeface="Symbol" pitchFamily="18" charset="2"/>
              <a:buChar char="-"/>
            </a:pPr>
            <a:r>
              <a:rPr lang="en-US" altLang="zh-CN" sz="2400" i="0">
                <a:solidFill>
                  <a:srgbClr val="333399"/>
                </a:solidFill>
                <a:ea typeface="华文行楷" pitchFamily="2" charset="-122"/>
              </a:rPr>
              <a:t> 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Q = {q</a:t>
            </a:r>
            <a:r>
              <a:rPr lang="en-US" altLang="zh-CN" sz="2400" baseline="-250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0 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, q</a:t>
            </a:r>
            <a:r>
              <a:rPr lang="en-US" altLang="zh-CN" sz="2400" baseline="-250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1 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, q</a:t>
            </a:r>
            <a:r>
              <a:rPr lang="en-US" altLang="zh-CN" sz="2400" baseline="-250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2 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, q</a:t>
            </a:r>
            <a:r>
              <a:rPr lang="en-US" altLang="zh-CN" sz="2400" baseline="-250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3 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}</a:t>
            </a:r>
            <a:endParaRPr lang="en-US" altLang="zh-CN" sz="2400" baseline="-25000">
              <a:solidFill>
                <a:srgbClr val="333399"/>
              </a:solidFill>
              <a:latin typeface="Arial" pitchFamily="34" charset="0"/>
              <a:ea typeface="华文行楷" pitchFamily="2" charset="-122"/>
            </a:endParaRPr>
          </a:p>
          <a:p>
            <a:pPr algn="l">
              <a:buClr>
                <a:srgbClr val="800080"/>
              </a:buClr>
              <a:buFont typeface="Wingdings" pitchFamily="2" charset="2"/>
              <a:buChar char=" "/>
            </a:pPr>
            <a:r>
              <a:rPr lang="en-US" altLang="zh-CN" sz="1000" i="0">
                <a:solidFill>
                  <a:srgbClr val="333399"/>
                </a:solidFill>
                <a:ea typeface="楷体_GB2312" pitchFamily="49" charset="-122"/>
              </a:rPr>
              <a:t> </a:t>
            </a:r>
          </a:p>
          <a:p>
            <a:pPr algn="l">
              <a:buClr>
                <a:srgbClr val="800080"/>
              </a:buClr>
              <a:buFont typeface="Symbol" pitchFamily="18" charset="2"/>
              <a:buChar char="-"/>
            </a:pPr>
            <a:r>
              <a:rPr lang="en-US" altLang="zh-CN" sz="2400" i="0">
                <a:solidFill>
                  <a:srgbClr val="333399"/>
                </a:solidFill>
                <a:ea typeface="华文行楷" pitchFamily="2" charset="-122"/>
              </a:rPr>
              <a:t> </a:t>
            </a:r>
            <a:r>
              <a:rPr lang="en-US" altLang="zh-CN" sz="2400" i="0">
                <a:solidFill>
                  <a:srgbClr val="333399"/>
                </a:solidFill>
                <a:sym typeface="Symbol" pitchFamily="18" charset="2"/>
              </a:rPr>
              <a:t>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 = {0, 1</a:t>
            </a:r>
            <a:r>
              <a:rPr lang="en-US" altLang="zh-CN" sz="2400" baseline="-250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 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}</a:t>
            </a:r>
            <a:endParaRPr lang="en-US" altLang="zh-CN" sz="2400" i="0">
              <a:solidFill>
                <a:srgbClr val="333399"/>
              </a:solidFill>
              <a:ea typeface="华文行楷" pitchFamily="2" charset="-122"/>
            </a:endParaRPr>
          </a:p>
          <a:p>
            <a:pPr algn="l">
              <a:buClr>
                <a:srgbClr val="800080"/>
              </a:buClr>
              <a:buFont typeface="Wingdings" pitchFamily="2" charset="2"/>
              <a:buChar char=" "/>
            </a:pPr>
            <a:r>
              <a:rPr lang="en-US" altLang="zh-CN" sz="1000" i="0">
                <a:solidFill>
                  <a:srgbClr val="333399"/>
                </a:solidFill>
                <a:ea typeface="楷体_GB2312" pitchFamily="49" charset="-122"/>
              </a:rPr>
              <a:t> </a:t>
            </a:r>
          </a:p>
          <a:p>
            <a:pPr algn="l">
              <a:buClr>
                <a:srgbClr val="800080"/>
              </a:buClr>
              <a:buFont typeface="Symbol" pitchFamily="18" charset="2"/>
              <a:buChar char="-"/>
            </a:pPr>
            <a:r>
              <a:rPr lang="en-US" altLang="zh-CN" sz="2400" i="0">
                <a:solidFill>
                  <a:srgbClr val="333399"/>
                </a:solidFill>
                <a:ea typeface="华文行楷" pitchFamily="2" charset="-122"/>
              </a:rPr>
              <a:t> 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  <a:sym typeface="Symbol" pitchFamily="18" charset="2"/>
              </a:rPr>
              <a:t>(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q</a:t>
            </a:r>
            <a:r>
              <a:rPr lang="en-US" altLang="zh-CN" sz="2400" baseline="-250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0 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  <a:sym typeface="Symbol" pitchFamily="18" charset="2"/>
              </a:rPr>
              <a:t>,0) = 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q</a:t>
            </a:r>
            <a:r>
              <a:rPr lang="en-US" altLang="zh-CN" sz="2400" baseline="-250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2 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, 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  <a:sym typeface="Symbol" pitchFamily="18" charset="2"/>
              </a:rPr>
              <a:t>(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q</a:t>
            </a:r>
            <a:r>
              <a:rPr lang="en-US" altLang="zh-CN" sz="2400" baseline="-250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0 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  <a:sym typeface="Symbol" pitchFamily="18" charset="2"/>
              </a:rPr>
              <a:t>,1) = 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q</a:t>
            </a:r>
            <a:r>
              <a:rPr lang="en-US" altLang="zh-CN" sz="2400" baseline="-250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1 </a:t>
            </a:r>
          </a:p>
          <a:p>
            <a:pPr algn="l"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  <a:sym typeface="Symbol" pitchFamily="18" charset="2"/>
              </a:rPr>
              <a:t>    (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q</a:t>
            </a:r>
            <a:r>
              <a:rPr lang="en-US" altLang="zh-CN" sz="2400" baseline="-250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1 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  <a:sym typeface="Symbol" pitchFamily="18" charset="2"/>
              </a:rPr>
              <a:t>,0) = 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q</a:t>
            </a:r>
            <a:r>
              <a:rPr lang="en-US" altLang="zh-CN" sz="2400" baseline="-250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3 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, 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  <a:sym typeface="Symbol" pitchFamily="18" charset="2"/>
              </a:rPr>
              <a:t>(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q</a:t>
            </a:r>
            <a:r>
              <a:rPr lang="en-US" altLang="zh-CN" sz="2400" baseline="-250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1 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  <a:sym typeface="Symbol" pitchFamily="18" charset="2"/>
              </a:rPr>
              <a:t>,1) = 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q</a:t>
            </a:r>
            <a:r>
              <a:rPr lang="en-US" altLang="zh-CN" sz="2400" baseline="-250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0</a:t>
            </a:r>
          </a:p>
          <a:p>
            <a:pPr algn="l"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  <a:sym typeface="Symbol" pitchFamily="18" charset="2"/>
              </a:rPr>
              <a:t>    (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q</a:t>
            </a:r>
            <a:r>
              <a:rPr lang="en-US" altLang="zh-CN" sz="2400" baseline="-250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2 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  <a:sym typeface="Symbol" pitchFamily="18" charset="2"/>
              </a:rPr>
              <a:t>,0) = 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q</a:t>
            </a:r>
            <a:r>
              <a:rPr lang="en-US" altLang="zh-CN" sz="2400" baseline="-250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0 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, 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  <a:sym typeface="Symbol" pitchFamily="18" charset="2"/>
              </a:rPr>
              <a:t>(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q</a:t>
            </a:r>
            <a:r>
              <a:rPr lang="en-US" altLang="zh-CN" sz="2400" baseline="-250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2 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  <a:sym typeface="Symbol" pitchFamily="18" charset="2"/>
              </a:rPr>
              <a:t>,1) = 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q</a:t>
            </a:r>
            <a:r>
              <a:rPr lang="en-US" altLang="zh-CN" sz="2400" baseline="-250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3</a:t>
            </a:r>
          </a:p>
          <a:p>
            <a:pPr algn="l"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  <a:sym typeface="Symbol" pitchFamily="18" charset="2"/>
              </a:rPr>
              <a:t>    (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q</a:t>
            </a:r>
            <a:r>
              <a:rPr lang="en-US" altLang="zh-CN" sz="2400" baseline="-250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3 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  <a:sym typeface="Symbol" pitchFamily="18" charset="2"/>
              </a:rPr>
              <a:t>,0) = 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q</a:t>
            </a:r>
            <a:r>
              <a:rPr lang="en-US" altLang="zh-CN" sz="2400" baseline="-250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1 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, 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  <a:sym typeface="Symbol" pitchFamily="18" charset="2"/>
              </a:rPr>
              <a:t>(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q</a:t>
            </a:r>
            <a:r>
              <a:rPr lang="en-US" altLang="zh-CN" sz="2400" baseline="-250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3 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  <a:sym typeface="Symbol" pitchFamily="18" charset="2"/>
              </a:rPr>
              <a:t>,1) = 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q</a:t>
            </a:r>
            <a:r>
              <a:rPr lang="en-US" altLang="zh-CN" sz="2400" baseline="-250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2</a:t>
            </a:r>
            <a:endParaRPr lang="en-US" altLang="zh-CN" sz="2400" i="0">
              <a:solidFill>
                <a:srgbClr val="333399"/>
              </a:solidFill>
              <a:ea typeface="华文行楷" pitchFamily="2" charset="-122"/>
            </a:endParaRPr>
          </a:p>
          <a:p>
            <a:pPr algn="l">
              <a:buClr>
                <a:srgbClr val="800080"/>
              </a:buClr>
              <a:buFont typeface="Wingdings" pitchFamily="2" charset="2"/>
              <a:buChar char=" "/>
            </a:pPr>
            <a:r>
              <a:rPr lang="en-US" altLang="zh-CN" sz="1000" i="0">
                <a:solidFill>
                  <a:srgbClr val="333399"/>
                </a:solidFill>
                <a:ea typeface="楷体_GB2312" pitchFamily="49" charset="-122"/>
              </a:rPr>
              <a:t> </a:t>
            </a:r>
          </a:p>
          <a:p>
            <a:pPr algn="l">
              <a:buClr>
                <a:srgbClr val="800080"/>
              </a:buClr>
              <a:buFont typeface="Symbol" pitchFamily="18" charset="2"/>
              <a:buChar char="-"/>
            </a:pPr>
            <a:r>
              <a:rPr lang="en-US" altLang="zh-CN" sz="2400" i="0">
                <a:solidFill>
                  <a:srgbClr val="333399"/>
                </a:solidFill>
                <a:ea typeface="华文行楷" pitchFamily="2" charset="-122"/>
              </a:rPr>
              <a:t> 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q</a:t>
            </a:r>
            <a:r>
              <a:rPr lang="en-US" altLang="zh-CN" sz="2400" baseline="-250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0</a:t>
            </a:r>
            <a:endParaRPr lang="en-US" altLang="zh-CN" sz="2400" i="0">
              <a:solidFill>
                <a:srgbClr val="333399"/>
              </a:solidFill>
              <a:ea typeface="华文行楷" pitchFamily="2" charset="-122"/>
            </a:endParaRPr>
          </a:p>
          <a:p>
            <a:pPr algn="l">
              <a:buClr>
                <a:srgbClr val="800080"/>
              </a:buClr>
              <a:buFont typeface="Wingdings" pitchFamily="2" charset="2"/>
              <a:buChar char=" "/>
            </a:pPr>
            <a:r>
              <a:rPr lang="en-US" altLang="zh-CN" sz="1000" i="0">
                <a:solidFill>
                  <a:srgbClr val="333399"/>
                </a:solidFill>
                <a:ea typeface="楷体_GB2312" pitchFamily="49" charset="-122"/>
              </a:rPr>
              <a:t> </a:t>
            </a:r>
          </a:p>
          <a:p>
            <a:pPr algn="l">
              <a:buClr>
                <a:srgbClr val="800080"/>
              </a:buClr>
              <a:buFont typeface="Symbol" pitchFamily="18" charset="2"/>
              <a:buChar char="-"/>
            </a:pPr>
            <a:r>
              <a:rPr lang="en-US" altLang="zh-CN" sz="2400" i="0">
                <a:solidFill>
                  <a:srgbClr val="333399"/>
                </a:solidFill>
                <a:ea typeface="华文行楷" pitchFamily="2" charset="-122"/>
              </a:rPr>
              <a:t> 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F = {q</a:t>
            </a:r>
            <a:r>
              <a:rPr lang="en-US" altLang="zh-CN" sz="2400" baseline="-250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0 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, q</a:t>
            </a:r>
            <a:r>
              <a:rPr lang="en-US" altLang="zh-CN" sz="2400" baseline="-250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3 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}</a:t>
            </a:r>
          </a:p>
        </p:txBody>
      </p:sp>
      <p:sp>
        <p:nvSpPr>
          <p:cNvPr id="73741" name="Text Box 13"/>
          <p:cNvSpPr txBox="1">
            <a:spLocks noChangeArrowheads="1"/>
          </p:cNvSpPr>
          <p:nvPr/>
        </p:nvSpPr>
        <p:spPr bwMode="auto">
          <a:xfrm>
            <a:off x="1447800" y="2922588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q</a:t>
            </a:r>
            <a:r>
              <a:rPr lang="en-US" altLang="zh-CN" sz="2400" baseline="-25000"/>
              <a:t>0</a:t>
            </a:r>
          </a:p>
        </p:txBody>
      </p:sp>
      <p:sp>
        <p:nvSpPr>
          <p:cNvPr id="73742" name="Text Box 14"/>
          <p:cNvSpPr txBox="1">
            <a:spLocks noChangeArrowheads="1"/>
          </p:cNvSpPr>
          <p:nvPr/>
        </p:nvSpPr>
        <p:spPr bwMode="auto">
          <a:xfrm>
            <a:off x="3505200" y="2922588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q</a:t>
            </a:r>
            <a:r>
              <a:rPr lang="en-US" altLang="zh-CN" sz="2400" baseline="-25000"/>
              <a:t>1</a:t>
            </a:r>
          </a:p>
        </p:txBody>
      </p:sp>
      <p:sp>
        <p:nvSpPr>
          <p:cNvPr id="73743" name="Text Box 15"/>
          <p:cNvSpPr txBox="1">
            <a:spLocks noChangeArrowheads="1"/>
          </p:cNvSpPr>
          <p:nvPr/>
        </p:nvSpPr>
        <p:spPr bwMode="auto">
          <a:xfrm>
            <a:off x="1447800" y="4979988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q</a:t>
            </a:r>
            <a:r>
              <a:rPr lang="en-US" altLang="zh-CN" sz="2400" baseline="-25000"/>
              <a:t>2</a:t>
            </a:r>
          </a:p>
        </p:txBody>
      </p:sp>
      <p:sp>
        <p:nvSpPr>
          <p:cNvPr id="73744" name="Text Box 16"/>
          <p:cNvSpPr txBox="1">
            <a:spLocks noChangeArrowheads="1"/>
          </p:cNvSpPr>
          <p:nvPr/>
        </p:nvSpPr>
        <p:spPr bwMode="auto">
          <a:xfrm>
            <a:off x="3505200" y="4979988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q</a:t>
            </a:r>
            <a:r>
              <a:rPr lang="en-US" altLang="zh-CN" sz="2400" baseline="-25000"/>
              <a:t>3</a:t>
            </a:r>
          </a:p>
        </p:txBody>
      </p:sp>
      <p:graphicFrame>
        <p:nvGraphicFramePr>
          <p:cNvPr id="73745" name="Object 17"/>
          <p:cNvGraphicFramePr>
            <a:graphicFrameLocks noChangeAspect="1"/>
          </p:cNvGraphicFramePr>
          <p:nvPr/>
        </p:nvGraphicFramePr>
        <p:xfrm>
          <a:off x="381000" y="2590800"/>
          <a:ext cx="4114800" cy="326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3203640" imgH="2543040" progId="Visio.Drawing.11">
                  <p:embed/>
                </p:oleObj>
              </mc:Choice>
              <mc:Fallback>
                <p:oleObj name="VISIO" r:id="rId2" imgW="3203640" imgH="2543040" progId="Visio.Drawing.11">
                  <p:embed/>
                  <p:pic>
                    <p:nvPicPr>
                      <p:cNvPr id="73745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2590800"/>
                        <a:ext cx="4114800" cy="326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46" name="Rectangle 18"/>
          <p:cNvSpPr>
            <a:spLocks noChangeArrowheads="1"/>
          </p:cNvSpPr>
          <p:nvPr/>
        </p:nvSpPr>
        <p:spPr bwMode="auto">
          <a:xfrm>
            <a:off x="1476375" y="195263"/>
            <a:ext cx="3887788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4000" i="0">
                <a:ea typeface="华文行楷" pitchFamily="2" charset="-122"/>
              </a:rPr>
              <a:t>确定有限自动机</a:t>
            </a:r>
          </a:p>
        </p:txBody>
      </p:sp>
      <p:sp>
        <p:nvSpPr>
          <p:cNvPr id="73747" name="Text Box 19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827088" y="1336675"/>
            <a:ext cx="432117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 i="0">
                <a:latin typeface="Arial" pitchFamily="34" charset="0"/>
                <a:ea typeface="楷体_GB2312" pitchFamily="49" charset="-122"/>
              </a:rPr>
              <a:t>  </a:t>
            </a:r>
            <a:r>
              <a:rPr lang="zh-CN" altLang="en-US" sz="3200" i="0">
                <a:latin typeface="Arial" pitchFamily="34" charset="0"/>
                <a:ea typeface="楷体_GB2312" pitchFamily="49" charset="-122"/>
              </a:rPr>
              <a:t>转移图表示的 </a:t>
            </a:r>
            <a:r>
              <a:rPr lang="en-US" altLang="zh-CN" sz="3200" b="0">
                <a:latin typeface="Arial" pitchFamily="34" charset="0"/>
                <a:ea typeface="楷体_GB2312" pitchFamily="49" charset="-122"/>
              </a:rPr>
              <a:t>DFA</a:t>
            </a:r>
            <a:r>
              <a:rPr lang="en-US" altLang="zh-CN" sz="3200">
                <a:latin typeface="Arial" pitchFamily="34" charset="0"/>
                <a:ea typeface="楷体_GB2312" pitchFamily="49" charset="-122"/>
              </a:rPr>
              <a:t> 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D1DF718-578E-884A-B557-8391DEBB8631}"/>
              </a:ext>
            </a:extLst>
          </p:cNvPr>
          <p:cNvSpPr txBox="1"/>
          <p:nvPr/>
        </p:nvSpPr>
        <p:spPr>
          <a:xfrm>
            <a:off x="8604448" y="6471931"/>
            <a:ext cx="5395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0" i="0" dirty="0">
                <a:solidFill>
                  <a:srgbClr val="000066"/>
                </a:solidFill>
              </a:rPr>
              <a:t>05</a:t>
            </a:r>
            <a:endParaRPr kumimoji="1" lang="zh-CN" altLang="en-US" sz="2000" b="0" i="0" dirty="0">
              <a:solidFill>
                <a:srgbClr val="000066"/>
              </a:solidFill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59" name="Text Box 15"/>
          <p:cNvSpPr txBox="1">
            <a:spLocks noChangeArrowheads="1"/>
          </p:cNvSpPr>
          <p:nvPr/>
        </p:nvSpPr>
        <p:spPr bwMode="auto">
          <a:xfrm>
            <a:off x="1600200" y="3352800"/>
            <a:ext cx="609600" cy="46672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 i="0">
                <a:sym typeface="Symbol" pitchFamily="18" charset="2"/>
              </a:rPr>
              <a:t></a:t>
            </a:r>
            <a:r>
              <a:rPr lang="en-US" altLang="zh-CN" sz="2400"/>
              <a:t>q</a:t>
            </a:r>
            <a:r>
              <a:rPr lang="en-US" altLang="zh-CN" sz="2400" baseline="-25000"/>
              <a:t>0</a:t>
            </a:r>
          </a:p>
        </p:txBody>
      </p:sp>
      <p:sp>
        <p:nvSpPr>
          <p:cNvPr id="57360" name="Text Box 16"/>
          <p:cNvSpPr txBox="1">
            <a:spLocks noChangeArrowheads="1"/>
          </p:cNvSpPr>
          <p:nvPr/>
        </p:nvSpPr>
        <p:spPr bwMode="auto">
          <a:xfrm>
            <a:off x="1752600" y="3962400"/>
            <a:ext cx="457200" cy="46672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q</a:t>
            </a:r>
            <a:r>
              <a:rPr lang="en-US" altLang="zh-CN" sz="2400" baseline="-25000"/>
              <a:t>1</a:t>
            </a:r>
          </a:p>
        </p:txBody>
      </p:sp>
      <p:sp>
        <p:nvSpPr>
          <p:cNvPr id="57361" name="Text Box 17"/>
          <p:cNvSpPr txBox="1">
            <a:spLocks noChangeArrowheads="1"/>
          </p:cNvSpPr>
          <p:nvPr/>
        </p:nvSpPr>
        <p:spPr bwMode="auto">
          <a:xfrm>
            <a:off x="1752600" y="4572000"/>
            <a:ext cx="457200" cy="46672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q</a:t>
            </a:r>
            <a:r>
              <a:rPr lang="en-US" altLang="zh-CN" sz="2400" baseline="-25000"/>
              <a:t>2</a:t>
            </a:r>
          </a:p>
        </p:txBody>
      </p:sp>
      <p:sp>
        <p:nvSpPr>
          <p:cNvPr id="57362" name="Text Box 18"/>
          <p:cNvSpPr txBox="1">
            <a:spLocks noChangeArrowheads="1"/>
          </p:cNvSpPr>
          <p:nvPr/>
        </p:nvSpPr>
        <p:spPr bwMode="auto">
          <a:xfrm>
            <a:off x="1600200" y="5181600"/>
            <a:ext cx="685800" cy="46672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 i="0">
                <a:sym typeface="Symbol" pitchFamily="18" charset="2"/>
              </a:rPr>
              <a:t></a:t>
            </a:r>
            <a:r>
              <a:rPr lang="en-US" altLang="zh-CN" sz="2400"/>
              <a:t>q</a:t>
            </a:r>
            <a:r>
              <a:rPr lang="en-US" altLang="zh-CN" sz="2400" baseline="-25000"/>
              <a:t>3</a:t>
            </a:r>
          </a:p>
        </p:txBody>
      </p:sp>
      <p:sp>
        <p:nvSpPr>
          <p:cNvPr id="57363" name="Line 19"/>
          <p:cNvSpPr>
            <a:spLocks noChangeShapeType="1"/>
          </p:cNvSpPr>
          <p:nvPr/>
        </p:nvSpPr>
        <p:spPr bwMode="auto">
          <a:xfrm>
            <a:off x="1143000" y="3200400"/>
            <a:ext cx="2819400" cy="0"/>
          </a:xfrm>
          <a:prstGeom prst="line">
            <a:avLst/>
          </a:prstGeom>
          <a:noFill/>
          <a:ln w="9525">
            <a:solidFill>
              <a:srgbClr val="800080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57364" name="Line 20"/>
          <p:cNvSpPr>
            <a:spLocks noChangeShapeType="1"/>
          </p:cNvSpPr>
          <p:nvPr/>
        </p:nvSpPr>
        <p:spPr bwMode="auto">
          <a:xfrm>
            <a:off x="1143000" y="3276600"/>
            <a:ext cx="2819400" cy="0"/>
          </a:xfrm>
          <a:prstGeom prst="line">
            <a:avLst/>
          </a:prstGeom>
          <a:noFill/>
          <a:ln w="9525">
            <a:solidFill>
              <a:srgbClr val="800080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57365" name="Line 21"/>
          <p:cNvSpPr>
            <a:spLocks noChangeShapeType="1"/>
          </p:cNvSpPr>
          <p:nvPr/>
        </p:nvSpPr>
        <p:spPr bwMode="auto">
          <a:xfrm>
            <a:off x="2362200" y="2590800"/>
            <a:ext cx="0" cy="609600"/>
          </a:xfrm>
          <a:prstGeom prst="line">
            <a:avLst/>
          </a:prstGeom>
          <a:noFill/>
          <a:ln w="9525">
            <a:solidFill>
              <a:srgbClr val="800080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57366" name="Line 22"/>
          <p:cNvSpPr>
            <a:spLocks noChangeShapeType="1"/>
          </p:cNvSpPr>
          <p:nvPr/>
        </p:nvSpPr>
        <p:spPr bwMode="auto">
          <a:xfrm>
            <a:off x="2362200" y="3276600"/>
            <a:ext cx="0" cy="2590800"/>
          </a:xfrm>
          <a:prstGeom prst="line">
            <a:avLst/>
          </a:prstGeom>
          <a:noFill/>
          <a:ln w="9525">
            <a:solidFill>
              <a:srgbClr val="800080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57367" name="Line 23"/>
          <p:cNvSpPr>
            <a:spLocks noChangeShapeType="1"/>
          </p:cNvSpPr>
          <p:nvPr/>
        </p:nvSpPr>
        <p:spPr bwMode="auto">
          <a:xfrm>
            <a:off x="2438400" y="2590800"/>
            <a:ext cx="0" cy="609600"/>
          </a:xfrm>
          <a:prstGeom prst="line">
            <a:avLst/>
          </a:prstGeom>
          <a:noFill/>
          <a:ln w="9525">
            <a:solidFill>
              <a:srgbClr val="800080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57368" name="Line 24"/>
          <p:cNvSpPr>
            <a:spLocks noChangeShapeType="1"/>
          </p:cNvSpPr>
          <p:nvPr/>
        </p:nvSpPr>
        <p:spPr bwMode="auto">
          <a:xfrm>
            <a:off x="2438400" y="3276600"/>
            <a:ext cx="0" cy="2590800"/>
          </a:xfrm>
          <a:prstGeom prst="line">
            <a:avLst/>
          </a:prstGeom>
          <a:noFill/>
          <a:ln w="9525">
            <a:solidFill>
              <a:srgbClr val="800080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57369" name="Line 25"/>
          <p:cNvSpPr>
            <a:spLocks noChangeShapeType="1"/>
          </p:cNvSpPr>
          <p:nvPr/>
        </p:nvSpPr>
        <p:spPr bwMode="auto">
          <a:xfrm>
            <a:off x="3200400" y="2590800"/>
            <a:ext cx="0" cy="609600"/>
          </a:xfrm>
          <a:prstGeom prst="line">
            <a:avLst/>
          </a:prstGeom>
          <a:noFill/>
          <a:ln w="9525">
            <a:solidFill>
              <a:srgbClr val="800080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57370" name="Line 26"/>
          <p:cNvSpPr>
            <a:spLocks noChangeShapeType="1"/>
          </p:cNvSpPr>
          <p:nvPr/>
        </p:nvSpPr>
        <p:spPr bwMode="auto">
          <a:xfrm>
            <a:off x="3200400" y="3276600"/>
            <a:ext cx="0" cy="2590800"/>
          </a:xfrm>
          <a:prstGeom prst="line">
            <a:avLst/>
          </a:prstGeom>
          <a:noFill/>
          <a:ln w="9525">
            <a:solidFill>
              <a:srgbClr val="800080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57371" name="Text Box 27"/>
          <p:cNvSpPr txBox="1">
            <a:spLocks noChangeArrowheads="1"/>
          </p:cNvSpPr>
          <p:nvPr/>
        </p:nvSpPr>
        <p:spPr bwMode="auto">
          <a:xfrm>
            <a:off x="2667000" y="2667000"/>
            <a:ext cx="304800" cy="46672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0</a:t>
            </a:r>
            <a:endParaRPr lang="en-US" altLang="zh-CN" sz="2400" baseline="-25000"/>
          </a:p>
        </p:txBody>
      </p:sp>
      <p:sp>
        <p:nvSpPr>
          <p:cNvPr id="57372" name="Text Box 28"/>
          <p:cNvSpPr txBox="1">
            <a:spLocks noChangeArrowheads="1"/>
          </p:cNvSpPr>
          <p:nvPr/>
        </p:nvSpPr>
        <p:spPr bwMode="auto">
          <a:xfrm>
            <a:off x="3429000" y="2667000"/>
            <a:ext cx="304800" cy="46672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1</a:t>
            </a:r>
            <a:endParaRPr lang="en-US" altLang="zh-CN" sz="2400" baseline="-25000"/>
          </a:p>
        </p:txBody>
      </p:sp>
      <p:sp>
        <p:nvSpPr>
          <p:cNvPr id="57373" name="Line 29"/>
          <p:cNvSpPr>
            <a:spLocks noChangeShapeType="1"/>
          </p:cNvSpPr>
          <p:nvPr/>
        </p:nvSpPr>
        <p:spPr bwMode="auto">
          <a:xfrm>
            <a:off x="1295400" y="3657600"/>
            <a:ext cx="304800" cy="0"/>
          </a:xfrm>
          <a:prstGeom prst="line">
            <a:avLst/>
          </a:prstGeom>
          <a:noFill/>
          <a:ln w="9525">
            <a:solidFill>
              <a:srgbClr val="800080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57375" name="Text Box 31"/>
          <p:cNvSpPr txBox="1">
            <a:spLocks noChangeArrowheads="1"/>
          </p:cNvSpPr>
          <p:nvPr/>
        </p:nvSpPr>
        <p:spPr bwMode="auto">
          <a:xfrm>
            <a:off x="2590800" y="3352800"/>
            <a:ext cx="457200" cy="46672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q</a:t>
            </a:r>
            <a:r>
              <a:rPr lang="en-US" altLang="zh-CN" sz="2400" baseline="-25000"/>
              <a:t>2</a:t>
            </a:r>
          </a:p>
        </p:txBody>
      </p:sp>
      <p:sp>
        <p:nvSpPr>
          <p:cNvPr id="57376" name="Text Box 32"/>
          <p:cNvSpPr txBox="1">
            <a:spLocks noChangeArrowheads="1"/>
          </p:cNvSpPr>
          <p:nvPr/>
        </p:nvSpPr>
        <p:spPr bwMode="auto">
          <a:xfrm>
            <a:off x="3429000" y="3352800"/>
            <a:ext cx="457200" cy="46672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q</a:t>
            </a:r>
            <a:r>
              <a:rPr lang="en-US" altLang="zh-CN" sz="2400" baseline="-25000"/>
              <a:t>1</a:t>
            </a:r>
          </a:p>
        </p:txBody>
      </p:sp>
      <p:sp>
        <p:nvSpPr>
          <p:cNvPr id="57377" name="Text Box 33"/>
          <p:cNvSpPr txBox="1">
            <a:spLocks noChangeArrowheads="1"/>
          </p:cNvSpPr>
          <p:nvPr/>
        </p:nvSpPr>
        <p:spPr bwMode="auto">
          <a:xfrm>
            <a:off x="2590800" y="3962400"/>
            <a:ext cx="457200" cy="46672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q</a:t>
            </a:r>
            <a:r>
              <a:rPr lang="en-US" altLang="zh-CN" sz="2400" baseline="-25000"/>
              <a:t>3</a:t>
            </a:r>
          </a:p>
        </p:txBody>
      </p:sp>
      <p:sp>
        <p:nvSpPr>
          <p:cNvPr id="57378" name="Text Box 34"/>
          <p:cNvSpPr txBox="1">
            <a:spLocks noChangeArrowheads="1"/>
          </p:cNvSpPr>
          <p:nvPr/>
        </p:nvSpPr>
        <p:spPr bwMode="auto">
          <a:xfrm>
            <a:off x="3429000" y="3962400"/>
            <a:ext cx="457200" cy="46672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q</a:t>
            </a:r>
            <a:r>
              <a:rPr lang="en-US" altLang="zh-CN" sz="2400" baseline="-25000"/>
              <a:t>0</a:t>
            </a:r>
          </a:p>
        </p:txBody>
      </p:sp>
      <p:sp>
        <p:nvSpPr>
          <p:cNvPr id="57379" name="Text Box 35"/>
          <p:cNvSpPr txBox="1">
            <a:spLocks noChangeArrowheads="1"/>
          </p:cNvSpPr>
          <p:nvPr/>
        </p:nvSpPr>
        <p:spPr bwMode="auto">
          <a:xfrm>
            <a:off x="2590800" y="4562475"/>
            <a:ext cx="457200" cy="46672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q</a:t>
            </a:r>
            <a:r>
              <a:rPr lang="en-US" altLang="zh-CN" sz="2400" baseline="-25000"/>
              <a:t>0</a:t>
            </a:r>
          </a:p>
        </p:txBody>
      </p:sp>
      <p:sp>
        <p:nvSpPr>
          <p:cNvPr id="57380" name="Text Box 36"/>
          <p:cNvSpPr txBox="1">
            <a:spLocks noChangeArrowheads="1"/>
          </p:cNvSpPr>
          <p:nvPr/>
        </p:nvSpPr>
        <p:spPr bwMode="auto">
          <a:xfrm>
            <a:off x="3429000" y="4562475"/>
            <a:ext cx="457200" cy="46672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q</a:t>
            </a:r>
            <a:r>
              <a:rPr lang="en-US" altLang="zh-CN" sz="2400" baseline="-25000"/>
              <a:t>3</a:t>
            </a:r>
          </a:p>
        </p:txBody>
      </p:sp>
      <p:sp>
        <p:nvSpPr>
          <p:cNvPr id="57381" name="Text Box 37"/>
          <p:cNvSpPr txBox="1">
            <a:spLocks noChangeArrowheads="1"/>
          </p:cNvSpPr>
          <p:nvPr/>
        </p:nvSpPr>
        <p:spPr bwMode="auto">
          <a:xfrm>
            <a:off x="2590800" y="5172075"/>
            <a:ext cx="457200" cy="46672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q</a:t>
            </a:r>
            <a:r>
              <a:rPr lang="en-US" altLang="zh-CN" sz="2400" baseline="-25000"/>
              <a:t>1</a:t>
            </a:r>
          </a:p>
        </p:txBody>
      </p:sp>
      <p:sp>
        <p:nvSpPr>
          <p:cNvPr id="57382" name="Text Box 38"/>
          <p:cNvSpPr txBox="1">
            <a:spLocks noChangeArrowheads="1"/>
          </p:cNvSpPr>
          <p:nvPr/>
        </p:nvSpPr>
        <p:spPr bwMode="auto">
          <a:xfrm>
            <a:off x="3429000" y="5172075"/>
            <a:ext cx="457200" cy="46672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q</a:t>
            </a:r>
            <a:r>
              <a:rPr lang="en-US" altLang="zh-CN" sz="2400" baseline="-25000"/>
              <a:t>2</a:t>
            </a:r>
          </a:p>
        </p:txBody>
      </p:sp>
      <p:sp>
        <p:nvSpPr>
          <p:cNvPr id="57383" name="Rectangle 39"/>
          <p:cNvSpPr>
            <a:spLocks noChangeArrowheads="1"/>
          </p:cNvSpPr>
          <p:nvPr/>
        </p:nvSpPr>
        <p:spPr bwMode="auto">
          <a:xfrm>
            <a:off x="1476375" y="195263"/>
            <a:ext cx="3887788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4000" i="0">
                <a:ea typeface="华文行楷" pitchFamily="2" charset="-122"/>
              </a:rPr>
              <a:t>确定有限自动机</a:t>
            </a:r>
          </a:p>
        </p:txBody>
      </p:sp>
      <p:sp>
        <p:nvSpPr>
          <p:cNvPr id="57384" name="Text Box 40"/>
          <p:cNvSpPr txBox="1">
            <a:spLocks noChangeArrowheads="1"/>
          </p:cNvSpPr>
          <p:nvPr/>
        </p:nvSpPr>
        <p:spPr bwMode="auto">
          <a:xfrm>
            <a:off x="4643438" y="2397125"/>
            <a:ext cx="4114800" cy="362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buClr>
                <a:srgbClr val="800080"/>
              </a:buClr>
              <a:buFont typeface="Symbol" pitchFamily="18" charset="2"/>
              <a:buChar char="-"/>
            </a:pPr>
            <a:r>
              <a:rPr lang="en-US" altLang="zh-CN" sz="2400" i="0">
                <a:solidFill>
                  <a:srgbClr val="333399"/>
                </a:solidFill>
                <a:ea typeface="华文行楷" pitchFamily="2" charset="-122"/>
              </a:rPr>
              <a:t> 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Q = {q</a:t>
            </a:r>
            <a:r>
              <a:rPr lang="en-US" altLang="zh-CN" sz="2400" baseline="-250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0 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, q</a:t>
            </a:r>
            <a:r>
              <a:rPr lang="en-US" altLang="zh-CN" sz="2400" baseline="-250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1 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, q</a:t>
            </a:r>
            <a:r>
              <a:rPr lang="en-US" altLang="zh-CN" sz="2400" baseline="-250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2 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, q</a:t>
            </a:r>
            <a:r>
              <a:rPr lang="en-US" altLang="zh-CN" sz="2400" baseline="-250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3 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}</a:t>
            </a:r>
            <a:endParaRPr lang="en-US" altLang="zh-CN" sz="2400" baseline="-25000">
              <a:solidFill>
                <a:srgbClr val="333399"/>
              </a:solidFill>
              <a:latin typeface="Arial" pitchFamily="34" charset="0"/>
              <a:ea typeface="华文行楷" pitchFamily="2" charset="-122"/>
            </a:endParaRPr>
          </a:p>
          <a:p>
            <a:pPr algn="l">
              <a:buClr>
                <a:srgbClr val="800080"/>
              </a:buClr>
              <a:buFont typeface="Wingdings" pitchFamily="2" charset="2"/>
              <a:buChar char=" "/>
            </a:pPr>
            <a:r>
              <a:rPr lang="en-US" altLang="zh-CN" sz="1000" i="0">
                <a:solidFill>
                  <a:srgbClr val="333399"/>
                </a:solidFill>
                <a:ea typeface="楷体_GB2312" pitchFamily="49" charset="-122"/>
              </a:rPr>
              <a:t> </a:t>
            </a:r>
          </a:p>
          <a:p>
            <a:pPr algn="l">
              <a:buClr>
                <a:srgbClr val="800080"/>
              </a:buClr>
              <a:buFont typeface="Symbol" pitchFamily="18" charset="2"/>
              <a:buChar char="-"/>
            </a:pPr>
            <a:r>
              <a:rPr lang="en-US" altLang="zh-CN" sz="2400" i="0">
                <a:solidFill>
                  <a:srgbClr val="333399"/>
                </a:solidFill>
                <a:ea typeface="华文行楷" pitchFamily="2" charset="-122"/>
              </a:rPr>
              <a:t> </a:t>
            </a:r>
            <a:r>
              <a:rPr lang="en-US" altLang="zh-CN" sz="2400" i="0">
                <a:solidFill>
                  <a:srgbClr val="333399"/>
                </a:solidFill>
                <a:sym typeface="Symbol" pitchFamily="18" charset="2"/>
              </a:rPr>
              <a:t>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 = {0, 1</a:t>
            </a:r>
            <a:r>
              <a:rPr lang="en-US" altLang="zh-CN" sz="2400" baseline="-250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 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}</a:t>
            </a:r>
            <a:endParaRPr lang="en-US" altLang="zh-CN" sz="2400" i="0">
              <a:solidFill>
                <a:srgbClr val="333399"/>
              </a:solidFill>
              <a:ea typeface="华文行楷" pitchFamily="2" charset="-122"/>
            </a:endParaRPr>
          </a:p>
          <a:p>
            <a:pPr algn="l">
              <a:buClr>
                <a:srgbClr val="800080"/>
              </a:buClr>
              <a:buFont typeface="Wingdings" pitchFamily="2" charset="2"/>
              <a:buChar char=" "/>
            </a:pPr>
            <a:r>
              <a:rPr lang="en-US" altLang="zh-CN" sz="1000" i="0">
                <a:solidFill>
                  <a:srgbClr val="333399"/>
                </a:solidFill>
                <a:ea typeface="楷体_GB2312" pitchFamily="49" charset="-122"/>
              </a:rPr>
              <a:t> </a:t>
            </a:r>
          </a:p>
          <a:p>
            <a:pPr algn="l">
              <a:buClr>
                <a:srgbClr val="800080"/>
              </a:buClr>
              <a:buFont typeface="Symbol" pitchFamily="18" charset="2"/>
              <a:buChar char="-"/>
            </a:pPr>
            <a:r>
              <a:rPr lang="en-US" altLang="zh-CN" sz="2400" i="0">
                <a:solidFill>
                  <a:srgbClr val="333399"/>
                </a:solidFill>
                <a:ea typeface="华文行楷" pitchFamily="2" charset="-122"/>
              </a:rPr>
              <a:t> 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  <a:sym typeface="Symbol" pitchFamily="18" charset="2"/>
              </a:rPr>
              <a:t>(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q</a:t>
            </a:r>
            <a:r>
              <a:rPr lang="en-US" altLang="zh-CN" sz="2400" baseline="-250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0 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  <a:sym typeface="Symbol" pitchFamily="18" charset="2"/>
              </a:rPr>
              <a:t>,0) = 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q</a:t>
            </a:r>
            <a:r>
              <a:rPr lang="en-US" altLang="zh-CN" sz="2400" baseline="-250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2 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, 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  <a:sym typeface="Symbol" pitchFamily="18" charset="2"/>
              </a:rPr>
              <a:t>(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q</a:t>
            </a:r>
            <a:r>
              <a:rPr lang="en-US" altLang="zh-CN" sz="2400" baseline="-250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0 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  <a:sym typeface="Symbol" pitchFamily="18" charset="2"/>
              </a:rPr>
              <a:t>,1) = 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q</a:t>
            </a:r>
            <a:r>
              <a:rPr lang="en-US" altLang="zh-CN" sz="2400" baseline="-250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1 </a:t>
            </a:r>
          </a:p>
          <a:p>
            <a:pPr algn="l"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  <a:sym typeface="Symbol" pitchFamily="18" charset="2"/>
              </a:rPr>
              <a:t>    (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q</a:t>
            </a:r>
            <a:r>
              <a:rPr lang="en-US" altLang="zh-CN" sz="2400" baseline="-250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1 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  <a:sym typeface="Symbol" pitchFamily="18" charset="2"/>
              </a:rPr>
              <a:t>,0) = 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q</a:t>
            </a:r>
            <a:r>
              <a:rPr lang="en-US" altLang="zh-CN" sz="2400" baseline="-250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3 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, 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  <a:sym typeface="Symbol" pitchFamily="18" charset="2"/>
              </a:rPr>
              <a:t>(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q</a:t>
            </a:r>
            <a:r>
              <a:rPr lang="en-US" altLang="zh-CN" sz="2400" baseline="-250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1 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  <a:sym typeface="Symbol" pitchFamily="18" charset="2"/>
              </a:rPr>
              <a:t>,1) = 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q</a:t>
            </a:r>
            <a:r>
              <a:rPr lang="en-US" altLang="zh-CN" sz="2400" baseline="-250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0</a:t>
            </a:r>
          </a:p>
          <a:p>
            <a:pPr algn="l"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  <a:sym typeface="Symbol" pitchFamily="18" charset="2"/>
              </a:rPr>
              <a:t>    (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q</a:t>
            </a:r>
            <a:r>
              <a:rPr lang="en-US" altLang="zh-CN" sz="2400" baseline="-250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2 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  <a:sym typeface="Symbol" pitchFamily="18" charset="2"/>
              </a:rPr>
              <a:t>,0) = 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q</a:t>
            </a:r>
            <a:r>
              <a:rPr lang="en-US" altLang="zh-CN" sz="2400" baseline="-250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0 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, 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  <a:sym typeface="Symbol" pitchFamily="18" charset="2"/>
              </a:rPr>
              <a:t>(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q</a:t>
            </a:r>
            <a:r>
              <a:rPr lang="en-US" altLang="zh-CN" sz="2400" baseline="-250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2 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  <a:sym typeface="Symbol" pitchFamily="18" charset="2"/>
              </a:rPr>
              <a:t>,1) = 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q</a:t>
            </a:r>
            <a:r>
              <a:rPr lang="en-US" altLang="zh-CN" sz="2400" baseline="-250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3</a:t>
            </a:r>
          </a:p>
          <a:p>
            <a:pPr algn="l"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  <a:sym typeface="Symbol" pitchFamily="18" charset="2"/>
              </a:rPr>
              <a:t>    (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q</a:t>
            </a:r>
            <a:r>
              <a:rPr lang="en-US" altLang="zh-CN" sz="2400" baseline="-250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3 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  <a:sym typeface="Symbol" pitchFamily="18" charset="2"/>
              </a:rPr>
              <a:t>,0) = 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q</a:t>
            </a:r>
            <a:r>
              <a:rPr lang="en-US" altLang="zh-CN" sz="2400" baseline="-250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1 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, 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  <a:sym typeface="Symbol" pitchFamily="18" charset="2"/>
              </a:rPr>
              <a:t>(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q</a:t>
            </a:r>
            <a:r>
              <a:rPr lang="en-US" altLang="zh-CN" sz="2400" baseline="-250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3 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  <a:sym typeface="Symbol" pitchFamily="18" charset="2"/>
              </a:rPr>
              <a:t>,1) = 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q</a:t>
            </a:r>
            <a:r>
              <a:rPr lang="en-US" altLang="zh-CN" sz="2400" baseline="-250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2</a:t>
            </a:r>
            <a:endParaRPr lang="en-US" altLang="zh-CN" sz="2400" i="0">
              <a:solidFill>
                <a:srgbClr val="333399"/>
              </a:solidFill>
              <a:ea typeface="华文行楷" pitchFamily="2" charset="-122"/>
            </a:endParaRPr>
          </a:p>
          <a:p>
            <a:pPr algn="l">
              <a:buClr>
                <a:srgbClr val="800080"/>
              </a:buClr>
              <a:buFont typeface="Wingdings" pitchFamily="2" charset="2"/>
              <a:buChar char=" "/>
            </a:pPr>
            <a:r>
              <a:rPr lang="en-US" altLang="zh-CN" sz="1000" i="0">
                <a:solidFill>
                  <a:srgbClr val="333399"/>
                </a:solidFill>
                <a:ea typeface="楷体_GB2312" pitchFamily="49" charset="-122"/>
              </a:rPr>
              <a:t> </a:t>
            </a:r>
          </a:p>
          <a:p>
            <a:pPr algn="l">
              <a:buClr>
                <a:srgbClr val="800080"/>
              </a:buClr>
              <a:buFont typeface="Symbol" pitchFamily="18" charset="2"/>
              <a:buChar char="-"/>
            </a:pPr>
            <a:r>
              <a:rPr lang="en-US" altLang="zh-CN" sz="2400" i="0">
                <a:solidFill>
                  <a:srgbClr val="333399"/>
                </a:solidFill>
                <a:ea typeface="华文行楷" pitchFamily="2" charset="-122"/>
              </a:rPr>
              <a:t> 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q</a:t>
            </a:r>
            <a:r>
              <a:rPr lang="en-US" altLang="zh-CN" sz="2400" baseline="-250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0</a:t>
            </a:r>
            <a:endParaRPr lang="en-US" altLang="zh-CN" sz="2400" i="0">
              <a:solidFill>
                <a:srgbClr val="333399"/>
              </a:solidFill>
              <a:ea typeface="华文行楷" pitchFamily="2" charset="-122"/>
            </a:endParaRPr>
          </a:p>
          <a:p>
            <a:pPr algn="l">
              <a:buClr>
                <a:srgbClr val="800080"/>
              </a:buClr>
              <a:buFont typeface="Wingdings" pitchFamily="2" charset="2"/>
              <a:buChar char=" "/>
            </a:pPr>
            <a:r>
              <a:rPr lang="en-US" altLang="zh-CN" sz="1000" i="0">
                <a:solidFill>
                  <a:srgbClr val="333399"/>
                </a:solidFill>
                <a:ea typeface="楷体_GB2312" pitchFamily="49" charset="-122"/>
              </a:rPr>
              <a:t> </a:t>
            </a:r>
          </a:p>
          <a:p>
            <a:pPr algn="l">
              <a:buClr>
                <a:srgbClr val="800080"/>
              </a:buClr>
              <a:buFont typeface="Symbol" pitchFamily="18" charset="2"/>
              <a:buChar char="-"/>
            </a:pPr>
            <a:r>
              <a:rPr lang="en-US" altLang="zh-CN" sz="2400" i="0">
                <a:solidFill>
                  <a:srgbClr val="333399"/>
                </a:solidFill>
                <a:ea typeface="华文行楷" pitchFamily="2" charset="-122"/>
              </a:rPr>
              <a:t> 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F = {q</a:t>
            </a:r>
            <a:r>
              <a:rPr lang="en-US" altLang="zh-CN" sz="2400" baseline="-250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0 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, q</a:t>
            </a:r>
            <a:r>
              <a:rPr lang="en-US" altLang="zh-CN" sz="2400" baseline="-250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3 </a:t>
            </a:r>
            <a:r>
              <a:rPr lang="en-US" altLang="zh-CN" sz="24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}</a:t>
            </a:r>
          </a:p>
        </p:txBody>
      </p:sp>
      <p:sp>
        <p:nvSpPr>
          <p:cNvPr id="57385" name="Text Box 41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827088" y="1336675"/>
            <a:ext cx="432117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 i="0">
                <a:latin typeface="Arial" pitchFamily="34" charset="0"/>
                <a:ea typeface="楷体_GB2312" pitchFamily="49" charset="-122"/>
              </a:rPr>
              <a:t>  </a:t>
            </a:r>
            <a:r>
              <a:rPr lang="zh-CN" altLang="en-US" sz="3200" i="0">
                <a:latin typeface="Arial" pitchFamily="34" charset="0"/>
                <a:ea typeface="楷体_GB2312" pitchFamily="49" charset="-122"/>
              </a:rPr>
              <a:t>转移表表示的 </a:t>
            </a:r>
            <a:r>
              <a:rPr lang="en-US" altLang="zh-CN" sz="3200" b="0">
                <a:latin typeface="Arial" pitchFamily="34" charset="0"/>
                <a:ea typeface="楷体_GB2312" pitchFamily="49" charset="-122"/>
              </a:rPr>
              <a:t>DFA</a:t>
            </a:r>
            <a:r>
              <a:rPr lang="en-US" altLang="zh-CN" sz="3200">
                <a:latin typeface="Arial" pitchFamily="34" charset="0"/>
                <a:ea typeface="楷体_GB2312" pitchFamily="49" charset="-122"/>
              </a:rPr>
              <a:t> 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C442B4E6-268C-C34F-9F17-4D9E822B47C8}"/>
              </a:ext>
            </a:extLst>
          </p:cNvPr>
          <p:cNvSpPr txBox="1"/>
          <p:nvPr/>
        </p:nvSpPr>
        <p:spPr>
          <a:xfrm>
            <a:off x="8604448" y="6471931"/>
            <a:ext cx="5395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0" i="0" dirty="0">
                <a:solidFill>
                  <a:srgbClr val="000066"/>
                </a:solidFill>
              </a:rPr>
              <a:t>06</a:t>
            </a:r>
            <a:endParaRPr kumimoji="1" lang="zh-CN" altLang="en-US" sz="2000" b="0" i="0" dirty="0">
              <a:solidFill>
                <a:srgbClr val="000066"/>
              </a:solidFill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95" name="Line 43"/>
          <p:cNvSpPr>
            <a:spLocks noChangeShapeType="1"/>
          </p:cNvSpPr>
          <p:nvPr/>
        </p:nvSpPr>
        <p:spPr bwMode="auto">
          <a:xfrm flipV="1">
            <a:off x="5795963" y="32004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74798" name="Text Box 46"/>
          <p:cNvSpPr txBox="1">
            <a:spLocks noChangeArrowheads="1"/>
          </p:cNvSpPr>
          <p:nvPr/>
        </p:nvSpPr>
        <p:spPr bwMode="auto">
          <a:xfrm>
            <a:off x="3797300" y="2922588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q</a:t>
            </a:r>
            <a:r>
              <a:rPr lang="en-US" altLang="zh-CN" sz="2400" baseline="-25000"/>
              <a:t>1</a:t>
            </a:r>
          </a:p>
        </p:txBody>
      </p:sp>
      <p:sp>
        <p:nvSpPr>
          <p:cNvPr id="74799" name="Text Box 47"/>
          <p:cNvSpPr txBox="1">
            <a:spLocks noChangeArrowheads="1"/>
          </p:cNvSpPr>
          <p:nvPr/>
        </p:nvSpPr>
        <p:spPr bwMode="auto">
          <a:xfrm>
            <a:off x="1739900" y="4979988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q</a:t>
            </a:r>
            <a:r>
              <a:rPr lang="en-US" altLang="zh-CN" sz="2400" baseline="-25000"/>
              <a:t>2</a:t>
            </a:r>
          </a:p>
        </p:txBody>
      </p:sp>
      <p:sp>
        <p:nvSpPr>
          <p:cNvPr id="74800" name="Text Box 48"/>
          <p:cNvSpPr txBox="1">
            <a:spLocks noChangeArrowheads="1"/>
          </p:cNvSpPr>
          <p:nvPr/>
        </p:nvSpPr>
        <p:spPr bwMode="auto">
          <a:xfrm>
            <a:off x="3797300" y="4979988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q</a:t>
            </a:r>
            <a:r>
              <a:rPr lang="en-US" altLang="zh-CN" sz="2400" baseline="-25000"/>
              <a:t>3</a:t>
            </a:r>
          </a:p>
        </p:txBody>
      </p:sp>
      <p:graphicFrame>
        <p:nvGraphicFramePr>
          <p:cNvPr id="74801" name="Object 49"/>
          <p:cNvGraphicFramePr>
            <a:graphicFrameLocks noChangeAspect="1"/>
          </p:cNvGraphicFramePr>
          <p:nvPr/>
        </p:nvGraphicFramePr>
        <p:xfrm>
          <a:off x="673100" y="2590800"/>
          <a:ext cx="4114800" cy="326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3203753" imgH="2543251" progId="Visio.Drawing.11">
                  <p:embed/>
                </p:oleObj>
              </mc:Choice>
              <mc:Fallback>
                <p:oleObj name="Visio" r:id="rId2" imgW="3203753" imgH="2543251" progId="Visio.Drawing.11">
                  <p:embed/>
                  <p:pic>
                    <p:nvPicPr>
                      <p:cNvPr id="74801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100" y="2590800"/>
                        <a:ext cx="4114800" cy="326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807" name="Text Box 55"/>
          <p:cNvSpPr txBox="1">
            <a:spLocks noChangeArrowheads="1"/>
          </p:cNvSpPr>
          <p:nvPr/>
        </p:nvSpPr>
        <p:spPr bwMode="auto">
          <a:xfrm>
            <a:off x="1743075" y="2900363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q</a:t>
            </a:r>
            <a:r>
              <a:rPr lang="en-US" altLang="zh-CN" sz="2400" baseline="-25000"/>
              <a:t>0</a:t>
            </a:r>
          </a:p>
        </p:txBody>
      </p:sp>
      <p:graphicFrame>
        <p:nvGraphicFramePr>
          <p:cNvPr id="74808" name="Object 56"/>
          <p:cNvGraphicFramePr>
            <a:graphicFrameLocks noChangeAspect="1"/>
          </p:cNvGraphicFramePr>
          <p:nvPr/>
        </p:nvGraphicFramePr>
        <p:xfrm>
          <a:off x="5507038" y="2636838"/>
          <a:ext cx="273685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2099914" imgH="374769" progId="Visio.Drawing.11">
                  <p:embed/>
                </p:oleObj>
              </mc:Choice>
              <mc:Fallback>
                <p:oleObj name="Visio" r:id="rId4" imgW="2099914" imgH="374769" progId="Visio.Drawing.11">
                  <p:embed/>
                  <p:pic>
                    <p:nvPicPr>
                      <p:cNvPr id="74808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7038" y="2636838"/>
                        <a:ext cx="2736850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809" name="Rectangle 57"/>
          <p:cNvSpPr>
            <a:spLocks noChangeArrowheads="1"/>
          </p:cNvSpPr>
          <p:nvPr/>
        </p:nvSpPr>
        <p:spPr bwMode="auto">
          <a:xfrm>
            <a:off x="1476375" y="195263"/>
            <a:ext cx="3887788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4000" i="0">
                <a:ea typeface="华文行楷" pitchFamily="2" charset="-122"/>
              </a:rPr>
              <a:t>确定有限自动机</a:t>
            </a:r>
          </a:p>
        </p:txBody>
      </p:sp>
      <p:sp>
        <p:nvSpPr>
          <p:cNvPr id="74810" name="Text Box 58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827088" y="1409700"/>
            <a:ext cx="532923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 i="0">
                <a:latin typeface="Arial" pitchFamily="34" charset="0"/>
                <a:ea typeface="楷体_GB2312" pitchFamily="49" charset="-122"/>
              </a:rPr>
              <a:t>  </a:t>
            </a:r>
            <a:r>
              <a:rPr lang="en-US" altLang="zh-CN" sz="3200" b="0">
                <a:latin typeface="Arial" pitchFamily="34" charset="0"/>
                <a:ea typeface="楷体_GB2312" pitchFamily="49" charset="-122"/>
              </a:rPr>
              <a:t>DFA</a:t>
            </a:r>
            <a:r>
              <a:rPr lang="zh-CN" altLang="en-US" sz="3200" i="0">
                <a:latin typeface="Arial" pitchFamily="34" charset="0"/>
                <a:ea typeface="楷体_GB2312" pitchFamily="49" charset="-122"/>
              </a:rPr>
              <a:t>如何接受输入符号串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0FF5452-F6DC-4149-9711-53C26232B903}"/>
              </a:ext>
            </a:extLst>
          </p:cNvPr>
          <p:cNvSpPr txBox="1"/>
          <p:nvPr/>
        </p:nvSpPr>
        <p:spPr>
          <a:xfrm>
            <a:off x="8604448" y="6471931"/>
            <a:ext cx="5395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0" i="0" dirty="0">
                <a:solidFill>
                  <a:srgbClr val="000066"/>
                </a:solidFill>
              </a:rPr>
              <a:t>07</a:t>
            </a:r>
            <a:endParaRPr kumimoji="1" lang="zh-CN" altLang="en-US" sz="2000" b="0" i="0" dirty="0">
              <a:solidFill>
                <a:srgbClr val="000066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92" name="Text Box 12"/>
          <p:cNvSpPr txBox="1">
            <a:spLocks noChangeArrowheads="1"/>
          </p:cNvSpPr>
          <p:nvPr/>
        </p:nvSpPr>
        <p:spPr bwMode="auto">
          <a:xfrm>
            <a:off x="1739900" y="4979988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q</a:t>
            </a:r>
            <a:r>
              <a:rPr lang="en-US" altLang="zh-CN" sz="2400" baseline="-25000"/>
              <a:t>2</a:t>
            </a:r>
          </a:p>
        </p:txBody>
      </p:sp>
      <p:sp>
        <p:nvSpPr>
          <p:cNvPr id="97293" name="Text Box 13"/>
          <p:cNvSpPr txBox="1">
            <a:spLocks noChangeArrowheads="1"/>
          </p:cNvSpPr>
          <p:nvPr/>
        </p:nvSpPr>
        <p:spPr bwMode="auto">
          <a:xfrm>
            <a:off x="3797300" y="4979988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q</a:t>
            </a:r>
            <a:r>
              <a:rPr lang="en-US" altLang="zh-CN" sz="2400" baseline="-25000"/>
              <a:t>3</a:t>
            </a:r>
          </a:p>
        </p:txBody>
      </p:sp>
      <p:graphicFrame>
        <p:nvGraphicFramePr>
          <p:cNvPr id="97294" name="Object 14"/>
          <p:cNvGraphicFramePr>
            <a:graphicFrameLocks noChangeAspect="1"/>
          </p:cNvGraphicFramePr>
          <p:nvPr/>
        </p:nvGraphicFramePr>
        <p:xfrm>
          <a:off x="673100" y="2590800"/>
          <a:ext cx="4114800" cy="326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3214714" imgH="2545545" progId="Visio.Drawing.11">
                  <p:embed/>
                </p:oleObj>
              </mc:Choice>
              <mc:Fallback>
                <p:oleObj name="Visio" r:id="rId2" imgW="3214714" imgH="2545545" progId="Visio.Drawing.11">
                  <p:embed/>
                  <p:pic>
                    <p:nvPicPr>
                      <p:cNvPr id="97294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100" y="2590800"/>
                        <a:ext cx="4114800" cy="326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295" name="Text Box 15"/>
          <p:cNvSpPr txBox="1">
            <a:spLocks noChangeArrowheads="1"/>
          </p:cNvSpPr>
          <p:nvPr/>
        </p:nvSpPr>
        <p:spPr bwMode="auto">
          <a:xfrm>
            <a:off x="1743075" y="2900363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q</a:t>
            </a:r>
            <a:r>
              <a:rPr lang="en-US" altLang="zh-CN" sz="2400" baseline="-25000"/>
              <a:t>0</a:t>
            </a:r>
          </a:p>
        </p:txBody>
      </p:sp>
      <p:sp>
        <p:nvSpPr>
          <p:cNvPr id="97296" name="Text Box 16"/>
          <p:cNvSpPr txBox="1">
            <a:spLocks noChangeArrowheads="1"/>
          </p:cNvSpPr>
          <p:nvPr/>
        </p:nvSpPr>
        <p:spPr bwMode="auto">
          <a:xfrm>
            <a:off x="3797300" y="2922588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q</a:t>
            </a:r>
            <a:r>
              <a:rPr lang="en-US" altLang="zh-CN" sz="2400" baseline="-25000"/>
              <a:t>1</a:t>
            </a:r>
          </a:p>
        </p:txBody>
      </p:sp>
      <p:sp>
        <p:nvSpPr>
          <p:cNvPr id="97298" name="Line 18"/>
          <p:cNvSpPr>
            <a:spLocks noChangeShapeType="1"/>
          </p:cNvSpPr>
          <p:nvPr/>
        </p:nvSpPr>
        <p:spPr bwMode="auto">
          <a:xfrm flipV="1">
            <a:off x="6227763" y="32004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97299" name="Object 19"/>
          <p:cNvGraphicFramePr>
            <a:graphicFrameLocks noChangeAspect="1"/>
          </p:cNvGraphicFramePr>
          <p:nvPr/>
        </p:nvGraphicFramePr>
        <p:xfrm>
          <a:off x="5507038" y="2636838"/>
          <a:ext cx="273685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2099914" imgH="374769" progId="Visio.Drawing.11">
                  <p:embed/>
                </p:oleObj>
              </mc:Choice>
              <mc:Fallback>
                <p:oleObj name="Visio" r:id="rId4" imgW="2099914" imgH="374769" progId="Visio.Drawing.11">
                  <p:embed/>
                  <p:pic>
                    <p:nvPicPr>
                      <p:cNvPr id="97299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7038" y="2636838"/>
                        <a:ext cx="2736850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300" name="Rectangle 20"/>
          <p:cNvSpPr>
            <a:spLocks noChangeArrowheads="1"/>
          </p:cNvSpPr>
          <p:nvPr/>
        </p:nvSpPr>
        <p:spPr bwMode="auto">
          <a:xfrm>
            <a:off x="1476375" y="195263"/>
            <a:ext cx="3887788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4000" i="0">
                <a:ea typeface="华文行楷" pitchFamily="2" charset="-122"/>
              </a:rPr>
              <a:t>确定有限自动机</a:t>
            </a:r>
          </a:p>
        </p:txBody>
      </p:sp>
      <p:sp>
        <p:nvSpPr>
          <p:cNvPr id="97301" name="Text Box 21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827088" y="1409700"/>
            <a:ext cx="532923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 i="0">
                <a:latin typeface="Arial" pitchFamily="34" charset="0"/>
                <a:ea typeface="楷体_GB2312" pitchFamily="49" charset="-122"/>
              </a:rPr>
              <a:t>  </a:t>
            </a:r>
            <a:r>
              <a:rPr lang="en-US" altLang="zh-CN" sz="3200" b="0">
                <a:latin typeface="Arial" pitchFamily="34" charset="0"/>
                <a:ea typeface="楷体_GB2312" pitchFamily="49" charset="-122"/>
              </a:rPr>
              <a:t>DFA</a:t>
            </a:r>
            <a:r>
              <a:rPr lang="zh-CN" altLang="en-US" sz="3200" i="0">
                <a:latin typeface="Arial" pitchFamily="34" charset="0"/>
                <a:ea typeface="楷体_GB2312" pitchFamily="49" charset="-122"/>
              </a:rPr>
              <a:t>如何接受输入符号串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736DA5E-61A1-174C-9B86-8067CEE57234}"/>
              </a:ext>
            </a:extLst>
          </p:cNvPr>
          <p:cNvSpPr txBox="1"/>
          <p:nvPr/>
        </p:nvSpPr>
        <p:spPr>
          <a:xfrm>
            <a:off x="8604448" y="6471931"/>
            <a:ext cx="5395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0" i="0" dirty="0">
                <a:solidFill>
                  <a:srgbClr val="000066"/>
                </a:solidFill>
              </a:rPr>
              <a:t>08</a:t>
            </a:r>
            <a:endParaRPr kumimoji="1" lang="zh-CN" altLang="en-US" sz="2000" b="0" i="0" dirty="0">
              <a:solidFill>
                <a:srgbClr val="000066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15" name="Text Box 11"/>
          <p:cNvSpPr txBox="1">
            <a:spLocks noChangeArrowheads="1"/>
          </p:cNvSpPr>
          <p:nvPr/>
        </p:nvSpPr>
        <p:spPr bwMode="auto">
          <a:xfrm>
            <a:off x="1739900" y="4979988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q</a:t>
            </a:r>
            <a:r>
              <a:rPr lang="en-US" altLang="zh-CN" sz="2400" baseline="-25000"/>
              <a:t>2</a:t>
            </a:r>
          </a:p>
        </p:txBody>
      </p:sp>
      <p:graphicFrame>
        <p:nvGraphicFramePr>
          <p:cNvPr id="98317" name="Object 13"/>
          <p:cNvGraphicFramePr>
            <a:graphicFrameLocks noChangeAspect="1"/>
          </p:cNvGraphicFramePr>
          <p:nvPr/>
        </p:nvGraphicFramePr>
        <p:xfrm>
          <a:off x="673100" y="2590800"/>
          <a:ext cx="4114800" cy="326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3214714" imgH="2545545" progId="Visio.Drawing.11">
                  <p:embed/>
                </p:oleObj>
              </mc:Choice>
              <mc:Fallback>
                <p:oleObj name="Visio" r:id="rId2" imgW="3214714" imgH="2545545" progId="Visio.Drawing.11">
                  <p:embed/>
                  <p:pic>
                    <p:nvPicPr>
                      <p:cNvPr id="98317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100" y="2590800"/>
                        <a:ext cx="4114800" cy="326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318" name="Text Box 14"/>
          <p:cNvSpPr txBox="1">
            <a:spLocks noChangeArrowheads="1"/>
          </p:cNvSpPr>
          <p:nvPr/>
        </p:nvSpPr>
        <p:spPr bwMode="auto">
          <a:xfrm>
            <a:off x="1743075" y="2900363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q</a:t>
            </a:r>
            <a:r>
              <a:rPr lang="en-US" altLang="zh-CN" sz="2400" baseline="-25000"/>
              <a:t>0</a:t>
            </a:r>
          </a:p>
        </p:txBody>
      </p:sp>
      <p:sp>
        <p:nvSpPr>
          <p:cNvPr id="98319" name="Text Box 15"/>
          <p:cNvSpPr txBox="1">
            <a:spLocks noChangeArrowheads="1"/>
          </p:cNvSpPr>
          <p:nvPr/>
        </p:nvSpPr>
        <p:spPr bwMode="auto">
          <a:xfrm>
            <a:off x="3797300" y="2922588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q</a:t>
            </a:r>
            <a:r>
              <a:rPr lang="en-US" altLang="zh-CN" sz="2400" baseline="-25000"/>
              <a:t>1</a:t>
            </a:r>
          </a:p>
        </p:txBody>
      </p:sp>
      <p:sp>
        <p:nvSpPr>
          <p:cNvPr id="98320" name="Text Box 16"/>
          <p:cNvSpPr txBox="1">
            <a:spLocks noChangeArrowheads="1"/>
          </p:cNvSpPr>
          <p:nvPr/>
        </p:nvSpPr>
        <p:spPr bwMode="auto">
          <a:xfrm>
            <a:off x="3797300" y="4941888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q</a:t>
            </a:r>
            <a:r>
              <a:rPr lang="en-US" altLang="zh-CN" sz="2400" baseline="-25000"/>
              <a:t>3</a:t>
            </a:r>
          </a:p>
        </p:txBody>
      </p:sp>
      <p:sp>
        <p:nvSpPr>
          <p:cNvPr id="98322" name="Line 18"/>
          <p:cNvSpPr>
            <a:spLocks noChangeShapeType="1"/>
          </p:cNvSpPr>
          <p:nvPr/>
        </p:nvSpPr>
        <p:spPr bwMode="auto">
          <a:xfrm flipV="1">
            <a:off x="6659563" y="32004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98323" name="Object 19"/>
          <p:cNvGraphicFramePr>
            <a:graphicFrameLocks noChangeAspect="1"/>
          </p:cNvGraphicFramePr>
          <p:nvPr/>
        </p:nvGraphicFramePr>
        <p:xfrm>
          <a:off x="5507038" y="2636838"/>
          <a:ext cx="273685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2099914" imgH="374769" progId="Visio.Drawing.11">
                  <p:embed/>
                </p:oleObj>
              </mc:Choice>
              <mc:Fallback>
                <p:oleObj name="Visio" r:id="rId4" imgW="2099914" imgH="374769" progId="Visio.Drawing.11">
                  <p:embed/>
                  <p:pic>
                    <p:nvPicPr>
                      <p:cNvPr id="98323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7038" y="2636838"/>
                        <a:ext cx="2736850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324" name="Rectangle 20"/>
          <p:cNvSpPr>
            <a:spLocks noChangeArrowheads="1"/>
          </p:cNvSpPr>
          <p:nvPr/>
        </p:nvSpPr>
        <p:spPr bwMode="auto">
          <a:xfrm>
            <a:off x="1476375" y="195263"/>
            <a:ext cx="3887788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4000" i="0">
                <a:ea typeface="华文行楷" pitchFamily="2" charset="-122"/>
              </a:rPr>
              <a:t>确定有限自动机</a:t>
            </a:r>
          </a:p>
        </p:txBody>
      </p:sp>
      <p:sp>
        <p:nvSpPr>
          <p:cNvPr id="98325" name="Text Box 21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827088" y="1409700"/>
            <a:ext cx="532923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 i="0">
                <a:latin typeface="Arial" pitchFamily="34" charset="0"/>
                <a:ea typeface="楷体_GB2312" pitchFamily="49" charset="-122"/>
              </a:rPr>
              <a:t>  </a:t>
            </a:r>
            <a:r>
              <a:rPr lang="en-US" altLang="zh-CN" sz="3200" b="0">
                <a:latin typeface="Arial" pitchFamily="34" charset="0"/>
                <a:ea typeface="楷体_GB2312" pitchFamily="49" charset="-122"/>
              </a:rPr>
              <a:t>DFA</a:t>
            </a:r>
            <a:r>
              <a:rPr lang="zh-CN" altLang="en-US" sz="3200" i="0">
                <a:latin typeface="Arial" pitchFamily="34" charset="0"/>
                <a:ea typeface="楷体_GB2312" pitchFamily="49" charset="-122"/>
              </a:rPr>
              <a:t>如何接受输入符号串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3B6FA42-753E-BE47-894D-0DDB155AB600}"/>
              </a:ext>
            </a:extLst>
          </p:cNvPr>
          <p:cNvSpPr txBox="1"/>
          <p:nvPr/>
        </p:nvSpPr>
        <p:spPr>
          <a:xfrm>
            <a:off x="8604448" y="6471931"/>
            <a:ext cx="5395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0" i="0" dirty="0">
                <a:solidFill>
                  <a:srgbClr val="000066"/>
                </a:solidFill>
              </a:rPr>
              <a:t>09</a:t>
            </a:r>
            <a:endParaRPr kumimoji="1" lang="zh-CN" altLang="en-US" sz="2000" b="0" i="0" dirty="0">
              <a:solidFill>
                <a:srgbClr val="000066"/>
              </a:solidFill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9" name="Text Box 11"/>
          <p:cNvSpPr txBox="1">
            <a:spLocks noChangeArrowheads="1"/>
          </p:cNvSpPr>
          <p:nvPr/>
        </p:nvSpPr>
        <p:spPr bwMode="auto">
          <a:xfrm>
            <a:off x="1739900" y="4979988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q</a:t>
            </a:r>
            <a:r>
              <a:rPr lang="en-US" altLang="zh-CN" sz="2400" baseline="-25000"/>
              <a:t>2</a:t>
            </a:r>
          </a:p>
        </p:txBody>
      </p:sp>
      <p:sp>
        <p:nvSpPr>
          <p:cNvPr id="99340" name="Text Box 12"/>
          <p:cNvSpPr txBox="1">
            <a:spLocks noChangeArrowheads="1"/>
          </p:cNvSpPr>
          <p:nvPr/>
        </p:nvSpPr>
        <p:spPr bwMode="auto">
          <a:xfrm>
            <a:off x="3797300" y="4979988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q</a:t>
            </a:r>
            <a:r>
              <a:rPr lang="en-US" altLang="zh-CN" sz="2400" baseline="-25000"/>
              <a:t>3</a:t>
            </a:r>
          </a:p>
        </p:txBody>
      </p:sp>
      <p:graphicFrame>
        <p:nvGraphicFramePr>
          <p:cNvPr id="99341" name="Object 13"/>
          <p:cNvGraphicFramePr>
            <a:graphicFrameLocks noChangeAspect="1"/>
          </p:cNvGraphicFramePr>
          <p:nvPr/>
        </p:nvGraphicFramePr>
        <p:xfrm>
          <a:off x="673100" y="2590800"/>
          <a:ext cx="4114800" cy="326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3214714" imgH="2545545" progId="Visio.Drawing.11">
                  <p:embed/>
                </p:oleObj>
              </mc:Choice>
              <mc:Fallback>
                <p:oleObj name="Visio" r:id="rId2" imgW="3214714" imgH="2545545" progId="Visio.Drawing.11">
                  <p:embed/>
                  <p:pic>
                    <p:nvPicPr>
                      <p:cNvPr id="99341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100" y="2590800"/>
                        <a:ext cx="4114800" cy="326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342" name="Text Box 14"/>
          <p:cNvSpPr txBox="1">
            <a:spLocks noChangeArrowheads="1"/>
          </p:cNvSpPr>
          <p:nvPr/>
        </p:nvSpPr>
        <p:spPr bwMode="auto">
          <a:xfrm>
            <a:off x="1743075" y="2900363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q</a:t>
            </a:r>
            <a:r>
              <a:rPr lang="en-US" altLang="zh-CN" sz="2400" baseline="-25000"/>
              <a:t>0</a:t>
            </a:r>
          </a:p>
        </p:txBody>
      </p:sp>
      <p:sp>
        <p:nvSpPr>
          <p:cNvPr id="99343" name="Text Box 15"/>
          <p:cNvSpPr txBox="1">
            <a:spLocks noChangeArrowheads="1"/>
          </p:cNvSpPr>
          <p:nvPr/>
        </p:nvSpPr>
        <p:spPr bwMode="auto">
          <a:xfrm>
            <a:off x="3797300" y="2922588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q</a:t>
            </a:r>
            <a:r>
              <a:rPr lang="en-US" altLang="zh-CN" sz="2400" baseline="-25000"/>
              <a:t>1</a:t>
            </a:r>
          </a:p>
        </p:txBody>
      </p:sp>
      <p:sp>
        <p:nvSpPr>
          <p:cNvPr id="99345" name="Line 17"/>
          <p:cNvSpPr>
            <a:spLocks noChangeShapeType="1"/>
          </p:cNvSpPr>
          <p:nvPr/>
        </p:nvSpPr>
        <p:spPr bwMode="auto">
          <a:xfrm flipV="1">
            <a:off x="7092950" y="32004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99346" name="Object 18"/>
          <p:cNvGraphicFramePr>
            <a:graphicFrameLocks noChangeAspect="1"/>
          </p:cNvGraphicFramePr>
          <p:nvPr/>
        </p:nvGraphicFramePr>
        <p:xfrm>
          <a:off x="5507038" y="2636838"/>
          <a:ext cx="273685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2099914" imgH="374769" progId="Visio.Drawing.11">
                  <p:embed/>
                </p:oleObj>
              </mc:Choice>
              <mc:Fallback>
                <p:oleObj name="Visio" r:id="rId4" imgW="2099914" imgH="374769" progId="Visio.Drawing.11">
                  <p:embed/>
                  <p:pic>
                    <p:nvPicPr>
                      <p:cNvPr id="99346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7038" y="2636838"/>
                        <a:ext cx="2736850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347" name="Rectangle 19"/>
          <p:cNvSpPr>
            <a:spLocks noChangeArrowheads="1"/>
          </p:cNvSpPr>
          <p:nvPr/>
        </p:nvSpPr>
        <p:spPr bwMode="auto">
          <a:xfrm>
            <a:off x="1476375" y="195263"/>
            <a:ext cx="3887788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4000" i="0">
                <a:ea typeface="华文行楷" pitchFamily="2" charset="-122"/>
              </a:rPr>
              <a:t>确定有限自动机</a:t>
            </a:r>
          </a:p>
        </p:txBody>
      </p:sp>
      <p:sp>
        <p:nvSpPr>
          <p:cNvPr id="99348" name="Text Box 20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827088" y="1409700"/>
            <a:ext cx="532923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 i="0">
                <a:latin typeface="Arial" pitchFamily="34" charset="0"/>
                <a:ea typeface="楷体_GB2312" pitchFamily="49" charset="-122"/>
              </a:rPr>
              <a:t>  </a:t>
            </a:r>
            <a:r>
              <a:rPr lang="en-US" altLang="zh-CN" sz="3200" b="0">
                <a:latin typeface="Arial" pitchFamily="34" charset="0"/>
                <a:ea typeface="楷体_GB2312" pitchFamily="49" charset="-122"/>
              </a:rPr>
              <a:t>DFA</a:t>
            </a:r>
            <a:r>
              <a:rPr lang="zh-CN" altLang="en-US" sz="3200" i="0">
                <a:latin typeface="Arial" pitchFamily="34" charset="0"/>
                <a:ea typeface="楷体_GB2312" pitchFamily="49" charset="-122"/>
              </a:rPr>
              <a:t>如何接受输入符号串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F9334B3-C457-624F-824C-C817190959C7}"/>
              </a:ext>
            </a:extLst>
          </p:cNvPr>
          <p:cNvSpPr txBox="1"/>
          <p:nvPr/>
        </p:nvSpPr>
        <p:spPr>
          <a:xfrm>
            <a:off x="8604448" y="6471931"/>
            <a:ext cx="5395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0" i="0" dirty="0">
                <a:solidFill>
                  <a:srgbClr val="000066"/>
                </a:solidFill>
              </a:rPr>
              <a:t>10</a:t>
            </a:r>
            <a:endParaRPr kumimoji="1" lang="zh-CN" altLang="en-US" sz="2000" b="0" i="0" dirty="0">
              <a:solidFill>
                <a:srgbClr val="000066"/>
              </a:solidFill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66" name="Line 14"/>
          <p:cNvSpPr>
            <a:spLocks noChangeShapeType="1"/>
          </p:cNvSpPr>
          <p:nvPr/>
        </p:nvSpPr>
        <p:spPr bwMode="auto">
          <a:xfrm flipV="1">
            <a:off x="7524750" y="32004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100367" name="Object 15"/>
          <p:cNvGraphicFramePr>
            <a:graphicFrameLocks noChangeAspect="1"/>
          </p:cNvGraphicFramePr>
          <p:nvPr/>
        </p:nvGraphicFramePr>
        <p:xfrm>
          <a:off x="5507038" y="2636838"/>
          <a:ext cx="273685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099914" imgH="374769" progId="Visio.Drawing.11">
                  <p:embed/>
                </p:oleObj>
              </mc:Choice>
              <mc:Fallback>
                <p:oleObj name="Visio" r:id="rId2" imgW="2099914" imgH="374769" progId="Visio.Drawing.11">
                  <p:embed/>
                  <p:pic>
                    <p:nvPicPr>
                      <p:cNvPr id="100367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7038" y="2636838"/>
                        <a:ext cx="2736850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368" name="Text Box 16"/>
          <p:cNvSpPr txBox="1">
            <a:spLocks noChangeArrowheads="1"/>
          </p:cNvSpPr>
          <p:nvPr/>
        </p:nvSpPr>
        <p:spPr bwMode="auto">
          <a:xfrm>
            <a:off x="3797300" y="2922588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q</a:t>
            </a:r>
            <a:r>
              <a:rPr lang="en-US" altLang="zh-CN" sz="2400" baseline="-25000"/>
              <a:t>1</a:t>
            </a:r>
          </a:p>
        </p:txBody>
      </p:sp>
      <p:sp>
        <p:nvSpPr>
          <p:cNvPr id="100369" name="Text Box 17"/>
          <p:cNvSpPr txBox="1">
            <a:spLocks noChangeArrowheads="1"/>
          </p:cNvSpPr>
          <p:nvPr/>
        </p:nvSpPr>
        <p:spPr bwMode="auto">
          <a:xfrm>
            <a:off x="1739900" y="4979988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q</a:t>
            </a:r>
            <a:r>
              <a:rPr lang="en-US" altLang="zh-CN" sz="2400" baseline="-25000"/>
              <a:t>2</a:t>
            </a:r>
          </a:p>
        </p:txBody>
      </p:sp>
      <p:sp>
        <p:nvSpPr>
          <p:cNvPr id="100370" name="Text Box 18"/>
          <p:cNvSpPr txBox="1">
            <a:spLocks noChangeArrowheads="1"/>
          </p:cNvSpPr>
          <p:nvPr/>
        </p:nvSpPr>
        <p:spPr bwMode="auto">
          <a:xfrm>
            <a:off x="3797300" y="4979988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q</a:t>
            </a:r>
            <a:r>
              <a:rPr lang="en-US" altLang="zh-CN" sz="2400" baseline="-25000"/>
              <a:t>3</a:t>
            </a:r>
          </a:p>
        </p:txBody>
      </p:sp>
      <p:graphicFrame>
        <p:nvGraphicFramePr>
          <p:cNvPr id="100371" name="Object 19"/>
          <p:cNvGraphicFramePr>
            <a:graphicFrameLocks noChangeAspect="1"/>
          </p:cNvGraphicFramePr>
          <p:nvPr/>
        </p:nvGraphicFramePr>
        <p:xfrm>
          <a:off x="673100" y="2590800"/>
          <a:ext cx="4114800" cy="326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3214714" imgH="2545545" progId="Visio.Drawing.11">
                  <p:embed/>
                </p:oleObj>
              </mc:Choice>
              <mc:Fallback>
                <p:oleObj name="Visio" r:id="rId4" imgW="3214714" imgH="2545545" progId="Visio.Drawing.11">
                  <p:embed/>
                  <p:pic>
                    <p:nvPicPr>
                      <p:cNvPr id="100371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100" y="2590800"/>
                        <a:ext cx="4114800" cy="326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372" name="Text Box 20"/>
          <p:cNvSpPr txBox="1">
            <a:spLocks noChangeArrowheads="1"/>
          </p:cNvSpPr>
          <p:nvPr/>
        </p:nvSpPr>
        <p:spPr bwMode="auto">
          <a:xfrm>
            <a:off x="1743075" y="2900363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q</a:t>
            </a:r>
            <a:r>
              <a:rPr lang="en-US" altLang="zh-CN" sz="2400" baseline="-25000"/>
              <a:t>0</a:t>
            </a:r>
          </a:p>
        </p:txBody>
      </p:sp>
      <p:sp>
        <p:nvSpPr>
          <p:cNvPr id="100373" name="Rectangle 21"/>
          <p:cNvSpPr>
            <a:spLocks noChangeArrowheads="1"/>
          </p:cNvSpPr>
          <p:nvPr/>
        </p:nvSpPr>
        <p:spPr bwMode="auto">
          <a:xfrm>
            <a:off x="1476375" y="195263"/>
            <a:ext cx="3887788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4000" i="0">
                <a:ea typeface="华文行楷" pitchFamily="2" charset="-122"/>
              </a:rPr>
              <a:t>确定有限自动机</a:t>
            </a:r>
          </a:p>
        </p:txBody>
      </p:sp>
      <p:sp>
        <p:nvSpPr>
          <p:cNvPr id="100374" name="Text Box 22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827088" y="1409700"/>
            <a:ext cx="532923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 i="0">
                <a:latin typeface="Arial" pitchFamily="34" charset="0"/>
                <a:ea typeface="楷体_GB2312" pitchFamily="49" charset="-122"/>
              </a:rPr>
              <a:t>  </a:t>
            </a:r>
            <a:r>
              <a:rPr lang="en-US" altLang="zh-CN" sz="3200" b="0">
                <a:latin typeface="Arial" pitchFamily="34" charset="0"/>
                <a:ea typeface="楷体_GB2312" pitchFamily="49" charset="-122"/>
              </a:rPr>
              <a:t>DFA</a:t>
            </a:r>
            <a:r>
              <a:rPr lang="zh-CN" altLang="en-US" sz="3200" i="0">
                <a:latin typeface="Arial" pitchFamily="34" charset="0"/>
                <a:ea typeface="楷体_GB2312" pitchFamily="49" charset="-122"/>
              </a:rPr>
              <a:t>如何接受输入符号串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A7A6518-3244-3940-8879-6A5407965DDB}"/>
              </a:ext>
            </a:extLst>
          </p:cNvPr>
          <p:cNvSpPr txBox="1"/>
          <p:nvPr/>
        </p:nvSpPr>
        <p:spPr>
          <a:xfrm>
            <a:off x="8604448" y="6471931"/>
            <a:ext cx="5395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0" i="0" dirty="0">
                <a:solidFill>
                  <a:srgbClr val="000066"/>
                </a:solidFill>
              </a:rPr>
              <a:t>11</a:t>
            </a:r>
            <a:endParaRPr kumimoji="1" lang="zh-CN" altLang="en-US" sz="2000" b="0" i="0" dirty="0">
              <a:solidFill>
                <a:srgbClr val="000066"/>
              </a:solidFill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85" name="Line 9"/>
          <p:cNvSpPr>
            <a:spLocks noChangeShapeType="1"/>
          </p:cNvSpPr>
          <p:nvPr/>
        </p:nvSpPr>
        <p:spPr bwMode="auto">
          <a:xfrm flipV="1">
            <a:off x="8027988" y="32004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101386" name="Object 10"/>
          <p:cNvGraphicFramePr>
            <a:graphicFrameLocks noChangeAspect="1"/>
          </p:cNvGraphicFramePr>
          <p:nvPr/>
        </p:nvGraphicFramePr>
        <p:xfrm>
          <a:off x="5507038" y="2636838"/>
          <a:ext cx="273685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099914" imgH="374769" progId="Visio.Drawing.11">
                  <p:embed/>
                </p:oleObj>
              </mc:Choice>
              <mc:Fallback>
                <p:oleObj name="Visio" r:id="rId2" imgW="2099914" imgH="374769" progId="Visio.Drawing.11">
                  <p:embed/>
                  <p:pic>
                    <p:nvPicPr>
                      <p:cNvPr id="10138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7038" y="2636838"/>
                        <a:ext cx="2736850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387" name="Text Box 11"/>
          <p:cNvSpPr txBox="1">
            <a:spLocks noChangeArrowheads="1"/>
          </p:cNvSpPr>
          <p:nvPr/>
        </p:nvSpPr>
        <p:spPr bwMode="auto">
          <a:xfrm>
            <a:off x="3797300" y="2922588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q</a:t>
            </a:r>
            <a:r>
              <a:rPr lang="en-US" altLang="zh-CN" sz="2400" baseline="-25000"/>
              <a:t>1</a:t>
            </a:r>
          </a:p>
        </p:txBody>
      </p:sp>
      <p:sp>
        <p:nvSpPr>
          <p:cNvPr id="101389" name="Text Box 13"/>
          <p:cNvSpPr txBox="1">
            <a:spLocks noChangeArrowheads="1"/>
          </p:cNvSpPr>
          <p:nvPr/>
        </p:nvSpPr>
        <p:spPr bwMode="auto">
          <a:xfrm>
            <a:off x="3797300" y="4979988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q</a:t>
            </a:r>
            <a:r>
              <a:rPr lang="en-US" altLang="zh-CN" sz="2400" baseline="-25000"/>
              <a:t>3</a:t>
            </a:r>
          </a:p>
        </p:txBody>
      </p:sp>
      <p:graphicFrame>
        <p:nvGraphicFramePr>
          <p:cNvPr id="101390" name="Object 14"/>
          <p:cNvGraphicFramePr>
            <a:graphicFrameLocks noChangeAspect="1"/>
          </p:cNvGraphicFramePr>
          <p:nvPr/>
        </p:nvGraphicFramePr>
        <p:xfrm>
          <a:off x="673100" y="2590800"/>
          <a:ext cx="4114800" cy="326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3214714" imgH="2545545" progId="Visio.Drawing.11">
                  <p:embed/>
                </p:oleObj>
              </mc:Choice>
              <mc:Fallback>
                <p:oleObj name="Visio" r:id="rId4" imgW="3214714" imgH="2545545" progId="Visio.Drawing.11">
                  <p:embed/>
                  <p:pic>
                    <p:nvPicPr>
                      <p:cNvPr id="10139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100" y="2590800"/>
                        <a:ext cx="4114800" cy="326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391" name="Text Box 15"/>
          <p:cNvSpPr txBox="1">
            <a:spLocks noChangeArrowheads="1"/>
          </p:cNvSpPr>
          <p:nvPr/>
        </p:nvSpPr>
        <p:spPr bwMode="auto">
          <a:xfrm>
            <a:off x="1743075" y="2900363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q</a:t>
            </a:r>
            <a:r>
              <a:rPr lang="en-US" altLang="zh-CN" sz="2400" baseline="-25000"/>
              <a:t>0</a:t>
            </a:r>
          </a:p>
        </p:txBody>
      </p:sp>
      <p:sp>
        <p:nvSpPr>
          <p:cNvPr id="101392" name="Text Box 16"/>
          <p:cNvSpPr txBox="1">
            <a:spLocks noChangeArrowheads="1"/>
          </p:cNvSpPr>
          <p:nvPr/>
        </p:nvSpPr>
        <p:spPr bwMode="auto">
          <a:xfrm>
            <a:off x="1763713" y="4941888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q</a:t>
            </a:r>
            <a:r>
              <a:rPr lang="en-US" altLang="zh-CN" sz="2400" baseline="-25000"/>
              <a:t>2</a:t>
            </a:r>
          </a:p>
        </p:txBody>
      </p:sp>
      <p:sp>
        <p:nvSpPr>
          <p:cNvPr id="101393" name="Rectangle 17"/>
          <p:cNvSpPr>
            <a:spLocks noChangeArrowheads="1"/>
          </p:cNvSpPr>
          <p:nvPr/>
        </p:nvSpPr>
        <p:spPr bwMode="auto">
          <a:xfrm>
            <a:off x="1476375" y="195263"/>
            <a:ext cx="3887788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4000" i="0">
                <a:ea typeface="华文行楷" pitchFamily="2" charset="-122"/>
              </a:rPr>
              <a:t>确定有限自动机</a:t>
            </a:r>
          </a:p>
        </p:txBody>
      </p:sp>
      <p:sp>
        <p:nvSpPr>
          <p:cNvPr id="101394" name="Text Box 18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827088" y="1409700"/>
            <a:ext cx="532923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 i="0">
                <a:latin typeface="Arial" pitchFamily="34" charset="0"/>
                <a:ea typeface="楷体_GB2312" pitchFamily="49" charset="-122"/>
              </a:rPr>
              <a:t>  </a:t>
            </a:r>
            <a:r>
              <a:rPr lang="en-US" altLang="zh-CN" sz="3200" b="0">
                <a:latin typeface="Arial" pitchFamily="34" charset="0"/>
                <a:ea typeface="楷体_GB2312" pitchFamily="49" charset="-122"/>
              </a:rPr>
              <a:t>DFA</a:t>
            </a:r>
            <a:r>
              <a:rPr lang="zh-CN" altLang="en-US" sz="3200" i="0">
                <a:latin typeface="Arial" pitchFamily="34" charset="0"/>
                <a:ea typeface="楷体_GB2312" pitchFamily="49" charset="-122"/>
              </a:rPr>
              <a:t>如何接受输入符号串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7278E11-E9E5-1046-BA76-B6946BC6BAEB}"/>
              </a:ext>
            </a:extLst>
          </p:cNvPr>
          <p:cNvSpPr txBox="1"/>
          <p:nvPr/>
        </p:nvSpPr>
        <p:spPr>
          <a:xfrm>
            <a:off x="8604448" y="6471931"/>
            <a:ext cx="5395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0" i="0" dirty="0">
                <a:solidFill>
                  <a:srgbClr val="000066"/>
                </a:solidFill>
              </a:rPr>
              <a:t>12</a:t>
            </a:r>
            <a:endParaRPr kumimoji="1" lang="zh-CN" altLang="en-US" sz="2000" b="0" i="0" dirty="0">
              <a:solidFill>
                <a:srgbClr val="000066"/>
              </a:solidFill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9" name="Line 9"/>
          <p:cNvSpPr>
            <a:spLocks noChangeShapeType="1"/>
          </p:cNvSpPr>
          <p:nvPr/>
        </p:nvSpPr>
        <p:spPr bwMode="auto">
          <a:xfrm flipV="1">
            <a:off x="8388350" y="32004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102410" name="Object 10"/>
          <p:cNvGraphicFramePr>
            <a:graphicFrameLocks noChangeAspect="1"/>
          </p:cNvGraphicFramePr>
          <p:nvPr/>
        </p:nvGraphicFramePr>
        <p:xfrm>
          <a:off x="5507038" y="2636838"/>
          <a:ext cx="273685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099914" imgH="374769" progId="Visio.Drawing.11">
                  <p:embed/>
                </p:oleObj>
              </mc:Choice>
              <mc:Fallback>
                <p:oleObj name="Visio" r:id="rId2" imgW="2099914" imgH="374769" progId="Visio.Drawing.11">
                  <p:embed/>
                  <p:pic>
                    <p:nvPicPr>
                      <p:cNvPr id="10241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7038" y="2636838"/>
                        <a:ext cx="2736850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11" name="Text Box 11"/>
          <p:cNvSpPr txBox="1">
            <a:spLocks noChangeArrowheads="1"/>
          </p:cNvSpPr>
          <p:nvPr/>
        </p:nvSpPr>
        <p:spPr bwMode="auto">
          <a:xfrm>
            <a:off x="3797300" y="2900363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q</a:t>
            </a:r>
            <a:r>
              <a:rPr lang="en-US" altLang="zh-CN" sz="2400" baseline="-25000"/>
              <a:t>1</a:t>
            </a:r>
          </a:p>
        </p:txBody>
      </p:sp>
      <p:graphicFrame>
        <p:nvGraphicFramePr>
          <p:cNvPr id="102413" name="Object 13"/>
          <p:cNvGraphicFramePr>
            <a:graphicFrameLocks noChangeAspect="1"/>
          </p:cNvGraphicFramePr>
          <p:nvPr/>
        </p:nvGraphicFramePr>
        <p:xfrm>
          <a:off x="673100" y="2590800"/>
          <a:ext cx="4114800" cy="326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3214714" imgH="2545545" progId="Visio.Drawing.11">
                  <p:embed/>
                </p:oleObj>
              </mc:Choice>
              <mc:Fallback>
                <p:oleObj name="Visio" r:id="rId4" imgW="3214714" imgH="2545545" progId="Visio.Drawing.11">
                  <p:embed/>
                  <p:pic>
                    <p:nvPicPr>
                      <p:cNvPr id="102413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100" y="2590800"/>
                        <a:ext cx="4114800" cy="326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14" name="Text Box 14"/>
          <p:cNvSpPr txBox="1">
            <a:spLocks noChangeArrowheads="1"/>
          </p:cNvSpPr>
          <p:nvPr/>
        </p:nvSpPr>
        <p:spPr bwMode="auto">
          <a:xfrm>
            <a:off x="1743075" y="2900363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q</a:t>
            </a:r>
            <a:r>
              <a:rPr lang="en-US" altLang="zh-CN" sz="2400" baseline="-25000"/>
              <a:t>0</a:t>
            </a:r>
          </a:p>
        </p:txBody>
      </p:sp>
      <p:sp>
        <p:nvSpPr>
          <p:cNvPr id="102415" name="Text Box 15"/>
          <p:cNvSpPr txBox="1">
            <a:spLocks noChangeArrowheads="1"/>
          </p:cNvSpPr>
          <p:nvPr/>
        </p:nvSpPr>
        <p:spPr bwMode="auto">
          <a:xfrm>
            <a:off x="1738313" y="4941888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q</a:t>
            </a:r>
            <a:r>
              <a:rPr lang="en-US" altLang="zh-CN" sz="2400" baseline="-25000"/>
              <a:t>2</a:t>
            </a:r>
          </a:p>
        </p:txBody>
      </p:sp>
      <p:sp>
        <p:nvSpPr>
          <p:cNvPr id="102416" name="Text Box 16"/>
          <p:cNvSpPr txBox="1">
            <a:spLocks noChangeArrowheads="1"/>
          </p:cNvSpPr>
          <p:nvPr/>
        </p:nvSpPr>
        <p:spPr bwMode="auto">
          <a:xfrm>
            <a:off x="3797300" y="4941888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q</a:t>
            </a:r>
            <a:r>
              <a:rPr lang="en-US" altLang="zh-CN" sz="2400" baseline="-25000"/>
              <a:t>3</a:t>
            </a:r>
          </a:p>
        </p:txBody>
      </p:sp>
      <p:sp>
        <p:nvSpPr>
          <p:cNvPr id="102417" name="Text Box 17"/>
          <p:cNvSpPr txBox="1">
            <a:spLocks noChangeArrowheads="1"/>
          </p:cNvSpPr>
          <p:nvPr/>
        </p:nvSpPr>
        <p:spPr bwMode="auto">
          <a:xfrm>
            <a:off x="4211638" y="5229225"/>
            <a:ext cx="484187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altLang="zh-CN" sz="2800" b="0" i="0">
                <a:sym typeface="Wingdings" pitchFamily="2" charset="2"/>
              </a:rPr>
              <a:t></a:t>
            </a:r>
            <a:endParaRPr lang="en-US" altLang="zh-CN" sz="2800" b="0" i="0"/>
          </a:p>
        </p:txBody>
      </p:sp>
      <p:sp>
        <p:nvSpPr>
          <p:cNvPr id="102418" name="Rectangle 18"/>
          <p:cNvSpPr>
            <a:spLocks noChangeArrowheads="1"/>
          </p:cNvSpPr>
          <p:nvPr/>
        </p:nvSpPr>
        <p:spPr bwMode="auto">
          <a:xfrm>
            <a:off x="1476375" y="195263"/>
            <a:ext cx="3887788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4000" i="0">
                <a:ea typeface="华文行楷" pitchFamily="2" charset="-122"/>
              </a:rPr>
              <a:t>确定有限自动机</a:t>
            </a:r>
          </a:p>
        </p:txBody>
      </p:sp>
      <p:sp>
        <p:nvSpPr>
          <p:cNvPr id="102419" name="Text Box 19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827088" y="1409700"/>
            <a:ext cx="532923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 i="0">
                <a:latin typeface="Arial" pitchFamily="34" charset="0"/>
                <a:ea typeface="楷体_GB2312" pitchFamily="49" charset="-122"/>
              </a:rPr>
              <a:t>  </a:t>
            </a:r>
            <a:r>
              <a:rPr lang="en-US" altLang="zh-CN" sz="3200" b="0">
                <a:latin typeface="Arial" pitchFamily="34" charset="0"/>
                <a:ea typeface="楷体_GB2312" pitchFamily="49" charset="-122"/>
              </a:rPr>
              <a:t>DFA</a:t>
            </a:r>
            <a:r>
              <a:rPr lang="zh-CN" altLang="en-US" sz="3200" i="0">
                <a:latin typeface="Arial" pitchFamily="34" charset="0"/>
                <a:ea typeface="楷体_GB2312" pitchFamily="49" charset="-122"/>
              </a:rPr>
              <a:t>如何接受输入符号串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EE6A393-ED0E-934B-9CF7-A25FE46B5B47}"/>
              </a:ext>
            </a:extLst>
          </p:cNvPr>
          <p:cNvSpPr txBox="1"/>
          <p:nvPr/>
        </p:nvSpPr>
        <p:spPr>
          <a:xfrm>
            <a:off x="8604448" y="6471931"/>
            <a:ext cx="5395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0" i="0" dirty="0">
                <a:solidFill>
                  <a:srgbClr val="000066"/>
                </a:solidFill>
              </a:rPr>
              <a:t>1</a:t>
            </a:r>
            <a:r>
              <a:rPr kumimoji="1" lang="en-US" altLang="zh-CN" sz="2000" b="0" i="0" dirty="0">
                <a:solidFill>
                  <a:srgbClr val="000066"/>
                </a:solidFill>
              </a:rPr>
              <a:t>3</a:t>
            </a:r>
            <a:endParaRPr kumimoji="1" lang="zh-CN" altLang="en-US" sz="2000" b="0" i="0" dirty="0">
              <a:solidFill>
                <a:srgbClr val="000066"/>
              </a:solidFill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33" name="Line 9"/>
          <p:cNvSpPr>
            <a:spLocks noChangeShapeType="1"/>
          </p:cNvSpPr>
          <p:nvPr/>
        </p:nvSpPr>
        <p:spPr bwMode="auto">
          <a:xfrm flipV="1">
            <a:off x="6156325" y="3192463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103443" name="Text Box 19"/>
          <p:cNvSpPr txBox="1">
            <a:spLocks noChangeArrowheads="1"/>
          </p:cNvSpPr>
          <p:nvPr/>
        </p:nvSpPr>
        <p:spPr bwMode="auto">
          <a:xfrm>
            <a:off x="3797300" y="2922588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q</a:t>
            </a:r>
            <a:r>
              <a:rPr lang="en-US" altLang="zh-CN" sz="2400" baseline="-25000"/>
              <a:t>1</a:t>
            </a:r>
          </a:p>
        </p:txBody>
      </p:sp>
      <p:sp>
        <p:nvSpPr>
          <p:cNvPr id="103444" name="Text Box 20"/>
          <p:cNvSpPr txBox="1">
            <a:spLocks noChangeArrowheads="1"/>
          </p:cNvSpPr>
          <p:nvPr/>
        </p:nvSpPr>
        <p:spPr bwMode="auto">
          <a:xfrm>
            <a:off x="1739900" y="4979988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q</a:t>
            </a:r>
            <a:r>
              <a:rPr lang="en-US" altLang="zh-CN" sz="2400" baseline="-25000"/>
              <a:t>2</a:t>
            </a:r>
          </a:p>
        </p:txBody>
      </p:sp>
      <p:sp>
        <p:nvSpPr>
          <p:cNvPr id="103445" name="Text Box 21"/>
          <p:cNvSpPr txBox="1">
            <a:spLocks noChangeArrowheads="1"/>
          </p:cNvSpPr>
          <p:nvPr/>
        </p:nvSpPr>
        <p:spPr bwMode="auto">
          <a:xfrm>
            <a:off x="3797300" y="4979988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q</a:t>
            </a:r>
            <a:r>
              <a:rPr lang="en-US" altLang="zh-CN" sz="2400" baseline="-25000"/>
              <a:t>3</a:t>
            </a:r>
          </a:p>
        </p:txBody>
      </p:sp>
      <p:graphicFrame>
        <p:nvGraphicFramePr>
          <p:cNvPr id="103446" name="Object 22"/>
          <p:cNvGraphicFramePr>
            <a:graphicFrameLocks noChangeAspect="1"/>
          </p:cNvGraphicFramePr>
          <p:nvPr/>
        </p:nvGraphicFramePr>
        <p:xfrm>
          <a:off x="673100" y="2590800"/>
          <a:ext cx="4114800" cy="326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3214714" imgH="2545545" progId="Visio.Drawing.11">
                  <p:embed/>
                </p:oleObj>
              </mc:Choice>
              <mc:Fallback>
                <p:oleObj name="Visio" r:id="rId2" imgW="3214714" imgH="2545545" progId="Visio.Drawing.11">
                  <p:embed/>
                  <p:pic>
                    <p:nvPicPr>
                      <p:cNvPr id="103446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100" y="2590800"/>
                        <a:ext cx="4114800" cy="326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47" name="Text Box 23"/>
          <p:cNvSpPr txBox="1">
            <a:spLocks noChangeArrowheads="1"/>
          </p:cNvSpPr>
          <p:nvPr/>
        </p:nvSpPr>
        <p:spPr bwMode="auto">
          <a:xfrm>
            <a:off x="1743075" y="2900363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q</a:t>
            </a:r>
            <a:r>
              <a:rPr lang="en-US" altLang="zh-CN" sz="2400" baseline="-25000"/>
              <a:t>0</a:t>
            </a:r>
          </a:p>
        </p:txBody>
      </p:sp>
      <p:graphicFrame>
        <p:nvGraphicFramePr>
          <p:cNvPr id="103448" name="Object 24"/>
          <p:cNvGraphicFramePr>
            <a:graphicFrameLocks noChangeAspect="1"/>
          </p:cNvGraphicFramePr>
          <p:nvPr/>
        </p:nvGraphicFramePr>
        <p:xfrm>
          <a:off x="5867400" y="2622550"/>
          <a:ext cx="865188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719960" imgH="374769" progId="Visio.Drawing.11">
                  <p:embed/>
                </p:oleObj>
              </mc:Choice>
              <mc:Fallback>
                <p:oleObj name="Visio" r:id="rId4" imgW="719960" imgH="374769" progId="Visio.Drawing.11">
                  <p:embed/>
                  <p:pic>
                    <p:nvPicPr>
                      <p:cNvPr id="103448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2622550"/>
                        <a:ext cx="865188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49" name="Rectangle 25"/>
          <p:cNvSpPr>
            <a:spLocks noChangeArrowheads="1"/>
          </p:cNvSpPr>
          <p:nvPr/>
        </p:nvSpPr>
        <p:spPr bwMode="auto">
          <a:xfrm>
            <a:off x="1476375" y="195263"/>
            <a:ext cx="3887788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4000" i="0">
                <a:ea typeface="华文行楷" pitchFamily="2" charset="-122"/>
              </a:rPr>
              <a:t>确定有限自动机</a:t>
            </a:r>
          </a:p>
        </p:txBody>
      </p:sp>
      <p:sp>
        <p:nvSpPr>
          <p:cNvPr id="103450" name="Text Box 26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827088" y="1409700"/>
            <a:ext cx="532923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 i="0">
                <a:latin typeface="Arial" pitchFamily="34" charset="0"/>
                <a:ea typeface="楷体_GB2312" pitchFamily="49" charset="-122"/>
              </a:rPr>
              <a:t>  </a:t>
            </a:r>
            <a:r>
              <a:rPr lang="en-US" altLang="zh-CN" sz="3200" b="0">
                <a:latin typeface="Arial" pitchFamily="34" charset="0"/>
                <a:ea typeface="楷体_GB2312" pitchFamily="49" charset="-122"/>
              </a:rPr>
              <a:t>DFA</a:t>
            </a:r>
            <a:r>
              <a:rPr lang="zh-CN" altLang="en-US" sz="3200" i="0">
                <a:latin typeface="Arial" pitchFamily="34" charset="0"/>
                <a:ea typeface="楷体_GB2312" pitchFamily="49" charset="-122"/>
              </a:rPr>
              <a:t>如何接受输入符号串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A706A90-8F9F-634C-9F5B-9B23A0F88FD7}"/>
              </a:ext>
            </a:extLst>
          </p:cNvPr>
          <p:cNvSpPr txBox="1"/>
          <p:nvPr/>
        </p:nvSpPr>
        <p:spPr>
          <a:xfrm>
            <a:off x="8604448" y="6471931"/>
            <a:ext cx="5395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0" i="0" dirty="0">
                <a:solidFill>
                  <a:srgbClr val="000066"/>
                </a:solidFill>
              </a:rPr>
              <a:t>14</a:t>
            </a:r>
            <a:endParaRPr kumimoji="1" lang="zh-CN" altLang="en-US" sz="2000" b="0" i="0" dirty="0">
              <a:solidFill>
                <a:srgbClr val="000066"/>
              </a:solidFill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75" name="Text Box 27"/>
          <p:cNvSpPr txBox="1">
            <a:spLocks noChangeArrowheads="1"/>
          </p:cNvSpPr>
          <p:nvPr/>
        </p:nvSpPr>
        <p:spPr bwMode="auto">
          <a:xfrm>
            <a:off x="3797300" y="2922588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q</a:t>
            </a:r>
            <a:r>
              <a:rPr lang="en-US" altLang="zh-CN" sz="2400" baseline="-25000"/>
              <a:t>1</a:t>
            </a:r>
          </a:p>
        </p:txBody>
      </p:sp>
      <p:sp>
        <p:nvSpPr>
          <p:cNvPr id="104476" name="Text Box 28"/>
          <p:cNvSpPr txBox="1">
            <a:spLocks noChangeArrowheads="1"/>
          </p:cNvSpPr>
          <p:nvPr/>
        </p:nvSpPr>
        <p:spPr bwMode="auto">
          <a:xfrm>
            <a:off x="3797300" y="4979988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q</a:t>
            </a:r>
            <a:r>
              <a:rPr lang="en-US" altLang="zh-CN" sz="2400" baseline="-25000"/>
              <a:t>3</a:t>
            </a:r>
          </a:p>
        </p:txBody>
      </p:sp>
      <p:graphicFrame>
        <p:nvGraphicFramePr>
          <p:cNvPr id="104477" name="Object 29"/>
          <p:cNvGraphicFramePr>
            <a:graphicFrameLocks noChangeAspect="1"/>
          </p:cNvGraphicFramePr>
          <p:nvPr/>
        </p:nvGraphicFramePr>
        <p:xfrm>
          <a:off x="673100" y="2590800"/>
          <a:ext cx="4114800" cy="326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3214714" imgH="2545545" progId="Visio.Drawing.11">
                  <p:embed/>
                </p:oleObj>
              </mc:Choice>
              <mc:Fallback>
                <p:oleObj name="Visio" r:id="rId2" imgW="3214714" imgH="2545545" progId="Visio.Drawing.11">
                  <p:embed/>
                  <p:pic>
                    <p:nvPicPr>
                      <p:cNvPr id="104477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100" y="2590800"/>
                        <a:ext cx="4114800" cy="326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478" name="Text Box 30"/>
          <p:cNvSpPr txBox="1">
            <a:spLocks noChangeArrowheads="1"/>
          </p:cNvSpPr>
          <p:nvPr/>
        </p:nvSpPr>
        <p:spPr bwMode="auto">
          <a:xfrm>
            <a:off x="1743075" y="2900363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q</a:t>
            </a:r>
            <a:r>
              <a:rPr lang="en-US" altLang="zh-CN" sz="2400" baseline="-25000"/>
              <a:t>0</a:t>
            </a:r>
          </a:p>
        </p:txBody>
      </p:sp>
      <p:sp>
        <p:nvSpPr>
          <p:cNvPr id="104479" name="Text Box 31"/>
          <p:cNvSpPr txBox="1">
            <a:spLocks noChangeArrowheads="1"/>
          </p:cNvSpPr>
          <p:nvPr/>
        </p:nvSpPr>
        <p:spPr bwMode="auto">
          <a:xfrm>
            <a:off x="1763713" y="4941888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q</a:t>
            </a:r>
            <a:r>
              <a:rPr lang="en-US" altLang="zh-CN" sz="2400" baseline="-25000"/>
              <a:t>2</a:t>
            </a:r>
          </a:p>
        </p:txBody>
      </p:sp>
      <p:sp>
        <p:nvSpPr>
          <p:cNvPr id="104480" name="Line 32"/>
          <p:cNvSpPr>
            <a:spLocks noChangeShapeType="1"/>
          </p:cNvSpPr>
          <p:nvPr/>
        </p:nvSpPr>
        <p:spPr bwMode="auto">
          <a:xfrm flipV="1">
            <a:off x="6516688" y="3192463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104481" name="Object 33"/>
          <p:cNvGraphicFramePr>
            <a:graphicFrameLocks noChangeAspect="1"/>
          </p:cNvGraphicFramePr>
          <p:nvPr/>
        </p:nvGraphicFramePr>
        <p:xfrm>
          <a:off x="5867400" y="2622550"/>
          <a:ext cx="865188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719960" imgH="374769" progId="Visio.Drawing.11">
                  <p:embed/>
                </p:oleObj>
              </mc:Choice>
              <mc:Fallback>
                <p:oleObj name="Visio" r:id="rId4" imgW="719960" imgH="374769" progId="Visio.Drawing.11">
                  <p:embed/>
                  <p:pic>
                    <p:nvPicPr>
                      <p:cNvPr id="104481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2622550"/>
                        <a:ext cx="865188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482" name="Rectangle 34"/>
          <p:cNvSpPr>
            <a:spLocks noChangeArrowheads="1"/>
          </p:cNvSpPr>
          <p:nvPr/>
        </p:nvSpPr>
        <p:spPr bwMode="auto">
          <a:xfrm>
            <a:off x="1476375" y="195263"/>
            <a:ext cx="3887788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4000" i="0">
                <a:ea typeface="华文行楷" pitchFamily="2" charset="-122"/>
              </a:rPr>
              <a:t>确定有限自动机</a:t>
            </a:r>
          </a:p>
        </p:txBody>
      </p:sp>
      <p:sp>
        <p:nvSpPr>
          <p:cNvPr id="104483" name="Text Box 35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827088" y="1409700"/>
            <a:ext cx="532923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 i="0">
                <a:latin typeface="Arial" pitchFamily="34" charset="0"/>
                <a:ea typeface="楷体_GB2312" pitchFamily="49" charset="-122"/>
              </a:rPr>
              <a:t>  </a:t>
            </a:r>
            <a:r>
              <a:rPr lang="en-US" altLang="zh-CN" sz="3200" b="0">
                <a:latin typeface="Arial" pitchFamily="34" charset="0"/>
                <a:ea typeface="楷体_GB2312" pitchFamily="49" charset="-122"/>
              </a:rPr>
              <a:t>DFA</a:t>
            </a:r>
            <a:r>
              <a:rPr lang="zh-CN" altLang="en-US" sz="3200" i="0">
                <a:latin typeface="Arial" pitchFamily="34" charset="0"/>
                <a:ea typeface="楷体_GB2312" pitchFamily="49" charset="-122"/>
              </a:rPr>
              <a:t>如何接受输入符号串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7320715-325F-FC40-96FD-50FDF3C3FD6E}"/>
              </a:ext>
            </a:extLst>
          </p:cNvPr>
          <p:cNvSpPr txBox="1"/>
          <p:nvPr/>
        </p:nvSpPr>
        <p:spPr>
          <a:xfrm>
            <a:off x="8604448" y="6471931"/>
            <a:ext cx="5395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0" i="0" dirty="0">
                <a:solidFill>
                  <a:srgbClr val="000066"/>
                </a:solidFill>
              </a:rPr>
              <a:t>15</a:t>
            </a:r>
            <a:endParaRPr kumimoji="1" lang="zh-CN" altLang="en-US" sz="2000" b="0" i="0" dirty="0">
              <a:solidFill>
                <a:srgbClr val="000066"/>
              </a:solidFill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98" name="Line 26"/>
          <p:cNvSpPr>
            <a:spLocks noChangeShapeType="1"/>
          </p:cNvSpPr>
          <p:nvPr/>
        </p:nvSpPr>
        <p:spPr bwMode="auto">
          <a:xfrm flipV="1">
            <a:off x="6877050" y="3192463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105499" name="Text Box 27"/>
          <p:cNvSpPr txBox="1">
            <a:spLocks noChangeArrowheads="1"/>
          </p:cNvSpPr>
          <p:nvPr/>
        </p:nvSpPr>
        <p:spPr bwMode="auto">
          <a:xfrm>
            <a:off x="3797300" y="2922588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q</a:t>
            </a:r>
            <a:r>
              <a:rPr lang="en-US" altLang="zh-CN" sz="2400" baseline="-25000"/>
              <a:t>1</a:t>
            </a:r>
          </a:p>
        </p:txBody>
      </p:sp>
      <p:sp>
        <p:nvSpPr>
          <p:cNvPr id="105500" name="Text Box 28"/>
          <p:cNvSpPr txBox="1">
            <a:spLocks noChangeArrowheads="1"/>
          </p:cNvSpPr>
          <p:nvPr/>
        </p:nvSpPr>
        <p:spPr bwMode="auto">
          <a:xfrm>
            <a:off x="1739900" y="4979988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q</a:t>
            </a:r>
            <a:r>
              <a:rPr lang="en-US" altLang="zh-CN" sz="2400" baseline="-25000"/>
              <a:t>2</a:t>
            </a:r>
          </a:p>
        </p:txBody>
      </p:sp>
      <p:sp>
        <p:nvSpPr>
          <p:cNvPr id="105501" name="Text Box 29"/>
          <p:cNvSpPr txBox="1">
            <a:spLocks noChangeArrowheads="1"/>
          </p:cNvSpPr>
          <p:nvPr/>
        </p:nvSpPr>
        <p:spPr bwMode="auto">
          <a:xfrm>
            <a:off x="3797300" y="4979988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q</a:t>
            </a:r>
            <a:r>
              <a:rPr lang="en-US" altLang="zh-CN" sz="2400" baseline="-25000"/>
              <a:t>3</a:t>
            </a:r>
          </a:p>
        </p:txBody>
      </p:sp>
      <p:graphicFrame>
        <p:nvGraphicFramePr>
          <p:cNvPr id="105502" name="Object 30"/>
          <p:cNvGraphicFramePr>
            <a:graphicFrameLocks noChangeAspect="1"/>
          </p:cNvGraphicFramePr>
          <p:nvPr/>
        </p:nvGraphicFramePr>
        <p:xfrm>
          <a:off x="673100" y="2590800"/>
          <a:ext cx="4114800" cy="326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3214714" imgH="2545545" progId="Visio.Drawing.11">
                  <p:embed/>
                </p:oleObj>
              </mc:Choice>
              <mc:Fallback>
                <p:oleObj name="Visio" r:id="rId2" imgW="3214714" imgH="2545545" progId="Visio.Drawing.11">
                  <p:embed/>
                  <p:pic>
                    <p:nvPicPr>
                      <p:cNvPr id="105502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100" y="2590800"/>
                        <a:ext cx="4114800" cy="326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503" name="Text Box 31"/>
          <p:cNvSpPr txBox="1">
            <a:spLocks noChangeArrowheads="1"/>
          </p:cNvSpPr>
          <p:nvPr/>
        </p:nvSpPr>
        <p:spPr bwMode="auto">
          <a:xfrm>
            <a:off x="1743075" y="2900363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q</a:t>
            </a:r>
            <a:r>
              <a:rPr lang="en-US" altLang="zh-CN" sz="2400" baseline="-25000"/>
              <a:t>0</a:t>
            </a:r>
          </a:p>
        </p:txBody>
      </p:sp>
      <p:graphicFrame>
        <p:nvGraphicFramePr>
          <p:cNvPr id="105504" name="Object 32"/>
          <p:cNvGraphicFramePr>
            <a:graphicFrameLocks noChangeAspect="1"/>
          </p:cNvGraphicFramePr>
          <p:nvPr/>
        </p:nvGraphicFramePr>
        <p:xfrm>
          <a:off x="5867400" y="2622550"/>
          <a:ext cx="865188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719960" imgH="374769" progId="Visio.Drawing.11">
                  <p:embed/>
                </p:oleObj>
              </mc:Choice>
              <mc:Fallback>
                <p:oleObj name="Visio" r:id="rId4" imgW="719960" imgH="374769" progId="Visio.Drawing.11">
                  <p:embed/>
                  <p:pic>
                    <p:nvPicPr>
                      <p:cNvPr id="105504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2622550"/>
                        <a:ext cx="865188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505" name="Text Box 33"/>
          <p:cNvSpPr txBox="1">
            <a:spLocks noChangeArrowheads="1"/>
          </p:cNvSpPr>
          <p:nvPr/>
        </p:nvSpPr>
        <p:spPr bwMode="auto">
          <a:xfrm>
            <a:off x="1423988" y="2438400"/>
            <a:ext cx="484187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altLang="zh-CN" sz="2800" b="0" i="0">
                <a:sym typeface="Wingdings" pitchFamily="2" charset="2"/>
              </a:rPr>
              <a:t></a:t>
            </a:r>
            <a:endParaRPr lang="en-US" altLang="zh-CN" sz="2800" b="0" i="0"/>
          </a:p>
        </p:txBody>
      </p:sp>
      <p:sp>
        <p:nvSpPr>
          <p:cNvPr id="105506" name="Rectangle 34"/>
          <p:cNvSpPr>
            <a:spLocks noChangeArrowheads="1"/>
          </p:cNvSpPr>
          <p:nvPr/>
        </p:nvSpPr>
        <p:spPr bwMode="auto">
          <a:xfrm>
            <a:off x="1476375" y="195263"/>
            <a:ext cx="3887788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4000" i="0">
                <a:ea typeface="华文行楷" pitchFamily="2" charset="-122"/>
              </a:rPr>
              <a:t>确定有限自动机</a:t>
            </a:r>
          </a:p>
        </p:txBody>
      </p:sp>
      <p:sp>
        <p:nvSpPr>
          <p:cNvPr id="105507" name="Text Box 35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827088" y="1409700"/>
            <a:ext cx="532923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 i="0">
                <a:latin typeface="Arial" pitchFamily="34" charset="0"/>
                <a:ea typeface="楷体_GB2312" pitchFamily="49" charset="-122"/>
              </a:rPr>
              <a:t>  </a:t>
            </a:r>
            <a:r>
              <a:rPr lang="en-US" altLang="zh-CN" sz="3200" b="0">
                <a:latin typeface="Arial" pitchFamily="34" charset="0"/>
                <a:ea typeface="楷体_GB2312" pitchFamily="49" charset="-122"/>
              </a:rPr>
              <a:t>DFA</a:t>
            </a:r>
            <a:r>
              <a:rPr lang="zh-CN" altLang="en-US" sz="3200" i="0">
                <a:latin typeface="Arial" pitchFamily="34" charset="0"/>
                <a:ea typeface="楷体_GB2312" pitchFamily="49" charset="-122"/>
              </a:rPr>
              <a:t>如何接受输入符号串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0A6E523-0F57-0244-8493-DC82FB5D54DE}"/>
              </a:ext>
            </a:extLst>
          </p:cNvPr>
          <p:cNvSpPr txBox="1"/>
          <p:nvPr/>
        </p:nvSpPr>
        <p:spPr>
          <a:xfrm>
            <a:off x="8604448" y="6471931"/>
            <a:ext cx="5395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0" i="0" dirty="0">
                <a:solidFill>
                  <a:srgbClr val="000066"/>
                </a:solidFill>
              </a:rPr>
              <a:t>16</a:t>
            </a:r>
            <a:endParaRPr kumimoji="1" lang="zh-CN" altLang="en-US" sz="2000" b="0" i="0" dirty="0">
              <a:solidFill>
                <a:srgbClr val="000066"/>
              </a:solidFill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53" name="Line 9"/>
          <p:cNvSpPr>
            <a:spLocks noChangeShapeType="1"/>
          </p:cNvSpPr>
          <p:nvPr/>
        </p:nvSpPr>
        <p:spPr bwMode="auto">
          <a:xfrm flipV="1">
            <a:off x="6156325" y="3192463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108554" name="Text Box 10"/>
          <p:cNvSpPr txBox="1">
            <a:spLocks noChangeArrowheads="1"/>
          </p:cNvSpPr>
          <p:nvPr/>
        </p:nvSpPr>
        <p:spPr bwMode="auto">
          <a:xfrm>
            <a:off x="3797300" y="2922588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q</a:t>
            </a:r>
            <a:r>
              <a:rPr lang="en-US" altLang="zh-CN" sz="2400" baseline="-25000"/>
              <a:t>1</a:t>
            </a:r>
          </a:p>
        </p:txBody>
      </p:sp>
      <p:sp>
        <p:nvSpPr>
          <p:cNvPr id="108555" name="Text Box 11"/>
          <p:cNvSpPr txBox="1">
            <a:spLocks noChangeArrowheads="1"/>
          </p:cNvSpPr>
          <p:nvPr/>
        </p:nvSpPr>
        <p:spPr bwMode="auto">
          <a:xfrm>
            <a:off x="1739900" y="4979988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q</a:t>
            </a:r>
            <a:r>
              <a:rPr lang="en-US" altLang="zh-CN" sz="2400" baseline="-25000"/>
              <a:t>2</a:t>
            </a:r>
          </a:p>
        </p:txBody>
      </p:sp>
      <p:sp>
        <p:nvSpPr>
          <p:cNvPr id="108556" name="Text Box 12"/>
          <p:cNvSpPr txBox="1">
            <a:spLocks noChangeArrowheads="1"/>
          </p:cNvSpPr>
          <p:nvPr/>
        </p:nvSpPr>
        <p:spPr bwMode="auto">
          <a:xfrm>
            <a:off x="3797300" y="4979988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q</a:t>
            </a:r>
            <a:r>
              <a:rPr lang="en-US" altLang="zh-CN" sz="2400" baseline="-25000"/>
              <a:t>3</a:t>
            </a:r>
          </a:p>
        </p:txBody>
      </p:sp>
      <p:graphicFrame>
        <p:nvGraphicFramePr>
          <p:cNvPr id="108557" name="Object 13"/>
          <p:cNvGraphicFramePr>
            <a:graphicFrameLocks noChangeAspect="1"/>
          </p:cNvGraphicFramePr>
          <p:nvPr/>
        </p:nvGraphicFramePr>
        <p:xfrm>
          <a:off x="673100" y="2590800"/>
          <a:ext cx="4114800" cy="326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3214714" imgH="2545545" progId="Visio.Drawing.11">
                  <p:embed/>
                </p:oleObj>
              </mc:Choice>
              <mc:Fallback>
                <p:oleObj name="Visio" r:id="rId2" imgW="3214714" imgH="2545545" progId="Visio.Drawing.11">
                  <p:embed/>
                  <p:pic>
                    <p:nvPicPr>
                      <p:cNvPr id="108557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100" y="2590800"/>
                        <a:ext cx="4114800" cy="326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558" name="Text Box 14"/>
          <p:cNvSpPr txBox="1">
            <a:spLocks noChangeArrowheads="1"/>
          </p:cNvSpPr>
          <p:nvPr/>
        </p:nvSpPr>
        <p:spPr bwMode="auto">
          <a:xfrm>
            <a:off x="1743075" y="2900363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q</a:t>
            </a:r>
            <a:r>
              <a:rPr lang="en-US" altLang="zh-CN" sz="2400" baseline="-25000"/>
              <a:t>0</a:t>
            </a:r>
          </a:p>
        </p:txBody>
      </p:sp>
      <p:graphicFrame>
        <p:nvGraphicFramePr>
          <p:cNvPr id="108560" name="Object 16"/>
          <p:cNvGraphicFramePr>
            <a:graphicFrameLocks noChangeAspect="1"/>
          </p:cNvGraphicFramePr>
          <p:nvPr/>
        </p:nvGraphicFramePr>
        <p:xfrm>
          <a:off x="5867400" y="2619375"/>
          <a:ext cx="2160588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764318" imgH="377291" progId="Visio.Drawing.11">
                  <p:embed/>
                </p:oleObj>
              </mc:Choice>
              <mc:Fallback>
                <p:oleObj name="Visio" r:id="rId4" imgW="1764318" imgH="377291" progId="Visio.Drawing.11">
                  <p:embed/>
                  <p:pic>
                    <p:nvPicPr>
                      <p:cNvPr id="10856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2619375"/>
                        <a:ext cx="2160588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561" name="Rectangle 17"/>
          <p:cNvSpPr>
            <a:spLocks noChangeArrowheads="1"/>
          </p:cNvSpPr>
          <p:nvPr/>
        </p:nvSpPr>
        <p:spPr bwMode="auto">
          <a:xfrm>
            <a:off x="1476375" y="195263"/>
            <a:ext cx="3887788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4000" i="0">
                <a:ea typeface="华文行楷" pitchFamily="2" charset="-122"/>
              </a:rPr>
              <a:t>确定有限自动机</a:t>
            </a:r>
          </a:p>
        </p:txBody>
      </p:sp>
      <p:sp>
        <p:nvSpPr>
          <p:cNvPr id="108562" name="Text Box 18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827088" y="1409700"/>
            <a:ext cx="532923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 i="0">
                <a:latin typeface="Arial" pitchFamily="34" charset="0"/>
                <a:ea typeface="楷体_GB2312" pitchFamily="49" charset="-122"/>
              </a:rPr>
              <a:t>  </a:t>
            </a:r>
            <a:r>
              <a:rPr lang="en-US" altLang="zh-CN" sz="3200" b="0">
                <a:latin typeface="Arial" pitchFamily="34" charset="0"/>
                <a:ea typeface="楷体_GB2312" pitchFamily="49" charset="-122"/>
              </a:rPr>
              <a:t>DFA</a:t>
            </a:r>
            <a:r>
              <a:rPr lang="zh-CN" altLang="en-US" sz="3200" i="0">
                <a:latin typeface="Arial" pitchFamily="34" charset="0"/>
                <a:ea typeface="楷体_GB2312" pitchFamily="49" charset="-122"/>
              </a:rPr>
              <a:t>如何接受输入符号串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56BBA84-01C4-AE48-ABA9-EEEBB766A16F}"/>
              </a:ext>
            </a:extLst>
          </p:cNvPr>
          <p:cNvSpPr txBox="1"/>
          <p:nvPr/>
        </p:nvSpPr>
        <p:spPr>
          <a:xfrm>
            <a:off x="8604448" y="6471931"/>
            <a:ext cx="5395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0" i="0" dirty="0">
                <a:solidFill>
                  <a:srgbClr val="000066"/>
                </a:solidFill>
              </a:rPr>
              <a:t>17</a:t>
            </a:r>
            <a:endParaRPr kumimoji="1" lang="zh-CN" altLang="en-US" sz="2000" b="0" i="0" dirty="0">
              <a:solidFill>
                <a:srgbClr val="000066"/>
              </a:solidFill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7" name="Line 9"/>
          <p:cNvSpPr>
            <a:spLocks noChangeShapeType="1"/>
          </p:cNvSpPr>
          <p:nvPr/>
        </p:nvSpPr>
        <p:spPr bwMode="auto">
          <a:xfrm flipV="1">
            <a:off x="6516688" y="3192463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109583" name="Object 15"/>
          <p:cNvGraphicFramePr>
            <a:graphicFrameLocks noChangeAspect="1"/>
          </p:cNvGraphicFramePr>
          <p:nvPr/>
        </p:nvGraphicFramePr>
        <p:xfrm>
          <a:off x="5867400" y="2619375"/>
          <a:ext cx="2160588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1764318" imgH="377291" progId="Visio.Drawing.11">
                  <p:embed/>
                </p:oleObj>
              </mc:Choice>
              <mc:Fallback>
                <p:oleObj name="Visio" r:id="rId2" imgW="1764318" imgH="377291" progId="Visio.Drawing.11">
                  <p:embed/>
                  <p:pic>
                    <p:nvPicPr>
                      <p:cNvPr id="109583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2619375"/>
                        <a:ext cx="2160588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584" name="Text Box 16"/>
          <p:cNvSpPr txBox="1">
            <a:spLocks noChangeArrowheads="1"/>
          </p:cNvSpPr>
          <p:nvPr/>
        </p:nvSpPr>
        <p:spPr bwMode="auto">
          <a:xfrm>
            <a:off x="1739900" y="4979988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q</a:t>
            </a:r>
            <a:r>
              <a:rPr lang="en-US" altLang="zh-CN" sz="2400" baseline="-25000"/>
              <a:t>2</a:t>
            </a:r>
          </a:p>
        </p:txBody>
      </p:sp>
      <p:sp>
        <p:nvSpPr>
          <p:cNvPr id="109585" name="Text Box 17"/>
          <p:cNvSpPr txBox="1">
            <a:spLocks noChangeArrowheads="1"/>
          </p:cNvSpPr>
          <p:nvPr/>
        </p:nvSpPr>
        <p:spPr bwMode="auto">
          <a:xfrm>
            <a:off x="3797300" y="4979988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q</a:t>
            </a:r>
            <a:r>
              <a:rPr lang="en-US" altLang="zh-CN" sz="2400" baseline="-25000"/>
              <a:t>3</a:t>
            </a:r>
          </a:p>
        </p:txBody>
      </p:sp>
      <p:graphicFrame>
        <p:nvGraphicFramePr>
          <p:cNvPr id="109586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9214289"/>
              </p:ext>
            </p:extLst>
          </p:nvPr>
        </p:nvGraphicFramePr>
        <p:xfrm>
          <a:off x="673100" y="2564904"/>
          <a:ext cx="4114800" cy="326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3214714" imgH="2545545" progId="Visio.Drawing.11">
                  <p:embed/>
                </p:oleObj>
              </mc:Choice>
              <mc:Fallback>
                <p:oleObj name="Visio" r:id="rId4" imgW="3214714" imgH="2545545" progId="Visio.Drawing.11">
                  <p:embed/>
                  <p:pic>
                    <p:nvPicPr>
                      <p:cNvPr id="109586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100" y="2564904"/>
                        <a:ext cx="4114800" cy="326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587" name="Text Box 19"/>
          <p:cNvSpPr txBox="1">
            <a:spLocks noChangeArrowheads="1"/>
          </p:cNvSpPr>
          <p:nvPr/>
        </p:nvSpPr>
        <p:spPr bwMode="auto">
          <a:xfrm>
            <a:off x="1743075" y="2900363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q</a:t>
            </a:r>
            <a:r>
              <a:rPr lang="en-US" altLang="zh-CN" sz="2400" baseline="-25000"/>
              <a:t>0</a:t>
            </a:r>
          </a:p>
        </p:txBody>
      </p:sp>
      <p:sp>
        <p:nvSpPr>
          <p:cNvPr id="109588" name="Text Box 20"/>
          <p:cNvSpPr txBox="1">
            <a:spLocks noChangeArrowheads="1"/>
          </p:cNvSpPr>
          <p:nvPr/>
        </p:nvSpPr>
        <p:spPr bwMode="auto">
          <a:xfrm>
            <a:off x="3797300" y="2922588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q</a:t>
            </a:r>
            <a:r>
              <a:rPr lang="en-US" altLang="zh-CN" sz="2400" baseline="-25000"/>
              <a:t>1</a:t>
            </a:r>
          </a:p>
        </p:txBody>
      </p:sp>
      <p:sp>
        <p:nvSpPr>
          <p:cNvPr id="109589" name="Rectangle 21"/>
          <p:cNvSpPr>
            <a:spLocks noChangeArrowheads="1"/>
          </p:cNvSpPr>
          <p:nvPr/>
        </p:nvSpPr>
        <p:spPr bwMode="auto">
          <a:xfrm>
            <a:off x="1476375" y="195263"/>
            <a:ext cx="3887788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4000" i="0">
                <a:ea typeface="华文行楷" pitchFamily="2" charset="-122"/>
              </a:rPr>
              <a:t>确定有限自动机</a:t>
            </a:r>
          </a:p>
        </p:txBody>
      </p:sp>
      <p:sp>
        <p:nvSpPr>
          <p:cNvPr id="109590" name="Text Box 22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827088" y="1409700"/>
            <a:ext cx="532923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 i="0">
                <a:latin typeface="Arial" pitchFamily="34" charset="0"/>
                <a:ea typeface="楷体_GB2312" pitchFamily="49" charset="-122"/>
              </a:rPr>
              <a:t>  </a:t>
            </a:r>
            <a:r>
              <a:rPr lang="en-US" altLang="zh-CN" sz="3200" b="0">
                <a:latin typeface="Arial" pitchFamily="34" charset="0"/>
                <a:ea typeface="楷体_GB2312" pitchFamily="49" charset="-122"/>
              </a:rPr>
              <a:t>DFA</a:t>
            </a:r>
            <a:r>
              <a:rPr lang="zh-CN" altLang="en-US" sz="3200" i="0">
                <a:latin typeface="Arial" pitchFamily="34" charset="0"/>
                <a:ea typeface="楷体_GB2312" pitchFamily="49" charset="-122"/>
              </a:rPr>
              <a:t>如何接受输入符号串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AFD6566-7A2F-2B48-8F9E-BE997A67C6FB}"/>
              </a:ext>
            </a:extLst>
          </p:cNvPr>
          <p:cNvSpPr txBox="1"/>
          <p:nvPr/>
        </p:nvSpPr>
        <p:spPr>
          <a:xfrm>
            <a:off x="8604448" y="6471931"/>
            <a:ext cx="5395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0" i="0" dirty="0">
                <a:solidFill>
                  <a:srgbClr val="000066"/>
                </a:solidFill>
              </a:rPr>
              <a:t>18</a:t>
            </a:r>
            <a:endParaRPr kumimoji="1" lang="zh-CN" altLang="en-US" sz="2000" b="0" i="0" dirty="0">
              <a:solidFill>
                <a:srgbClr val="000066"/>
              </a:solidFill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01" name="Line 9"/>
          <p:cNvSpPr>
            <a:spLocks noChangeShapeType="1"/>
          </p:cNvSpPr>
          <p:nvPr/>
        </p:nvSpPr>
        <p:spPr bwMode="auto">
          <a:xfrm flipV="1">
            <a:off x="6948488" y="3192463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110607" name="Object 15"/>
          <p:cNvGraphicFramePr>
            <a:graphicFrameLocks noChangeAspect="1"/>
          </p:cNvGraphicFramePr>
          <p:nvPr/>
        </p:nvGraphicFramePr>
        <p:xfrm>
          <a:off x="5867400" y="2619375"/>
          <a:ext cx="2160588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1764318" imgH="377291" progId="Visio.Drawing.11">
                  <p:embed/>
                </p:oleObj>
              </mc:Choice>
              <mc:Fallback>
                <p:oleObj name="Visio" r:id="rId2" imgW="1764318" imgH="377291" progId="Visio.Drawing.11">
                  <p:embed/>
                  <p:pic>
                    <p:nvPicPr>
                      <p:cNvPr id="110607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2619375"/>
                        <a:ext cx="2160588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608" name="Text Box 16"/>
          <p:cNvSpPr txBox="1">
            <a:spLocks noChangeArrowheads="1"/>
          </p:cNvSpPr>
          <p:nvPr/>
        </p:nvSpPr>
        <p:spPr bwMode="auto">
          <a:xfrm>
            <a:off x="1739900" y="4979988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q</a:t>
            </a:r>
            <a:r>
              <a:rPr lang="en-US" altLang="zh-CN" sz="2400" baseline="-25000"/>
              <a:t>2</a:t>
            </a:r>
          </a:p>
        </p:txBody>
      </p:sp>
      <p:graphicFrame>
        <p:nvGraphicFramePr>
          <p:cNvPr id="110609" name="Object 17"/>
          <p:cNvGraphicFramePr>
            <a:graphicFrameLocks noChangeAspect="1"/>
          </p:cNvGraphicFramePr>
          <p:nvPr/>
        </p:nvGraphicFramePr>
        <p:xfrm>
          <a:off x="673100" y="2590800"/>
          <a:ext cx="4114800" cy="326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3214714" imgH="2545545" progId="Visio.Drawing.11">
                  <p:embed/>
                </p:oleObj>
              </mc:Choice>
              <mc:Fallback>
                <p:oleObj name="Visio" r:id="rId4" imgW="3214714" imgH="2545545" progId="Visio.Drawing.11">
                  <p:embed/>
                  <p:pic>
                    <p:nvPicPr>
                      <p:cNvPr id="110609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100" y="2590800"/>
                        <a:ext cx="4114800" cy="326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610" name="Text Box 18"/>
          <p:cNvSpPr txBox="1">
            <a:spLocks noChangeArrowheads="1"/>
          </p:cNvSpPr>
          <p:nvPr/>
        </p:nvSpPr>
        <p:spPr bwMode="auto">
          <a:xfrm>
            <a:off x="1743075" y="2900363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q</a:t>
            </a:r>
            <a:r>
              <a:rPr lang="en-US" altLang="zh-CN" sz="2400" baseline="-25000"/>
              <a:t>0</a:t>
            </a:r>
          </a:p>
        </p:txBody>
      </p:sp>
      <p:sp>
        <p:nvSpPr>
          <p:cNvPr id="110611" name="Text Box 19"/>
          <p:cNvSpPr txBox="1">
            <a:spLocks noChangeArrowheads="1"/>
          </p:cNvSpPr>
          <p:nvPr/>
        </p:nvSpPr>
        <p:spPr bwMode="auto">
          <a:xfrm>
            <a:off x="3797300" y="2922588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q</a:t>
            </a:r>
            <a:r>
              <a:rPr lang="en-US" altLang="zh-CN" sz="2400" baseline="-25000"/>
              <a:t>1</a:t>
            </a:r>
          </a:p>
        </p:txBody>
      </p:sp>
      <p:sp>
        <p:nvSpPr>
          <p:cNvPr id="110612" name="Text Box 20"/>
          <p:cNvSpPr txBox="1">
            <a:spLocks noChangeArrowheads="1"/>
          </p:cNvSpPr>
          <p:nvPr/>
        </p:nvSpPr>
        <p:spPr bwMode="auto">
          <a:xfrm>
            <a:off x="3797300" y="4941888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q</a:t>
            </a:r>
            <a:r>
              <a:rPr lang="en-US" altLang="zh-CN" sz="2400" baseline="-25000"/>
              <a:t>3</a:t>
            </a:r>
          </a:p>
        </p:txBody>
      </p:sp>
      <p:sp>
        <p:nvSpPr>
          <p:cNvPr id="110613" name="Rectangle 21"/>
          <p:cNvSpPr>
            <a:spLocks noChangeArrowheads="1"/>
          </p:cNvSpPr>
          <p:nvPr/>
        </p:nvSpPr>
        <p:spPr bwMode="auto">
          <a:xfrm>
            <a:off x="1476375" y="195263"/>
            <a:ext cx="3887788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4000" i="0">
                <a:ea typeface="华文行楷" pitchFamily="2" charset="-122"/>
              </a:rPr>
              <a:t>确定有限自动机</a:t>
            </a:r>
          </a:p>
        </p:txBody>
      </p:sp>
      <p:sp>
        <p:nvSpPr>
          <p:cNvPr id="110614" name="Text Box 22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827088" y="1409700"/>
            <a:ext cx="532923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 i="0">
                <a:latin typeface="Arial" pitchFamily="34" charset="0"/>
                <a:ea typeface="楷体_GB2312" pitchFamily="49" charset="-122"/>
              </a:rPr>
              <a:t>  </a:t>
            </a:r>
            <a:r>
              <a:rPr lang="en-US" altLang="zh-CN" sz="3200" b="0">
                <a:latin typeface="Arial" pitchFamily="34" charset="0"/>
                <a:ea typeface="楷体_GB2312" pitchFamily="49" charset="-122"/>
              </a:rPr>
              <a:t>DFA</a:t>
            </a:r>
            <a:r>
              <a:rPr lang="zh-CN" altLang="en-US" sz="3200" i="0">
                <a:latin typeface="Arial" pitchFamily="34" charset="0"/>
                <a:ea typeface="楷体_GB2312" pitchFamily="49" charset="-122"/>
              </a:rPr>
              <a:t>如何接受输入符号串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9AEA4E3-EBF1-CB40-A393-55320F5B46A4}"/>
              </a:ext>
            </a:extLst>
          </p:cNvPr>
          <p:cNvSpPr txBox="1"/>
          <p:nvPr/>
        </p:nvSpPr>
        <p:spPr>
          <a:xfrm>
            <a:off x="8604448" y="6471931"/>
            <a:ext cx="5395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0" i="0" dirty="0">
                <a:solidFill>
                  <a:srgbClr val="000066"/>
                </a:solidFill>
              </a:rPr>
              <a:t>19</a:t>
            </a:r>
            <a:endParaRPr kumimoji="1" lang="zh-CN" altLang="en-US" sz="2000" b="0" i="0" dirty="0">
              <a:solidFill>
                <a:srgbClr val="000066"/>
              </a:solidFill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25" name="Line 9"/>
          <p:cNvSpPr>
            <a:spLocks noChangeShapeType="1"/>
          </p:cNvSpPr>
          <p:nvPr/>
        </p:nvSpPr>
        <p:spPr bwMode="auto">
          <a:xfrm flipV="1">
            <a:off x="7380288" y="3192463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111631" name="Object 15"/>
          <p:cNvGraphicFramePr>
            <a:graphicFrameLocks noChangeAspect="1"/>
          </p:cNvGraphicFramePr>
          <p:nvPr/>
        </p:nvGraphicFramePr>
        <p:xfrm>
          <a:off x="5867400" y="2619375"/>
          <a:ext cx="2160588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1764318" imgH="377291" progId="Visio.Drawing.11">
                  <p:embed/>
                </p:oleObj>
              </mc:Choice>
              <mc:Fallback>
                <p:oleObj name="Visio" r:id="rId2" imgW="1764318" imgH="377291" progId="Visio.Drawing.11">
                  <p:embed/>
                  <p:pic>
                    <p:nvPicPr>
                      <p:cNvPr id="111631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2619375"/>
                        <a:ext cx="2160588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632" name="Text Box 16"/>
          <p:cNvSpPr txBox="1">
            <a:spLocks noChangeArrowheads="1"/>
          </p:cNvSpPr>
          <p:nvPr/>
        </p:nvSpPr>
        <p:spPr bwMode="auto">
          <a:xfrm>
            <a:off x="3797300" y="2922588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q</a:t>
            </a:r>
            <a:r>
              <a:rPr lang="en-US" altLang="zh-CN" sz="2400" baseline="-25000"/>
              <a:t>1</a:t>
            </a:r>
          </a:p>
        </p:txBody>
      </p:sp>
      <p:sp>
        <p:nvSpPr>
          <p:cNvPr id="111633" name="Text Box 17"/>
          <p:cNvSpPr txBox="1">
            <a:spLocks noChangeArrowheads="1"/>
          </p:cNvSpPr>
          <p:nvPr/>
        </p:nvSpPr>
        <p:spPr bwMode="auto">
          <a:xfrm>
            <a:off x="3797300" y="4979988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q</a:t>
            </a:r>
            <a:r>
              <a:rPr lang="en-US" altLang="zh-CN" sz="2400" baseline="-25000"/>
              <a:t>3</a:t>
            </a:r>
          </a:p>
        </p:txBody>
      </p:sp>
      <p:graphicFrame>
        <p:nvGraphicFramePr>
          <p:cNvPr id="111634" name="Object 18"/>
          <p:cNvGraphicFramePr>
            <a:graphicFrameLocks noChangeAspect="1"/>
          </p:cNvGraphicFramePr>
          <p:nvPr/>
        </p:nvGraphicFramePr>
        <p:xfrm>
          <a:off x="673100" y="2590800"/>
          <a:ext cx="4114800" cy="326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3214714" imgH="2545545" progId="Visio.Drawing.11">
                  <p:embed/>
                </p:oleObj>
              </mc:Choice>
              <mc:Fallback>
                <p:oleObj name="Visio" r:id="rId4" imgW="3214714" imgH="2545545" progId="Visio.Drawing.11">
                  <p:embed/>
                  <p:pic>
                    <p:nvPicPr>
                      <p:cNvPr id="111634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100" y="2590800"/>
                        <a:ext cx="4114800" cy="326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635" name="Text Box 19"/>
          <p:cNvSpPr txBox="1">
            <a:spLocks noChangeArrowheads="1"/>
          </p:cNvSpPr>
          <p:nvPr/>
        </p:nvSpPr>
        <p:spPr bwMode="auto">
          <a:xfrm>
            <a:off x="1743075" y="2900363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q</a:t>
            </a:r>
            <a:r>
              <a:rPr lang="en-US" altLang="zh-CN" sz="2400" baseline="-25000"/>
              <a:t>0</a:t>
            </a:r>
          </a:p>
        </p:txBody>
      </p:sp>
      <p:sp>
        <p:nvSpPr>
          <p:cNvPr id="111636" name="Text Box 20"/>
          <p:cNvSpPr txBox="1">
            <a:spLocks noChangeArrowheads="1"/>
          </p:cNvSpPr>
          <p:nvPr/>
        </p:nvSpPr>
        <p:spPr bwMode="auto">
          <a:xfrm>
            <a:off x="1763713" y="4941888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q</a:t>
            </a:r>
            <a:r>
              <a:rPr lang="en-US" altLang="zh-CN" sz="2400" baseline="-25000"/>
              <a:t>2</a:t>
            </a:r>
          </a:p>
        </p:txBody>
      </p:sp>
      <p:sp>
        <p:nvSpPr>
          <p:cNvPr id="111637" name="Rectangle 21"/>
          <p:cNvSpPr>
            <a:spLocks noChangeArrowheads="1"/>
          </p:cNvSpPr>
          <p:nvPr/>
        </p:nvSpPr>
        <p:spPr bwMode="auto">
          <a:xfrm>
            <a:off x="1476375" y="195263"/>
            <a:ext cx="3887788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4000" i="0">
                <a:ea typeface="华文行楷" pitchFamily="2" charset="-122"/>
              </a:rPr>
              <a:t>确定有限自动机</a:t>
            </a:r>
          </a:p>
        </p:txBody>
      </p:sp>
      <p:sp>
        <p:nvSpPr>
          <p:cNvPr id="111638" name="Text Box 22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827088" y="1409700"/>
            <a:ext cx="532923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 i="0">
                <a:latin typeface="Arial" pitchFamily="34" charset="0"/>
                <a:ea typeface="楷体_GB2312" pitchFamily="49" charset="-122"/>
              </a:rPr>
              <a:t>  </a:t>
            </a:r>
            <a:r>
              <a:rPr lang="en-US" altLang="zh-CN" sz="3200" b="0">
                <a:latin typeface="Arial" pitchFamily="34" charset="0"/>
                <a:ea typeface="楷体_GB2312" pitchFamily="49" charset="-122"/>
              </a:rPr>
              <a:t>DFA</a:t>
            </a:r>
            <a:r>
              <a:rPr lang="zh-CN" altLang="en-US" sz="3200" i="0">
                <a:latin typeface="Arial" pitchFamily="34" charset="0"/>
                <a:ea typeface="楷体_GB2312" pitchFamily="49" charset="-122"/>
              </a:rPr>
              <a:t>如何接受输入符号串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55D2A07-DF90-AF4D-8984-0C769A8CA755}"/>
              </a:ext>
            </a:extLst>
          </p:cNvPr>
          <p:cNvSpPr txBox="1"/>
          <p:nvPr/>
        </p:nvSpPr>
        <p:spPr>
          <a:xfrm>
            <a:off x="8604448" y="6471931"/>
            <a:ext cx="5395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0" i="0" dirty="0">
                <a:solidFill>
                  <a:srgbClr val="000066"/>
                </a:solidFill>
              </a:rPr>
              <a:t>20</a:t>
            </a:r>
            <a:endParaRPr kumimoji="1" lang="zh-CN" altLang="en-US" sz="2000" b="0" i="0" dirty="0">
              <a:solidFill>
                <a:srgbClr val="000066"/>
              </a:solidFill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9" name="Line 9"/>
          <p:cNvSpPr>
            <a:spLocks noChangeShapeType="1"/>
          </p:cNvSpPr>
          <p:nvPr/>
        </p:nvSpPr>
        <p:spPr bwMode="auto">
          <a:xfrm flipV="1">
            <a:off x="7740650" y="3192463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112650" name="Text Box 10"/>
          <p:cNvSpPr txBox="1">
            <a:spLocks noChangeArrowheads="1"/>
          </p:cNvSpPr>
          <p:nvPr/>
        </p:nvSpPr>
        <p:spPr bwMode="auto">
          <a:xfrm>
            <a:off x="3797300" y="2922588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q</a:t>
            </a:r>
            <a:r>
              <a:rPr lang="en-US" altLang="zh-CN" sz="2400" baseline="-25000"/>
              <a:t>1</a:t>
            </a:r>
          </a:p>
        </p:txBody>
      </p:sp>
      <p:sp>
        <p:nvSpPr>
          <p:cNvPr id="112651" name="Text Box 11"/>
          <p:cNvSpPr txBox="1">
            <a:spLocks noChangeArrowheads="1"/>
          </p:cNvSpPr>
          <p:nvPr/>
        </p:nvSpPr>
        <p:spPr bwMode="auto">
          <a:xfrm>
            <a:off x="1739900" y="4979988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q</a:t>
            </a:r>
            <a:r>
              <a:rPr lang="en-US" altLang="zh-CN" sz="2400" baseline="-25000"/>
              <a:t>2</a:t>
            </a:r>
          </a:p>
        </p:txBody>
      </p:sp>
      <p:sp>
        <p:nvSpPr>
          <p:cNvPr id="112652" name="Text Box 12"/>
          <p:cNvSpPr txBox="1">
            <a:spLocks noChangeArrowheads="1"/>
          </p:cNvSpPr>
          <p:nvPr/>
        </p:nvSpPr>
        <p:spPr bwMode="auto">
          <a:xfrm>
            <a:off x="3797300" y="4979988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q</a:t>
            </a:r>
            <a:r>
              <a:rPr lang="en-US" altLang="zh-CN" sz="2400" baseline="-25000"/>
              <a:t>3</a:t>
            </a:r>
          </a:p>
        </p:txBody>
      </p:sp>
      <p:graphicFrame>
        <p:nvGraphicFramePr>
          <p:cNvPr id="112653" name="Object 13"/>
          <p:cNvGraphicFramePr>
            <a:graphicFrameLocks noChangeAspect="1"/>
          </p:cNvGraphicFramePr>
          <p:nvPr/>
        </p:nvGraphicFramePr>
        <p:xfrm>
          <a:off x="673100" y="2590800"/>
          <a:ext cx="4114800" cy="326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3214714" imgH="2545545" progId="Visio.Drawing.11">
                  <p:embed/>
                </p:oleObj>
              </mc:Choice>
              <mc:Fallback>
                <p:oleObj name="Visio" r:id="rId2" imgW="3214714" imgH="2545545" progId="Visio.Drawing.11">
                  <p:embed/>
                  <p:pic>
                    <p:nvPicPr>
                      <p:cNvPr id="112653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100" y="2590800"/>
                        <a:ext cx="4114800" cy="326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54" name="Text Box 14"/>
          <p:cNvSpPr txBox="1">
            <a:spLocks noChangeArrowheads="1"/>
          </p:cNvSpPr>
          <p:nvPr/>
        </p:nvSpPr>
        <p:spPr bwMode="auto">
          <a:xfrm>
            <a:off x="1743075" y="2900363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q</a:t>
            </a:r>
            <a:r>
              <a:rPr lang="en-US" altLang="zh-CN" sz="2400" baseline="-25000"/>
              <a:t>0</a:t>
            </a:r>
          </a:p>
        </p:txBody>
      </p:sp>
      <p:graphicFrame>
        <p:nvGraphicFramePr>
          <p:cNvPr id="112655" name="Object 15"/>
          <p:cNvGraphicFramePr>
            <a:graphicFrameLocks noChangeAspect="1"/>
          </p:cNvGraphicFramePr>
          <p:nvPr/>
        </p:nvGraphicFramePr>
        <p:xfrm>
          <a:off x="5867400" y="2619375"/>
          <a:ext cx="2160588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764318" imgH="377291" progId="Visio.Drawing.11">
                  <p:embed/>
                </p:oleObj>
              </mc:Choice>
              <mc:Fallback>
                <p:oleObj name="Visio" r:id="rId4" imgW="1764318" imgH="377291" progId="Visio.Drawing.11">
                  <p:embed/>
                  <p:pic>
                    <p:nvPicPr>
                      <p:cNvPr id="112655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2619375"/>
                        <a:ext cx="2160588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56" name="Rectangle 16"/>
          <p:cNvSpPr>
            <a:spLocks noChangeArrowheads="1"/>
          </p:cNvSpPr>
          <p:nvPr/>
        </p:nvSpPr>
        <p:spPr bwMode="auto">
          <a:xfrm>
            <a:off x="1476375" y="195263"/>
            <a:ext cx="3887788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4000" i="0">
                <a:ea typeface="华文行楷" pitchFamily="2" charset="-122"/>
              </a:rPr>
              <a:t>确定有限自动机</a:t>
            </a:r>
          </a:p>
        </p:txBody>
      </p:sp>
      <p:sp>
        <p:nvSpPr>
          <p:cNvPr id="112657" name="Text Box 17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827088" y="1409700"/>
            <a:ext cx="532923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 i="0">
                <a:latin typeface="Arial" pitchFamily="34" charset="0"/>
                <a:ea typeface="楷体_GB2312" pitchFamily="49" charset="-122"/>
              </a:rPr>
              <a:t>  </a:t>
            </a:r>
            <a:r>
              <a:rPr lang="en-US" altLang="zh-CN" sz="3200" b="0">
                <a:latin typeface="Arial" pitchFamily="34" charset="0"/>
                <a:ea typeface="楷体_GB2312" pitchFamily="49" charset="-122"/>
              </a:rPr>
              <a:t>DFA</a:t>
            </a:r>
            <a:r>
              <a:rPr lang="zh-CN" altLang="en-US" sz="3200" i="0">
                <a:latin typeface="Arial" pitchFamily="34" charset="0"/>
                <a:ea typeface="楷体_GB2312" pitchFamily="49" charset="-122"/>
              </a:rPr>
              <a:t>如何接受输入符号串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288C65F-A236-6149-8F95-81EFCE24FEFC}"/>
              </a:ext>
            </a:extLst>
          </p:cNvPr>
          <p:cNvSpPr txBox="1"/>
          <p:nvPr/>
        </p:nvSpPr>
        <p:spPr>
          <a:xfrm>
            <a:off x="8604448" y="6471931"/>
            <a:ext cx="5395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0" i="0" dirty="0">
                <a:solidFill>
                  <a:srgbClr val="000066"/>
                </a:solidFill>
              </a:rPr>
              <a:t>21</a:t>
            </a:r>
            <a:endParaRPr kumimoji="1" lang="zh-CN" altLang="en-US" sz="2000" b="0" i="0" dirty="0">
              <a:solidFill>
                <a:srgbClr val="000066"/>
              </a:solidFill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73" name="Line 9"/>
          <p:cNvSpPr>
            <a:spLocks noChangeShapeType="1"/>
          </p:cNvSpPr>
          <p:nvPr/>
        </p:nvSpPr>
        <p:spPr bwMode="auto">
          <a:xfrm flipV="1">
            <a:off x="8172450" y="3192463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113679" name="Object 15"/>
          <p:cNvGraphicFramePr>
            <a:graphicFrameLocks noChangeAspect="1"/>
          </p:cNvGraphicFramePr>
          <p:nvPr/>
        </p:nvGraphicFramePr>
        <p:xfrm>
          <a:off x="5867400" y="2619375"/>
          <a:ext cx="2160588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1764318" imgH="377291" progId="Visio.Drawing.11">
                  <p:embed/>
                </p:oleObj>
              </mc:Choice>
              <mc:Fallback>
                <p:oleObj name="Visio" r:id="rId2" imgW="1764318" imgH="377291" progId="Visio.Drawing.11">
                  <p:embed/>
                  <p:pic>
                    <p:nvPicPr>
                      <p:cNvPr id="113679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2619375"/>
                        <a:ext cx="2160588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680" name="Text Box 16"/>
          <p:cNvSpPr txBox="1">
            <a:spLocks noChangeArrowheads="1"/>
          </p:cNvSpPr>
          <p:nvPr/>
        </p:nvSpPr>
        <p:spPr bwMode="auto">
          <a:xfrm>
            <a:off x="1739900" y="4979988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q</a:t>
            </a:r>
            <a:r>
              <a:rPr lang="en-US" altLang="zh-CN" sz="2400" baseline="-25000"/>
              <a:t>2</a:t>
            </a:r>
          </a:p>
        </p:txBody>
      </p:sp>
      <p:sp>
        <p:nvSpPr>
          <p:cNvPr id="113681" name="Text Box 17"/>
          <p:cNvSpPr txBox="1">
            <a:spLocks noChangeArrowheads="1"/>
          </p:cNvSpPr>
          <p:nvPr/>
        </p:nvSpPr>
        <p:spPr bwMode="auto">
          <a:xfrm>
            <a:off x="3797300" y="4979988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q</a:t>
            </a:r>
            <a:r>
              <a:rPr lang="en-US" altLang="zh-CN" sz="2400" baseline="-25000"/>
              <a:t>3</a:t>
            </a:r>
          </a:p>
        </p:txBody>
      </p:sp>
      <p:graphicFrame>
        <p:nvGraphicFramePr>
          <p:cNvPr id="113682" name="Object 18"/>
          <p:cNvGraphicFramePr>
            <a:graphicFrameLocks noChangeAspect="1"/>
          </p:cNvGraphicFramePr>
          <p:nvPr/>
        </p:nvGraphicFramePr>
        <p:xfrm>
          <a:off x="673100" y="2590800"/>
          <a:ext cx="4114800" cy="326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3214714" imgH="2545545" progId="Visio.Drawing.11">
                  <p:embed/>
                </p:oleObj>
              </mc:Choice>
              <mc:Fallback>
                <p:oleObj name="Visio" r:id="rId4" imgW="3214714" imgH="2545545" progId="Visio.Drawing.11">
                  <p:embed/>
                  <p:pic>
                    <p:nvPicPr>
                      <p:cNvPr id="113682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100" y="2590800"/>
                        <a:ext cx="4114800" cy="326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683" name="Text Box 19"/>
          <p:cNvSpPr txBox="1">
            <a:spLocks noChangeArrowheads="1"/>
          </p:cNvSpPr>
          <p:nvPr/>
        </p:nvSpPr>
        <p:spPr bwMode="auto">
          <a:xfrm>
            <a:off x="1743075" y="2900363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q</a:t>
            </a:r>
            <a:r>
              <a:rPr lang="en-US" altLang="zh-CN" sz="2400" baseline="-25000"/>
              <a:t>0</a:t>
            </a:r>
          </a:p>
        </p:txBody>
      </p:sp>
      <p:sp>
        <p:nvSpPr>
          <p:cNvPr id="113684" name="Text Box 20"/>
          <p:cNvSpPr txBox="1">
            <a:spLocks noChangeArrowheads="1"/>
          </p:cNvSpPr>
          <p:nvPr/>
        </p:nvSpPr>
        <p:spPr bwMode="auto">
          <a:xfrm>
            <a:off x="3797300" y="2922588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q</a:t>
            </a:r>
            <a:r>
              <a:rPr lang="en-US" altLang="zh-CN" sz="2400" baseline="-25000"/>
              <a:t>1</a:t>
            </a:r>
          </a:p>
        </p:txBody>
      </p:sp>
      <p:sp>
        <p:nvSpPr>
          <p:cNvPr id="113685" name="Text Box 21"/>
          <p:cNvSpPr txBox="1">
            <a:spLocks noChangeArrowheads="1"/>
          </p:cNvSpPr>
          <p:nvPr/>
        </p:nvSpPr>
        <p:spPr bwMode="auto">
          <a:xfrm>
            <a:off x="4159250" y="2565400"/>
            <a:ext cx="4841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altLang="zh-CN" sz="2800" b="0" i="0">
                <a:sym typeface="Wingdings" pitchFamily="2" charset="2"/>
              </a:rPr>
              <a:t></a:t>
            </a:r>
            <a:endParaRPr lang="en-US" altLang="zh-CN" sz="2800" b="0" i="0"/>
          </a:p>
        </p:txBody>
      </p:sp>
      <p:sp>
        <p:nvSpPr>
          <p:cNvPr id="113686" name="Rectangle 22"/>
          <p:cNvSpPr>
            <a:spLocks noChangeArrowheads="1"/>
          </p:cNvSpPr>
          <p:nvPr/>
        </p:nvSpPr>
        <p:spPr bwMode="auto">
          <a:xfrm>
            <a:off x="1476375" y="195263"/>
            <a:ext cx="3887788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4000" i="0">
                <a:ea typeface="华文行楷" pitchFamily="2" charset="-122"/>
              </a:rPr>
              <a:t>确定有限自动机</a:t>
            </a:r>
          </a:p>
        </p:txBody>
      </p:sp>
      <p:sp>
        <p:nvSpPr>
          <p:cNvPr id="113687" name="Text Box 23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827088" y="1409700"/>
            <a:ext cx="532923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 i="0">
                <a:latin typeface="Arial" pitchFamily="34" charset="0"/>
                <a:ea typeface="楷体_GB2312" pitchFamily="49" charset="-122"/>
              </a:rPr>
              <a:t>  </a:t>
            </a:r>
            <a:r>
              <a:rPr lang="en-US" altLang="zh-CN" sz="3200" b="0">
                <a:latin typeface="Arial" pitchFamily="34" charset="0"/>
                <a:ea typeface="楷体_GB2312" pitchFamily="49" charset="-122"/>
              </a:rPr>
              <a:t>DFA</a:t>
            </a:r>
            <a:r>
              <a:rPr lang="zh-CN" altLang="en-US" sz="3200" i="0">
                <a:latin typeface="Arial" pitchFamily="34" charset="0"/>
                <a:ea typeface="楷体_GB2312" pitchFamily="49" charset="-122"/>
              </a:rPr>
              <a:t>如何接受输入符号串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F614AF3-3BF2-8746-B1BD-DA6488551ED7}"/>
              </a:ext>
            </a:extLst>
          </p:cNvPr>
          <p:cNvSpPr txBox="1"/>
          <p:nvPr/>
        </p:nvSpPr>
        <p:spPr>
          <a:xfrm>
            <a:off x="8604448" y="6471931"/>
            <a:ext cx="5395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0" i="0" dirty="0">
                <a:solidFill>
                  <a:srgbClr val="000066"/>
                </a:solidFill>
              </a:rPr>
              <a:t>22</a:t>
            </a:r>
            <a:endParaRPr kumimoji="1" lang="zh-CN" altLang="en-US" sz="2000" b="0" i="0" dirty="0">
              <a:solidFill>
                <a:srgbClr val="000066"/>
              </a:solidFill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86" name="Rectangle 22"/>
          <p:cNvSpPr>
            <a:spLocks noChangeArrowheads="1"/>
          </p:cNvSpPr>
          <p:nvPr/>
        </p:nvSpPr>
        <p:spPr bwMode="auto">
          <a:xfrm>
            <a:off x="1476375" y="195263"/>
            <a:ext cx="3887788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4000" i="0">
                <a:ea typeface="华文行楷" pitchFamily="2" charset="-122"/>
              </a:rPr>
              <a:t>确定有限自动机</a:t>
            </a:r>
          </a:p>
        </p:txBody>
      </p:sp>
      <p:sp>
        <p:nvSpPr>
          <p:cNvPr id="113687" name="Text Box 23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827088" y="1409700"/>
            <a:ext cx="532923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 i="0">
                <a:latin typeface="Arial" pitchFamily="34" charset="0"/>
                <a:ea typeface="楷体_GB2312" pitchFamily="49" charset="-122"/>
              </a:rPr>
              <a:t>  </a:t>
            </a:r>
            <a:r>
              <a:rPr lang="en-US" altLang="zh-CN" sz="3200" b="0">
                <a:latin typeface="Arial" pitchFamily="34" charset="0"/>
                <a:ea typeface="楷体_GB2312" pitchFamily="49" charset="-122"/>
              </a:rPr>
              <a:t>DFA</a:t>
            </a:r>
            <a:r>
              <a:rPr lang="zh-CN" altLang="en-US" sz="3200" i="0">
                <a:latin typeface="Arial" pitchFamily="34" charset="0"/>
                <a:ea typeface="楷体_GB2312" pitchFamily="49" charset="-122"/>
              </a:rPr>
              <a:t>如何接受输入符号串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F614AF3-3BF2-8746-B1BD-DA6488551ED7}"/>
              </a:ext>
            </a:extLst>
          </p:cNvPr>
          <p:cNvSpPr txBox="1"/>
          <p:nvPr/>
        </p:nvSpPr>
        <p:spPr>
          <a:xfrm>
            <a:off x="8604448" y="6471931"/>
            <a:ext cx="5395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0" i="0" dirty="0">
                <a:solidFill>
                  <a:srgbClr val="000066"/>
                </a:solidFill>
              </a:rPr>
              <a:t>2</a:t>
            </a:r>
            <a:r>
              <a:rPr lang="en-US" altLang="zh-CN" b="0" i="0" dirty="0">
                <a:solidFill>
                  <a:srgbClr val="000066"/>
                </a:solidFill>
              </a:rPr>
              <a:t>3</a:t>
            </a:r>
            <a:endParaRPr kumimoji="1" lang="zh-CN" altLang="en-US" sz="2000" b="0" i="0" dirty="0">
              <a:solidFill>
                <a:srgbClr val="000066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D664218-1DE7-C148-9784-9493490DB0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099" y="5067300"/>
            <a:ext cx="4495800" cy="3810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EB2262A-7713-2946-8FFE-CE2C9E3D13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7274" y="2090367"/>
            <a:ext cx="2729449" cy="199903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4A1DAB5-1BBD-1D4B-B1E5-C83F88D940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088" y="4316216"/>
            <a:ext cx="7495752" cy="46726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13F9711-D389-9848-A1B6-72251FEAD8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9699" y="5706716"/>
            <a:ext cx="41402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813893"/>
      </p:ext>
    </p:extLst>
  </p:cSld>
  <p:clrMapOvr>
    <a:masterClrMapping/>
  </p:clrMapOvr>
  <p:transition spd="med"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ext Box 2"/>
          <p:cNvSpPr txBox="1">
            <a:spLocks noChangeArrowheads="1"/>
          </p:cNvSpPr>
          <p:nvPr/>
        </p:nvSpPr>
        <p:spPr bwMode="auto">
          <a:xfrm>
            <a:off x="1403350" y="2276475"/>
            <a:ext cx="6337300" cy="3995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buClr>
                <a:srgbClr val="800080"/>
              </a:buClr>
              <a:buFont typeface="Symbol" pitchFamily="18" charset="2"/>
              <a:buChar char="-"/>
            </a:pPr>
            <a:r>
              <a:rPr lang="en-US" altLang="zh-CN" sz="2800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lang="zh-CN" altLang="en-US" sz="2800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设一个 </a:t>
            </a:r>
            <a:r>
              <a:rPr lang="en-US" altLang="zh-CN" sz="28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DFA  A</a:t>
            </a:r>
            <a:r>
              <a:rPr lang="en-US" altLang="zh-CN" sz="2800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= (</a:t>
            </a:r>
            <a:r>
              <a:rPr lang="en-US" altLang="zh-CN" sz="28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Q,</a:t>
            </a:r>
            <a:r>
              <a:rPr lang="en-US" altLang="zh-CN" sz="2800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lang="en-US" altLang="zh-CN" sz="2800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</a:t>
            </a:r>
            <a:r>
              <a:rPr lang="en-US" altLang="zh-CN" sz="28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, </a:t>
            </a:r>
            <a:r>
              <a:rPr lang="en-US" altLang="zh-CN" sz="28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</a:t>
            </a:r>
            <a:r>
              <a:rPr lang="en-US" altLang="zh-CN" sz="28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, q</a:t>
            </a:r>
            <a:r>
              <a:rPr lang="en-US" altLang="zh-CN" sz="2800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0 </a:t>
            </a:r>
            <a:r>
              <a:rPr lang="en-US" altLang="zh-CN" sz="28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, F </a:t>
            </a:r>
            <a:r>
              <a:rPr lang="en-US" altLang="zh-CN" sz="2800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)</a:t>
            </a:r>
            <a:endParaRPr lang="en-US" altLang="zh-CN" sz="2800" i="0" baseline="-25000" dirty="0">
              <a:solidFill>
                <a:srgbClr val="333399"/>
              </a:solidFill>
              <a:latin typeface="Arial" pitchFamily="34" charset="0"/>
              <a:ea typeface="楷体_GB2312" pitchFamily="49" charset="-122"/>
            </a:endParaRPr>
          </a:p>
          <a:p>
            <a:pPr algn="l">
              <a:buClr>
                <a:srgbClr val="800080"/>
              </a:buClr>
              <a:buFont typeface="Wingdings" pitchFamily="2" charset="2"/>
              <a:buChar char=" "/>
            </a:pPr>
            <a:r>
              <a:rPr lang="en-US" altLang="zh-CN" sz="1000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</a:p>
          <a:p>
            <a:pPr algn="l"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4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     </a:t>
            </a:r>
            <a:r>
              <a:rPr lang="en-US" altLang="zh-CN" sz="28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 :  Q </a:t>
            </a:r>
            <a:r>
              <a:rPr lang="en-US" altLang="zh-CN" sz="2800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 </a:t>
            </a:r>
            <a:r>
              <a:rPr lang="en-US" altLang="zh-CN" sz="28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 </a:t>
            </a:r>
            <a:r>
              <a:rPr lang="en-US" altLang="zh-CN" sz="2800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 </a:t>
            </a:r>
            <a:r>
              <a:rPr lang="en-US" altLang="zh-CN" sz="28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Q</a:t>
            </a:r>
            <a:endParaRPr lang="en-US" altLang="zh-CN" sz="2800" i="0" dirty="0">
              <a:solidFill>
                <a:srgbClr val="333399"/>
              </a:solidFill>
              <a:latin typeface="Arial" pitchFamily="34" charset="0"/>
              <a:ea typeface="楷体_GB2312" pitchFamily="49" charset="-122"/>
            </a:endParaRPr>
          </a:p>
          <a:p>
            <a:pPr algn="l">
              <a:buClr>
                <a:srgbClr val="800080"/>
              </a:buClr>
              <a:buFont typeface="Wingdings" pitchFamily="2" charset="2"/>
              <a:buChar char=" "/>
            </a:pPr>
            <a:r>
              <a:rPr lang="en-US" altLang="zh-CN" sz="1000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</a:p>
          <a:p>
            <a:pPr algn="l">
              <a:buClr>
                <a:srgbClr val="800080"/>
              </a:buClr>
              <a:buFont typeface="Symbol" pitchFamily="18" charset="2"/>
              <a:buChar char="-"/>
            </a:pPr>
            <a:r>
              <a:rPr lang="en-US" altLang="zh-CN" sz="2800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lang="zh-CN" altLang="en-US" sz="2800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扩充定义  </a:t>
            </a:r>
            <a:r>
              <a:rPr lang="zh-CN" altLang="en-US" sz="2800" dirty="0">
                <a:latin typeface="Arial" pitchFamily="34" charset="0"/>
                <a:ea typeface="楷体_GB2312" pitchFamily="49" charset="-122"/>
                <a:sym typeface="Symbol" pitchFamily="18" charset="2"/>
              </a:rPr>
              <a:t></a:t>
            </a:r>
            <a:r>
              <a:rPr lang="en-US" altLang="zh-CN" sz="2800" dirty="0">
                <a:latin typeface="Arial" pitchFamily="34" charset="0"/>
                <a:ea typeface="楷体_GB2312" pitchFamily="49" charset="-122"/>
                <a:sym typeface="Symbol" pitchFamily="18" charset="2"/>
              </a:rPr>
              <a:t>:  Q </a:t>
            </a:r>
            <a:r>
              <a:rPr lang="en-US" altLang="zh-CN" sz="2800" i="0" dirty="0">
                <a:latin typeface="Arial" pitchFamily="34" charset="0"/>
                <a:ea typeface="楷体_GB2312" pitchFamily="49" charset="-122"/>
                <a:sym typeface="Symbol" pitchFamily="18" charset="2"/>
              </a:rPr>
              <a:t> *</a:t>
            </a:r>
            <a:r>
              <a:rPr lang="en-US" altLang="zh-CN" sz="2800" dirty="0">
                <a:latin typeface="Arial" pitchFamily="34" charset="0"/>
                <a:ea typeface="楷体_GB2312" pitchFamily="49" charset="-122"/>
                <a:sym typeface="Symbol" pitchFamily="18" charset="2"/>
              </a:rPr>
              <a:t> </a:t>
            </a:r>
            <a:r>
              <a:rPr lang="en-US" altLang="zh-CN" sz="2800" i="0" dirty="0">
                <a:latin typeface="Arial" pitchFamily="34" charset="0"/>
                <a:ea typeface="楷体_GB2312" pitchFamily="49" charset="-122"/>
                <a:sym typeface="Symbol" pitchFamily="18" charset="2"/>
              </a:rPr>
              <a:t> </a:t>
            </a:r>
            <a:r>
              <a:rPr lang="en-US" altLang="zh-CN" sz="2800" dirty="0">
                <a:latin typeface="Arial" pitchFamily="34" charset="0"/>
                <a:ea typeface="楷体_GB2312" pitchFamily="49" charset="-122"/>
                <a:sym typeface="Symbol" pitchFamily="18" charset="2"/>
              </a:rPr>
              <a:t>Q</a:t>
            </a:r>
            <a:r>
              <a:rPr lang="en-US" altLang="zh-CN" sz="2800" baseline="30000" dirty="0">
                <a:latin typeface="Arial" pitchFamily="34" charset="0"/>
                <a:ea typeface="楷体_GB2312" pitchFamily="49" charset="-122"/>
                <a:sym typeface="Symbol" pitchFamily="18" charset="2"/>
              </a:rPr>
              <a:t> </a:t>
            </a:r>
            <a:endParaRPr lang="en-US" altLang="zh-CN" sz="2800" i="0" dirty="0">
              <a:latin typeface="Arial" pitchFamily="34" charset="0"/>
              <a:ea typeface="楷体_GB2312" pitchFamily="49" charset="-122"/>
            </a:endParaRPr>
          </a:p>
          <a:p>
            <a:pPr algn="l">
              <a:buClr>
                <a:srgbClr val="800080"/>
              </a:buClr>
              <a:buFont typeface="Wingdings" pitchFamily="2" charset="2"/>
              <a:buChar char=" "/>
            </a:pPr>
            <a:r>
              <a:rPr lang="en-US" altLang="zh-CN" sz="1000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</a:p>
          <a:p>
            <a:pPr algn="l"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400" i="0" dirty="0">
                <a:latin typeface="Arial" pitchFamily="34" charset="0"/>
                <a:ea typeface="楷体_GB2312" pitchFamily="49" charset="-122"/>
              </a:rPr>
              <a:t>     </a:t>
            </a:r>
            <a:r>
              <a:rPr lang="zh-CN" altLang="en-US" sz="2800" i="0" dirty="0">
                <a:latin typeface="Arial" pitchFamily="34" charset="0"/>
                <a:ea typeface="楷体_GB2312" pitchFamily="49" charset="-122"/>
              </a:rPr>
              <a:t>对任何</a:t>
            </a:r>
            <a:r>
              <a:rPr lang="en-US" altLang="zh-CN" sz="2800" dirty="0">
                <a:latin typeface="Arial" pitchFamily="34" charset="0"/>
                <a:ea typeface="楷体_GB2312" pitchFamily="49" charset="-122"/>
              </a:rPr>
              <a:t>q</a:t>
            </a:r>
            <a:r>
              <a:rPr lang="en-US" altLang="zh-CN" sz="2800" i="0" dirty="0">
                <a:latin typeface="Arial" pitchFamily="34" charset="0"/>
                <a:ea typeface="楷体_GB2312" pitchFamily="49" charset="-122"/>
                <a:sym typeface="Symbol" pitchFamily="18" charset="2"/>
              </a:rPr>
              <a:t>  </a:t>
            </a:r>
            <a:r>
              <a:rPr lang="en-US" altLang="zh-CN" sz="2800" dirty="0">
                <a:latin typeface="Arial" pitchFamily="34" charset="0"/>
                <a:ea typeface="楷体_GB2312" pitchFamily="49" charset="-122"/>
                <a:sym typeface="Symbol" pitchFamily="18" charset="2"/>
              </a:rPr>
              <a:t>Q</a:t>
            </a:r>
            <a:r>
              <a:rPr lang="zh-CN" altLang="en-US" sz="2800" dirty="0">
                <a:latin typeface="Arial" pitchFamily="34" charset="0"/>
                <a:ea typeface="楷体_GB2312" pitchFamily="49" charset="-122"/>
                <a:sym typeface="Symbol" pitchFamily="18" charset="2"/>
              </a:rPr>
              <a:t>，</a:t>
            </a:r>
            <a:r>
              <a:rPr lang="zh-CN" altLang="en-US" sz="2800" i="0" dirty="0">
                <a:latin typeface="Arial" pitchFamily="34" charset="0"/>
                <a:ea typeface="楷体_GB2312" pitchFamily="49" charset="-122"/>
                <a:sym typeface="Symbol" pitchFamily="18" charset="2"/>
              </a:rPr>
              <a:t>定义：</a:t>
            </a:r>
            <a:endParaRPr lang="zh-CN" altLang="en-US" sz="2800" i="0" dirty="0">
              <a:latin typeface="Arial" pitchFamily="34" charset="0"/>
              <a:ea typeface="楷体_GB2312" pitchFamily="49" charset="-122"/>
            </a:endParaRPr>
          </a:p>
          <a:p>
            <a:pPr algn="l">
              <a:buClr>
                <a:srgbClr val="800080"/>
              </a:buClr>
              <a:buFont typeface="Wingdings" pitchFamily="2" charset="2"/>
              <a:buChar char=" "/>
            </a:pPr>
            <a:r>
              <a:rPr lang="zh-CN" altLang="en-US" sz="1000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</a:p>
          <a:p>
            <a:pPr algn="l">
              <a:buClr>
                <a:srgbClr val="800080"/>
              </a:buClr>
              <a:buFont typeface="Wingdings" pitchFamily="2" charset="2"/>
              <a:buNone/>
            </a:pPr>
            <a:r>
              <a:rPr lang="zh-CN" altLang="en-US" sz="2400" i="0" dirty="0">
                <a:latin typeface="Arial" pitchFamily="34" charset="0"/>
                <a:ea typeface="楷体_GB2312" pitchFamily="49" charset="-122"/>
              </a:rPr>
              <a:t>     </a:t>
            </a:r>
            <a:r>
              <a:rPr lang="en-US" altLang="zh-CN" sz="28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1 </a:t>
            </a:r>
            <a:r>
              <a:rPr lang="en-US" altLang="zh-CN" sz="2800" dirty="0">
                <a:latin typeface="Arial" pitchFamily="34" charset="0"/>
                <a:ea typeface="楷体_GB2312" pitchFamily="49" charset="-122"/>
                <a:sym typeface="Symbol" pitchFamily="18" charset="2"/>
              </a:rPr>
              <a:t> (</a:t>
            </a:r>
            <a:r>
              <a:rPr lang="en-US" altLang="zh-CN" sz="2800" dirty="0">
                <a:latin typeface="Arial" pitchFamily="34" charset="0"/>
                <a:ea typeface="楷体_GB2312" pitchFamily="49" charset="-122"/>
              </a:rPr>
              <a:t>q</a:t>
            </a:r>
            <a:r>
              <a:rPr lang="en-US" altLang="zh-CN" sz="2800" baseline="-25000" dirty="0">
                <a:latin typeface="Arial" pitchFamily="34" charset="0"/>
                <a:ea typeface="楷体_GB2312" pitchFamily="49" charset="-122"/>
              </a:rPr>
              <a:t> </a:t>
            </a:r>
            <a:r>
              <a:rPr lang="en-US" altLang="zh-CN" sz="2800" dirty="0">
                <a:latin typeface="Arial" pitchFamily="34" charset="0"/>
                <a:ea typeface="楷体_GB2312" pitchFamily="49" charset="-122"/>
                <a:sym typeface="Symbol" pitchFamily="18" charset="2"/>
              </a:rPr>
              <a:t>, ) = </a:t>
            </a:r>
            <a:r>
              <a:rPr lang="en-US" altLang="zh-CN" sz="2800" dirty="0">
                <a:latin typeface="Arial" pitchFamily="34" charset="0"/>
                <a:ea typeface="楷体_GB2312" pitchFamily="49" charset="-122"/>
              </a:rPr>
              <a:t>q</a:t>
            </a:r>
          </a:p>
          <a:p>
            <a:pPr algn="l">
              <a:buClr>
                <a:srgbClr val="800080"/>
              </a:buClr>
              <a:buFont typeface="Wingdings" pitchFamily="2" charset="2"/>
              <a:buChar char=" "/>
            </a:pPr>
            <a:r>
              <a:rPr lang="en-US" altLang="zh-CN" sz="1000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</a:p>
          <a:p>
            <a:pPr algn="l"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400" i="0" dirty="0">
                <a:latin typeface="Arial" pitchFamily="34" charset="0"/>
                <a:ea typeface="楷体_GB2312" pitchFamily="49" charset="-122"/>
              </a:rPr>
              <a:t>     </a:t>
            </a:r>
            <a:r>
              <a:rPr lang="en-US" altLang="zh-CN" sz="28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2 </a:t>
            </a:r>
            <a:r>
              <a:rPr lang="zh-CN" altLang="en-US" sz="2800" i="0" dirty="0">
                <a:latin typeface="Arial" pitchFamily="34" charset="0"/>
                <a:ea typeface="楷体_GB2312" pitchFamily="49" charset="-122"/>
              </a:rPr>
              <a:t>若</a:t>
            </a:r>
            <a:r>
              <a:rPr lang="en-US" altLang="zh-CN" sz="2800" dirty="0">
                <a:latin typeface="Arial" pitchFamily="34" charset="0"/>
                <a:ea typeface="楷体_GB2312" pitchFamily="49" charset="-122"/>
              </a:rPr>
              <a:t>w = </a:t>
            </a:r>
            <a:r>
              <a:rPr lang="en-US" altLang="zh-CN" sz="2800" dirty="0" err="1">
                <a:latin typeface="Arial" pitchFamily="34" charset="0"/>
                <a:ea typeface="楷体_GB2312" pitchFamily="49" charset="-122"/>
              </a:rPr>
              <a:t>xa</a:t>
            </a:r>
            <a:r>
              <a:rPr lang="en-US" altLang="zh-CN" sz="2800" dirty="0">
                <a:latin typeface="Arial" pitchFamily="34" charset="0"/>
                <a:ea typeface="楷体_GB2312" pitchFamily="49" charset="-122"/>
              </a:rPr>
              <a:t>, </a:t>
            </a:r>
            <a:r>
              <a:rPr lang="zh-CN" altLang="en-US" sz="2800" i="0" dirty="0">
                <a:latin typeface="Arial" pitchFamily="34" charset="0"/>
                <a:ea typeface="楷体_GB2312" pitchFamily="49" charset="-122"/>
              </a:rPr>
              <a:t>其中 </a:t>
            </a:r>
            <a:r>
              <a:rPr lang="en-US" altLang="zh-CN" sz="2800" dirty="0">
                <a:latin typeface="Arial" pitchFamily="34" charset="0"/>
                <a:ea typeface="楷体_GB2312" pitchFamily="49" charset="-122"/>
              </a:rPr>
              <a:t>x </a:t>
            </a:r>
            <a:r>
              <a:rPr lang="en-US" altLang="zh-CN" sz="2800" i="0" dirty="0">
                <a:latin typeface="Arial" pitchFamily="34" charset="0"/>
                <a:ea typeface="楷体_GB2312" pitchFamily="49" charset="-122"/>
                <a:sym typeface="Symbol" pitchFamily="18" charset="2"/>
              </a:rPr>
              <a:t></a:t>
            </a:r>
            <a:r>
              <a:rPr lang="en-US" altLang="zh-CN" sz="2800" i="0" dirty="0">
                <a:latin typeface="Arial" pitchFamily="34" charset="0"/>
                <a:ea typeface="楷体_GB2312" pitchFamily="49" charset="-122"/>
              </a:rPr>
              <a:t> </a:t>
            </a:r>
            <a:r>
              <a:rPr lang="en-US" altLang="zh-CN" sz="2800" i="0" dirty="0">
                <a:latin typeface="Arial" pitchFamily="34" charset="0"/>
                <a:ea typeface="楷体_GB2312" pitchFamily="49" charset="-122"/>
                <a:sym typeface="Symbol" pitchFamily="18" charset="2"/>
              </a:rPr>
              <a:t>*</a:t>
            </a:r>
            <a:r>
              <a:rPr lang="en-US" altLang="zh-CN" sz="2800" dirty="0">
                <a:latin typeface="Arial" pitchFamily="34" charset="0"/>
                <a:ea typeface="楷体_GB2312" pitchFamily="49" charset="-122"/>
              </a:rPr>
              <a:t>, a </a:t>
            </a:r>
            <a:r>
              <a:rPr lang="en-US" altLang="zh-CN" sz="2800" i="0" dirty="0">
                <a:latin typeface="Arial" pitchFamily="34" charset="0"/>
                <a:ea typeface="楷体_GB2312" pitchFamily="49" charset="-122"/>
                <a:sym typeface="Symbol" pitchFamily="18" charset="2"/>
              </a:rPr>
              <a:t></a:t>
            </a:r>
            <a:r>
              <a:rPr lang="en-US" altLang="zh-CN" sz="2800" i="0" dirty="0">
                <a:latin typeface="Arial" pitchFamily="34" charset="0"/>
                <a:ea typeface="楷体_GB2312" pitchFamily="49" charset="-122"/>
              </a:rPr>
              <a:t> </a:t>
            </a:r>
            <a:r>
              <a:rPr lang="en-US" altLang="zh-CN" sz="2800" i="0" dirty="0">
                <a:latin typeface="Arial" pitchFamily="34" charset="0"/>
                <a:ea typeface="楷体_GB2312" pitchFamily="49" charset="-122"/>
                <a:sym typeface="Symbol" pitchFamily="18" charset="2"/>
              </a:rPr>
              <a:t></a:t>
            </a:r>
            <a:r>
              <a:rPr lang="en-US" altLang="zh-CN" sz="2800" dirty="0">
                <a:latin typeface="Arial" pitchFamily="34" charset="0"/>
                <a:ea typeface="楷体_GB2312" pitchFamily="49" charset="-122"/>
              </a:rPr>
              <a:t>, </a:t>
            </a:r>
            <a:r>
              <a:rPr lang="zh-CN" altLang="en-US" sz="2800" i="0" dirty="0">
                <a:latin typeface="Arial" pitchFamily="34" charset="0"/>
                <a:ea typeface="楷体_GB2312" pitchFamily="49" charset="-122"/>
              </a:rPr>
              <a:t>则</a:t>
            </a:r>
          </a:p>
          <a:p>
            <a:pPr algn="l">
              <a:buClr>
                <a:srgbClr val="800080"/>
              </a:buClr>
              <a:buFont typeface="Wingdings" pitchFamily="2" charset="2"/>
              <a:buChar char=" "/>
            </a:pPr>
            <a:r>
              <a:rPr lang="zh-CN" altLang="en-US" sz="1000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</a:p>
          <a:p>
            <a:pPr algn="l">
              <a:buClr>
                <a:srgbClr val="800080"/>
              </a:buClr>
              <a:buFont typeface="Wingdings" pitchFamily="2" charset="2"/>
              <a:buNone/>
            </a:pPr>
            <a:r>
              <a:rPr lang="zh-CN" altLang="en-US" sz="2400" i="0" dirty="0">
                <a:latin typeface="Arial" pitchFamily="34" charset="0"/>
                <a:ea typeface="楷体_GB2312" pitchFamily="49" charset="-122"/>
              </a:rPr>
              <a:t>             </a:t>
            </a:r>
            <a:r>
              <a:rPr lang="zh-CN" altLang="en-US" sz="2800" dirty="0">
                <a:latin typeface="Arial" pitchFamily="34" charset="0"/>
                <a:ea typeface="楷体_GB2312" pitchFamily="49" charset="-122"/>
                <a:sym typeface="Symbol" pitchFamily="18" charset="2"/>
              </a:rPr>
              <a:t> </a:t>
            </a:r>
            <a:r>
              <a:rPr lang="en-US" altLang="zh-CN" sz="2800" dirty="0">
                <a:latin typeface="Arial" pitchFamily="34" charset="0"/>
                <a:ea typeface="楷体_GB2312" pitchFamily="49" charset="-122"/>
                <a:sym typeface="Symbol" pitchFamily="18" charset="2"/>
              </a:rPr>
              <a:t>( </a:t>
            </a:r>
            <a:r>
              <a:rPr lang="en-US" altLang="zh-CN" sz="2800" dirty="0">
                <a:latin typeface="Arial" pitchFamily="34" charset="0"/>
                <a:ea typeface="楷体_GB2312" pitchFamily="49" charset="-122"/>
              </a:rPr>
              <a:t>q</a:t>
            </a:r>
            <a:r>
              <a:rPr lang="en-US" altLang="zh-CN" sz="2800" baseline="-25000" dirty="0">
                <a:latin typeface="Arial" pitchFamily="34" charset="0"/>
                <a:ea typeface="楷体_GB2312" pitchFamily="49" charset="-122"/>
              </a:rPr>
              <a:t> </a:t>
            </a:r>
            <a:r>
              <a:rPr lang="en-US" altLang="zh-CN" sz="2800" dirty="0">
                <a:latin typeface="Arial" pitchFamily="34" charset="0"/>
                <a:ea typeface="楷体_GB2312" pitchFamily="49" charset="-122"/>
                <a:sym typeface="Symbol" pitchFamily="18" charset="2"/>
              </a:rPr>
              <a:t>, w) = (  ( </a:t>
            </a:r>
            <a:r>
              <a:rPr lang="en-US" altLang="zh-CN" sz="2800" dirty="0">
                <a:latin typeface="Arial" pitchFamily="34" charset="0"/>
                <a:ea typeface="楷体_GB2312" pitchFamily="49" charset="-122"/>
              </a:rPr>
              <a:t>q</a:t>
            </a:r>
            <a:r>
              <a:rPr lang="en-US" altLang="zh-CN" sz="2800" baseline="-25000" dirty="0">
                <a:latin typeface="Arial" pitchFamily="34" charset="0"/>
                <a:ea typeface="楷体_GB2312" pitchFamily="49" charset="-122"/>
              </a:rPr>
              <a:t> </a:t>
            </a:r>
            <a:r>
              <a:rPr lang="en-US" altLang="zh-CN" sz="2800" dirty="0">
                <a:latin typeface="Arial" pitchFamily="34" charset="0"/>
                <a:ea typeface="楷体_GB2312" pitchFamily="49" charset="-122"/>
                <a:sym typeface="Symbol" pitchFamily="18" charset="2"/>
              </a:rPr>
              <a:t>, x)</a:t>
            </a:r>
            <a:r>
              <a:rPr lang="en-US" altLang="zh-CN" sz="2800" baseline="-25000" dirty="0">
                <a:latin typeface="Arial" pitchFamily="34" charset="0"/>
                <a:ea typeface="楷体_GB2312" pitchFamily="49" charset="-122"/>
              </a:rPr>
              <a:t> </a:t>
            </a:r>
            <a:r>
              <a:rPr lang="en-US" altLang="zh-CN" sz="2800" dirty="0">
                <a:latin typeface="Arial" pitchFamily="34" charset="0"/>
                <a:ea typeface="楷体_GB2312" pitchFamily="49" charset="-122"/>
                <a:sym typeface="Symbol" pitchFamily="18" charset="2"/>
              </a:rPr>
              <a:t>, a) </a:t>
            </a:r>
          </a:p>
        </p:txBody>
      </p:sp>
      <p:sp>
        <p:nvSpPr>
          <p:cNvPr id="58390" name="Rectangle 22"/>
          <p:cNvSpPr>
            <a:spLocks noChangeArrowheads="1"/>
          </p:cNvSpPr>
          <p:nvPr/>
        </p:nvSpPr>
        <p:spPr bwMode="auto">
          <a:xfrm>
            <a:off x="1476375" y="195263"/>
            <a:ext cx="3887788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4000" i="0">
                <a:ea typeface="华文行楷" pitchFamily="2" charset="-122"/>
              </a:rPr>
              <a:t>确定有限自动机</a:t>
            </a:r>
          </a:p>
        </p:txBody>
      </p:sp>
      <p:sp>
        <p:nvSpPr>
          <p:cNvPr id="58391" name="Text Box 23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827088" y="1409700"/>
            <a:ext cx="6985272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 i="0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200" i="0" dirty="0">
                <a:latin typeface="楷体_GB2312" pitchFamily="49" charset="-122"/>
                <a:ea typeface="楷体_GB2312" pitchFamily="49" charset="-122"/>
              </a:rPr>
              <a:t>扩展</a:t>
            </a:r>
            <a:r>
              <a:rPr lang="zh-CN" altLang="en-US" sz="3200" i="0" dirty="0">
                <a:latin typeface="楷体_GB2312" pitchFamily="49" charset="-122"/>
                <a:ea typeface="楷体_GB2312"/>
              </a:rPr>
              <a:t>转移函数</a:t>
            </a:r>
            <a:r>
              <a:rPr lang="zh-CN" altLang="en-US" sz="3200" i="0" dirty="0">
                <a:latin typeface="楷体_GB2312" pitchFamily="49" charset="-122"/>
                <a:ea typeface="楷体_GB2312" pitchFamily="49" charset="-122"/>
              </a:rPr>
              <a:t>适合于输入字符串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FF457A3-8D24-9548-B169-1CFCBE5D94F2}"/>
              </a:ext>
            </a:extLst>
          </p:cNvPr>
          <p:cNvSpPr txBox="1"/>
          <p:nvPr/>
        </p:nvSpPr>
        <p:spPr>
          <a:xfrm>
            <a:off x="8604448" y="6471931"/>
            <a:ext cx="5395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0" i="0" dirty="0">
                <a:solidFill>
                  <a:srgbClr val="000066"/>
                </a:solidFill>
              </a:rPr>
              <a:t>24</a:t>
            </a:r>
            <a:endParaRPr kumimoji="1" lang="zh-CN" altLang="en-US" sz="2000" b="0" i="0" dirty="0">
              <a:solidFill>
                <a:srgbClr val="000066"/>
              </a:solidFill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8370" name="Text Box 2"/>
              <p:cNvSpPr txBox="1">
                <a:spLocks noChangeArrowheads="1"/>
              </p:cNvSpPr>
              <p:nvPr/>
            </p:nvSpPr>
            <p:spPr bwMode="auto">
              <a:xfrm>
                <a:off x="827088" y="4082014"/>
                <a:ext cx="8892480" cy="196977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l">
                  <a:buClr>
                    <a:srgbClr val="800080"/>
                  </a:buClr>
                  <a:buFont typeface="Wingdings" pitchFamily="2" charset="2"/>
                  <a:buChar char=" "/>
                </a:pPr>
                <a:r>
                  <a:rPr lang="en-US" altLang="zh-CN" sz="1000" i="0" dirty="0">
                    <a:solidFill>
                      <a:srgbClr val="333399"/>
                    </a:solidFill>
                    <a:latin typeface="+mn-lt"/>
                    <a:ea typeface="KaiTi_GB2312" panose="02010609030101010101" pitchFamily="49" charset="-122"/>
                  </a:rPr>
                  <a:t> </a:t>
                </a:r>
              </a:p>
              <a:p>
                <a:pPr algn="l">
                  <a:buClr>
                    <a:srgbClr val="800080"/>
                  </a:buClr>
                  <a:buFont typeface="Wingdings" pitchFamily="2" charset="2"/>
                  <a:buChar char=" "/>
                </a:pPr>
                <a:r>
                  <a:rPr lang="zh-CN" altLang="en-US" sz="2800" dirty="0">
                    <a:solidFill>
                      <a:srgbClr val="011893"/>
                    </a:solidFill>
                    <a:latin typeface="+mn-lt"/>
                    <a:ea typeface="KaiTi_GB2312" panose="02010609030101010101" pitchFamily="49" charset="-122"/>
                    <a:sym typeface="Symbol" pitchFamily="18" charset="2"/>
                  </a:rPr>
                  <a:t>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AU" altLang="zh-CN" sz="2800" i="1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sz="2800" b="1" i="1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  <m:r>
                          <a:rPr lang="en-AU" altLang="zh-CN" sz="2800" b="1" i="1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sz="2800" b="1" i="1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d>
                    <m:r>
                      <a:rPr lang="en-AU" altLang="zh-CN" sz="2800" b="1" i="1">
                        <a:solidFill>
                          <a:srgbClr val="01189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800" b="1" i="1">
                        <a:solidFill>
                          <a:srgbClr val="011893"/>
                        </a:solidFill>
                        <a:latin typeface="Cambria Math" panose="02040503050406030204" pitchFamily="18" charset="0"/>
                      </a:rPr>
                      <m:t>𝜹</m:t>
                    </m:r>
                    <m:r>
                      <a:rPr lang="en-AU" altLang="zh-CN" sz="2800" b="1" i="1">
                        <a:solidFill>
                          <a:srgbClr val="011893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zh-CN" altLang="en-US" sz="2800" dirty="0">
                        <a:solidFill>
                          <a:srgbClr val="011893"/>
                        </a:solidFill>
                        <a:latin typeface="+mn-lt"/>
                        <a:ea typeface="KaiTi_GB2312" panose="02010609030101010101" pitchFamily="49" charset="-122"/>
                        <a:sym typeface="Symbol" pitchFamily="18" charset="2"/>
                      </a:rPr>
                      <m:t></m:t>
                    </m:r>
                    <m:r>
                      <a:rPr lang="zh-CN" altLang="en-US" sz="2800" b="1" i="1" dirty="0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楷体_GB2312" pitchFamily="49" charset="-122"/>
                        <a:sym typeface="Symbol" pitchFamily="18" charset="2"/>
                      </a:rPr>
                      <m:t> </m:t>
                    </m:r>
                    <m:d>
                      <m:dPr>
                        <m:ctrlPr>
                          <a:rPr lang="en-AU" altLang="zh-CN" sz="2800" i="1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sz="2800" b="1" i="1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  <m:r>
                          <a:rPr lang="en-AU" altLang="zh-CN" sz="2800" b="1" i="1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AU" altLang="zh-CN" sz="2800" i="1">
                                <a:solidFill>
                                  <a:srgbClr val="01189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sz="2800" b="1" i="1">
                                <a:solidFill>
                                  <a:srgbClr val="011893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AU" altLang="zh-CN" sz="2800" b="1" i="1">
                                <a:solidFill>
                                  <a:srgbClr val="011893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sSub>
                          <m:sSubPr>
                            <m:ctrlPr>
                              <a:rPr lang="en-AU" altLang="zh-CN" sz="2800" i="1">
                                <a:solidFill>
                                  <a:srgbClr val="01189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sz="2800" b="1" i="1">
                                <a:solidFill>
                                  <a:srgbClr val="011893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AU" altLang="zh-CN" sz="2800" b="1" i="1">
                                <a:solidFill>
                                  <a:srgbClr val="011893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lang="en-AU" altLang="zh-CN" sz="2800" i="1">
                                <a:solidFill>
                                  <a:srgbClr val="01189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sz="2800" b="1" i="1">
                                <a:solidFill>
                                  <a:srgbClr val="01189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⋯</m:t>
                            </m:r>
                            <m:r>
                              <a:rPr lang="en-AU" altLang="zh-CN" sz="2800" b="1" i="1">
                                <a:solidFill>
                                  <a:srgbClr val="011893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AU" altLang="zh-CN" sz="2800" b="1" i="1">
                                <a:solidFill>
                                  <a:srgbClr val="011893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AU" altLang="zh-CN" sz="2800" b="1" i="1">
                                <a:solidFill>
                                  <a:srgbClr val="011893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AU" altLang="zh-CN" sz="2800" b="1" i="1">
                                <a:solidFill>
                                  <a:srgbClr val="011893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AU" altLang="zh-CN" sz="2800" b="1" i="1">
                        <a:solidFill>
                          <a:srgbClr val="011893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altLang="zh-CN" sz="2800" i="1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800" b="1" i="1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AU" altLang="zh-CN" sz="2800" b="1" i="1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AU" altLang="zh-CN" sz="2800" b="1" i="1">
                        <a:solidFill>
                          <a:srgbClr val="011893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altLang="zh-CN" sz="2800" dirty="0">
                  <a:solidFill>
                    <a:srgbClr val="011893"/>
                  </a:solidFill>
                  <a:latin typeface="+mn-lt"/>
                  <a:ea typeface="KaiTi_GB2312" panose="02010609030101010101" pitchFamily="49" charset="-122"/>
                </a:endParaRPr>
              </a:p>
              <a:p>
                <a:pPr marL="0" indent="0" algn="l">
                  <a:buNone/>
                </a:pPr>
                <a:r>
                  <a:rPr lang="en-AU" altLang="zh-CN" sz="2800" dirty="0">
                    <a:solidFill>
                      <a:srgbClr val="011893"/>
                    </a:solidFill>
                    <a:latin typeface="+mn-lt"/>
                    <a:ea typeface="KaiTi_GB2312" panose="02010609030101010101" pitchFamily="49" charset="-122"/>
                  </a:rPr>
                  <a:t>       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solidFill>
                          <a:srgbClr val="011893"/>
                        </a:solidFill>
                        <a:latin typeface="Cambria Math" panose="02040503050406030204" pitchFamily="18" charset="0"/>
                      </a:rPr>
                      <m:t>        </m:t>
                    </m:r>
                    <m:r>
                      <a:rPr lang="zh-CN" altLang="en-US" sz="2800" b="1" i="1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AU" altLang="zh-CN" sz="2800" b="1" i="1">
                        <a:solidFill>
                          <a:srgbClr val="01189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800" b="1" i="1">
                        <a:solidFill>
                          <a:srgbClr val="011893"/>
                        </a:solidFill>
                        <a:latin typeface="Cambria Math" panose="02040503050406030204" pitchFamily="18" charset="0"/>
                      </a:rPr>
                      <m:t>𝜹</m:t>
                    </m:r>
                    <m:r>
                      <a:rPr lang="en-AU" altLang="zh-CN" sz="2800" b="1" i="1">
                        <a:solidFill>
                          <a:srgbClr val="011893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800" b="1" i="1">
                        <a:solidFill>
                          <a:srgbClr val="011893"/>
                        </a:solidFill>
                        <a:latin typeface="Cambria Math" panose="02040503050406030204" pitchFamily="18" charset="0"/>
                      </a:rPr>
                      <m:t>𝜹</m:t>
                    </m:r>
                    <m:r>
                      <a:rPr lang="en-AU" altLang="zh-CN" sz="2800" b="1" i="1">
                        <a:solidFill>
                          <a:srgbClr val="011893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zh-CN" altLang="en-US" sz="2800" dirty="0">
                        <a:solidFill>
                          <a:srgbClr val="011893"/>
                        </a:solidFill>
                        <a:latin typeface="+mn-lt"/>
                        <a:ea typeface="KaiTi_GB2312" panose="02010609030101010101" pitchFamily="49" charset="-122"/>
                        <a:sym typeface="Symbol" pitchFamily="18" charset="2"/>
                      </a:rPr>
                      <m:t></m:t>
                    </m:r>
                    <m:r>
                      <a:rPr lang="zh-CN" altLang="en-US" sz="2800" b="1" i="1" dirty="0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楷体_GB2312" pitchFamily="49" charset="-122"/>
                        <a:sym typeface="Symbol" pitchFamily="18" charset="2"/>
                      </a:rPr>
                      <m:t> </m:t>
                    </m:r>
                    <m:d>
                      <m:dPr>
                        <m:ctrlPr>
                          <a:rPr lang="en-AU" altLang="zh-CN" sz="2800" i="1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sz="2800" b="1" i="1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  <m:r>
                          <a:rPr lang="en-AU" altLang="zh-CN" sz="2800" b="1" i="1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AU" altLang="zh-CN" sz="2800" i="1">
                                <a:solidFill>
                                  <a:srgbClr val="01189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sz="2800" b="1" i="1">
                                <a:solidFill>
                                  <a:srgbClr val="011893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AU" altLang="zh-CN" sz="2800" b="1" i="1">
                                <a:solidFill>
                                  <a:srgbClr val="011893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sSub>
                          <m:sSubPr>
                            <m:ctrlPr>
                              <a:rPr lang="en-AU" altLang="zh-CN" sz="2800" i="1">
                                <a:solidFill>
                                  <a:srgbClr val="01189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sz="2800" b="1" i="1">
                                <a:solidFill>
                                  <a:srgbClr val="011893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AU" altLang="zh-CN" sz="2800" b="1" i="1">
                                <a:solidFill>
                                  <a:srgbClr val="011893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lang="en-AU" altLang="zh-CN" sz="2800" i="1">
                                <a:solidFill>
                                  <a:srgbClr val="01189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sz="2800" b="1" i="1">
                                <a:solidFill>
                                  <a:srgbClr val="01189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⋯</m:t>
                            </m:r>
                            <m:sSub>
                              <m:sSubPr>
                                <m:ctrlPr>
                                  <a:rPr lang="en-AU" altLang="zh-CN" sz="2800" i="1">
                                    <a:solidFill>
                                      <a:srgbClr val="01189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AU" altLang="zh-CN" sz="2800" b="1" i="1">
                                    <a:solidFill>
                                      <a:srgbClr val="011893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  <m:sub>
                                <m:r>
                                  <a:rPr lang="en-AU" altLang="zh-CN" sz="2800" b="1" i="1">
                                    <a:solidFill>
                                      <a:srgbClr val="011893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AU" altLang="zh-CN" sz="2800" b="1" i="1">
                                    <a:solidFill>
                                      <a:srgbClr val="011893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AU" altLang="zh-CN" sz="2800" b="1" i="1">
                                    <a:solidFill>
                                      <a:srgbClr val="011893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AU" altLang="zh-CN" sz="2800" b="1" i="1">
                                <a:solidFill>
                                  <a:srgbClr val="011893"/>
                                </a:solidFill>
                                <a:latin typeface="Cambria Math" panose="02040503050406030204" pitchFamily="18" charset="0"/>
                              </a:rPr>
                              <m:t>),</m:t>
                            </m:r>
                            <m:r>
                              <a:rPr lang="en-AU" altLang="zh-CN" sz="2800" b="1" i="1">
                                <a:solidFill>
                                  <a:srgbClr val="011893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AU" altLang="zh-CN" sz="2800" b="1" i="1">
                                <a:solidFill>
                                  <a:srgbClr val="011893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AU" altLang="zh-CN" sz="2800" b="1" i="1">
                                <a:solidFill>
                                  <a:srgbClr val="011893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AU" altLang="zh-CN" sz="2800" b="1" i="1">
                                <a:solidFill>
                                  <a:srgbClr val="011893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AU" altLang="zh-CN" sz="2800" b="1" i="1">
                        <a:solidFill>
                          <a:srgbClr val="011893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altLang="zh-CN" sz="2800" i="1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800" b="1" i="1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AU" altLang="zh-CN" sz="2800" b="1" i="1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AU" altLang="zh-CN" sz="2800" b="1" i="1">
                        <a:solidFill>
                          <a:srgbClr val="011893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altLang="zh-CN" sz="2800" dirty="0">
                    <a:solidFill>
                      <a:srgbClr val="011893"/>
                    </a:solidFill>
                    <a:latin typeface="+mn-lt"/>
                    <a:ea typeface="KaiTi_GB2312" panose="02010609030101010101" pitchFamily="49" charset="-122"/>
                  </a:rPr>
                  <a:t>  </a:t>
                </a:r>
                <a:endParaRPr lang="en-US" altLang="zh-CN" sz="2800" dirty="0">
                  <a:solidFill>
                    <a:srgbClr val="011893"/>
                  </a:solidFill>
                  <a:latin typeface="+mn-lt"/>
                  <a:ea typeface="KaiTi_GB2312" panose="02010609030101010101" pitchFamily="49" charset="-122"/>
                </a:endParaRPr>
              </a:p>
              <a:p>
                <a:pPr marL="0" indent="0" algn="l">
                  <a:buNone/>
                </a:pPr>
                <a:r>
                  <a:rPr lang="zh-CN" altLang="en-US" sz="2800" dirty="0">
                    <a:solidFill>
                      <a:srgbClr val="011893"/>
                    </a:solidFill>
                    <a:latin typeface="+mn-lt"/>
                    <a:ea typeface="KaiTi_GB2312" panose="02010609030101010101" pitchFamily="49" charset="-122"/>
                  </a:rPr>
                  <a:t>               </a:t>
                </a:r>
                <a14:m>
                  <m:oMath xmlns:m="http://schemas.openxmlformats.org/officeDocument/2006/math">
                    <m:r>
                      <a:rPr lang="en-AU" altLang="zh-CN" sz="2800" b="1" i="1">
                        <a:solidFill>
                          <a:srgbClr val="011893"/>
                        </a:solidFill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AU" altLang="zh-CN" sz="2800" dirty="0">
                    <a:solidFill>
                      <a:srgbClr val="011893"/>
                    </a:solidFill>
                    <a:latin typeface="+mn-lt"/>
                    <a:ea typeface="KaiTi_GB2312" panose="02010609030101010101" pitchFamily="49" charset="-122"/>
                  </a:rPr>
                  <a:t>…</a:t>
                </a:r>
              </a:p>
              <a:p>
                <a:pPr marL="0" indent="0" algn="l">
                  <a:buNone/>
                </a:pPr>
                <a:r>
                  <a:rPr lang="en-AU" altLang="zh-CN" sz="2800" dirty="0">
                    <a:solidFill>
                      <a:srgbClr val="011893"/>
                    </a:solidFill>
                    <a:latin typeface="+mn-lt"/>
                    <a:ea typeface="KaiTi_GB2312" panose="02010609030101010101" pitchFamily="49" charset="-122"/>
                  </a:rPr>
                  <a:t>          </a:t>
                </a:r>
                <a14:m>
                  <m:oMath xmlns:m="http://schemas.openxmlformats.org/officeDocument/2006/math">
                    <m:r>
                      <a:rPr lang="zh-CN" altLang="en-US" sz="2800" b="1" i="1" dirty="0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AU" altLang="zh-CN" sz="2800" b="1" i="1" dirty="0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800" b="1" i="1">
                        <a:solidFill>
                          <a:srgbClr val="011893"/>
                        </a:solidFill>
                        <a:latin typeface="Cambria Math" panose="02040503050406030204" pitchFamily="18" charset="0"/>
                      </a:rPr>
                      <m:t>𝜹</m:t>
                    </m:r>
                    <m:r>
                      <a:rPr lang="en-AU" altLang="zh-CN" sz="2800" b="1" i="1">
                        <a:solidFill>
                          <a:srgbClr val="011893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800" b="1" i="1">
                        <a:solidFill>
                          <a:srgbClr val="011893"/>
                        </a:solidFill>
                        <a:latin typeface="Cambria Math" panose="02040503050406030204" pitchFamily="18" charset="0"/>
                      </a:rPr>
                      <m:t>𝜹</m:t>
                    </m:r>
                    <m:r>
                      <a:rPr lang="en-AU" altLang="zh-CN" sz="2800" b="1" i="1">
                        <a:solidFill>
                          <a:srgbClr val="011893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sz="2800" b="1" i="1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zh-CN" altLang="en-US" sz="2800" b="1" i="1">
                        <a:solidFill>
                          <a:srgbClr val="011893"/>
                        </a:solidFill>
                        <a:latin typeface="Cambria Math" panose="02040503050406030204" pitchFamily="18" charset="0"/>
                      </a:rPr>
                      <m:t>𝜹</m:t>
                    </m:r>
                    <m:r>
                      <a:rPr lang="en-AU" altLang="zh-CN" sz="2800" b="1" i="1">
                        <a:solidFill>
                          <a:srgbClr val="011893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zh-CN" altLang="en-US" sz="2800" dirty="0">
                        <a:solidFill>
                          <a:srgbClr val="011893"/>
                        </a:solidFill>
                        <a:latin typeface="+mn-lt"/>
                        <a:ea typeface="KaiTi_GB2312" panose="02010609030101010101" pitchFamily="49" charset="-122"/>
                        <a:sym typeface="Symbol" pitchFamily="18" charset="2"/>
                      </a:rPr>
                      <m:t></m:t>
                    </m:r>
                    <m:r>
                      <a:rPr lang="zh-CN" altLang="en-US" sz="2800" b="1" i="1" dirty="0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楷体_GB2312" pitchFamily="49" charset="-122"/>
                        <a:sym typeface="Symbol" pitchFamily="18" charset="2"/>
                      </a:rPr>
                      <m:t> </m:t>
                    </m:r>
                    <m:d>
                      <m:dPr>
                        <m:ctrlPr>
                          <a:rPr lang="en-AU" altLang="zh-CN" sz="2800" i="1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sz="2800" b="1" i="1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  <m:r>
                          <a:rPr lang="en-AU" altLang="zh-CN" sz="2800" b="1" i="1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sz="2800" b="1" i="1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𝜺</m:t>
                        </m:r>
                        <m:sSub>
                          <m:sSubPr>
                            <m:ctrlPr>
                              <a:rPr lang="en-AU" altLang="zh-CN" sz="2800" i="1">
                                <a:solidFill>
                                  <a:srgbClr val="01189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sz="2800" b="1" i="1">
                                <a:solidFill>
                                  <a:srgbClr val="011893"/>
                                </a:solidFill>
                                <a:latin typeface="Cambria Math" panose="02040503050406030204" pitchFamily="18" charset="0"/>
                              </a:rPr>
                              <m:t>),</m:t>
                            </m:r>
                            <m:r>
                              <a:rPr lang="en-AU" altLang="zh-CN" sz="2800" b="1" i="1">
                                <a:solidFill>
                                  <a:srgbClr val="011893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AU" altLang="zh-CN" sz="2800" b="1" i="1">
                                <a:solidFill>
                                  <a:srgbClr val="011893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en-AU" altLang="zh-CN" sz="2800" b="1" i="1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</a:rPr>
                          <m:t>) </m:t>
                        </m:r>
                        <m:r>
                          <a:rPr lang="en-AU" altLang="zh-CN" sz="2800" b="1" i="1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</m:t>
                        </m:r>
                        <m:sSub>
                          <m:sSubPr>
                            <m:ctrlPr>
                              <a:rPr lang="en-AU" altLang="zh-CN" sz="2800" i="1">
                                <a:solidFill>
                                  <a:srgbClr val="01189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sz="2800" b="1" i="1">
                                <a:solidFill>
                                  <a:srgbClr val="011893"/>
                                </a:solidFill>
                                <a:latin typeface="Cambria Math" panose="02040503050406030204" pitchFamily="18" charset="0"/>
                              </a:rPr>
                              <m:t>),</m:t>
                            </m:r>
                            <m:r>
                              <a:rPr lang="en-AU" altLang="zh-CN" sz="2800" b="1" i="1">
                                <a:solidFill>
                                  <a:srgbClr val="011893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AU" altLang="zh-CN" sz="2800" b="1" i="1">
                                <a:solidFill>
                                  <a:srgbClr val="011893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AU" altLang="zh-CN" sz="2800" b="1" i="1">
                                <a:solidFill>
                                  <a:srgbClr val="011893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AU" altLang="zh-CN" sz="2800" b="1" i="1">
                                <a:solidFill>
                                  <a:srgbClr val="011893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AU" altLang="zh-CN" sz="2800" b="1" i="1">
                        <a:solidFill>
                          <a:srgbClr val="011893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altLang="zh-CN" sz="2800" i="1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800" b="1" i="1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AU" altLang="zh-CN" sz="2800" b="1" i="1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AU" altLang="zh-CN" sz="2800" b="1" i="1">
                        <a:solidFill>
                          <a:srgbClr val="011893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altLang="zh-CN" sz="2800" dirty="0">
                  <a:solidFill>
                    <a:srgbClr val="011893"/>
                  </a:solidFill>
                  <a:latin typeface="+mn-lt"/>
                  <a:ea typeface="KaiTi_GB2312" panose="02010609030101010101" pitchFamily="49" charset="-122"/>
                </a:endParaRPr>
              </a:p>
            </p:txBody>
          </p:sp>
        </mc:Choice>
        <mc:Fallback xmlns="">
          <p:sp>
            <p:nvSpPr>
              <p:cNvPr id="58370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7088" y="4082014"/>
                <a:ext cx="8892480" cy="1969770"/>
              </a:xfrm>
              <a:prstGeom prst="rect">
                <a:avLst/>
              </a:prstGeom>
              <a:blipFill>
                <a:blip r:embed="rId2"/>
                <a:stretch>
                  <a:fillRect l="-1284" b="-5769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390" name="Rectangle 22"/>
          <p:cNvSpPr>
            <a:spLocks noChangeArrowheads="1"/>
          </p:cNvSpPr>
          <p:nvPr/>
        </p:nvSpPr>
        <p:spPr bwMode="auto">
          <a:xfrm>
            <a:off x="1476375" y="195263"/>
            <a:ext cx="3887788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4000" i="0">
                <a:ea typeface="华文行楷" pitchFamily="2" charset="-122"/>
              </a:rPr>
              <a:t>确定有限自动机</a:t>
            </a:r>
          </a:p>
        </p:txBody>
      </p:sp>
      <p:sp>
        <p:nvSpPr>
          <p:cNvPr id="58391" name="Text Box 23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827088" y="1409700"/>
            <a:ext cx="6985272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 i="0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200" i="0" dirty="0">
                <a:latin typeface="楷体_GB2312" pitchFamily="49" charset="-122"/>
                <a:ea typeface="楷体_GB2312" pitchFamily="49" charset="-122"/>
              </a:rPr>
              <a:t>扩展转移函数适合于输入字符串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FF457A3-8D24-9548-B169-1CFCBE5D94F2}"/>
              </a:ext>
            </a:extLst>
          </p:cNvPr>
          <p:cNvSpPr txBox="1"/>
          <p:nvPr/>
        </p:nvSpPr>
        <p:spPr>
          <a:xfrm>
            <a:off x="8604448" y="6471931"/>
            <a:ext cx="5395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0" i="0" dirty="0">
                <a:solidFill>
                  <a:srgbClr val="000066"/>
                </a:solidFill>
              </a:rPr>
              <a:t>24</a:t>
            </a:r>
            <a:endParaRPr kumimoji="1" lang="zh-CN" altLang="en-US" sz="2000" b="0" i="0" dirty="0">
              <a:solidFill>
                <a:srgbClr val="000066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A354CF8-6EE9-7B41-A172-090B89588894}"/>
              </a:ext>
            </a:extLst>
          </p:cNvPr>
          <p:cNvSpPr txBox="1"/>
          <p:nvPr/>
        </p:nvSpPr>
        <p:spPr>
          <a:xfrm>
            <a:off x="1205731" y="2276872"/>
            <a:ext cx="756012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lr>
                <a:srgbClr val="800080"/>
              </a:buClr>
              <a:buFont typeface="Wingdings" pitchFamily="2" charset="2"/>
              <a:buNone/>
            </a:pPr>
            <a:r>
              <a:rPr lang="zh-CN" altLang="en-US" sz="2800" i="0" dirty="0">
                <a:latin typeface="Arial" pitchFamily="34" charset="0"/>
                <a:ea typeface="楷体_GB2312" pitchFamily="49" charset="-122"/>
              </a:rPr>
              <a:t> </a:t>
            </a:r>
            <a:r>
              <a:rPr lang="en-US" altLang="zh-CN" sz="28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1 </a:t>
            </a:r>
            <a:r>
              <a:rPr lang="en-US" altLang="zh-CN" sz="2800" dirty="0">
                <a:latin typeface="Arial" pitchFamily="34" charset="0"/>
                <a:ea typeface="楷体_GB2312" pitchFamily="49" charset="-122"/>
                <a:sym typeface="Symbol" pitchFamily="18" charset="2"/>
              </a:rPr>
              <a:t> (</a:t>
            </a:r>
            <a:r>
              <a:rPr lang="en-US" altLang="zh-CN" sz="2800" dirty="0">
                <a:latin typeface="Arial" pitchFamily="34" charset="0"/>
                <a:ea typeface="楷体_GB2312" pitchFamily="49" charset="-122"/>
              </a:rPr>
              <a:t>q</a:t>
            </a:r>
            <a:r>
              <a:rPr lang="en-US" altLang="zh-CN" sz="2800" baseline="-25000" dirty="0">
                <a:latin typeface="Arial" pitchFamily="34" charset="0"/>
                <a:ea typeface="楷体_GB2312" pitchFamily="49" charset="-122"/>
              </a:rPr>
              <a:t> </a:t>
            </a:r>
            <a:r>
              <a:rPr lang="en-US" altLang="zh-CN" sz="2800" dirty="0">
                <a:latin typeface="Arial" pitchFamily="34" charset="0"/>
                <a:ea typeface="楷体_GB2312" pitchFamily="49" charset="-122"/>
                <a:sym typeface="Symbol" pitchFamily="18" charset="2"/>
              </a:rPr>
              <a:t>, ) = </a:t>
            </a:r>
            <a:r>
              <a:rPr lang="en-US" altLang="zh-CN" sz="2800" dirty="0">
                <a:latin typeface="Arial" pitchFamily="34" charset="0"/>
                <a:ea typeface="楷体_GB2312" pitchFamily="49" charset="-122"/>
              </a:rPr>
              <a:t>q</a:t>
            </a:r>
            <a:endParaRPr lang="en-US" altLang="zh-CN" sz="2800" i="0" dirty="0">
              <a:solidFill>
                <a:srgbClr val="333399"/>
              </a:solidFill>
              <a:latin typeface="Arial" pitchFamily="34" charset="0"/>
              <a:ea typeface="楷体_GB2312" pitchFamily="49" charset="-122"/>
            </a:endParaRPr>
          </a:p>
          <a:p>
            <a:pPr algn="l">
              <a:buClr>
                <a:srgbClr val="800080"/>
              </a:buClr>
              <a:buFont typeface="Wingdings" pitchFamily="2" charset="2"/>
              <a:buNone/>
            </a:pPr>
            <a:r>
              <a:rPr lang="zh-CN" altLang="en-US" sz="2800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lang="en-US" altLang="zh-CN" sz="28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2 </a:t>
            </a:r>
            <a:r>
              <a:rPr lang="zh-CN" altLang="en-US" sz="2800" i="0" dirty="0">
                <a:latin typeface="Arial" pitchFamily="34" charset="0"/>
                <a:ea typeface="楷体_GB2312" pitchFamily="49" charset="-122"/>
              </a:rPr>
              <a:t>若</a:t>
            </a:r>
            <a:r>
              <a:rPr lang="en-US" altLang="zh-CN" sz="2800" dirty="0">
                <a:latin typeface="Arial" pitchFamily="34" charset="0"/>
                <a:ea typeface="楷体_GB2312" pitchFamily="49" charset="-122"/>
              </a:rPr>
              <a:t>w = </a:t>
            </a:r>
            <a:r>
              <a:rPr lang="en-US" altLang="zh-CN" sz="2800" dirty="0" err="1">
                <a:latin typeface="Arial" pitchFamily="34" charset="0"/>
                <a:ea typeface="楷体_GB2312" pitchFamily="49" charset="-122"/>
              </a:rPr>
              <a:t>xa</a:t>
            </a:r>
            <a:r>
              <a:rPr lang="en-US" altLang="zh-CN" sz="2800" dirty="0">
                <a:latin typeface="Arial" pitchFamily="34" charset="0"/>
                <a:ea typeface="楷体_GB2312" pitchFamily="49" charset="-122"/>
              </a:rPr>
              <a:t>, </a:t>
            </a:r>
            <a:r>
              <a:rPr lang="zh-CN" altLang="en-US" sz="2800" i="0" dirty="0">
                <a:latin typeface="Arial" pitchFamily="34" charset="0"/>
                <a:ea typeface="楷体_GB2312" pitchFamily="49" charset="-122"/>
              </a:rPr>
              <a:t>其中 </a:t>
            </a:r>
            <a:r>
              <a:rPr lang="en-US" altLang="zh-CN" sz="2800" dirty="0">
                <a:latin typeface="Arial" pitchFamily="34" charset="0"/>
                <a:ea typeface="楷体_GB2312" pitchFamily="49" charset="-122"/>
              </a:rPr>
              <a:t>x </a:t>
            </a:r>
            <a:r>
              <a:rPr lang="en-US" altLang="zh-CN" sz="2800" i="0" dirty="0">
                <a:latin typeface="Arial" pitchFamily="34" charset="0"/>
                <a:ea typeface="楷体_GB2312" pitchFamily="49" charset="-122"/>
                <a:sym typeface="Symbol" pitchFamily="18" charset="2"/>
              </a:rPr>
              <a:t></a:t>
            </a:r>
            <a:r>
              <a:rPr lang="en-US" altLang="zh-CN" sz="2800" i="0" dirty="0">
                <a:latin typeface="Arial" pitchFamily="34" charset="0"/>
                <a:ea typeface="楷体_GB2312" pitchFamily="49" charset="-122"/>
              </a:rPr>
              <a:t> </a:t>
            </a:r>
            <a:r>
              <a:rPr lang="en-US" altLang="zh-CN" sz="2800" i="0" dirty="0">
                <a:latin typeface="Arial" pitchFamily="34" charset="0"/>
                <a:ea typeface="楷体_GB2312" pitchFamily="49" charset="-122"/>
                <a:sym typeface="Symbol" pitchFamily="18" charset="2"/>
              </a:rPr>
              <a:t>*</a:t>
            </a:r>
            <a:r>
              <a:rPr lang="en-US" altLang="zh-CN" sz="2800" dirty="0">
                <a:latin typeface="Arial" pitchFamily="34" charset="0"/>
                <a:ea typeface="楷体_GB2312" pitchFamily="49" charset="-122"/>
              </a:rPr>
              <a:t>, a </a:t>
            </a:r>
            <a:r>
              <a:rPr lang="en-US" altLang="zh-CN" sz="2800" i="0" dirty="0">
                <a:latin typeface="Arial" pitchFamily="34" charset="0"/>
                <a:ea typeface="楷体_GB2312" pitchFamily="49" charset="-122"/>
                <a:sym typeface="Symbol" pitchFamily="18" charset="2"/>
              </a:rPr>
              <a:t></a:t>
            </a:r>
            <a:r>
              <a:rPr lang="en-US" altLang="zh-CN" sz="2800" i="0" dirty="0">
                <a:latin typeface="Arial" pitchFamily="34" charset="0"/>
                <a:ea typeface="楷体_GB2312" pitchFamily="49" charset="-122"/>
              </a:rPr>
              <a:t> </a:t>
            </a:r>
            <a:r>
              <a:rPr lang="en-US" altLang="zh-CN" sz="2800" i="0" dirty="0">
                <a:latin typeface="Arial" pitchFamily="34" charset="0"/>
                <a:ea typeface="楷体_GB2312" pitchFamily="49" charset="-122"/>
                <a:sym typeface="Symbol" pitchFamily="18" charset="2"/>
              </a:rPr>
              <a:t></a:t>
            </a:r>
            <a:r>
              <a:rPr lang="en-US" altLang="zh-CN" sz="2800" dirty="0">
                <a:latin typeface="Arial" pitchFamily="34" charset="0"/>
                <a:ea typeface="楷体_GB2312" pitchFamily="49" charset="-122"/>
              </a:rPr>
              <a:t>, </a:t>
            </a:r>
            <a:r>
              <a:rPr lang="zh-CN" altLang="en-US" sz="2800" i="0" dirty="0">
                <a:latin typeface="Arial" pitchFamily="34" charset="0"/>
                <a:ea typeface="楷体_GB2312" pitchFamily="49" charset="-122"/>
              </a:rPr>
              <a:t>则</a:t>
            </a:r>
            <a:endParaRPr lang="zh-CN" altLang="en-US" sz="2800" i="0" dirty="0">
              <a:solidFill>
                <a:srgbClr val="333399"/>
              </a:solidFill>
              <a:latin typeface="Arial" pitchFamily="34" charset="0"/>
              <a:ea typeface="楷体_GB2312" pitchFamily="49" charset="-122"/>
            </a:endParaRPr>
          </a:p>
          <a:p>
            <a:pPr algn="l">
              <a:buClr>
                <a:srgbClr val="800080"/>
              </a:buClr>
              <a:buFont typeface="Wingdings" pitchFamily="2" charset="2"/>
              <a:buNone/>
            </a:pPr>
            <a:r>
              <a:rPr lang="zh-CN" altLang="en-US" sz="2800" i="0" dirty="0">
                <a:latin typeface="Arial" pitchFamily="34" charset="0"/>
                <a:ea typeface="楷体_GB2312" pitchFamily="49" charset="-122"/>
              </a:rPr>
              <a:t>             </a:t>
            </a:r>
            <a:r>
              <a:rPr lang="zh-CN" altLang="en-US" sz="2800" dirty="0">
                <a:latin typeface="Arial" pitchFamily="34" charset="0"/>
                <a:ea typeface="楷体_GB2312" pitchFamily="49" charset="-122"/>
                <a:sym typeface="Symbol" pitchFamily="18" charset="2"/>
              </a:rPr>
              <a:t> </a:t>
            </a:r>
            <a:r>
              <a:rPr lang="en-US" altLang="zh-CN" sz="2800" dirty="0">
                <a:latin typeface="Arial" pitchFamily="34" charset="0"/>
                <a:ea typeface="楷体_GB2312" pitchFamily="49" charset="-122"/>
                <a:sym typeface="Symbol" pitchFamily="18" charset="2"/>
              </a:rPr>
              <a:t>( </a:t>
            </a:r>
            <a:r>
              <a:rPr lang="en-US" altLang="zh-CN" sz="2800" dirty="0">
                <a:latin typeface="Arial" pitchFamily="34" charset="0"/>
                <a:ea typeface="楷体_GB2312" pitchFamily="49" charset="-122"/>
              </a:rPr>
              <a:t>q</a:t>
            </a:r>
            <a:r>
              <a:rPr lang="en-US" altLang="zh-CN" sz="2800" baseline="-25000" dirty="0">
                <a:latin typeface="Arial" pitchFamily="34" charset="0"/>
                <a:ea typeface="楷体_GB2312" pitchFamily="49" charset="-122"/>
              </a:rPr>
              <a:t> </a:t>
            </a:r>
            <a:r>
              <a:rPr lang="en-US" altLang="zh-CN" sz="2800" dirty="0">
                <a:latin typeface="Arial" pitchFamily="34" charset="0"/>
                <a:ea typeface="楷体_GB2312" pitchFamily="49" charset="-122"/>
                <a:sym typeface="Symbol" pitchFamily="18" charset="2"/>
              </a:rPr>
              <a:t>, w) = (  ( </a:t>
            </a:r>
            <a:r>
              <a:rPr lang="en-US" altLang="zh-CN" sz="2800" dirty="0">
                <a:latin typeface="Arial" pitchFamily="34" charset="0"/>
                <a:ea typeface="楷体_GB2312" pitchFamily="49" charset="-122"/>
              </a:rPr>
              <a:t>q</a:t>
            </a:r>
            <a:r>
              <a:rPr lang="en-US" altLang="zh-CN" sz="2800" baseline="-25000" dirty="0">
                <a:latin typeface="Arial" pitchFamily="34" charset="0"/>
                <a:ea typeface="楷体_GB2312" pitchFamily="49" charset="-122"/>
              </a:rPr>
              <a:t> </a:t>
            </a:r>
            <a:r>
              <a:rPr lang="en-US" altLang="zh-CN" sz="2800" dirty="0">
                <a:latin typeface="Arial" pitchFamily="34" charset="0"/>
                <a:ea typeface="楷体_GB2312" pitchFamily="49" charset="-122"/>
                <a:sym typeface="Symbol" pitchFamily="18" charset="2"/>
              </a:rPr>
              <a:t>, x)</a:t>
            </a:r>
            <a:r>
              <a:rPr lang="en-US" altLang="zh-CN" sz="2800" baseline="-25000" dirty="0">
                <a:latin typeface="Arial" pitchFamily="34" charset="0"/>
                <a:ea typeface="楷体_GB2312" pitchFamily="49" charset="-122"/>
              </a:rPr>
              <a:t> </a:t>
            </a:r>
            <a:r>
              <a:rPr lang="en-US" altLang="zh-CN" sz="2800" dirty="0">
                <a:latin typeface="Arial" pitchFamily="34" charset="0"/>
                <a:ea typeface="楷体_GB2312" pitchFamily="49" charset="-122"/>
                <a:sym typeface="Symbol" pitchFamily="18" charset="2"/>
              </a:rPr>
              <a:t>, a) 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666526740"/>
      </p:ext>
    </p:extLst>
  </p:cSld>
  <p:clrMapOvr>
    <a:masterClrMapping/>
  </p:clrMapOvr>
  <p:transition spd="med"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88" name="Text Box 12"/>
          <p:cNvSpPr txBox="1">
            <a:spLocks noChangeArrowheads="1"/>
          </p:cNvSpPr>
          <p:nvPr/>
        </p:nvSpPr>
        <p:spPr bwMode="auto">
          <a:xfrm>
            <a:off x="1219200" y="3352800"/>
            <a:ext cx="688975" cy="46672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 i="0">
                <a:latin typeface="Arial" pitchFamily="34" charset="0"/>
                <a:ea typeface="楷体_GB2312" pitchFamily="49" charset="-122"/>
                <a:sym typeface="Symbol" pitchFamily="18" charset="2"/>
              </a:rPr>
              <a:t></a:t>
            </a:r>
            <a:r>
              <a:rPr lang="en-US" altLang="zh-CN" sz="2400">
                <a:latin typeface="Arial" pitchFamily="34" charset="0"/>
                <a:ea typeface="楷体_GB2312" pitchFamily="49" charset="-122"/>
              </a:rPr>
              <a:t>q</a:t>
            </a:r>
            <a:r>
              <a:rPr lang="en-US" altLang="zh-CN" sz="2400" baseline="-25000">
                <a:latin typeface="Arial" pitchFamily="34" charset="0"/>
                <a:ea typeface="楷体_GB2312" pitchFamily="49" charset="-122"/>
              </a:rPr>
              <a:t>0</a:t>
            </a:r>
          </a:p>
        </p:txBody>
      </p:sp>
      <p:sp>
        <p:nvSpPr>
          <p:cNvPr id="75789" name="Text Box 13"/>
          <p:cNvSpPr txBox="1">
            <a:spLocks noChangeArrowheads="1"/>
          </p:cNvSpPr>
          <p:nvPr/>
        </p:nvSpPr>
        <p:spPr bwMode="auto">
          <a:xfrm>
            <a:off x="1371600" y="3962400"/>
            <a:ext cx="536575" cy="46672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>
                <a:latin typeface="Arial" pitchFamily="34" charset="0"/>
                <a:ea typeface="楷体_GB2312" pitchFamily="49" charset="-122"/>
              </a:rPr>
              <a:t>q</a:t>
            </a:r>
            <a:r>
              <a:rPr lang="en-US" altLang="zh-CN" sz="2400" baseline="-25000">
                <a:latin typeface="Arial" pitchFamily="34" charset="0"/>
                <a:ea typeface="楷体_GB2312" pitchFamily="49" charset="-122"/>
              </a:rPr>
              <a:t>1</a:t>
            </a:r>
          </a:p>
        </p:txBody>
      </p:sp>
      <p:sp>
        <p:nvSpPr>
          <p:cNvPr id="75790" name="Text Box 14"/>
          <p:cNvSpPr txBox="1">
            <a:spLocks noChangeArrowheads="1"/>
          </p:cNvSpPr>
          <p:nvPr/>
        </p:nvSpPr>
        <p:spPr bwMode="auto">
          <a:xfrm>
            <a:off x="1371600" y="4572000"/>
            <a:ext cx="536575" cy="46672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>
                <a:latin typeface="Arial" pitchFamily="34" charset="0"/>
                <a:ea typeface="楷体_GB2312" pitchFamily="49" charset="-122"/>
              </a:rPr>
              <a:t>q</a:t>
            </a:r>
            <a:r>
              <a:rPr lang="en-US" altLang="zh-CN" sz="2400" baseline="-25000">
                <a:latin typeface="Arial" pitchFamily="34" charset="0"/>
                <a:ea typeface="楷体_GB2312" pitchFamily="49" charset="-122"/>
              </a:rPr>
              <a:t>2</a:t>
            </a:r>
          </a:p>
        </p:txBody>
      </p:sp>
      <p:sp>
        <p:nvSpPr>
          <p:cNvPr id="75791" name="Text Box 15"/>
          <p:cNvSpPr txBox="1">
            <a:spLocks noChangeArrowheads="1"/>
          </p:cNvSpPr>
          <p:nvPr/>
        </p:nvSpPr>
        <p:spPr bwMode="auto">
          <a:xfrm>
            <a:off x="1219200" y="5181600"/>
            <a:ext cx="685800" cy="46672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 i="0">
                <a:latin typeface="Arial" pitchFamily="34" charset="0"/>
                <a:ea typeface="楷体_GB2312" pitchFamily="49" charset="-122"/>
                <a:sym typeface="Symbol" pitchFamily="18" charset="2"/>
              </a:rPr>
              <a:t></a:t>
            </a:r>
            <a:r>
              <a:rPr lang="en-US" altLang="zh-CN" sz="2400">
                <a:latin typeface="Arial" pitchFamily="34" charset="0"/>
                <a:ea typeface="楷体_GB2312" pitchFamily="49" charset="-122"/>
              </a:rPr>
              <a:t>q</a:t>
            </a:r>
            <a:r>
              <a:rPr lang="en-US" altLang="zh-CN" sz="2400" baseline="-25000">
                <a:latin typeface="Arial" pitchFamily="34" charset="0"/>
                <a:ea typeface="楷体_GB2312" pitchFamily="49" charset="-122"/>
              </a:rPr>
              <a:t>3</a:t>
            </a:r>
          </a:p>
        </p:txBody>
      </p:sp>
      <p:sp>
        <p:nvSpPr>
          <p:cNvPr id="75792" name="Line 16"/>
          <p:cNvSpPr>
            <a:spLocks noChangeShapeType="1"/>
          </p:cNvSpPr>
          <p:nvPr/>
        </p:nvSpPr>
        <p:spPr bwMode="auto">
          <a:xfrm>
            <a:off x="762000" y="3200400"/>
            <a:ext cx="2819400" cy="0"/>
          </a:xfrm>
          <a:prstGeom prst="line">
            <a:avLst/>
          </a:prstGeom>
          <a:noFill/>
          <a:ln w="9525">
            <a:solidFill>
              <a:srgbClr val="800080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75793" name="Line 17"/>
          <p:cNvSpPr>
            <a:spLocks noChangeShapeType="1"/>
          </p:cNvSpPr>
          <p:nvPr/>
        </p:nvSpPr>
        <p:spPr bwMode="auto">
          <a:xfrm>
            <a:off x="762000" y="3276600"/>
            <a:ext cx="2819400" cy="0"/>
          </a:xfrm>
          <a:prstGeom prst="line">
            <a:avLst/>
          </a:prstGeom>
          <a:noFill/>
          <a:ln w="9525">
            <a:solidFill>
              <a:srgbClr val="800080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75794" name="Line 18"/>
          <p:cNvSpPr>
            <a:spLocks noChangeShapeType="1"/>
          </p:cNvSpPr>
          <p:nvPr/>
        </p:nvSpPr>
        <p:spPr bwMode="auto">
          <a:xfrm>
            <a:off x="1981200" y="2590800"/>
            <a:ext cx="0" cy="609600"/>
          </a:xfrm>
          <a:prstGeom prst="line">
            <a:avLst/>
          </a:prstGeom>
          <a:noFill/>
          <a:ln w="9525">
            <a:solidFill>
              <a:srgbClr val="800080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75795" name="Line 19"/>
          <p:cNvSpPr>
            <a:spLocks noChangeShapeType="1"/>
          </p:cNvSpPr>
          <p:nvPr/>
        </p:nvSpPr>
        <p:spPr bwMode="auto">
          <a:xfrm>
            <a:off x="1981200" y="3276600"/>
            <a:ext cx="0" cy="2590800"/>
          </a:xfrm>
          <a:prstGeom prst="line">
            <a:avLst/>
          </a:prstGeom>
          <a:noFill/>
          <a:ln w="9525">
            <a:solidFill>
              <a:srgbClr val="800080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75796" name="Line 20"/>
          <p:cNvSpPr>
            <a:spLocks noChangeShapeType="1"/>
          </p:cNvSpPr>
          <p:nvPr/>
        </p:nvSpPr>
        <p:spPr bwMode="auto">
          <a:xfrm>
            <a:off x="2057400" y="2590800"/>
            <a:ext cx="0" cy="609600"/>
          </a:xfrm>
          <a:prstGeom prst="line">
            <a:avLst/>
          </a:prstGeom>
          <a:noFill/>
          <a:ln w="9525">
            <a:solidFill>
              <a:srgbClr val="800080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75797" name="Line 21"/>
          <p:cNvSpPr>
            <a:spLocks noChangeShapeType="1"/>
          </p:cNvSpPr>
          <p:nvPr/>
        </p:nvSpPr>
        <p:spPr bwMode="auto">
          <a:xfrm>
            <a:off x="2057400" y="3276600"/>
            <a:ext cx="0" cy="2590800"/>
          </a:xfrm>
          <a:prstGeom prst="line">
            <a:avLst/>
          </a:prstGeom>
          <a:noFill/>
          <a:ln w="9525">
            <a:solidFill>
              <a:srgbClr val="800080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75798" name="Line 22"/>
          <p:cNvSpPr>
            <a:spLocks noChangeShapeType="1"/>
          </p:cNvSpPr>
          <p:nvPr/>
        </p:nvSpPr>
        <p:spPr bwMode="auto">
          <a:xfrm>
            <a:off x="2819400" y="2590800"/>
            <a:ext cx="0" cy="609600"/>
          </a:xfrm>
          <a:prstGeom prst="line">
            <a:avLst/>
          </a:prstGeom>
          <a:noFill/>
          <a:ln w="9525">
            <a:solidFill>
              <a:srgbClr val="800080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75799" name="Line 23"/>
          <p:cNvSpPr>
            <a:spLocks noChangeShapeType="1"/>
          </p:cNvSpPr>
          <p:nvPr/>
        </p:nvSpPr>
        <p:spPr bwMode="auto">
          <a:xfrm>
            <a:off x="2819400" y="3276600"/>
            <a:ext cx="0" cy="2590800"/>
          </a:xfrm>
          <a:prstGeom prst="line">
            <a:avLst/>
          </a:prstGeom>
          <a:noFill/>
          <a:ln w="9525">
            <a:solidFill>
              <a:srgbClr val="800080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75800" name="Text Box 24"/>
          <p:cNvSpPr txBox="1">
            <a:spLocks noChangeArrowheads="1"/>
          </p:cNvSpPr>
          <p:nvPr/>
        </p:nvSpPr>
        <p:spPr bwMode="auto">
          <a:xfrm>
            <a:off x="2286000" y="2667000"/>
            <a:ext cx="304800" cy="46672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>
                <a:latin typeface="Arial" pitchFamily="34" charset="0"/>
                <a:ea typeface="楷体_GB2312" pitchFamily="49" charset="-122"/>
              </a:rPr>
              <a:t>0</a:t>
            </a:r>
            <a:endParaRPr lang="en-US" altLang="zh-CN" sz="2400" baseline="-25000">
              <a:latin typeface="Arial" pitchFamily="34" charset="0"/>
              <a:ea typeface="楷体_GB2312" pitchFamily="49" charset="-122"/>
            </a:endParaRPr>
          </a:p>
        </p:txBody>
      </p:sp>
      <p:sp>
        <p:nvSpPr>
          <p:cNvPr id="75801" name="Text Box 25"/>
          <p:cNvSpPr txBox="1">
            <a:spLocks noChangeArrowheads="1"/>
          </p:cNvSpPr>
          <p:nvPr/>
        </p:nvSpPr>
        <p:spPr bwMode="auto">
          <a:xfrm>
            <a:off x="3048000" y="2667000"/>
            <a:ext cx="304800" cy="46672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>
                <a:latin typeface="Arial" pitchFamily="34" charset="0"/>
                <a:ea typeface="楷体_GB2312" pitchFamily="49" charset="-122"/>
              </a:rPr>
              <a:t>1</a:t>
            </a:r>
            <a:endParaRPr lang="en-US" altLang="zh-CN" sz="2400" baseline="-25000">
              <a:latin typeface="Arial" pitchFamily="34" charset="0"/>
              <a:ea typeface="楷体_GB2312" pitchFamily="49" charset="-122"/>
            </a:endParaRPr>
          </a:p>
        </p:txBody>
      </p:sp>
      <p:sp>
        <p:nvSpPr>
          <p:cNvPr id="75802" name="Line 26"/>
          <p:cNvSpPr>
            <a:spLocks noChangeShapeType="1"/>
          </p:cNvSpPr>
          <p:nvPr/>
        </p:nvSpPr>
        <p:spPr bwMode="auto">
          <a:xfrm>
            <a:off x="914400" y="3657600"/>
            <a:ext cx="304800" cy="0"/>
          </a:xfrm>
          <a:prstGeom prst="line">
            <a:avLst/>
          </a:prstGeom>
          <a:noFill/>
          <a:ln w="9525">
            <a:solidFill>
              <a:srgbClr val="800080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75803" name="Text Box 27"/>
          <p:cNvSpPr txBox="1">
            <a:spLocks noChangeArrowheads="1"/>
          </p:cNvSpPr>
          <p:nvPr/>
        </p:nvSpPr>
        <p:spPr bwMode="auto">
          <a:xfrm>
            <a:off x="2209800" y="3352800"/>
            <a:ext cx="561975" cy="46672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>
                <a:latin typeface="Arial" pitchFamily="34" charset="0"/>
                <a:ea typeface="楷体_GB2312" pitchFamily="49" charset="-122"/>
              </a:rPr>
              <a:t>q</a:t>
            </a:r>
            <a:r>
              <a:rPr lang="en-US" altLang="zh-CN" sz="2400" baseline="-25000">
                <a:latin typeface="Arial" pitchFamily="34" charset="0"/>
                <a:ea typeface="楷体_GB2312" pitchFamily="49" charset="-122"/>
              </a:rPr>
              <a:t>2</a:t>
            </a:r>
          </a:p>
        </p:txBody>
      </p:sp>
      <p:sp>
        <p:nvSpPr>
          <p:cNvPr id="75804" name="Text Box 28"/>
          <p:cNvSpPr txBox="1">
            <a:spLocks noChangeArrowheads="1"/>
          </p:cNvSpPr>
          <p:nvPr/>
        </p:nvSpPr>
        <p:spPr bwMode="auto">
          <a:xfrm>
            <a:off x="3048000" y="3352800"/>
            <a:ext cx="587375" cy="46672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>
                <a:latin typeface="Arial" pitchFamily="34" charset="0"/>
                <a:ea typeface="楷体_GB2312" pitchFamily="49" charset="-122"/>
              </a:rPr>
              <a:t>q</a:t>
            </a:r>
            <a:r>
              <a:rPr lang="en-US" altLang="zh-CN" sz="2400" baseline="-25000">
                <a:latin typeface="Arial" pitchFamily="34" charset="0"/>
                <a:ea typeface="楷体_GB2312" pitchFamily="49" charset="-122"/>
              </a:rPr>
              <a:t>1</a:t>
            </a:r>
          </a:p>
        </p:txBody>
      </p:sp>
      <p:sp>
        <p:nvSpPr>
          <p:cNvPr id="75805" name="Text Box 29"/>
          <p:cNvSpPr txBox="1">
            <a:spLocks noChangeArrowheads="1"/>
          </p:cNvSpPr>
          <p:nvPr/>
        </p:nvSpPr>
        <p:spPr bwMode="auto">
          <a:xfrm>
            <a:off x="2209800" y="3962400"/>
            <a:ext cx="561975" cy="46672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>
                <a:latin typeface="Arial" pitchFamily="34" charset="0"/>
                <a:ea typeface="楷体_GB2312" pitchFamily="49" charset="-122"/>
              </a:rPr>
              <a:t>q</a:t>
            </a:r>
            <a:r>
              <a:rPr lang="en-US" altLang="zh-CN" sz="2400" baseline="-25000">
                <a:latin typeface="Arial" pitchFamily="34" charset="0"/>
                <a:ea typeface="楷体_GB2312" pitchFamily="49" charset="-122"/>
              </a:rPr>
              <a:t>3</a:t>
            </a:r>
          </a:p>
        </p:txBody>
      </p:sp>
      <p:sp>
        <p:nvSpPr>
          <p:cNvPr id="75806" name="Text Box 30"/>
          <p:cNvSpPr txBox="1">
            <a:spLocks noChangeArrowheads="1"/>
          </p:cNvSpPr>
          <p:nvPr/>
        </p:nvSpPr>
        <p:spPr bwMode="auto">
          <a:xfrm>
            <a:off x="3048000" y="3962400"/>
            <a:ext cx="587375" cy="46672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>
                <a:latin typeface="Arial" pitchFamily="34" charset="0"/>
                <a:ea typeface="楷体_GB2312" pitchFamily="49" charset="-122"/>
              </a:rPr>
              <a:t>q</a:t>
            </a:r>
            <a:r>
              <a:rPr lang="en-US" altLang="zh-CN" sz="2400" baseline="-25000">
                <a:latin typeface="Arial" pitchFamily="34" charset="0"/>
                <a:ea typeface="楷体_GB2312" pitchFamily="49" charset="-122"/>
              </a:rPr>
              <a:t>0</a:t>
            </a:r>
          </a:p>
        </p:txBody>
      </p:sp>
      <p:sp>
        <p:nvSpPr>
          <p:cNvPr id="75807" name="Text Box 31"/>
          <p:cNvSpPr txBox="1">
            <a:spLocks noChangeArrowheads="1"/>
          </p:cNvSpPr>
          <p:nvPr/>
        </p:nvSpPr>
        <p:spPr bwMode="auto">
          <a:xfrm>
            <a:off x="2209800" y="4562475"/>
            <a:ext cx="561975" cy="46672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>
                <a:latin typeface="Arial" pitchFamily="34" charset="0"/>
                <a:ea typeface="楷体_GB2312" pitchFamily="49" charset="-122"/>
              </a:rPr>
              <a:t>q</a:t>
            </a:r>
            <a:r>
              <a:rPr lang="en-US" altLang="zh-CN" sz="2400" baseline="-25000">
                <a:latin typeface="Arial" pitchFamily="34" charset="0"/>
                <a:ea typeface="楷体_GB2312" pitchFamily="49" charset="-122"/>
              </a:rPr>
              <a:t>0</a:t>
            </a:r>
          </a:p>
        </p:txBody>
      </p:sp>
      <p:sp>
        <p:nvSpPr>
          <p:cNvPr id="75808" name="Text Box 32"/>
          <p:cNvSpPr txBox="1">
            <a:spLocks noChangeArrowheads="1"/>
          </p:cNvSpPr>
          <p:nvPr/>
        </p:nvSpPr>
        <p:spPr bwMode="auto">
          <a:xfrm>
            <a:off x="3048000" y="4562475"/>
            <a:ext cx="515938" cy="46672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>
                <a:latin typeface="Arial" pitchFamily="34" charset="0"/>
                <a:ea typeface="楷体_GB2312" pitchFamily="49" charset="-122"/>
              </a:rPr>
              <a:t>q</a:t>
            </a:r>
            <a:r>
              <a:rPr lang="en-US" altLang="zh-CN" sz="2400" baseline="-25000">
                <a:latin typeface="Arial" pitchFamily="34" charset="0"/>
                <a:ea typeface="楷体_GB2312" pitchFamily="49" charset="-122"/>
              </a:rPr>
              <a:t>3</a:t>
            </a:r>
          </a:p>
        </p:txBody>
      </p:sp>
      <p:sp>
        <p:nvSpPr>
          <p:cNvPr id="75809" name="Text Box 33"/>
          <p:cNvSpPr txBox="1">
            <a:spLocks noChangeArrowheads="1"/>
          </p:cNvSpPr>
          <p:nvPr/>
        </p:nvSpPr>
        <p:spPr bwMode="auto">
          <a:xfrm>
            <a:off x="2209800" y="5172075"/>
            <a:ext cx="561975" cy="46672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>
                <a:latin typeface="Arial" pitchFamily="34" charset="0"/>
                <a:ea typeface="楷体_GB2312" pitchFamily="49" charset="-122"/>
              </a:rPr>
              <a:t>q</a:t>
            </a:r>
            <a:r>
              <a:rPr lang="en-US" altLang="zh-CN" sz="2400" baseline="-25000">
                <a:latin typeface="Arial" pitchFamily="34" charset="0"/>
                <a:ea typeface="楷体_GB2312" pitchFamily="49" charset="-122"/>
              </a:rPr>
              <a:t>1</a:t>
            </a:r>
          </a:p>
        </p:txBody>
      </p:sp>
      <p:sp>
        <p:nvSpPr>
          <p:cNvPr id="75810" name="Text Box 34"/>
          <p:cNvSpPr txBox="1">
            <a:spLocks noChangeArrowheads="1"/>
          </p:cNvSpPr>
          <p:nvPr/>
        </p:nvSpPr>
        <p:spPr bwMode="auto">
          <a:xfrm>
            <a:off x="3048000" y="5172075"/>
            <a:ext cx="515938" cy="46672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>
                <a:latin typeface="Arial" pitchFamily="34" charset="0"/>
                <a:ea typeface="楷体_GB2312" pitchFamily="49" charset="-122"/>
              </a:rPr>
              <a:t>q</a:t>
            </a:r>
            <a:r>
              <a:rPr lang="en-US" altLang="zh-CN" sz="2400" baseline="-25000">
                <a:latin typeface="Arial" pitchFamily="34" charset="0"/>
                <a:ea typeface="楷体_GB2312" pitchFamily="49" charset="-122"/>
              </a:rPr>
              <a:t>2</a:t>
            </a:r>
          </a:p>
        </p:txBody>
      </p:sp>
      <p:sp>
        <p:nvSpPr>
          <p:cNvPr id="75816" name="Rectangle 40"/>
          <p:cNvSpPr>
            <a:spLocks noChangeArrowheads="1"/>
          </p:cNvSpPr>
          <p:nvPr/>
        </p:nvSpPr>
        <p:spPr bwMode="auto">
          <a:xfrm>
            <a:off x="3851275" y="3195638"/>
            <a:ext cx="4572000" cy="325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buFont typeface="Symbol" pitchFamily="18" charset="2"/>
              <a:buChar char="-"/>
            </a:pPr>
            <a:r>
              <a:rPr lang="en-US" altLang="zh-CN" sz="2800" i="0" dirty="0">
                <a:latin typeface="Arial" pitchFamily="34" charset="0"/>
                <a:ea typeface="楷体_GB2312" pitchFamily="49" charset="-122"/>
              </a:rPr>
              <a:t> </a:t>
            </a:r>
            <a:r>
              <a:rPr lang="zh-CN" altLang="en-US" sz="2800" i="0" dirty="0">
                <a:latin typeface="Arial" pitchFamily="34" charset="0"/>
                <a:ea typeface="楷体_GB2312" pitchFamily="49" charset="-122"/>
              </a:rPr>
              <a:t>举例 </a:t>
            </a:r>
          </a:p>
          <a:p>
            <a:pPr algn="l">
              <a:spcBef>
                <a:spcPct val="50000"/>
              </a:spcBef>
              <a:buFont typeface="Wingdings" pitchFamily="2" charset="2"/>
              <a:buNone/>
            </a:pPr>
            <a:r>
              <a:rPr lang="zh-CN" altLang="en-US" sz="24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     </a:t>
            </a:r>
            <a:r>
              <a:rPr lang="zh-CN" altLang="en-US" sz="2400" dirty="0">
                <a:latin typeface="Arial" pitchFamily="34" charset="0"/>
                <a:ea typeface="楷体_GB2312" pitchFamily="49" charset="-122"/>
                <a:sym typeface="Symbol" pitchFamily="18" charset="2"/>
              </a:rPr>
              <a:t> </a:t>
            </a:r>
            <a:r>
              <a:rPr lang="en-US" altLang="zh-CN" sz="24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(</a:t>
            </a:r>
            <a:r>
              <a:rPr lang="en-US" altLang="zh-CN" sz="24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q</a:t>
            </a:r>
            <a:r>
              <a:rPr lang="en-US" altLang="zh-CN" sz="2400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0 </a:t>
            </a:r>
            <a:r>
              <a:rPr lang="en-US" altLang="zh-CN" sz="24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, )</a:t>
            </a:r>
            <a:r>
              <a:rPr lang="en-US" altLang="zh-CN" sz="2400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 </a:t>
            </a:r>
            <a:r>
              <a:rPr lang="en-US" altLang="zh-CN" sz="24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= </a:t>
            </a:r>
            <a:r>
              <a:rPr lang="en-US" altLang="zh-CN" sz="24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q</a:t>
            </a:r>
            <a:r>
              <a:rPr lang="en-US" altLang="zh-CN" sz="2400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0 </a:t>
            </a:r>
            <a:endParaRPr lang="en-US" altLang="zh-CN" sz="2400" dirty="0">
              <a:solidFill>
                <a:srgbClr val="333399"/>
              </a:solidFill>
              <a:latin typeface="Arial" pitchFamily="34" charset="0"/>
              <a:ea typeface="楷体_GB2312" pitchFamily="49" charset="-122"/>
              <a:sym typeface="Symbol" pitchFamily="18" charset="2"/>
            </a:endParaRPr>
          </a:p>
          <a:p>
            <a:pPr algn="l"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 sz="24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      (</a:t>
            </a:r>
            <a:r>
              <a:rPr lang="en-US" altLang="zh-CN" sz="24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q</a:t>
            </a:r>
            <a:r>
              <a:rPr lang="en-US" altLang="zh-CN" sz="2400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0 </a:t>
            </a:r>
            <a:r>
              <a:rPr lang="en-US" altLang="zh-CN" sz="24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, 0)</a:t>
            </a:r>
            <a:r>
              <a:rPr lang="en-US" altLang="zh-CN" sz="2400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lang="en-US" altLang="zh-CN" sz="24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=  (</a:t>
            </a:r>
            <a:r>
              <a:rPr lang="en-US" altLang="zh-CN" sz="24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q</a:t>
            </a:r>
            <a:r>
              <a:rPr lang="en-US" altLang="zh-CN" sz="2400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0 </a:t>
            </a:r>
            <a:r>
              <a:rPr lang="en-US" altLang="zh-CN" sz="24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, 0)</a:t>
            </a:r>
            <a:r>
              <a:rPr lang="en-US" altLang="zh-CN" sz="2400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lang="en-US" altLang="zh-CN" sz="24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= </a:t>
            </a:r>
            <a:r>
              <a:rPr lang="en-US" altLang="zh-CN" sz="24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q</a:t>
            </a:r>
            <a:r>
              <a:rPr lang="en-US" altLang="zh-CN" sz="2400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2</a:t>
            </a:r>
          </a:p>
          <a:p>
            <a:pPr algn="l"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 sz="24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      (</a:t>
            </a:r>
            <a:r>
              <a:rPr lang="en-US" altLang="zh-CN" sz="24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q</a:t>
            </a:r>
            <a:r>
              <a:rPr lang="en-US" altLang="zh-CN" sz="2400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0 </a:t>
            </a:r>
            <a:r>
              <a:rPr lang="en-US" altLang="zh-CN" sz="24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, 00)</a:t>
            </a:r>
            <a:r>
              <a:rPr lang="en-US" altLang="zh-CN" sz="2400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lang="en-US" altLang="zh-CN" sz="24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= (</a:t>
            </a:r>
            <a:r>
              <a:rPr lang="en-US" altLang="zh-CN" sz="24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q</a:t>
            </a:r>
            <a:r>
              <a:rPr lang="en-US" altLang="zh-CN" sz="2400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2 </a:t>
            </a:r>
            <a:r>
              <a:rPr lang="en-US" altLang="zh-CN" sz="24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, 0)</a:t>
            </a:r>
            <a:r>
              <a:rPr lang="en-US" altLang="zh-CN" sz="2400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lang="en-US" altLang="zh-CN" sz="24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= </a:t>
            </a:r>
            <a:r>
              <a:rPr lang="en-US" altLang="zh-CN" sz="24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q</a:t>
            </a:r>
            <a:r>
              <a:rPr lang="en-US" altLang="zh-CN" sz="2400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0</a:t>
            </a:r>
          </a:p>
          <a:p>
            <a:pPr algn="l"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 sz="24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      (</a:t>
            </a:r>
            <a:r>
              <a:rPr lang="en-US" altLang="zh-CN" sz="24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q</a:t>
            </a:r>
            <a:r>
              <a:rPr lang="en-US" altLang="zh-CN" sz="2400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0 </a:t>
            </a:r>
            <a:r>
              <a:rPr lang="en-US" altLang="zh-CN" sz="24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, 001)</a:t>
            </a:r>
            <a:r>
              <a:rPr lang="en-US" altLang="zh-CN" sz="2400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lang="en-US" altLang="zh-CN" sz="24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=  (</a:t>
            </a:r>
            <a:r>
              <a:rPr lang="en-US" altLang="zh-CN" sz="24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q</a:t>
            </a:r>
            <a:r>
              <a:rPr lang="en-US" altLang="zh-CN" sz="2400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0 </a:t>
            </a:r>
            <a:r>
              <a:rPr lang="en-US" altLang="zh-CN" sz="24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, 1)</a:t>
            </a:r>
            <a:r>
              <a:rPr lang="en-US" altLang="zh-CN" sz="2400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lang="en-US" altLang="zh-CN" sz="24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= </a:t>
            </a:r>
            <a:r>
              <a:rPr lang="en-US" altLang="zh-CN" sz="24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q</a:t>
            </a:r>
            <a:r>
              <a:rPr lang="en-US" altLang="zh-CN" sz="2400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1</a:t>
            </a:r>
          </a:p>
          <a:p>
            <a:pPr algn="l"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 sz="24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      (</a:t>
            </a:r>
            <a:r>
              <a:rPr lang="en-US" altLang="zh-CN" sz="24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q</a:t>
            </a:r>
            <a:r>
              <a:rPr lang="en-US" altLang="zh-CN" sz="2400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0 </a:t>
            </a:r>
            <a:r>
              <a:rPr lang="en-US" altLang="zh-CN" sz="24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, 0010)</a:t>
            </a:r>
            <a:r>
              <a:rPr lang="en-US" altLang="zh-CN" sz="2400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lang="en-US" altLang="zh-CN" sz="24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=  (</a:t>
            </a:r>
            <a:r>
              <a:rPr lang="en-US" altLang="zh-CN" sz="24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q</a:t>
            </a:r>
            <a:r>
              <a:rPr lang="en-US" altLang="zh-CN" sz="2400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1 </a:t>
            </a:r>
            <a:r>
              <a:rPr lang="en-US" altLang="zh-CN" sz="24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, 0)</a:t>
            </a:r>
            <a:r>
              <a:rPr lang="en-US" altLang="zh-CN" sz="2400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lang="en-US" altLang="zh-CN" sz="24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= </a:t>
            </a:r>
            <a:r>
              <a:rPr lang="en-US" altLang="zh-CN" sz="24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q</a:t>
            </a:r>
            <a:r>
              <a:rPr lang="en-US" altLang="zh-CN" sz="2400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3</a:t>
            </a:r>
          </a:p>
        </p:txBody>
      </p:sp>
      <p:sp>
        <p:nvSpPr>
          <p:cNvPr id="75818" name="Rectangle 42"/>
          <p:cNvSpPr>
            <a:spLocks noChangeArrowheads="1"/>
          </p:cNvSpPr>
          <p:nvPr/>
        </p:nvSpPr>
        <p:spPr bwMode="auto">
          <a:xfrm>
            <a:off x="1476375" y="195263"/>
            <a:ext cx="3887788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4000" i="0">
                <a:ea typeface="华文行楷" pitchFamily="2" charset="-122"/>
              </a:rPr>
              <a:t>确定有限自动机</a:t>
            </a:r>
          </a:p>
        </p:txBody>
      </p:sp>
      <p:sp>
        <p:nvSpPr>
          <p:cNvPr id="75819" name="Text Box 43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827087" y="1268413"/>
            <a:ext cx="6769239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 i="0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200" i="0" dirty="0">
                <a:latin typeface="楷体_GB2312" pitchFamily="49" charset="-122"/>
                <a:ea typeface="楷体_GB2312" pitchFamily="49" charset="-122"/>
              </a:rPr>
              <a:t>扩展转移函数适合于输入字符串</a:t>
            </a:r>
          </a:p>
        </p:txBody>
      </p:sp>
      <p:grpSp>
        <p:nvGrpSpPr>
          <p:cNvPr id="75824" name="Group 48"/>
          <p:cNvGrpSpPr>
            <a:grpSpLocks/>
          </p:cNvGrpSpPr>
          <p:nvPr/>
        </p:nvGrpSpPr>
        <p:grpSpPr bwMode="auto">
          <a:xfrm>
            <a:off x="5940425" y="1989138"/>
            <a:ext cx="2952750" cy="2344737"/>
            <a:chOff x="3742" y="1253"/>
            <a:chExt cx="1860" cy="1477"/>
          </a:xfrm>
        </p:grpSpPr>
        <p:graphicFrame>
          <p:nvGraphicFramePr>
            <p:cNvPr id="75817" name="Object 41"/>
            <p:cNvGraphicFramePr>
              <a:graphicFrameLocks noChangeAspect="1"/>
            </p:cNvGraphicFramePr>
            <p:nvPr/>
          </p:nvGraphicFramePr>
          <p:xfrm>
            <a:off x="3742" y="1253"/>
            <a:ext cx="1860" cy="14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2" imgW="3203640" imgH="2543040" progId="Visio.Drawing.11">
                    <p:embed/>
                  </p:oleObj>
                </mc:Choice>
                <mc:Fallback>
                  <p:oleObj name="VISIO" r:id="rId2" imgW="3203640" imgH="2543040" progId="Visio.Drawing.11">
                    <p:embed/>
                    <p:pic>
                      <p:nvPicPr>
                        <p:cNvPr id="75817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2" y="1253"/>
                          <a:ext cx="1860" cy="14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5820" name="Text Box 44"/>
            <p:cNvSpPr txBox="1">
              <a:spLocks noChangeArrowheads="1"/>
            </p:cNvSpPr>
            <p:nvPr/>
          </p:nvSpPr>
          <p:spPr bwMode="auto">
            <a:xfrm>
              <a:off x="5132" y="1366"/>
              <a:ext cx="28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en-US" altLang="zh-CN"/>
                <a:t>q</a:t>
              </a:r>
              <a:r>
                <a:rPr lang="en-US" altLang="zh-CN" baseline="-25000"/>
                <a:t>1</a:t>
              </a:r>
            </a:p>
          </p:txBody>
        </p:sp>
        <p:sp>
          <p:nvSpPr>
            <p:cNvPr id="75821" name="Text Box 45"/>
            <p:cNvSpPr txBox="1">
              <a:spLocks noChangeArrowheads="1"/>
            </p:cNvSpPr>
            <p:nvPr/>
          </p:nvSpPr>
          <p:spPr bwMode="auto">
            <a:xfrm>
              <a:off x="4195" y="1366"/>
              <a:ext cx="28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en-US" altLang="zh-CN" dirty="0"/>
                <a:t>q</a:t>
              </a:r>
              <a:r>
                <a:rPr lang="en-US" altLang="zh-CN" baseline="-25000" dirty="0"/>
                <a:t>0</a:t>
              </a:r>
            </a:p>
          </p:txBody>
        </p:sp>
        <p:sp>
          <p:nvSpPr>
            <p:cNvPr id="75822" name="Text Box 46"/>
            <p:cNvSpPr txBox="1">
              <a:spLocks noChangeArrowheads="1"/>
            </p:cNvSpPr>
            <p:nvPr/>
          </p:nvSpPr>
          <p:spPr bwMode="auto">
            <a:xfrm>
              <a:off x="5148" y="2296"/>
              <a:ext cx="28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en-US" altLang="zh-CN"/>
                <a:t>q</a:t>
              </a:r>
              <a:r>
                <a:rPr lang="en-US" altLang="zh-CN" baseline="-25000"/>
                <a:t>3</a:t>
              </a:r>
            </a:p>
          </p:txBody>
        </p:sp>
        <p:sp>
          <p:nvSpPr>
            <p:cNvPr id="75823" name="Text Box 47"/>
            <p:cNvSpPr txBox="1">
              <a:spLocks noChangeArrowheads="1"/>
            </p:cNvSpPr>
            <p:nvPr/>
          </p:nvSpPr>
          <p:spPr bwMode="auto">
            <a:xfrm>
              <a:off x="4195" y="2296"/>
              <a:ext cx="28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en-US" altLang="zh-CN"/>
                <a:t>q</a:t>
              </a:r>
              <a:r>
                <a:rPr lang="en-US" altLang="zh-CN" baseline="-25000"/>
                <a:t>2</a:t>
              </a:r>
            </a:p>
          </p:txBody>
        </p:sp>
      </p:grpSp>
      <p:sp>
        <p:nvSpPr>
          <p:cNvPr id="38" name="文本框 37">
            <a:extLst>
              <a:ext uri="{FF2B5EF4-FFF2-40B4-BE49-F238E27FC236}">
                <a16:creationId xmlns:a16="http://schemas.microsoft.com/office/drawing/2014/main" id="{587793E6-73B2-FE4A-B11D-88B08CA67A07}"/>
              </a:ext>
            </a:extLst>
          </p:cNvPr>
          <p:cNvSpPr txBox="1"/>
          <p:nvPr/>
        </p:nvSpPr>
        <p:spPr>
          <a:xfrm>
            <a:off x="8604448" y="6471931"/>
            <a:ext cx="5395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0" i="0" dirty="0">
                <a:solidFill>
                  <a:srgbClr val="000066"/>
                </a:solidFill>
              </a:rPr>
              <a:t>2</a:t>
            </a:r>
            <a:r>
              <a:rPr lang="en-US" altLang="zh-CN" b="0" i="0" dirty="0">
                <a:solidFill>
                  <a:srgbClr val="000066"/>
                </a:solidFill>
              </a:rPr>
              <a:t>5</a:t>
            </a:r>
            <a:endParaRPr kumimoji="1" lang="zh-CN" altLang="en-US" sz="2000" b="0" i="0" dirty="0">
              <a:solidFill>
                <a:srgbClr val="000066"/>
              </a:solidFill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758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758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758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758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758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18" name="Rectangle 42"/>
          <p:cNvSpPr>
            <a:spLocks noChangeArrowheads="1"/>
          </p:cNvSpPr>
          <p:nvPr/>
        </p:nvSpPr>
        <p:spPr bwMode="auto">
          <a:xfrm>
            <a:off x="1476374" y="195263"/>
            <a:ext cx="7056065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</a:pPr>
            <a:r>
              <a:rPr lang="en" altLang="zh-CN" sz="4000" i="0" dirty="0">
                <a:ea typeface="华文行楷" pitchFamily="2" charset="-122"/>
              </a:rPr>
              <a:t>DFA</a:t>
            </a:r>
            <a:r>
              <a:rPr lang="zh-CN" altLang="en-US" sz="4000" i="0" dirty="0">
                <a:ea typeface="华文行楷" pitchFamily="2" charset="-122"/>
              </a:rPr>
              <a:t>的语言与正则语言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587793E6-73B2-FE4A-B11D-88B08CA67A07}"/>
              </a:ext>
            </a:extLst>
          </p:cNvPr>
          <p:cNvSpPr txBox="1"/>
          <p:nvPr/>
        </p:nvSpPr>
        <p:spPr>
          <a:xfrm>
            <a:off x="8604448" y="6471931"/>
            <a:ext cx="5395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0" i="0" dirty="0">
                <a:solidFill>
                  <a:srgbClr val="000066"/>
                </a:solidFill>
              </a:rPr>
              <a:t>2</a:t>
            </a:r>
            <a:r>
              <a:rPr lang="en-US" altLang="zh-CN" b="0" i="0" dirty="0">
                <a:solidFill>
                  <a:srgbClr val="000066"/>
                </a:solidFill>
              </a:rPr>
              <a:t>5</a:t>
            </a:r>
            <a:endParaRPr kumimoji="1" lang="zh-CN" altLang="en-US" sz="2000" b="0" i="0" dirty="0">
              <a:solidFill>
                <a:srgbClr val="0000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23F16C06-CAB1-D747-AF6D-FDA691F6147B}"/>
                  </a:ext>
                </a:extLst>
              </p:cNvPr>
              <p:cNvSpPr txBox="1"/>
              <p:nvPr/>
            </p:nvSpPr>
            <p:spPr>
              <a:xfrm>
                <a:off x="827088" y="1340768"/>
                <a:ext cx="8137400" cy="18648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zh-CN" altLang="en-US" sz="2800" i="0" dirty="0">
                    <a:latin typeface="+mn-lt"/>
                    <a:ea typeface="KaiTi_GB2312" panose="02010609030101010101" pitchFamily="49" charset="-122"/>
                  </a:rPr>
                  <a:t>若</a:t>
                </a:r>
                <a14:m>
                  <m:oMath xmlns:m="http://schemas.openxmlformats.org/officeDocument/2006/math">
                    <m:r>
                      <a:rPr lang="en-AU" altLang="zh-CN" sz="28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AU" altLang="zh-CN" sz="2800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AU" altLang="zh-CN" sz="28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AU" altLang="zh-CN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l-GR" altLang="zh-CN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𝛴</m:t>
                    </m:r>
                    <m:r>
                      <a:rPr lang="en-AU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zh-CN" altLang="en-AU" sz="280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AU" altLang="zh-CN" sz="28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8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AU" altLang="zh-CN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altLang="zh-CN" sz="28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AU" altLang="zh-CN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i="0" dirty="0">
                    <a:latin typeface="+mn-lt"/>
                    <a:ea typeface="KaiTi_GB2312" panose="02010609030101010101" pitchFamily="49" charset="-122"/>
                  </a:rPr>
                  <a:t>是一个</a:t>
                </a:r>
                <a:r>
                  <a:rPr lang="en-AU" altLang="zh-CN" sz="2800" i="0" dirty="0">
                    <a:latin typeface="+mn-lt"/>
                    <a:ea typeface="KaiTi_GB2312" panose="02010609030101010101" pitchFamily="49" charset="-122"/>
                    <a:cs typeface="Times New Roman" panose="02020603050405020304" pitchFamily="18" charset="0"/>
                  </a:rPr>
                  <a:t>DFA</a:t>
                </a:r>
                <a:r>
                  <a:rPr lang="en-AU" altLang="zh-CN" sz="2800" i="0" dirty="0">
                    <a:latin typeface="+mn-lt"/>
                    <a:ea typeface="KaiTi_GB2312" panose="02010609030101010101" pitchFamily="49" charset="-122"/>
                  </a:rPr>
                  <a:t>,</a:t>
                </a:r>
                <a:r>
                  <a:rPr lang="zh-CN" altLang="en-US" sz="2800" i="0" dirty="0">
                    <a:latin typeface="+mn-lt"/>
                    <a:ea typeface="KaiTi_GB2312" panose="02010609030101010101" pitchFamily="49" charset="-122"/>
                  </a:rPr>
                  <a:t>则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altLang="zh-CN" sz="2800" b="0" i="0" smtClean="0"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lang="zh-CN" altLang="en-US" sz="2800" i="0" dirty="0">
                    <a:latin typeface="+mn-lt"/>
                    <a:ea typeface="KaiTi_GB2312" panose="02010609030101010101" pitchFamily="49" charset="-122"/>
                  </a:rPr>
                  <a:t>接受的语言为</a:t>
                </a:r>
                <a:endParaRPr lang="en-AU" altLang="zh-CN" sz="2800" i="0" dirty="0">
                  <a:latin typeface="+mn-lt"/>
                  <a:ea typeface="KaiTi_GB2312" panose="02010609030101010101" pitchFamily="49" charset="-122"/>
                </a:endParaRPr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altLang="zh-CN" sz="2800" i="1" dirty="0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AU" altLang="zh-CN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altLang="zh-CN" sz="2800" i="1" dirty="0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AU" altLang="zh-CN" sz="28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altLang="zh-CN" sz="2800" b="0" i="1" dirty="0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AU" altLang="zh-CN" sz="2800" b="0" i="1" dirty="0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AU" altLang="zh-CN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AU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l-GR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𝛴</m:t>
                          </m:r>
                        </m:e>
                        <m:sup>
                          <m:r>
                            <a:rPr lang="en-AU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AU" altLang="zh-CN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acc>
                        <m:accPr>
                          <m:chr m:val="̂"/>
                          <m:ctrlPr>
                            <a:rPr lang="en-AU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AU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</m:acc>
                      <m:r>
                        <a:rPr lang="en-AU" altLang="zh-CN" sz="28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AU" altLang="zh-CN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altLang="zh-CN" sz="28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AU" altLang="zh-CN" sz="28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AU" altLang="zh-CN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AU" altLang="zh-CN" sz="2800" b="0" i="1" dirty="0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AU" altLang="zh-CN" sz="2800" b="0" i="1" dirty="0" smtClean="0">
                          <a:latin typeface="Cambria Math" panose="02040503050406030204" pitchFamily="18" charset="0"/>
                        </a:rPr>
                        <m:t>)∈</m:t>
                      </m:r>
                      <m:r>
                        <a:rPr lang="en-AU" altLang="zh-CN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r>
                        <a:rPr lang="en-AU" altLang="zh-CN" sz="2800" b="0" i="1" dirty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AU" altLang="zh-CN" sz="2800" dirty="0">
                  <a:latin typeface="+mn-lt"/>
                  <a:ea typeface="KaiTi_GB2312" panose="02010609030101010101" pitchFamily="49" charset="-122"/>
                </a:endParaRPr>
              </a:p>
              <a:p>
                <a:pPr marL="0" indent="0" algn="l">
                  <a:buNone/>
                </a:pPr>
                <a:r>
                  <a:rPr lang="zh-CN" altLang="en-US" sz="2800" i="0" dirty="0">
                    <a:latin typeface="+mn-lt"/>
                    <a:ea typeface="KaiTi_GB2312" panose="02010609030101010101" pitchFamily="49" charset="-122"/>
                  </a:rPr>
                  <a:t>即所有能使</a:t>
                </a:r>
                <a:r>
                  <a:rPr lang="en-AU" altLang="zh-CN" sz="2800" i="0" dirty="0">
                    <a:latin typeface="+mn-lt"/>
                    <a:ea typeface="KaiTi_GB2312" panose="02010609030101010101" pitchFamily="49" charset="-122"/>
                    <a:cs typeface="Times New Roman" panose="02020603050405020304" pitchFamily="18" charset="0"/>
                  </a:rPr>
                  <a:t>DFA</a:t>
                </a:r>
                <a:r>
                  <a:rPr lang="zh-CN" altLang="en-US" sz="2800" i="0" dirty="0">
                    <a:latin typeface="+mn-lt"/>
                    <a:ea typeface="KaiTi_GB2312" panose="02010609030101010101" pitchFamily="49" charset="-122"/>
                  </a:rPr>
                  <a:t>从开始状态到达接受状态的符号串集合。𝛿 ̂与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AU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AU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</m:acc>
                  </m:oMath>
                </a14:m>
                <a:r>
                  <a:rPr lang="zh-CN" altLang="en-AU" sz="2800" i="0" dirty="0">
                    <a:latin typeface="+mn-lt"/>
                    <a:ea typeface="KaiTi_GB2312" panose="02010609030101010101" pitchFamily="49" charset="-122"/>
                  </a:rPr>
                  <a:t>都</a:t>
                </a:r>
                <a:r>
                  <a:rPr lang="zh-CN" altLang="en-US" sz="2800" i="0" dirty="0">
                    <a:latin typeface="+mn-lt"/>
                    <a:ea typeface="KaiTi_GB2312" panose="02010609030101010101" pitchFamily="49" charset="-122"/>
                  </a:rPr>
                  <a:t>可以表示扩展转移函数。</a:t>
                </a:r>
                <a:endParaRPr lang="en-AU" altLang="zh-CN" sz="2800" i="0" dirty="0">
                  <a:latin typeface="+mn-lt"/>
                  <a:ea typeface="KaiTi_GB2312" panose="02010609030101010101" pitchFamily="49" charset="-122"/>
                </a:endParaRPr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23F16C06-CAB1-D747-AF6D-FDA691F614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088" y="1340768"/>
                <a:ext cx="8137400" cy="1864869"/>
              </a:xfrm>
              <a:prstGeom prst="rect">
                <a:avLst/>
              </a:prstGeom>
              <a:blipFill>
                <a:blip r:embed="rId2"/>
                <a:stretch>
                  <a:fillRect l="-1558" t="-4054" r="-156" b="-81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A6DC2883-6D4C-C745-AABE-CDD5B3AB866A}"/>
                  </a:ext>
                </a:extLst>
              </p:cNvPr>
              <p:cNvSpPr txBox="1"/>
              <p:nvPr/>
            </p:nvSpPr>
            <p:spPr>
              <a:xfrm>
                <a:off x="827088" y="3422237"/>
                <a:ext cx="7705350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zh-CN" altLang="en-US" sz="2800" i="0" dirty="0">
                    <a:latin typeface="KaiTi_GB2312" panose="02010609030101010101" pitchFamily="49" charset="-122"/>
                    <a:ea typeface="KaiTi_GB2312" panose="02010609030101010101" pitchFamily="49" charset="-122"/>
                  </a:rPr>
                  <a:t>定义</a:t>
                </a:r>
                <a:r>
                  <a:rPr lang="en-AU" altLang="zh-CN" sz="2800" i="0" dirty="0">
                    <a:latin typeface="KaiTi_GB2312" panose="02010609030101010101" pitchFamily="49" charset="-122"/>
                    <a:ea typeface="KaiTi_GB2312" panose="02010609030101010101" pitchFamily="49" charset="-122"/>
                  </a:rPr>
                  <a:t>:</a:t>
                </a:r>
                <a:r>
                  <a:rPr lang="zh-CN" altLang="en-US" sz="2800" i="0" dirty="0">
                    <a:latin typeface="KaiTi_GB2312" panose="02010609030101010101" pitchFamily="49" charset="-122"/>
                    <a:ea typeface="KaiTi_GB2312" panose="02010609030101010101" pitchFamily="49" charset="-122"/>
                  </a:rPr>
                  <a:t>如果语言</a:t>
                </a:r>
                <a14:m>
                  <m:oMath xmlns:m="http://schemas.openxmlformats.org/officeDocument/2006/math">
                    <m:r>
                      <a:rPr lang="en-US" altLang="zh-CN" sz="2800" b="1" i="0" dirty="0" smtClean="0">
                        <a:latin typeface="Cambria Math" panose="02040503050406030204" pitchFamily="18" charset="0"/>
                      </a:rPr>
                      <m:t>𝐋</m:t>
                    </m:r>
                  </m:oMath>
                </a14:m>
                <a:r>
                  <a:rPr lang="zh-CN" altLang="en-US" sz="2800" i="0" dirty="0">
                    <a:latin typeface="KaiTi_GB2312" panose="02010609030101010101" pitchFamily="49" charset="-122"/>
                    <a:ea typeface="KaiTi_GB2312" panose="02010609030101010101" pitchFamily="49" charset="-122"/>
                  </a:rPr>
                  <a:t>是某个</a:t>
                </a:r>
                <a:r>
                  <a:rPr lang="en-AU" altLang="zh-CN" sz="2800" i="0" dirty="0">
                    <a:latin typeface="KaiTi_GB2312" panose="02010609030101010101" pitchFamily="49" charset="-122"/>
                    <a:ea typeface="KaiTi_GB2312" panose="02010609030101010101" pitchFamily="49" charset="-122"/>
                    <a:cs typeface="Times New Roman" panose="02020603050405020304" pitchFamily="18" charset="0"/>
                  </a:rPr>
                  <a:t>DFA</a:t>
                </a:r>
                <a:r>
                  <a:rPr lang="en-AU" altLang="zh-CN" sz="2800" i="0" dirty="0">
                    <a:latin typeface="KaiTi_GB2312" panose="02010609030101010101" pitchFamily="49" charset="-122"/>
                    <a:ea typeface="KaiTi_GB2312" panose="0201060903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AU" altLang="zh-CN" sz="2800" b="1" i="0" smtClean="0">
                        <a:latin typeface="Cambria Math" panose="02040503050406030204" pitchFamily="18" charset="0"/>
                      </a:rPr>
                      <m:t>𝐃</m:t>
                    </m:r>
                  </m:oMath>
                </a14:m>
                <a:r>
                  <a:rPr lang="zh-CN" altLang="en-US" sz="2800" i="0" dirty="0">
                    <a:latin typeface="KaiTi_GB2312" panose="02010609030101010101" pitchFamily="49" charset="-122"/>
                    <a:ea typeface="KaiTi_GB2312" panose="02010609030101010101" pitchFamily="49" charset="-122"/>
                  </a:rPr>
                  <a:t>的语言，则称其为正则语言。</a:t>
                </a:r>
                <a:endParaRPr lang="en-AU" altLang="zh-CN" sz="2800" i="0" dirty="0">
                  <a:latin typeface="KaiTi_GB2312" panose="02010609030101010101" pitchFamily="49" charset="-122"/>
                  <a:ea typeface="KaiTi_GB2312" panose="02010609030101010101" pitchFamily="49" charset="-122"/>
                </a:endParaRPr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A6DC2883-6D4C-C745-AABE-CDD5B3AB86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088" y="3422237"/>
                <a:ext cx="7705350" cy="954107"/>
              </a:xfrm>
              <a:prstGeom prst="rect">
                <a:avLst/>
              </a:prstGeom>
              <a:blipFill>
                <a:blip r:embed="rId3"/>
                <a:stretch>
                  <a:fillRect l="-1647" t="-7895" r="-494" b="-171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1974462"/>
      </p:ext>
    </p:extLst>
  </p:cSld>
  <p:clrMapOvr>
    <a:masterClrMapping/>
  </p:clrMapOvr>
  <p:transition spd="med"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18" name="Rectangle 42"/>
          <p:cNvSpPr>
            <a:spLocks noChangeArrowheads="1"/>
          </p:cNvSpPr>
          <p:nvPr/>
        </p:nvSpPr>
        <p:spPr bwMode="auto">
          <a:xfrm>
            <a:off x="1476374" y="195263"/>
            <a:ext cx="7056065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</a:pPr>
            <a:r>
              <a:rPr lang="en" altLang="zh-CN" sz="4000" i="0" dirty="0">
                <a:ea typeface="华文行楷" pitchFamily="2" charset="-122"/>
              </a:rPr>
              <a:t>DFA</a:t>
            </a:r>
            <a:r>
              <a:rPr lang="zh-CN" altLang="en-US" sz="4000" i="0" dirty="0">
                <a:ea typeface="华文行楷" pitchFamily="2" charset="-122"/>
              </a:rPr>
              <a:t>的语言与正则语言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587793E6-73B2-FE4A-B11D-88B08CA67A07}"/>
              </a:ext>
            </a:extLst>
          </p:cNvPr>
          <p:cNvSpPr txBox="1"/>
          <p:nvPr/>
        </p:nvSpPr>
        <p:spPr>
          <a:xfrm>
            <a:off x="8604448" y="6471931"/>
            <a:ext cx="5395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0" i="0" dirty="0">
                <a:solidFill>
                  <a:srgbClr val="000066"/>
                </a:solidFill>
              </a:rPr>
              <a:t>2</a:t>
            </a:r>
            <a:r>
              <a:rPr lang="en-US" altLang="zh-CN" b="0" i="0" dirty="0">
                <a:solidFill>
                  <a:srgbClr val="000066"/>
                </a:solidFill>
              </a:rPr>
              <a:t>5</a:t>
            </a:r>
            <a:endParaRPr kumimoji="1" lang="zh-CN" altLang="en-US" sz="2000" b="0" i="0" dirty="0">
              <a:solidFill>
                <a:srgbClr val="0000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23F16C06-CAB1-D747-AF6D-FDA691F6147B}"/>
                  </a:ext>
                </a:extLst>
              </p:cNvPr>
              <p:cNvSpPr txBox="1"/>
              <p:nvPr/>
            </p:nvSpPr>
            <p:spPr>
              <a:xfrm>
                <a:off x="827088" y="1340768"/>
                <a:ext cx="8137400" cy="18648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zh-CN" altLang="en-US" sz="2800" i="0" dirty="0">
                    <a:latin typeface="+mn-lt"/>
                    <a:ea typeface="KaiTi_GB2312" panose="02010609030101010101" pitchFamily="49" charset="-122"/>
                  </a:rPr>
                  <a:t>若</a:t>
                </a:r>
                <a14:m>
                  <m:oMath xmlns:m="http://schemas.openxmlformats.org/officeDocument/2006/math">
                    <m:r>
                      <a:rPr lang="en-AU" altLang="zh-CN" sz="28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AU" altLang="zh-CN" sz="2800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AU" altLang="zh-CN" sz="28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AU" altLang="zh-CN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l-GR" altLang="zh-CN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𝛴</m:t>
                    </m:r>
                    <m:r>
                      <a:rPr lang="en-AU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zh-CN" altLang="en-AU" sz="280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AU" altLang="zh-CN" sz="28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8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AU" altLang="zh-CN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altLang="zh-CN" sz="28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AU" altLang="zh-CN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i="0" dirty="0">
                    <a:latin typeface="+mn-lt"/>
                    <a:ea typeface="KaiTi_GB2312" panose="02010609030101010101" pitchFamily="49" charset="-122"/>
                  </a:rPr>
                  <a:t>是一个</a:t>
                </a:r>
                <a:r>
                  <a:rPr lang="en-AU" altLang="zh-CN" sz="2800" i="0" dirty="0">
                    <a:latin typeface="+mn-lt"/>
                    <a:ea typeface="KaiTi_GB2312" panose="02010609030101010101" pitchFamily="49" charset="-122"/>
                    <a:cs typeface="Times New Roman" panose="02020603050405020304" pitchFamily="18" charset="0"/>
                  </a:rPr>
                  <a:t>DFA</a:t>
                </a:r>
                <a:r>
                  <a:rPr lang="en-AU" altLang="zh-CN" sz="2800" i="0" dirty="0">
                    <a:latin typeface="+mn-lt"/>
                    <a:ea typeface="KaiTi_GB2312" panose="02010609030101010101" pitchFamily="49" charset="-122"/>
                  </a:rPr>
                  <a:t>,</a:t>
                </a:r>
                <a:r>
                  <a:rPr lang="zh-CN" altLang="en-US" sz="2800" i="0" dirty="0">
                    <a:latin typeface="+mn-lt"/>
                    <a:ea typeface="KaiTi_GB2312" panose="02010609030101010101" pitchFamily="49" charset="-122"/>
                  </a:rPr>
                  <a:t>则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altLang="zh-CN" sz="2800" b="0" i="0" smtClean="0"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lang="zh-CN" altLang="en-US" sz="2800" i="0" dirty="0">
                    <a:latin typeface="+mn-lt"/>
                    <a:ea typeface="KaiTi_GB2312" panose="02010609030101010101" pitchFamily="49" charset="-122"/>
                  </a:rPr>
                  <a:t>接受的语言为</a:t>
                </a:r>
                <a:endParaRPr lang="en-AU" altLang="zh-CN" sz="2800" i="0" dirty="0">
                  <a:latin typeface="+mn-lt"/>
                  <a:ea typeface="KaiTi_GB2312" panose="02010609030101010101" pitchFamily="49" charset="-122"/>
                </a:endParaRPr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altLang="zh-CN" sz="2800" i="1" dirty="0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AU" altLang="zh-CN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altLang="zh-CN" sz="2800" i="1" dirty="0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AU" altLang="zh-CN" sz="28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altLang="zh-CN" sz="2800" b="0" i="1" dirty="0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AU" altLang="zh-CN" sz="2800" b="0" i="1" dirty="0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AU" altLang="zh-CN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AU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l-GR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𝛴</m:t>
                          </m:r>
                        </m:e>
                        <m:sup>
                          <m:r>
                            <a:rPr lang="en-AU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AU" altLang="zh-CN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acc>
                        <m:accPr>
                          <m:chr m:val="̂"/>
                          <m:ctrlPr>
                            <a:rPr lang="en-AU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AU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</m:acc>
                      <m:r>
                        <a:rPr lang="en-AU" altLang="zh-CN" sz="28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AU" altLang="zh-CN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altLang="zh-CN" sz="28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AU" altLang="zh-CN" sz="28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AU" altLang="zh-CN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AU" altLang="zh-CN" sz="2800" b="0" i="1" dirty="0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AU" altLang="zh-CN" sz="2800" b="0" i="1" dirty="0" smtClean="0">
                          <a:latin typeface="Cambria Math" panose="02040503050406030204" pitchFamily="18" charset="0"/>
                        </a:rPr>
                        <m:t>)∈</m:t>
                      </m:r>
                      <m:r>
                        <a:rPr lang="en-AU" altLang="zh-CN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r>
                        <a:rPr lang="en-AU" altLang="zh-CN" sz="2800" b="0" i="1" dirty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AU" altLang="zh-CN" sz="2800" dirty="0">
                  <a:latin typeface="+mn-lt"/>
                  <a:ea typeface="KaiTi_GB2312" panose="02010609030101010101" pitchFamily="49" charset="-122"/>
                </a:endParaRPr>
              </a:p>
              <a:p>
                <a:pPr marL="0" indent="0" algn="l">
                  <a:buNone/>
                </a:pPr>
                <a:r>
                  <a:rPr lang="zh-CN" altLang="en-US" sz="2800" i="0" dirty="0">
                    <a:latin typeface="+mn-lt"/>
                    <a:ea typeface="KaiTi_GB2312" panose="02010609030101010101" pitchFamily="49" charset="-122"/>
                  </a:rPr>
                  <a:t>即所有能使</a:t>
                </a:r>
                <a:r>
                  <a:rPr lang="en-AU" altLang="zh-CN" sz="2800" i="0" dirty="0">
                    <a:latin typeface="+mn-lt"/>
                    <a:ea typeface="KaiTi_GB2312" panose="02010609030101010101" pitchFamily="49" charset="-122"/>
                    <a:cs typeface="Times New Roman" panose="02020603050405020304" pitchFamily="18" charset="0"/>
                  </a:rPr>
                  <a:t>DFA</a:t>
                </a:r>
                <a:r>
                  <a:rPr lang="zh-CN" altLang="en-US" sz="2800" i="0" dirty="0">
                    <a:latin typeface="+mn-lt"/>
                    <a:ea typeface="KaiTi_GB2312" panose="02010609030101010101" pitchFamily="49" charset="-122"/>
                  </a:rPr>
                  <a:t>从开始状态到达接受状态的符号串集合。𝛿 ̂与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AU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AU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</m:acc>
                  </m:oMath>
                </a14:m>
                <a:r>
                  <a:rPr lang="zh-CN" altLang="en-AU" sz="2800" i="0" dirty="0">
                    <a:latin typeface="+mn-lt"/>
                    <a:ea typeface="KaiTi_GB2312" panose="02010609030101010101" pitchFamily="49" charset="-122"/>
                  </a:rPr>
                  <a:t>都</a:t>
                </a:r>
                <a:r>
                  <a:rPr lang="zh-CN" altLang="en-US" sz="2800" i="0" dirty="0">
                    <a:latin typeface="+mn-lt"/>
                    <a:ea typeface="KaiTi_GB2312" panose="02010609030101010101" pitchFamily="49" charset="-122"/>
                  </a:rPr>
                  <a:t>可以表示扩展转移函数。</a:t>
                </a:r>
                <a:endParaRPr lang="en-AU" altLang="zh-CN" sz="2800" i="0" dirty="0">
                  <a:latin typeface="+mn-lt"/>
                  <a:ea typeface="KaiTi_GB2312" panose="02010609030101010101" pitchFamily="49" charset="-122"/>
                </a:endParaRPr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23F16C06-CAB1-D747-AF6D-FDA691F614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088" y="1340768"/>
                <a:ext cx="8137400" cy="1864869"/>
              </a:xfrm>
              <a:prstGeom prst="rect">
                <a:avLst/>
              </a:prstGeom>
              <a:blipFill>
                <a:blip r:embed="rId2"/>
                <a:stretch>
                  <a:fillRect l="-1558" t="-4054" r="-156" b="-81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9E22522B-CA29-6E45-8D4C-11232AF88D85}"/>
                  </a:ext>
                </a:extLst>
              </p:cNvPr>
              <p:cNvSpPr txBox="1"/>
              <p:nvPr/>
            </p:nvSpPr>
            <p:spPr>
              <a:xfrm>
                <a:off x="827088" y="3422237"/>
                <a:ext cx="7705350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zh-CN" altLang="en-US" sz="2800" i="0" dirty="0">
                    <a:latin typeface="KaiTi_GB2312" panose="02010609030101010101" pitchFamily="49" charset="-122"/>
                    <a:ea typeface="KaiTi_GB2312" panose="02010609030101010101" pitchFamily="49" charset="-122"/>
                  </a:rPr>
                  <a:t>定义</a:t>
                </a:r>
                <a:r>
                  <a:rPr lang="en-AU" altLang="zh-CN" sz="2800" i="0" dirty="0">
                    <a:latin typeface="KaiTi_GB2312" panose="02010609030101010101" pitchFamily="49" charset="-122"/>
                    <a:ea typeface="KaiTi_GB2312" panose="02010609030101010101" pitchFamily="49" charset="-122"/>
                  </a:rPr>
                  <a:t>:</a:t>
                </a:r>
                <a:r>
                  <a:rPr lang="zh-CN" altLang="en-US" sz="2800" i="0" dirty="0">
                    <a:latin typeface="KaiTi_GB2312" panose="02010609030101010101" pitchFamily="49" charset="-122"/>
                    <a:ea typeface="KaiTi_GB2312" panose="02010609030101010101" pitchFamily="49" charset="-122"/>
                  </a:rPr>
                  <a:t>如果语言</a:t>
                </a:r>
                <a14:m>
                  <m:oMath xmlns:m="http://schemas.openxmlformats.org/officeDocument/2006/math">
                    <m:r>
                      <a:rPr lang="en-US" altLang="zh-CN" sz="2800" b="1" i="0" dirty="0" smtClean="0">
                        <a:latin typeface="Cambria Math" panose="02040503050406030204" pitchFamily="18" charset="0"/>
                      </a:rPr>
                      <m:t>𝐋</m:t>
                    </m:r>
                  </m:oMath>
                </a14:m>
                <a:r>
                  <a:rPr lang="zh-CN" altLang="en-US" sz="2800" i="0" dirty="0">
                    <a:latin typeface="KaiTi_GB2312" panose="02010609030101010101" pitchFamily="49" charset="-122"/>
                    <a:ea typeface="KaiTi_GB2312" panose="02010609030101010101" pitchFamily="49" charset="-122"/>
                  </a:rPr>
                  <a:t>是某个</a:t>
                </a:r>
                <a:r>
                  <a:rPr lang="en-AU" altLang="zh-CN" sz="2800" i="0" dirty="0">
                    <a:latin typeface="KaiTi_GB2312" panose="02010609030101010101" pitchFamily="49" charset="-122"/>
                    <a:ea typeface="KaiTi_GB2312" panose="02010609030101010101" pitchFamily="49" charset="-122"/>
                    <a:cs typeface="Times New Roman" panose="02020603050405020304" pitchFamily="18" charset="0"/>
                  </a:rPr>
                  <a:t>DFA</a:t>
                </a:r>
                <a:r>
                  <a:rPr lang="en-AU" altLang="zh-CN" sz="2800" i="0" dirty="0">
                    <a:latin typeface="KaiTi_GB2312" panose="02010609030101010101" pitchFamily="49" charset="-122"/>
                    <a:ea typeface="KaiTi_GB2312" panose="0201060903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AU" altLang="zh-CN" sz="2800" b="1" i="0" smtClean="0">
                        <a:latin typeface="Cambria Math" panose="02040503050406030204" pitchFamily="18" charset="0"/>
                      </a:rPr>
                      <m:t>𝐃</m:t>
                    </m:r>
                  </m:oMath>
                </a14:m>
                <a:r>
                  <a:rPr lang="zh-CN" altLang="en-US" sz="2800" i="0" dirty="0">
                    <a:latin typeface="KaiTi_GB2312" panose="02010609030101010101" pitchFamily="49" charset="-122"/>
                    <a:ea typeface="KaiTi_GB2312" panose="02010609030101010101" pitchFamily="49" charset="-122"/>
                  </a:rPr>
                  <a:t>的语言，则称其为正则语言。</a:t>
                </a:r>
                <a:endParaRPr lang="en-AU" altLang="zh-CN" sz="2800" i="0" dirty="0">
                  <a:latin typeface="KaiTi_GB2312" panose="02010609030101010101" pitchFamily="49" charset="-122"/>
                  <a:ea typeface="KaiTi_GB2312" panose="02010609030101010101" pitchFamily="49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9E22522B-CA29-6E45-8D4C-11232AF88D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088" y="3422237"/>
                <a:ext cx="7705350" cy="954107"/>
              </a:xfrm>
              <a:prstGeom prst="rect">
                <a:avLst/>
              </a:prstGeom>
              <a:blipFill>
                <a:blip r:embed="rId3"/>
                <a:stretch>
                  <a:fillRect l="-1647" t="-7895" r="-494" b="-171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图片 9">
            <a:extLst>
              <a:ext uri="{FF2B5EF4-FFF2-40B4-BE49-F238E27FC236}">
                <a16:creationId xmlns:a16="http://schemas.microsoft.com/office/drawing/2014/main" id="{7F70F0A2-5E0E-0A42-9B48-F90408A693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600" y="4018675"/>
            <a:ext cx="2952328" cy="158827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27B679DB-6584-234F-81FA-D953BE755FF3}"/>
                  </a:ext>
                </a:extLst>
              </p:cNvPr>
              <p:cNvSpPr txBox="1"/>
              <p:nvPr/>
            </p:nvSpPr>
            <p:spPr>
              <a:xfrm>
                <a:off x="467544" y="5495505"/>
                <a:ext cx="4596712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 lang="en-AU" altLang="zh-CN" i="0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zh-CN" altLang="en-US" i="0" dirty="0">
                    <a:solidFill>
                      <a:srgbClr val="011893"/>
                    </a:solidFill>
                    <a:latin typeface="KaiTi_GB2312" panose="02010609030101010101" pitchFamily="49" charset="-122"/>
                    <a:ea typeface="KaiTi_GB2312" panose="02010609030101010101" pitchFamily="49" charset="-122"/>
                  </a:rPr>
                  <a:t>的</a:t>
                </a:r>
                <a:r>
                  <a:rPr lang="en-AU" altLang="zh-CN" i="0" dirty="0">
                    <a:solidFill>
                      <a:srgbClr val="011893"/>
                    </a:solidFill>
                    <a:latin typeface="KaiTi_GB2312" panose="02010609030101010101" pitchFamily="49" charset="-122"/>
                    <a:ea typeface="KaiTi_GB2312" panose="02010609030101010101" pitchFamily="49" charset="-122"/>
                  </a:rPr>
                  <a:t>DFA: </a:t>
                </a:r>
                <a:r>
                  <a:rPr lang="zh-CN" altLang="en-US" i="0" dirty="0">
                    <a:solidFill>
                      <a:srgbClr val="011893"/>
                    </a:solidFill>
                    <a:latin typeface="KaiTi_GB2312" panose="02010609030101010101" pitchFamily="49" charset="-122"/>
                    <a:ea typeface="KaiTi_GB2312" panose="02010609030101010101" pitchFamily="49" charset="-122"/>
                  </a:rPr>
                  <a:t>无接受状态，即该</a:t>
                </a:r>
                <a:r>
                  <a:rPr lang="en-AU" altLang="zh-CN" i="0" dirty="0">
                    <a:solidFill>
                      <a:srgbClr val="011893"/>
                    </a:solidFill>
                    <a:latin typeface="KaiTi_GB2312" panose="02010609030101010101" pitchFamily="49" charset="-122"/>
                    <a:ea typeface="KaiTi_GB2312" panose="02010609030101010101" pitchFamily="49" charset="-122"/>
                  </a:rPr>
                  <a:t>DFA</a:t>
                </a:r>
                <a:r>
                  <a:rPr lang="zh-CN" altLang="en-US" i="0" dirty="0">
                    <a:solidFill>
                      <a:srgbClr val="011893"/>
                    </a:solidFill>
                    <a:latin typeface="KaiTi_GB2312" panose="02010609030101010101" pitchFamily="49" charset="-122"/>
                    <a:ea typeface="KaiTi_GB2312" panose="02010609030101010101" pitchFamily="49" charset="-122"/>
                  </a:rPr>
                  <a:t>不接受任何符号串（包括空串</a:t>
                </a:r>
                <a:r>
                  <a:rPr lang="en-AU" altLang="zh-CN" i="0" dirty="0">
                    <a:solidFill>
                      <a:srgbClr val="011893"/>
                    </a:solidFill>
                    <a:latin typeface="KaiTi_GB2312" panose="02010609030101010101" pitchFamily="49" charset="-122"/>
                    <a:ea typeface="KaiTi_GB2312" panose="02010609030101010101" pitchFamily="49" charset="-122"/>
                  </a:rPr>
                  <a:t>)</a:t>
                </a:r>
                <a:r>
                  <a:rPr lang="zh-CN" altLang="en-US" i="0" dirty="0">
                    <a:solidFill>
                      <a:srgbClr val="011893"/>
                    </a:solidFill>
                    <a:latin typeface="KaiTi_GB2312" panose="02010609030101010101" pitchFamily="49" charset="-122"/>
                    <a:ea typeface="KaiTi_GB2312" panose="02010609030101010101" pitchFamily="49" charset="-122"/>
                  </a:rPr>
                  <a:t>。</a:t>
                </a:r>
                <a:endParaRPr lang="en-AU" altLang="zh-CN" i="0" dirty="0">
                  <a:solidFill>
                    <a:srgbClr val="011893"/>
                  </a:solidFill>
                  <a:latin typeface="KaiTi_GB2312" panose="02010609030101010101" pitchFamily="49" charset="-122"/>
                  <a:ea typeface="KaiTi_GB2312" panose="02010609030101010101" pitchFamily="49" charset="-122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27B679DB-6584-234F-81FA-D953BE755F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5495505"/>
                <a:ext cx="4596712" cy="707886"/>
              </a:xfrm>
              <a:prstGeom prst="rect">
                <a:avLst/>
              </a:prstGeom>
              <a:blipFill>
                <a:blip r:embed="rId5"/>
                <a:stretch>
                  <a:fillRect l="-1377" t="-5263" b="-140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5606259"/>
      </p:ext>
    </p:extLst>
  </p:cSld>
  <p:clrMapOvr>
    <a:masterClrMapping/>
  </p:clrMapOvr>
  <p:transition spd="med"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18" name="Rectangle 42"/>
          <p:cNvSpPr>
            <a:spLocks noChangeArrowheads="1"/>
          </p:cNvSpPr>
          <p:nvPr/>
        </p:nvSpPr>
        <p:spPr bwMode="auto">
          <a:xfrm>
            <a:off x="1476374" y="195263"/>
            <a:ext cx="7056065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</a:pPr>
            <a:r>
              <a:rPr lang="en" altLang="zh-CN" sz="4000" i="0" dirty="0">
                <a:ea typeface="华文行楷" pitchFamily="2" charset="-122"/>
              </a:rPr>
              <a:t>DFA</a:t>
            </a:r>
            <a:r>
              <a:rPr lang="zh-CN" altLang="en-US" sz="4000" i="0" dirty="0">
                <a:ea typeface="华文行楷" pitchFamily="2" charset="-122"/>
              </a:rPr>
              <a:t>的语言与正则语言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587793E6-73B2-FE4A-B11D-88B08CA67A07}"/>
              </a:ext>
            </a:extLst>
          </p:cNvPr>
          <p:cNvSpPr txBox="1"/>
          <p:nvPr/>
        </p:nvSpPr>
        <p:spPr>
          <a:xfrm>
            <a:off x="8604448" y="6471931"/>
            <a:ext cx="5395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0" i="0" dirty="0">
                <a:solidFill>
                  <a:srgbClr val="000066"/>
                </a:solidFill>
              </a:rPr>
              <a:t>2</a:t>
            </a:r>
            <a:r>
              <a:rPr lang="en-US" altLang="zh-CN" b="0" i="0" dirty="0">
                <a:solidFill>
                  <a:srgbClr val="000066"/>
                </a:solidFill>
              </a:rPr>
              <a:t>5</a:t>
            </a:r>
            <a:endParaRPr kumimoji="1" lang="zh-CN" altLang="en-US" sz="2000" b="0" i="0" dirty="0">
              <a:solidFill>
                <a:srgbClr val="0000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23F16C06-CAB1-D747-AF6D-FDA691F6147B}"/>
                  </a:ext>
                </a:extLst>
              </p:cNvPr>
              <p:cNvSpPr txBox="1"/>
              <p:nvPr/>
            </p:nvSpPr>
            <p:spPr>
              <a:xfrm>
                <a:off x="827088" y="1340768"/>
                <a:ext cx="8137400" cy="18648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zh-CN" altLang="en-US" sz="2800" i="0" dirty="0">
                    <a:latin typeface="+mn-lt"/>
                    <a:ea typeface="KaiTi_GB2312" panose="02010609030101010101" pitchFamily="49" charset="-122"/>
                  </a:rPr>
                  <a:t>若</a:t>
                </a:r>
                <a14:m>
                  <m:oMath xmlns:m="http://schemas.openxmlformats.org/officeDocument/2006/math">
                    <m:r>
                      <a:rPr lang="en-AU" altLang="zh-CN" sz="28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AU" altLang="zh-CN" sz="2800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AU" altLang="zh-CN" sz="28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AU" altLang="zh-CN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l-GR" altLang="zh-CN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𝛴</m:t>
                    </m:r>
                    <m:r>
                      <a:rPr lang="en-AU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zh-CN" altLang="en-AU" sz="280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AU" altLang="zh-CN" sz="28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8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AU" altLang="zh-CN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altLang="zh-CN" sz="28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AU" altLang="zh-CN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i="0" dirty="0">
                    <a:latin typeface="+mn-lt"/>
                    <a:ea typeface="KaiTi_GB2312" panose="02010609030101010101" pitchFamily="49" charset="-122"/>
                  </a:rPr>
                  <a:t>是一个</a:t>
                </a:r>
                <a:r>
                  <a:rPr lang="en-AU" altLang="zh-CN" sz="2800" i="0" dirty="0">
                    <a:latin typeface="+mn-lt"/>
                    <a:ea typeface="KaiTi_GB2312" panose="02010609030101010101" pitchFamily="49" charset="-122"/>
                    <a:cs typeface="Times New Roman" panose="02020603050405020304" pitchFamily="18" charset="0"/>
                  </a:rPr>
                  <a:t>DFA</a:t>
                </a:r>
                <a:r>
                  <a:rPr lang="en-AU" altLang="zh-CN" sz="2800" i="0" dirty="0">
                    <a:latin typeface="+mn-lt"/>
                    <a:ea typeface="KaiTi_GB2312" panose="02010609030101010101" pitchFamily="49" charset="-122"/>
                  </a:rPr>
                  <a:t>,</a:t>
                </a:r>
                <a:r>
                  <a:rPr lang="zh-CN" altLang="en-US" sz="2800" i="0" dirty="0">
                    <a:latin typeface="+mn-lt"/>
                    <a:ea typeface="KaiTi_GB2312" panose="02010609030101010101" pitchFamily="49" charset="-122"/>
                  </a:rPr>
                  <a:t>则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altLang="zh-CN" sz="2800" b="0" i="0" smtClean="0"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lang="zh-CN" altLang="en-US" sz="2800" i="0" dirty="0">
                    <a:latin typeface="+mn-lt"/>
                    <a:ea typeface="KaiTi_GB2312" panose="02010609030101010101" pitchFamily="49" charset="-122"/>
                  </a:rPr>
                  <a:t>接受的语言为</a:t>
                </a:r>
                <a:endParaRPr lang="en-AU" altLang="zh-CN" sz="2800" i="0" dirty="0">
                  <a:latin typeface="+mn-lt"/>
                  <a:ea typeface="KaiTi_GB2312" panose="02010609030101010101" pitchFamily="49" charset="-122"/>
                </a:endParaRPr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altLang="zh-CN" sz="2800" i="1" dirty="0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AU" altLang="zh-CN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altLang="zh-CN" sz="2800" i="1" dirty="0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AU" altLang="zh-CN" sz="28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altLang="zh-CN" sz="2800" b="0" i="1" dirty="0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AU" altLang="zh-CN" sz="2800" b="0" i="1" dirty="0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AU" altLang="zh-CN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AU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l-GR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𝛴</m:t>
                          </m:r>
                        </m:e>
                        <m:sup>
                          <m:r>
                            <a:rPr lang="en-AU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AU" altLang="zh-CN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acc>
                        <m:accPr>
                          <m:chr m:val="̂"/>
                          <m:ctrlPr>
                            <a:rPr lang="en-AU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AU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</m:acc>
                      <m:r>
                        <a:rPr lang="en-AU" altLang="zh-CN" sz="28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AU" altLang="zh-CN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altLang="zh-CN" sz="28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AU" altLang="zh-CN" sz="28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AU" altLang="zh-CN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AU" altLang="zh-CN" sz="2800" b="0" i="1" dirty="0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AU" altLang="zh-CN" sz="2800" b="0" i="1" dirty="0" smtClean="0">
                          <a:latin typeface="Cambria Math" panose="02040503050406030204" pitchFamily="18" charset="0"/>
                        </a:rPr>
                        <m:t>)∈</m:t>
                      </m:r>
                      <m:r>
                        <a:rPr lang="en-AU" altLang="zh-CN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r>
                        <a:rPr lang="en-AU" altLang="zh-CN" sz="2800" b="0" i="1" dirty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AU" altLang="zh-CN" sz="2800" dirty="0">
                  <a:latin typeface="+mn-lt"/>
                  <a:ea typeface="KaiTi_GB2312" panose="02010609030101010101" pitchFamily="49" charset="-122"/>
                </a:endParaRPr>
              </a:p>
              <a:p>
                <a:pPr marL="0" indent="0" algn="l">
                  <a:buNone/>
                </a:pPr>
                <a:r>
                  <a:rPr lang="zh-CN" altLang="en-US" sz="2800" i="0" dirty="0">
                    <a:latin typeface="+mn-lt"/>
                    <a:ea typeface="KaiTi_GB2312" panose="02010609030101010101" pitchFamily="49" charset="-122"/>
                  </a:rPr>
                  <a:t>即所有能使</a:t>
                </a:r>
                <a:r>
                  <a:rPr lang="en-AU" altLang="zh-CN" sz="2800" i="0" dirty="0">
                    <a:latin typeface="+mn-lt"/>
                    <a:ea typeface="KaiTi_GB2312" panose="02010609030101010101" pitchFamily="49" charset="-122"/>
                    <a:cs typeface="Times New Roman" panose="02020603050405020304" pitchFamily="18" charset="0"/>
                  </a:rPr>
                  <a:t>DFA</a:t>
                </a:r>
                <a:r>
                  <a:rPr lang="zh-CN" altLang="en-US" sz="2800" i="0" dirty="0">
                    <a:latin typeface="+mn-lt"/>
                    <a:ea typeface="KaiTi_GB2312" panose="02010609030101010101" pitchFamily="49" charset="-122"/>
                  </a:rPr>
                  <a:t>从开始状态到达接受状态的符号串集合。𝛿 ̂与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AU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AU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</m:acc>
                  </m:oMath>
                </a14:m>
                <a:r>
                  <a:rPr lang="zh-CN" altLang="en-AU" sz="2800" i="0" dirty="0">
                    <a:latin typeface="+mn-lt"/>
                    <a:ea typeface="KaiTi_GB2312" panose="02010609030101010101" pitchFamily="49" charset="-122"/>
                  </a:rPr>
                  <a:t>都</a:t>
                </a:r>
                <a:r>
                  <a:rPr lang="zh-CN" altLang="en-US" sz="2800" i="0" dirty="0">
                    <a:latin typeface="+mn-lt"/>
                    <a:ea typeface="KaiTi_GB2312" panose="02010609030101010101" pitchFamily="49" charset="-122"/>
                  </a:rPr>
                  <a:t>可以表示扩展转移函数。</a:t>
                </a:r>
                <a:endParaRPr lang="en-AU" altLang="zh-CN" sz="2800" i="0" dirty="0">
                  <a:latin typeface="+mn-lt"/>
                  <a:ea typeface="KaiTi_GB2312" panose="02010609030101010101" pitchFamily="49" charset="-122"/>
                </a:endParaRPr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23F16C06-CAB1-D747-AF6D-FDA691F614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088" y="1340768"/>
                <a:ext cx="8137400" cy="1864869"/>
              </a:xfrm>
              <a:prstGeom prst="rect">
                <a:avLst/>
              </a:prstGeom>
              <a:blipFill>
                <a:blip r:embed="rId2"/>
                <a:stretch>
                  <a:fillRect l="-1558" t="-4054" r="-156" b="-81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04613411-9370-8E40-95C5-227B9C195142}"/>
                  </a:ext>
                </a:extLst>
              </p:cNvPr>
              <p:cNvSpPr txBox="1"/>
              <p:nvPr/>
            </p:nvSpPr>
            <p:spPr>
              <a:xfrm>
                <a:off x="827088" y="3422237"/>
                <a:ext cx="7705350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zh-CN" altLang="en-US" sz="2800" i="0" dirty="0">
                    <a:latin typeface="KaiTi_GB2312" panose="02010609030101010101" pitchFamily="49" charset="-122"/>
                    <a:ea typeface="KaiTi_GB2312" panose="02010609030101010101" pitchFamily="49" charset="-122"/>
                  </a:rPr>
                  <a:t>定义</a:t>
                </a:r>
                <a:r>
                  <a:rPr lang="en-AU" altLang="zh-CN" sz="2800" i="0" dirty="0">
                    <a:latin typeface="KaiTi_GB2312" panose="02010609030101010101" pitchFamily="49" charset="-122"/>
                    <a:ea typeface="KaiTi_GB2312" panose="02010609030101010101" pitchFamily="49" charset="-122"/>
                  </a:rPr>
                  <a:t>:</a:t>
                </a:r>
                <a:r>
                  <a:rPr lang="zh-CN" altLang="en-US" sz="2800" i="0" dirty="0">
                    <a:latin typeface="KaiTi_GB2312" panose="02010609030101010101" pitchFamily="49" charset="-122"/>
                    <a:ea typeface="KaiTi_GB2312" panose="02010609030101010101" pitchFamily="49" charset="-122"/>
                  </a:rPr>
                  <a:t>如果语言</a:t>
                </a:r>
                <a14:m>
                  <m:oMath xmlns:m="http://schemas.openxmlformats.org/officeDocument/2006/math">
                    <m:r>
                      <a:rPr lang="en-US" altLang="zh-CN" sz="2800" b="1" i="0" dirty="0" smtClean="0">
                        <a:latin typeface="Cambria Math" panose="02040503050406030204" pitchFamily="18" charset="0"/>
                      </a:rPr>
                      <m:t>𝐋</m:t>
                    </m:r>
                  </m:oMath>
                </a14:m>
                <a:r>
                  <a:rPr lang="zh-CN" altLang="en-US" sz="2800" i="0" dirty="0">
                    <a:latin typeface="KaiTi_GB2312" panose="02010609030101010101" pitchFamily="49" charset="-122"/>
                    <a:ea typeface="KaiTi_GB2312" panose="02010609030101010101" pitchFamily="49" charset="-122"/>
                  </a:rPr>
                  <a:t>是某个</a:t>
                </a:r>
                <a:r>
                  <a:rPr lang="en-AU" altLang="zh-CN" sz="2800" i="0" dirty="0">
                    <a:latin typeface="KaiTi_GB2312" panose="02010609030101010101" pitchFamily="49" charset="-122"/>
                    <a:ea typeface="KaiTi_GB2312" panose="02010609030101010101" pitchFamily="49" charset="-122"/>
                    <a:cs typeface="Times New Roman" panose="02020603050405020304" pitchFamily="18" charset="0"/>
                  </a:rPr>
                  <a:t>DFA</a:t>
                </a:r>
                <a:r>
                  <a:rPr lang="en-AU" altLang="zh-CN" sz="2800" i="0" dirty="0">
                    <a:latin typeface="KaiTi_GB2312" panose="02010609030101010101" pitchFamily="49" charset="-122"/>
                    <a:ea typeface="KaiTi_GB2312" panose="0201060903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AU" altLang="zh-CN" sz="2800" b="1" i="0" smtClean="0">
                        <a:latin typeface="Cambria Math" panose="02040503050406030204" pitchFamily="18" charset="0"/>
                      </a:rPr>
                      <m:t>𝐃</m:t>
                    </m:r>
                  </m:oMath>
                </a14:m>
                <a:r>
                  <a:rPr lang="zh-CN" altLang="en-US" sz="2800" i="0" dirty="0">
                    <a:latin typeface="KaiTi_GB2312" panose="02010609030101010101" pitchFamily="49" charset="-122"/>
                    <a:ea typeface="KaiTi_GB2312" panose="02010609030101010101" pitchFamily="49" charset="-122"/>
                  </a:rPr>
                  <a:t>的语言，则称其为正则语言。</a:t>
                </a:r>
                <a:endParaRPr lang="en-AU" altLang="zh-CN" sz="2800" i="0" dirty="0">
                  <a:latin typeface="KaiTi_GB2312" panose="02010609030101010101" pitchFamily="49" charset="-122"/>
                  <a:ea typeface="KaiTi_GB2312" panose="02010609030101010101" pitchFamily="49" charset="-122"/>
                </a:endParaRPr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04613411-9370-8E40-95C5-227B9C1951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088" y="3422237"/>
                <a:ext cx="7705350" cy="954107"/>
              </a:xfrm>
              <a:prstGeom prst="rect">
                <a:avLst/>
              </a:prstGeom>
              <a:blipFill>
                <a:blip r:embed="rId4"/>
                <a:stretch>
                  <a:fillRect l="-1647" t="-7895" r="-494" b="-171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>
            <a:extLst>
              <a:ext uri="{FF2B5EF4-FFF2-40B4-BE49-F238E27FC236}">
                <a16:creationId xmlns:a16="http://schemas.microsoft.com/office/drawing/2014/main" id="{FA1B29D0-BCBC-9140-A8C9-FE8D3A51C6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600" y="4018675"/>
            <a:ext cx="2952328" cy="1588278"/>
          </a:xfrm>
          <a:prstGeom prst="rect">
            <a:avLst/>
          </a:prstGeom>
        </p:spPr>
      </p:pic>
      <p:graphicFrame>
        <p:nvGraphicFramePr>
          <p:cNvPr id="7" name="对象 12">
            <a:extLst>
              <a:ext uri="{FF2B5EF4-FFF2-40B4-BE49-F238E27FC236}">
                <a16:creationId xmlns:a16="http://schemas.microsoft.com/office/drawing/2014/main" id="{B1DC894F-6B78-5249-A681-8211D7B2D1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9780139"/>
              </p:ext>
            </p:extLst>
          </p:nvPr>
        </p:nvGraphicFramePr>
        <p:xfrm>
          <a:off x="5231786" y="4197887"/>
          <a:ext cx="3240360" cy="13299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1816100" imgH="812800" progId="Visio.Drawing.11">
                  <p:embed/>
                </p:oleObj>
              </mc:Choice>
              <mc:Fallback>
                <p:oleObj name="Visio" r:id="rId6" imgW="1816100" imgH="812800" progId="Visio.Drawing.11">
                  <p:embed/>
                  <p:pic>
                    <p:nvPicPr>
                      <p:cNvPr id="7" name="对象 12">
                        <a:extLst>
                          <a:ext uri="{FF2B5EF4-FFF2-40B4-BE49-F238E27FC236}">
                            <a16:creationId xmlns:a16="http://schemas.microsoft.com/office/drawing/2014/main" id="{B1DC894F-6B78-5249-A681-8211D7B2D1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1786" y="4197887"/>
                        <a:ext cx="3240360" cy="13299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819358D4-C43D-7F4D-BB4C-BA1ACD50166C}"/>
                  </a:ext>
                </a:extLst>
              </p:cNvPr>
              <p:cNvSpPr txBox="1"/>
              <p:nvPr/>
            </p:nvSpPr>
            <p:spPr>
              <a:xfrm>
                <a:off x="467544" y="5495505"/>
                <a:ext cx="4596712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 lang="en-AU" altLang="zh-CN" i="0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zh-CN" altLang="en-US" i="0" dirty="0">
                    <a:solidFill>
                      <a:srgbClr val="011893"/>
                    </a:solidFill>
                    <a:latin typeface="KaiTi_GB2312" panose="02010609030101010101" pitchFamily="49" charset="-122"/>
                    <a:ea typeface="KaiTi_GB2312" panose="02010609030101010101" pitchFamily="49" charset="-122"/>
                  </a:rPr>
                  <a:t>的</a:t>
                </a:r>
                <a:r>
                  <a:rPr lang="en-AU" altLang="zh-CN" i="0" dirty="0">
                    <a:solidFill>
                      <a:srgbClr val="011893"/>
                    </a:solidFill>
                    <a:latin typeface="KaiTi_GB2312" panose="02010609030101010101" pitchFamily="49" charset="-122"/>
                    <a:ea typeface="KaiTi_GB2312" panose="02010609030101010101" pitchFamily="49" charset="-122"/>
                  </a:rPr>
                  <a:t>DFA: </a:t>
                </a:r>
                <a:r>
                  <a:rPr lang="zh-CN" altLang="en-US" i="0" dirty="0">
                    <a:solidFill>
                      <a:srgbClr val="011893"/>
                    </a:solidFill>
                    <a:latin typeface="KaiTi_GB2312" panose="02010609030101010101" pitchFamily="49" charset="-122"/>
                    <a:ea typeface="KaiTi_GB2312" panose="02010609030101010101" pitchFamily="49" charset="-122"/>
                  </a:rPr>
                  <a:t>无接受状态，即该</a:t>
                </a:r>
                <a:r>
                  <a:rPr lang="en-AU" altLang="zh-CN" i="0" dirty="0">
                    <a:solidFill>
                      <a:srgbClr val="011893"/>
                    </a:solidFill>
                    <a:latin typeface="KaiTi_GB2312" panose="02010609030101010101" pitchFamily="49" charset="-122"/>
                    <a:ea typeface="KaiTi_GB2312" panose="02010609030101010101" pitchFamily="49" charset="-122"/>
                  </a:rPr>
                  <a:t>DFA</a:t>
                </a:r>
                <a:r>
                  <a:rPr lang="zh-CN" altLang="en-US" i="0" dirty="0">
                    <a:solidFill>
                      <a:srgbClr val="011893"/>
                    </a:solidFill>
                    <a:latin typeface="KaiTi_GB2312" panose="02010609030101010101" pitchFamily="49" charset="-122"/>
                    <a:ea typeface="KaiTi_GB2312" panose="02010609030101010101" pitchFamily="49" charset="-122"/>
                  </a:rPr>
                  <a:t>不接受任何符号串（包括空串</a:t>
                </a:r>
                <a:r>
                  <a:rPr lang="en-AU" altLang="zh-CN" i="0" dirty="0">
                    <a:solidFill>
                      <a:srgbClr val="011893"/>
                    </a:solidFill>
                    <a:latin typeface="KaiTi_GB2312" panose="02010609030101010101" pitchFamily="49" charset="-122"/>
                    <a:ea typeface="KaiTi_GB2312" panose="02010609030101010101" pitchFamily="49" charset="-122"/>
                  </a:rPr>
                  <a:t>)</a:t>
                </a:r>
                <a:r>
                  <a:rPr lang="zh-CN" altLang="en-US" i="0" dirty="0">
                    <a:solidFill>
                      <a:srgbClr val="011893"/>
                    </a:solidFill>
                    <a:latin typeface="KaiTi_GB2312" panose="02010609030101010101" pitchFamily="49" charset="-122"/>
                    <a:ea typeface="KaiTi_GB2312" panose="02010609030101010101" pitchFamily="49" charset="-122"/>
                  </a:rPr>
                  <a:t>。</a:t>
                </a:r>
                <a:endParaRPr lang="en-AU" altLang="zh-CN" i="0" dirty="0">
                  <a:solidFill>
                    <a:srgbClr val="011893"/>
                  </a:solidFill>
                  <a:latin typeface="KaiTi_GB2312" panose="02010609030101010101" pitchFamily="49" charset="-122"/>
                  <a:ea typeface="KaiTi_GB2312" panose="02010609030101010101" pitchFamily="49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819358D4-C43D-7F4D-BB4C-BA1ACD5016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5495505"/>
                <a:ext cx="4596712" cy="707886"/>
              </a:xfrm>
              <a:prstGeom prst="rect">
                <a:avLst/>
              </a:prstGeom>
              <a:blipFill>
                <a:blip r:embed="rId8"/>
                <a:stretch>
                  <a:fillRect l="-1377" t="-5263" b="-140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41">
                <a:extLst>
                  <a:ext uri="{FF2B5EF4-FFF2-40B4-BE49-F238E27FC236}">
                    <a16:creationId xmlns:a16="http://schemas.microsoft.com/office/drawing/2014/main" id="{CE7558FD-B083-DE4F-96C3-215E81F4E50A}"/>
                  </a:ext>
                </a:extLst>
              </p:cNvPr>
              <p:cNvSpPr txBox="1"/>
              <p:nvPr/>
            </p:nvSpPr>
            <p:spPr>
              <a:xfrm>
                <a:off x="6372114" y="5527885"/>
                <a:ext cx="137160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i="0" dirty="0">
                    <a:solidFill>
                      <a:srgbClr val="011893"/>
                    </a:solidFill>
                    <a:latin typeface="+mn-lt"/>
                  </a:rPr>
                  <a:t>{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CN" i="0" dirty="0">
                    <a:solidFill>
                      <a:srgbClr val="011893"/>
                    </a:solidFill>
                    <a:latin typeface="+mn-lt"/>
                  </a:rPr>
                  <a:t>}</a:t>
                </a:r>
                <a:r>
                  <a:rPr lang="zh-CN" altLang="en-US" i="0" dirty="0">
                    <a:solidFill>
                      <a:srgbClr val="011893"/>
                    </a:solidFill>
                  </a:rPr>
                  <a:t>的</a:t>
                </a:r>
                <a:r>
                  <a:rPr lang="en-AU" altLang="zh-CN" i="0" dirty="0">
                    <a:solidFill>
                      <a:srgbClr val="011893"/>
                    </a:solidFill>
                  </a:rPr>
                  <a:t>DFA</a:t>
                </a:r>
                <a:r>
                  <a:rPr lang="zh-CN" altLang="en-US" i="0" dirty="0"/>
                  <a:t>。</a:t>
                </a:r>
                <a:endParaRPr lang="en-AU" i="0" dirty="0"/>
              </a:p>
            </p:txBody>
          </p:sp>
        </mc:Choice>
        <mc:Fallback xmlns="">
          <p:sp>
            <p:nvSpPr>
              <p:cNvPr id="10" name="TextBox 41">
                <a:extLst>
                  <a:ext uri="{FF2B5EF4-FFF2-40B4-BE49-F238E27FC236}">
                    <a16:creationId xmlns:a16="http://schemas.microsoft.com/office/drawing/2014/main" id="{CE7558FD-B083-DE4F-96C3-215E81F4E5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2114" y="5527885"/>
                <a:ext cx="1371600" cy="400110"/>
              </a:xfrm>
              <a:prstGeom prst="rect">
                <a:avLst/>
              </a:prstGeom>
              <a:blipFill>
                <a:blip r:embed="rId9"/>
                <a:stretch>
                  <a:fillRect l="-13761" t="-12500" r="-13761" b="-312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6699090"/>
      </p:ext>
    </p:extLst>
  </p:cSld>
  <p:clrMapOvr>
    <a:masterClrMapping/>
  </p:clrMapOvr>
  <p:transition spd="med"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C57000F-3514-462B-851D-EF6D4A10483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algn="l"/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两个不同的有穷自动机可能识别同一个语言。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D08BC3C-7B61-481D-9BD1-235440A0442C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algn="l"/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正确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B8E5CC3-802C-4CC7-947C-43944C5FB1E3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algn="l"/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错误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98800673-47CB-4E75-94DB-A92FCCF1AF5C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 bwMode="auto">
          <a:xfrm>
            <a:off x="1114425" y="2850356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1" lang="zh-CN" altLang="en-US" sz="1600" b="1" i="1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AEC3EE96-852E-42EF-9AFB-13DB014DE671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1" lang="zh-CN" altLang="en-US" sz="1600" b="1" i="1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40D926DD-B63B-421E-85A0-ADEDF1A43EF7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4698AA8A-4537-4839-AF38-01B329226851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F0ED137E-EF0C-4F96-85C9-FE3457C28A01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FEA6C249-74E0-405D-AEF0-EBC69CAE1F12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95482389-D43A-4E69-B7ED-242CEB8BEA08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algn="l"/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D0FF0460-1310-4AAB-9A43-FE8DB96FD4D1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algn="l"/>
              <a:r>
                <a:rPr lang="en-US" altLang="zh-CN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E2D141BC-2B80-4474-9626-D73688B2D250}"/>
              </a:ext>
            </a:extLst>
          </p:cNvPr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62377886"/>
      </p:ext>
    </p:extLst>
  </p:cSld>
  <p:clrMapOvr>
    <a:masterClrMapping/>
  </p:clrMapOvr>
  <p:transition spd="med"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E718420-151D-48B4-B86E-5C5E8C81FAA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algn="l"/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由字符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构成且含有奇数个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DFA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，至少需要几个状态？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C64E4FB-CCB5-4AE0-8A02-6B6C9B5FBE2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algn="l"/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8D3AA06-ACA0-48E9-8E88-1D7D3D7FB5FB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algn="l"/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C90D2A9-DF4A-4FFB-807A-B0E0BB299D4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algn="l"/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248D31E-ABF4-4D5C-BAB5-38D38CF67CC1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algn="l"/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4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957389D3-02D0-4B00-9F8F-F8161FCFBCB0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850356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1" lang="zh-CN" altLang="en-US" sz="1600" b="1" i="1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4F0B5EB1-608C-4992-9325-86FC4A5EFAA4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1" lang="zh-CN" altLang="en-US" sz="1600" b="1" i="1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9D9F1DBE-5FD0-4423-A851-A55216A910CA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1" lang="zh-CN" altLang="en-US" sz="1600" b="1" i="1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2BCE3839-770E-4776-91C2-2CBED8D9037D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1" lang="zh-CN" altLang="en-US" sz="1600" b="1" i="1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4BF48032-0109-4B3F-8369-BCB8A3BD5905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B72A225A-5DA8-4CD9-8A40-CCB48EF81977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01D90A9D-A2DF-4C14-B8A5-8484A0D49D1F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F17FA562-B73E-4BBB-8D02-92E5D41C027C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68D697D9-1865-47A3-B121-9E44EAC2B96B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algn="l"/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0B9CB0EC-25AE-472A-BA9B-E3CA8FA0B3C2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algn="l"/>
              <a:r>
                <a:rPr lang="en-US" altLang="zh-CN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D731E6F9-35B9-4586-99F6-7646925E5324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06560257"/>
      </p:ext>
    </p:extLst>
  </p:cSld>
  <p:clrMapOvr>
    <a:masterClrMapping/>
  </p:clrMapOvr>
  <p:transition spd="med"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D463B7B-D788-4718-B54F-405C7619100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algn="l"/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​由字符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构成且含有奇数个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和偶数个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DFA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，至少需要几个状态？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3559F69-82FB-440E-AF86-8A852128E40A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algn="l"/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7E236D3-534C-4B87-81F6-DAEBE42D042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algn="l"/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090FB29-AE83-40D7-B771-DCB576FB0AAB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algn="l"/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AF80242-A1FF-4C49-BD15-306FD8B22A2D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algn="l"/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4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FFC6A3F9-6A80-47F4-A21A-CE809B62BCA9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1" lang="zh-CN" altLang="en-US" sz="1600" b="1" i="1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8143947E-5822-423B-A2F6-4B04985619E0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1" lang="zh-CN" altLang="en-US" sz="1600" b="1" i="1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9F58FD48-5599-492C-A0E3-04FEE2C74770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1" lang="zh-CN" altLang="en-US" sz="1600" b="1" i="1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BB690213-D6CA-4763-826C-D76417A21483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5422106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1" lang="zh-CN" altLang="en-US" sz="1600" b="1" i="1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05C3B1A-4737-4EAD-A3B1-1CC0602A989A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5E3BA3E1-5877-4EEB-A1D5-7926DBF551F2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F39DED01-D19B-49D4-B51E-F0D80F8E7F0B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CA868D09-38A7-4956-99E7-8AAEF6B4E56E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89FC490B-A3C8-4899-8C98-70CA6E91057B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algn="l"/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ACF1BCB3-34B4-4014-A17C-C1C352A83A13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algn="l"/>
              <a:r>
                <a:rPr lang="en-US" altLang="zh-CN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CE9FBBEF-C3D9-4869-A77E-C8D060BE723B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35319004"/>
      </p:ext>
    </p:extLst>
  </p:cSld>
  <p:clrMapOvr>
    <a:masterClrMapping/>
  </p:clrMapOvr>
  <p:transition spd="med">
    <p:wipe dir="r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35" name="Rectangle 19"/>
          <p:cNvSpPr>
            <a:spLocks noChangeArrowheads="1"/>
          </p:cNvSpPr>
          <p:nvPr/>
        </p:nvSpPr>
        <p:spPr bwMode="auto">
          <a:xfrm>
            <a:off x="1476375" y="195263"/>
            <a:ext cx="3887788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4000" i="0">
                <a:ea typeface="华文行楷" pitchFamily="2" charset="-122"/>
              </a:rPr>
              <a:t>确定有限自动机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C4E9407-D314-8942-ABC0-C2568C1E22B4}"/>
              </a:ext>
            </a:extLst>
          </p:cNvPr>
          <p:cNvSpPr txBox="1"/>
          <p:nvPr/>
        </p:nvSpPr>
        <p:spPr>
          <a:xfrm>
            <a:off x="8604448" y="6471931"/>
            <a:ext cx="5395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0" i="0" dirty="0">
                <a:solidFill>
                  <a:srgbClr val="000066"/>
                </a:solidFill>
              </a:rPr>
              <a:t>33</a:t>
            </a:r>
            <a:endParaRPr kumimoji="1" lang="zh-CN" altLang="en-US" sz="2000" b="0" i="0" dirty="0">
              <a:solidFill>
                <a:srgbClr val="000066"/>
              </a:solidFill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C4659E75-F284-7547-B125-1C0424AB8761}"/>
              </a:ext>
            </a:extLst>
          </p:cNvPr>
          <p:cNvGrpSpPr/>
          <p:nvPr/>
        </p:nvGrpSpPr>
        <p:grpSpPr>
          <a:xfrm>
            <a:off x="3037886" y="2747827"/>
            <a:ext cx="3120268" cy="823006"/>
            <a:chOff x="3037886" y="2747827"/>
            <a:chExt cx="3120268" cy="823006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E746EF93-7B1B-4B4F-947D-45DBAA000135}"/>
                </a:ext>
              </a:extLst>
            </p:cNvPr>
            <p:cNvSpPr/>
            <p:nvPr/>
          </p:nvSpPr>
          <p:spPr bwMode="auto">
            <a:xfrm>
              <a:off x="4345992" y="3051068"/>
              <a:ext cx="504056" cy="519765"/>
            </a:xfrm>
            <a:prstGeom prst="ellips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9CF61834-B621-9746-8832-3102CEE4FD2A}"/>
                </a:ext>
              </a:extLst>
            </p:cNvPr>
            <p:cNvSpPr/>
            <p:nvPr/>
          </p:nvSpPr>
          <p:spPr bwMode="auto">
            <a:xfrm>
              <a:off x="3037886" y="3049932"/>
              <a:ext cx="504056" cy="519765"/>
            </a:xfrm>
            <a:prstGeom prst="ellips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54E13A94-C597-434C-B93D-96BA48E49AC5}"/>
                </a:ext>
              </a:extLst>
            </p:cNvPr>
            <p:cNvSpPr/>
            <p:nvPr/>
          </p:nvSpPr>
          <p:spPr bwMode="auto">
            <a:xfrm>
              <a:off x="5654098" y="3049931"/>
              <a:ext cx="504056" cy="519765"/>
            </a:xfrm>
            <a:prstGeom prst="ellips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cxnSp>
          <p:nvCxnSpPr>
            <p:cNvPr id="6" name="直线箭头连接符 5">
              <a:extLst>
                <a:ext uri="{FF2B5EF4-FFF2-40B4-BE49-F238E27FC236}">
                  <a16:creationId xmlns:a16="http://schemas.microsoft.com/office/drawing/2014/main" id="{1E911FC3-34FF-E84C-B009-6D450A856843}"/>
                </a:ext>
              </a:extLst>
            </p:cNvPr>
            <p:cNvCxnSpPr>
              <a:stCxn id="7" idx="6"/>
              <a:endCxn id="4" idx="2"/>
            </p:cNvCxnSpPr>
            <p:nvPr/>
          </p:nvCxnSpPr>
          <p:spPr bwMode="auto">
            <a:xfrm>
              <a:off x="3541942" y="3309815"/>
              <a:ext cx="804050" cy="113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" name="直线箭头连接符 10">
              <a:extLst>
                <a:ext uri="{FF2B5EF4-FFF2-40B4-BE49-F238E27FC236}">
                  <a16:creationId xmlns:a16="http://schemas.microsoft.com/office/drawing/2014/main" id="{DCB54895-3903-014C-80DD-D6C6CEB14F4A}"/>
                </a:ext>
              </a:extLst>
            </p:cNvPr>
            <p:cNvCxnSpPr/>
            <p:nvPr/>
          </p:nvCxnSpPr>
          <p:spPr bwMode="auto">
            <a:xfrm>
              <a:off x="4850048" y="3308677"/>
              <a:ext cx="804050" cy="113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B847FCA0-06FD-214D-A2FE-7ED063D8A660}"/>
                </a:ext>
              </a:extLst>
            </p:cNvPr>
            <p:cNvSpPr/>
            <p:nvPr/>
          </p:nvSpPr>
          <p:spPr bwMode="auto">
            <a:xfrm>
              <a:off x="5730298" y="3127266"/>
              <a:ext cx="351656" cy="362821"/>
            </a:xfrm>
            <a:prstGeom prst="ellips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0627B5C8-793F-514E-BB97-E03C689791A3}"/>
                </a:ext>
              </a:extLst>
            </p:cNvPr>
            <p:cNvSpPr txBox="1"/>
            <p:nvPr/>
          </p:nvSpPr>
          <p:spPr>
            <a:xfrm>
              <a:off x="3727943" y="2747827"/>
              <a:ext cx="4320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b="0" i="0" dirty="0">
                  <a:solidFill>
                    <a:srgbClr val="000000"/>
                  </a:solidFill>
                </a:rPr>
                <a:t>0</a:t>
              </a:r>
              <a:endParaRPr kumimoji="1" lang="zh-CN" altLang="en-US" sz="2400" b="0" i="0" dirty="0">
                <a:solidFill>
                  <a:srgbClr val="000000"/>
                </a:solidFill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EC43F6D0-EE61-6040-B676-0DF16BF8707C}"/>
                </a:ext>
              </a:extLst>
            </p:cNvPr>
            <p:cNvSpPr txBox="1"/>
            <p:nvPr/>
          </p:nvSpPr>
          <p:spPr>
            <a:xfrm>
              <a:off x="5045884" y="2757024"/>
              <a:ext cx="4320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b="0" i="0" dirty="0">
                  <a:solidFill>
                    <a:srgbClr val="000000"/>
                  </a:solidFill>
                </a:rPr>
                <a:t>0</a:t>
              </a:r>
              <a:endParaRPr kumimoji="1" lang="zh-CN" altLang="en-US" sz="2400" b="0" i="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A5685DBE-21B1-C64B-9B56-5E1310740404}"/>
              </a:ext>
            </a:extLst>
          </p:cNvPr>
          <p:cNvGrpSpPr/>
          <p:nvPr/>
        </p:nvGrpSpPr>
        <p:grpSpPr>
          <a:xfrm>
            <a:off x="3073890" y="3550646"/>
            <a:ext cx="432048" cy="886466"/>
            <a:chOff x="3073890" y="3550646"/>
            <a:chExt cx="432048" cy="886466"/>
          </a:xfrm>
        </p:grpSpPr>
        <p:sp>
          <p:nvSpPr>
            <p:cNvPr id="10" name="弧 9">
              <a:extLst>
                <a:ext uri="{FF2B5EF4-FFF2-40B4-BE49-F238E27FC236}">
                  <a16:creationId xmlns:a16="http://schemas.microsoft.com/office/drawing/2014/main" id="{B0A2CD9F-F27F-6B4E-BE2F-D9C2424F2207}"/>
                </a:ext>
              </a:extLst>
            </p:cNvPr>
            <p:cNvSpPr/>
            <p:nvPr/>
          </p:nvSpPr>
          <p:spPr bwMode="auto">
            <a:xfrm>
              <a:off x="3093777" y="3550646"/>
              <a:ext cx="392274" cy="424801"/>
            </a:xfrm>
            <a:prstGeom prst="arc">
              <a:avLst>
                <a:gd name="adj1" fmla="val 17142475"/>
                <a:gd name="adj2" fmla="val 14430358"/>
              </a:avLst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53495601-112F-5246-B5BE-6AA2CD4D02CB}"/>
                </a:ext>
              </a:extLst>
            </p:cNvPr>
            <p:cNvSpPr txBox="1"/>
            <p:nvPr/>
          </p:nvSpPr>
          <p:spPr>
            <a:xfrm>
              <a:off x="3073890" y="3975447"/>
              <a:ext cx="4320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b="0" i="0" dirty="0">
                  <a:solidFill>
                    <a:srgbClr val="000000"/>
                  </a:solidFill>
                </a:rPr>
                <a:t>1</a:t>
              </a:r>
              <a:endParaRPr kumimoji="1" lang="zh-CN" altLang="en-US" sz="2400" b="0" i="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FA4DA59E-85A7-DC40-A87C-813C8AADDE6A}"/>
              </a:ext>
            </a:extLst>
          </p:cNvPr>
          <p:cNvGrpSpPr/>
          <p:nvPr/>
        </p:nvGrpSpPr>
        <p:grpSpPr>
          <a:xfrm>
            <a:off x="3592355" y="3335053"/>
            <a:ext cx="1029706" cy="483749"/>
            <a:chOff x="3592355" y="3335053"/>
            <a:chExt cx="1029706" cy="483749"/>
          </a:xfrm>
        </p:grpSpPr>
        <p:sp>
          <p:nvSpPr>
            <p:cNvPr id="13" name="弧 12">
              <a:extLst>
                <a:ext uri="{FF2B5EF4-FFF2-40B4-BE49-F238E27FC236}">
                  <a16:creationId xmlns:a16="http://schemas.microsoft.com/office/drawing/2014/main" id="{157E2DBC-5C9C-9E49-88AC-A1550BA6CADA}"/>
                </a:ext>
              </a:extLst>
            </p:cNvPr>
            <p:cNvSpPr/>
            <p:nvPr/>
          </p:nvSpPr>
          <p:spPr bwMode="auto">
            <a:xfrm rot="10800000">
              <a:off x="3592355" y="3335053"/>
              <a:ext cx="1029706" cy="461666"/>
            </a:xfrm>
            <a:prstGeom prst="arc">
              <a:avLst>
                <a:gd name="adj1" fmla="val 10807855"/>
                <a:gd name="adj2" fmla="val 21415475"/>
              </a:avLst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2ED91638-3AD1-5145-8E05-259C77900603}"/>
                </a:ext>
              </a:extLst>
            </p:cNvPr>
            <p:cNvSpPr txBox="1"/>
            <p:nvPr/>
          </p:nvSpPr>
          <p:spPr>
            <a:xfrm>
              <a:off x="3863531" y="3357137"/>
              <a:ext cx="4320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b="0" i="0" dirty="0">
                  <a:solidFill>
                    <a:srgbClr val="000000"/>
                  </a:solidFill>
                </a:rPr>
                <a:t>1</a:t>
              </a:r>
              <a:endParaRPr kumimoji="1" lang="zh-CN" altLang="en-US" sz="2400" b="0" i="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AC9CFC3C-F22E-F24D-B626-1A9D112A0724}"/>
              </a:ext>
            </a:extLst>
          </p:cNvPr>
          <p:cNvGrpSpPr/>
          <p:nvPr/>
        </p:nvGrpSpPr>
        <p:grpSpPr>
          <a:xfrm>
            <a:off x="3486051" y="3010795"/>
            <a:ext cx="2423380" cy="1157335"/>
            <a:chOff x="3486051" y="3010795"/>
            <a:chExt cx="2423380" cy="1157335"/>
          </a:xfrm>
        </p:grpSpPr>
        <p:sp>
          <p:nvSpPr>
            <p:cNvPr id="20" name="弧 19">
              <a:extLst>
                <a:ext uri="{FF2B5EF4-FFF2-40B4-BE49-F238E27FC236}">
                  <a16:creationId xmlns:a16="http://schemas.microsoft.com/office/drawing/2014/main" id="{EBC05629-11B5-DA44-B527-E7E29579041C}"/>
                </a:ext>
              </a:extLst>
            </p:cNvPr>
            <p:cNvSpPr/>
            <p:nvPr/>
          </p:nvSpPr>
          <p:spPr bwMode="auto">
            <a:xfrm rot="10800000">
              <a:off x="3486051" y="3010795"/>
              <a:ext cx="2423380" cy="1127717"/>
            </a:xfrm>
            <a:prstGeom prst="arc">
              <a:avLst>
                <a:gd name="adj1" fmla="val 10840689"/>
                <a:gd name="adj2" fmla="val 21126575"/>
              </a:avLst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570932E0-A443-7D42-ACAC-B6BE9011E7FE}"/>
                </a:ext>
              </a:extLst>
            </p:cNvPr>
            <p:cNvSpPr txBox="1"/>
            <p:nvPr/>
          </p:nvSpPr>
          <p:spPr>
            <a:xfrm>
              <a:off x="4638177" y="3706465"/>
              <a:ext cx="4320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b="0" i="0" dirty="0">
                  <a:solidFill>
                    <a:srgbClr val="000000"/>
                  </a:solidFill>
                </a:rPr>
                <a:t>1</a:t>
              </a:r>
              <a:endParaRPr kumimoji="1" lang="zh-CN" altLang="en-US" sz="2400" b="0" i="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ED2FE38C-66BD-EF45-B9FF-03BDF6424675}"/>
              </a:ext>
            </a:extLst>
          </p:cNvPr>
          <p:cNvGrpSpPr/>
          <p:nvPr/>
        </p:nvGrpSpPr>
        <p:grpSpPr>
          <a:xfrm>
            <a:off x="5731492" y="2211145"/>
            <a:ext cx="432048" cy="856606"/>
            <a:chOff x="5731492" y="2211145"/>
            <a:chExt cx="432048" cy="856606"/>
          </a:xfrm>
        </p:grpSpPr>
        <p:sp>
          <p:nvSpPr>
            <p:cNvPr id="22" name="弧 21">
              <a:extLst>
                <a:ext uri="{FF2B5EF4-FFF2-40B4-BE49-F238E27FC236}">
                  <a16:creationId xmlns:a16="http://schemas.microsoft.com/office/drawing/2014/main" id="{B585ABA3-6E11-F74F-BCDC-D11AE7813C0F}"/>
                </a:ext>
              </a:extLst>
            </p:cNvPr>
            <p:cNvSpPr/>
            <p:nvPr/>
          </p:nvSpPr>
          <p:spPr bwMode="auto">
            <a:xfrm rot="11190199">
              <a:off x="5736256" y="2642950"/>
              <a:ext cx="392274" cy="424801"/>
            </a:xfrm>
            <a:prstGeom prst="arc">
              <a:avLst>
                <a:gd name="adj1" fmla="val 17142475"/>
                <a:gd name="adj2" fmla="val 14430358"/>
              </a:avLst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8AFEED3D-374A-DE4D-B127-F9F3F935F378}"/>
                </a:ext>
              </a:extLst>
            </p:cNvPr>
            <p:cNvSpPr txBox="1"/>
            <p:nvPr/>
          </p:nvSpPr>
          <p:spPr>
            <a:xfrm>
              <a:off x="5731492" y="2211145"/>
              <a:ext cx="4320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b="0" i="0" dirty="0">
                  <a:solidFill>
                    <a:srgbClr val="000000"/>
                  </a:solidFill>
                </a:rPr>
                <a:t>0</a:t>
              </a:r>
              <a:endParaRPr kumimoji="1" lang="zh-CN" altLang="en-US" sz="2400" b="0" i="0" dirty="0">
                <a:solidFill>
                  <a:srgbClr val="000000"/>
                </a:solidFill>
              </a:endParaRPr>
            </a:p>
          </p:txBody>
        </p:sp>
      </p:grp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34D3A7E1-58C6-474E-A86A-076B129ABD6D}"/>
              </a:ext>
            </a:extLst>
          </p:cNvPr>
          <p:cNvCxnSpPr/>
          <p:nvPr/>
        </p:nvCxnSpPr>
        <p:spPr bwMode="auto">
          <a:xfrm>
            <a:off x="2195736" y="3307540"/>
            <a:ext cx="804050" cy="113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50ACA219-FA3C-D942-BAFB-A058500EBBA0}"/>
              </a:ext>
            </a:extLst>
          </p:cNvPr>
          <p:cNvSpPr txBox="1"/>
          <p:nvPr/>
        </p:nvSpPr>
        <p:spPr>
          <a:xfrm>
            <a:off x="523586" y="4573880"/>
            <a:ext cx="82405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2400" b="0" i="0" dirty="0">
                <a:solidFill>
                  <a:srgbClr val="000000"/>
                </a:solidFill>
              </a:rPr>
              <a:t>解：首先画出三个状态，接受两个连续的</a:t>
            </a:r>
            <a:r>
              <a:rPr kumimoji="1" lang="en-US" altLang="zh-CN" sz="2400" b="0" i="0" dirty="0">
                <a:solidFill>
                  <a:srgbClr val="000000"/>
                </a:solidFill>
              </a:rPr>
              <a:t>0</a:t>
            </a:r>
            <a:r>
              <a:rPr kumimoji="1" lang="zh-CN" altLang="en-US" sz="2400" b="0" i="0" dirty="0">
                <a:solidFill>
                  <a:srgbClr val="000000"/>
                </a:solidFill>
              </a:rPr>
              <a:t>到达终止状态。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04B4B66-158B-C44A-A7BA-20F0C8831A92}"/>
              </a:ext>
            </a:extLst>
          </p:cNvPr>
          <p:cNvSpPr txBox="1"/>
          <p:nvPr/>
        </p:nvSpPr>
        <p:spPr>
          <a:xfrm>
            <a:off x="514340" y="1237026"/>
            <a:ext cx="82341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2400" b="0" i="0" dirty="0">
                <a:solidFill>
                  <a:srgbClr val="000000"/>
                </a:solidFill>
              </a:rPr>
              <a:t>例</a:t>
            </a:r>
            <a:r>
              <a:rPr kumimoji="1" lang="en-US" altLang="zh-CN" sz="2400" b="0" i="0" dirty="0">
                <a:solidFill>
                  <a:srgbClr val="000000"/>
                </a:solidFill>
              </a:rPr>
              <a:t>1</a:t>
            </a:r>
            <a:r>
              <a:rPr kumimoji="1" lang="zh-CN" altLang="en-US" sz="2400" b="0" i="0" dirty="0">
                <a:solidFill>
                  <a:srgbClr val="000000"/>
                </a:solidFill>
              </a:rPr>
              <a:t>：设计定义在字母表</a:t>
            </a:r>
            <a:r>
              <a:rPr kumimoji="1" lang="en-US" altLang="zh-CN" sz="2400" b="0" i="0" dirty="0">
                <a:solidFill>
                  <a:srgbClr val="000000"/>
                </a:solidFill>
              </a:rPr>
              <a:t>{0, 1}</a:t>
            </a:r>
            <a:r>
              <a:rPr kumimoji="1" lang="zh-CN" altLang="en-US" sz="2400" b="0" i="0" dirty="0">
                <a:solidFill>
                  <a:srgbClr val="000000"/>
                </a:solidFill>
              </a:rPr>
              <a:t>上的所有以</a:t>
            </a:r>
            <a:r>
              <a:rPr kumimoji="1" lang="en-US" altLang="zh-CN" sz="2400" b="0" i="0" dirty="0">
                <a:solidFill>
                  <a:srgbClr val="000000"/>
                </a:solidFill>
              </a:rPr>
              <a:t>00</a:t>
            </a:r>
            <a:r>
              <a:rPr kumimoji="1" lang="zh-CN" altLang="en-US" sz="2400" b="0" i="0" dirty="0">
                <a:solidFill>
                  <a:srgbClr val="000000"/>
                </a:solidFill>
              </a:rPr>
              <a:t>结尾的串的集合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F9C6F6C-9035-734E-982D-26C83B2A1326}"/>
              </a:ext>
            </a:extLst>
          </p:cNvPr>
          <p:cNvSpPr txBox="1"/>
          <p:nvPr/>
        </p:nvSpPr>
        <p:spPr>
          <a:xfrm>
            <a:off x="529996" y="1729562"/>
            <a:ext cx="82341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2400" b="0" i="0" dirty="0">
                <a:solidFill>
                  <a:srgbClr val="000000"/>
                </a:solidFill>
              </a:rPr>
              <a:t>的</a:t>
            </a:r>
            <a:r>
              <a:rPr kumimoji="1" lang="en-US" altLang="zh-CN" sz="2400" b="0" i="0" dirty="0">
                <a:solidFill>
                  <a:srgbClr val="000000"/>
                </a:solidFill>
              </a:rPr>
              <a:t>DFA</a:t>
            </a:r>
            <a:r>
              <a:rPr kumimoji="1" lang="zh-CN" altLang="en-US" sz="2400" b="0" i="0" dirty="0">
                <a:solidFill>
                  <a:srgbClr val="000000"/>
                </a:solidFill>
              </a:rPr>
              <a:t>。</a:t>
            </a: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F8300CBE-E202-5C45-B657-B298B6062CA0}"/>
              </a:ext>
            </a:extLst>
          </p:cNvPr>
          <p:cNvGrpSpPr/>
          <p:nvPr/>
        </p:nvGrpSpPr>
        <p:grpSpPr>
          <a:xfrm>
            <a:off x="514340" y="5108354"/>
            <a:ext cx="8594164" cy="1506043"/>
            <a:chOff x="514340" y="5108354"/>
            <a:chExt cx="8234124" cy="1506043"/>
          </a:xfrm>
        </p:grpSpPr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18F0BDCB-DC51-EC4B-AA8F-426711D08669}"/>
                </a:ext>
              </a:extLst>
            </p:cNvPr>
            <p:cNvSpPr txBox="1"/>
            <p:nvPr/>
          </p:nvSpPr>
          <p:spPr>
            <a:xfrm>
              <a:off x="522410" y="5108354"/>
              <a:ext cx="82260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zh-CN" altLang="en-US" sz="2400" b="0" i="0" dirty="0">
                  <a:solidFill>
                    <a:srgbClr val="000000"/>
                  </a:solidFill>
                </a:rPr>
                <a:t>由于</a:t>
              </a:r>
              <a:r>
                <a:rPr kumimoji="1" lang="en-US" altLang="zh-CN" sz="2400" b="0" i="0" dirty="0">
                  <a:solidFill>
                    <a:srgbClr val="000000"/>
                  </a:solidFill>
                </a:rPr>
                <a:t>DFA</a:t>
              </a:r>
              <a:r>
                <a:rPr kumimoji="1" lang="zh-CN" altLang="en-US" sz="2400" b="0" i="0" dirty="0">
                  <a:solidFill>
                    <a:srgbClr val="000000"/>
                  </a:solidFill>
                </a:rPr>
                <a:t>要求每个节点的出边必须包含字母表上的所有符号，</a:t>
              </a: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1B577B86-9E54-E345-88E3-587057A3E2C8}"/>
                </a:ext>
              </a:extLst>
            </p:cNvPr>
            <p:cNvSpPr txBox="1"/>
            <p:nvPr/>
          </p:nvSpPr>
          <p:spPr>
            <a:xfrm>
              <a:off x="518375" y="5623438"/>
              <a:ext cx="82260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zh-CN" altLang="en-US" sz="2400" b="0" i="0" dirty="0">
                  <a:solidFill>
                    <a:srgbClr val="000000"/>
                  </a:solidFill>
                </a:rPr>
                <a:t>因此，必须要补上所缺的标为</a:t>
              </a:r>
              <a:r>
                <a:rPr kumimoji="1" lang="en-US" altLang="zh-CN" sz="2400" b="0" i="0" dirty="0">
                  <a:solidFill>
                    <a:srgbClr val="000000"/>
                  </a:solidFill>
                </a:rPr>
                <a:t>1</a:t>
              </a:r>
              <a:r>
                <a:rPr kumimoji="1" lang="zh-CN" altLang="en-US" sz="2400" b="0" i="0" dirty="0">
                  <a:solidFill>
                    <a:srgbClr val="000000"/>
                  </a:solidFill>
                </a:rPr>
                <a:t>出边，同时也不能忘记终止</a:t>
              </a: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B79BE66A-DD9A-DC47-BB1E-140873F533AA}"/>
                </a:ext>
              </a:extLst>
            </p:cNvPr>
            <p:cNvSpPr txBox="1"/>
            <p:nvPr/>
          </p:nvSpPr>
          <p:spPr>
            <a:xfrm>
              <a:off x="514340" y="6152732"/>
              <a:ext cx="82260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zh-CN" altLang="en-US" sz="2400" b="0" i="0" dirty="0">
                  <a:solidFill>
                    <a:srgbClr val="000000"/>
                  </a:solidFill>
                </a:rPr>
                <a:t>状态还有一个标为</a:t>
              </a:r>
              <a:r>
                <a:rPr kumimoji="1" lang="en-US" altLang="zh-CN" sz="2400" b="0" i="0" dirty="0">
                  <a:solidFill>
                    <a:srgbClr val="000000"/>
                  </a:solidFill>
                </a:rPr>
                <a:t>0</a:t>
              </a:r>
              <a:r>
                <a:rPr kumimoji="1" lang="zh-CN" altLang="en-US" sz="2400" b="0" i="0" dirty="0">
                  <a:solidFill>
                    <a:srgbClr val="000000"/>
                  </a:solidFill>
                </a:rPr>
                <a:t>的出边。</a:t>
              </a:r>
              <a:r>
                <a:rPr lang="zh-CN" altLang="en-US" sz="2400" b="0" i="0" dirty="0">
                  <a:solidFill>
                    <a:srgbClr val="000000"/>
                  </a:solidFill>
                </a:rPr>
                <a:t>最后补上状态编号。</a:t>
              </a:r>
              <a:endParaRPr kumimoji="1" lang="zh-CN" altLang="en-US" sz="2400" b="0" i="0" dirty="0">
                <a:solidFill>
                  <a:srgbClr val="000000"/>
                </a:solidFill>
              </a:endParaRPr>
            </a:p>
          </p:txBody>
        </p:sp>
      </p:grpSp>
      <p:pic>
        <p:nvPicPr>
          <p:cNvPr id="36" name="图片 35">
            <a:extLst>
              <a:ext uri="{FF2B5EF4-FFF2-40B4-BE49-F238E27FC236}">
                <a16:creationId xmlns:a16="http://schemas.microsoft.com/office/drawing/2014/main" id="{0A0B520C-9038-694A-B81A-D609E1FFCA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7569" y="3220561"/>
            <a:ext cx="1511300" cy="203200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09DF6DCD-6435-4647-A518-2F1830C6AE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8720" y="3236714"/>
            <a:ext cx="1498600" cy="203200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5D4C9324-C156-ED4C-BFC9-D1D346BB12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1839" y="3207776"/>
            <a:ext cx="1511300" cy="2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902622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35" name="Rectangle 19"/>
          <p:cNvSpPr>
            <a:spLocks noChangeArrowheads="1"/>
          </p:cNvSpPr>
          <p:nvPr/>
        </p:nvSpPr>
        <p:spPr bwMode="auto">
          <a:xfrm>
            <a:off x="1476375" y="195263"/>
            <a:ext cx="3887788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4000" i="0">
                <a:ea typeface="华文行楷" pitchFamily="2" charset="-122"/>
              </a:rPr>
              <a:t>确定有限自动机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C4E9407-D314-8942-ABC0-C2568C1E22B4}"/>
              </a:ext>
            </a:extLst>
          </p:cNvPr>
          <p:cNvSpPr txBox="1"/>
          <p:nvPr/>
        </p:nvSpPr>
        <p:spPr>
          <a:xfrm>
            <a:off x="8604448" y="6471931"/>
            <a:ext cx="5395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0" i="0" dirty="0">
                <a:solidFill>
                  <a:srgbClr val="000066"/>
                </a:solidFill>
              </a:rPr>
              <a:t>34</a:t>
            </a:r>
            <a:endParaRPr kumimoji="1" lang="zh-CN" altLang="en-US" sz="2000" b="0" i="0" dirty="0">
              <a:solidFill>
                <a:srgbClr val="000066"/>
              </a:solidFill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E746EF93-7B1B-4B4F-947D-45DBAA000135}"/>
              </a:ext>
            </a:extLst>
          </p:cNvPr>
          <p:cNvSpPr/>
          <p:nvPr/>
        </p:nvSpPr>
        <p:spPr bwMode="auto">
          <a:xfrm>
            <a:off x="4345992" y="3051068"/>
            <a:ext cx="504056" cy="519765"/>
          </a:xfrm>
          <a:prstGeom prst="ellips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9CF61834-B621-9746-8832-3102CEE4FD2A}"/>
              </a:ext>
            </a:extLst>
          </p:cNvPr>
          <p:cNvSpPr/>
          <p:nvPr/>
        </p:nvSpPr>
        <p:spPr bwMode="auto">
          <a:xfrm>
            <a:off x="3037886" y="3049932"/>
            <a:ext cx="504056" cy="519765"/>
          </a:xfrm>
          <a:prstGeom prst="ellips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54E13A94-C597-434C-B93D-96BA48E49AC5}"/>
              </a:ext>
            </a:extLst>
          </p:cNvPr>
          <p:cNvSpPr/>
          <p:nvPr/>
        </p:nvSpPr>
        <p:spPr bwMode="auto">
          <a:xfrm>
            <a:off x="5654098" y="3049931"/>
            <a:ext cx="504056" cy="519765"/>
          </a:xfrm>
          <a:prstGeom prst="ellips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cxnSp>
        <p:nvCxnSpPr>
          <p:cNvPr id="6" name="直线箭头连接符 5">
            <a:extLst>
              <a:ext uri="{FF2B5EF4-FFF2-40B4-BE49-F238E27FC236}">
                <a16:creationId xmlns:a16="http://schemas.microsoft.com/office/drawing/2014/main" id="{1E911FC3-34FF-E84C-B009-6D450A856843}"/>
              </a:ext>
            </a:extLst>
          </p:cNvPr>
          <p:cNvCxnSpPr>
            <a:stCxn id="7" idx="6"/>
            <a:endCxn id="4" idx="2"/>
          </p:cNvCxnSpPr>
          <p:nvPr/>
        </p:nvCxnSpPr>
        <p:spPr bwMode="auto">
          <a:xfrm>
            <a:off x="3541942" y="3309815"/>
            <a:ext cx="804050" cy="113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DCB54895-3903-014C-80DD-D6C6CEB14F4A}"/>
              </a:ext>
            </a:extLst>
          </p:cNvPr>
          <p:cNvCxnSpPr/>
          <p:nvPr/>
        </p:nvCxnSpPr>
        <p:spPr bwMode="auto">
          <a:xfrm>
            <a:off x="4850048" y="3308677"/>
            <a:ext cx="804050" cy="113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2" name="椭圆 11">
            <a:extLst>
              <a:ext uri="{FF2B5EF4-FFF2-40B4-BE49-F238E27FC236}">
                <a16:creationId xmlns:a16="http://schemas.microsoft.com/office/drawing/2014/main" id="{B847FCA0-06FD-214D-A2FE-7ED063D8A660}"/>
              </a:ext>
            </a:extLst>
          </p:cNvPr>
          <p:cNvSpPr/>
          <p:nvPr/>
        </p:nvSpPr>
        <p:spPr bwMode="auto">
          <a:xfrm>
            <a:off x="5730298" y="3127266"/>
            <a:ext cx="351656" cy="362821"/>
          </a:xfrm>
          <a:prstGeom prst="ellips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627B5C8-793F-514E-BB97-E03C689791A3}"/>
              </a:ext>
            </a:extLst>
          </p:cNvPr>
          <p:cNvSpPr txBox="1"/>
          <p:nvPr/>
        </p:nvSpPr>
        <p:spPr>
          <a:xfrm>
            <a:off x="3727943" y="2747827"/>
            <a:ext cx="4320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0" i="0" dirty="0">
                <a:solidFill>
                  <a:srgbClr val="000000"/>
                </a:solidFill>
              </a:rPr>
              <a:t>0</a:t>
            </a:r>
            <a:endParaRPr kumimoji="1" lang="zh-CN" altLang="en-US" sz="2400" b="0" i="0" dirty="0">
              <a:solidFill>
                <a:srgbClr val="000000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C43F6D0-EE61-6040-B676-0DF16BF8707C}"/>
              </a:ext>
            </a:extLst>
          </p:cNvPr>
          <p:cNvSpPr txBox="1"/>
          <p:nvPr/>
        </p:nvSpPr>
        <p:spPr>
          <a:xfrm>
            <a:off x="5045884" y="2757024"/>
            <a:ext cx="4320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0" i="0" dirty="0">
                <a:solidFill>
                  <a:srgbClr val="000000"/>
                </a:solidFill>
              </a:rPr>
              <a:t>0</a:t>
            </a:r>
            <a:endParaRPr kumimoji="1" lang="zh-CN" altLang="en-US" sz="2400" b="0" i="0" dirty="0">
              <a:solidFill>
                <a:srgbClr val="000000"/>
              </a:solidFill>
            </a:endParaRPr>
          </a:p>
        </p:txBody>
      </p:sp>
      <p:sp>
        <p:nvSpPr>
          <p:cNvPr id="10" name="弧 9">
            <a:extLst>
              <a:ext uri="{FF2B5EF4-FFF2-40B4-BE49-F238E27FC236}">
                <a16:creationId xmlns:a16="http://schemas.microsoft.com/office/drawing/2014/main" id="{B0A2CD9F-F27F-6B4E-BE2F-D9C2424F2207}"/>
              </a:ext>
            </a:extLst>
          </p:cNvPr>
          <p:cNvSpPr/>
          <p:nvPr/>
        </p:nvSpPr>
        <p:spPr bwMode="auto">
          <a:xfrm>
            <a:off x="3093777" y="3550646"/>
            <a:ext cx="392274" cy="424801"/>
          </a:xfrm>
          <a:prstGeom prst="arc">
            <a:avLst>
              <a:gd name="adj1" fmla="val 17142475"/>
              <a:gd name="adj2" fmla="val 14430358"/>
            </a:avLst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3495601-112F-5246-B5BE-6AA2CD4D02CB}"/>
              </a:ext>
            </a:extLst>
          </p:cNvPr>
          <p:cNvSpPr txBox="1"/>
          <p:nvPr/>
        </p:nvSpPr>
        <p:spPr>
          <a:xfrm>
            <a:off x="3073890" y="3975447"/>
            <a:ext cx="4320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0" i="0" dirty="0">
                <a:solidFill>
                  <a:srgbClr val="000000"/>
                </a:solidFill>
              </a:rPr>
              <a:t>1</a:t>
            </a:r>
            <a:endParaRPr kumimoji="1" lang="zh-CN" altLang="en-US" sz="2400" b="0" i="0" dirty="0">
              <a:solidFill>
                <a:srgbClr val="000000"/>
              </a:solidFill>
            </a:endParaRPr>
          </a:p>
        </p:txBody>
      </p:sp>
      <p:sp>
        <p:nvSpPr>
          <p:cNvPr id="13" name="弧 12">
            <a:extLst>
              <a:ext uri="{FF2B5EF4-FFF2-40B4-BE49-F238E27FC236}">
                <a16:creationId xmlns:a16="http://schemas.microsoft.com/office/drawing/2014/main" id="{157E2DBC-5C9C-9E49-88AC-A1550BA6CADA}"/>
              </a:ext>
            </a:extLst>
          </p:cNvPr>
          <p:cNvSpPr/>
          <p:nvPr/>
        </p:nvSpPr>
        <p:spPr bwMode="auto">
          <a:xfrm rot="10800000">
            <a:off x="3592355" y="3335053"/>
            <a:ext cx="1029706" cy="461666"/>
          </a:xfrm>
          <a:prstGeom prst="arc">
            <a:avLst>
              <a:gd name="adj1" fmla="val 10807855"/>
              <a:gd name="adj2" fmla="val 21415475"/>
            </a:avLst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ED91638-3AD1-5145-8E05-259C77900603}"/>
              </a:ext>
            </a:extLst>
          </p:cNvPr>
          <p:cNvSpPr txBox="1"/>
          <p:nvPr/>
        </p:nvSpPr>
        <p:spPr>
          <a:xfrm>
            <a:off x="3863531" y="3357137"/>
            <a:ext cx="4320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0" i="0" dirty="0">
                <a:solidFill>
                  <a:srgbClr val="000000"/>
                </a:solidFill>
              </a:rPr>
              <a:t>1</a:t>
            </a:r>
            <a:endParaRPr kumimoji="1" lang="zh-CN" altLang="en-US" sz="2400" b="0" i="0" dirty="0">
              <a:solidFill>
                <a:srgbClr val="000000"/>
              </a:solidFill>
            </a:endParaRPr>
          </a:p>
        </p:txBody>
      </p:sp>
      <p:sp>
        <p:nvSpPr>
          <p:cNvPr id="20" name="弧 19">
            <a:extLst>
              <a:ext uri="{FF2B5EF4-FFF2-40B4-BE49-F238E27FC236}">
                <a16:creationId xmlns:a16="http://schemas.microsoft.com/office/drawing/2014/main" id="{EBC05629-11B5-DA44-B527-E7E29579041C}"/>
              </a:ext>
            </a:extLst>
          </p:cNvPr>
          <p:cNvSpPr/>
          <p:nvPr/>
        </p:nvSpPr>
        <p:spPr bwMode="auto">
          <a:xfrm rot="10800000">
            <a:off x="3486051" y="3010795"/>
            <a:ext cx="2423380" cy="1127717"/>
          </a:xfrm>
          <a:prstGeom prst="arc">
            <a:avLst>
              <a:gd name="adj1" fmla="val 10840689"/>
              <a:gd name="adj2" fmla="val 21126575"/>
            </a:avLst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70932E0-A443-7D42-ACAC-B6BE9011E7FE}"/>
              </a:ext>
            </a:extLst>
          </p:cNvPr>
          <p:cNvSpPr txBox="1"/>
          <p:nvPr/>
        </p:nvSpPr>
        <p:spPr>
          <a:xfrm>
            <a:off x="4638177" y="3706465"/>
            <a:ext cx="4320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0" i="0" dirty="0">
                <a:solidFill>
                  <a:srgbClr val="000000"/>
                </a:solidFill>
              </a:rPr>
              <a:t>1</a:t>
            </a:r>
            <a:endParaRPr kumimoji="1" lang="zh-CN" altLang="en-US" sz="2400" b="0" i="0" dirty="0">
              <a:solidFill>
                <a:srgbClr val="000000"/>
              </a:solidFill>
            </a:endParaRPr>
          </a:p>
        </p:txBody>
      </p:sp>
      <p:sp>
        <p:nvSpPr>
          <p:cNvPr id="22" name="弧 21">
            <a:extLst>
              <a:ext uri="{FF2B5EF4-FFF2-40B4-BE49-F238E27FC236}">
                <a16:creationId xmlns:a16="http://schemas.microsoft.com/office/drawing/2014/main" id="{B585ABA3-6E11-F74F-BCDC-D11AE7813C0F}"/>
              </a:ext>
            </a:extLst>
          </p:cNvPr>
          <p:cNvSpPr/>
          <p:nvPr/>
        </p:nvSpPr>
        <p:spPr bwMode="auto">
          <a:xfrm rot="11190199">
            <a:off x="5736256" y="2642950"/>
            <a:ext cx="392274" cy="424801"/>
          </a:xfrm>
          <a:prstGeom prst="arc">
            <a:avLst>
              <a:gd name="adj1" fmla="val 17142475"/>
              <a:gd name="adj2" fmla="val 14430358"/>
            </a:avLst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AFEED3D-374A-DE4D-B127-F9F3F935F378}"/>
              </a:ext>
            </a:extLst>
          </p:cNvPr>
          <p:cNvSpPr txBox="1"/>
          <p:nvPr/>
        </p:nvSpPr>
        <p:spPr>
          <a:xfrm>
            <a:off x="5731492" y="2211145"/>
            <a:ext cx="4320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0" i="0" dirty="0">
                <a:solidFill>
                  <a:srgbClr val="000000"/>
                </a:solidFill>
              </a:rPr>
              <a:t>0</a:t>
            </a:r>
            <a:endParaRPr kumimoji="1" lang="zh-CN" altLang="en-US" sz="2400" b="0" i="0" dirty="0">
              <a:solidFill>
                <a:srgbClr val="000000"/>
              </a:solidFill>
            </a:endParaRPr>
          </a:p>
        </p:txBody>
      </p: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34D3A7E1-58C6-474E-A86A-076B129ABD6D}"/>
              </a:ext>
            </a:extLst>
          </p:cNvPr>
          <p:cNvCxnSpPr/>
          <p:nvPr/>
        </p:nvCxnSpPr>
        <p:spPr bwMode="auto">
          <a:xfrm>
            <a:off x="2195736" y="3307540"/>
            <a:ext cx="804050" cy="113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50ACA219-FA3C-D942-BAFB-A058500EBBA0}"/>
              </a:ext>
            </a:extLst>
          </p:cNvPr>
          <p:cNvSpPr txBox="1"/>
          <p:nvPr/>
        </p:nvSpPr>
        <p:spPr>
          <a:xfrm>
            <a:off x="523586" y="4573880"/>
            <a:ext cx="8216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2400" b="0" i="0" dirty="0">
                <a:solidFill>
                  <a:srgbClr val="000000"/>
                </a:solidFill>
              </a:rPr>
              <a:t>解：三个状态其实都有明确的含义。    表示出现第一对连续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04B4B66-158B-C44A-A7BA-20F0C8831A92}"/>
              </a:ext>
            </a:extLst>
          </p:cNvPr>
          <p:cNvSpPr txBox="1"/>
          <p:nvPr/>
        </p:nvSpPr>
        <p:spPr>
          <a:xfrm>
            <a:off x="514340" y="1237026"/>
            <a:ext cx="82341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2400" b="0" i="0" dirty="0">
                <a:solidFill>
                  <a:srgbClr val="000000"/>
                </a:solidFill>
              </a:rPr>
              <a:t>例</a:t>
            </a:r>
            <a:r>
              <a:rPr kumimoji="1" lang="en-US" altLang="zh-CN" sz="2400" b="0" i="0" dirty="0">
                <a:solidFill>
                  <a:srgbClr val="000000"/>
                </a:solidFill>
              </a:rPr>
              <a:t>1</a:t>
            </a:r>
            <a:r>
              <a:rPr kumimoji="1" lang="zh-CN" altLang="en-US" sz="2400" b="0" i="0" dirty="0">
                <a:solidFill>
                  <a:srgbClr val="000000"/>
                </a:solidFill>
              </a:rPr>
              <a:t>：设计定义在字母表</a:t>
            </a:r>
            <a:r>
              <a:rPr kumimoji="1" lang="en-US" altLang="zh-CN" sz="2400" b="0" i="0" dirty="0">
                <a:solidFill>
                  <a:srgbClr val="000000"/>
                </a:solidFill>
              </a:rPr>
              <a:t>{0, 1}</a:t>
            </a:r>
            <a:r>
              <a:rPr kumimoji="1" lang="zh-CN" altLang="en-US" sz="2400" b="0" i="0" dirty="0">
                <a:solidFill>
                  <a:srgbClr val="000000"/>
                </a:solidFill>
              </a:rPr>
              <a:t>上的所有以</a:t>
            </a:r>
            <a:r>
              <a:rPr kumimoji="1" lang="en-US" altLang="zh-CN" sz="2400" b="0" i="0" dirty="0">
                <a:solidFill>
                  <a:srgbClr val="000000"/>
                </a:solidFill>
              </a:rPr>
              <a:t>00</a:t>
            </a:r>
            <a:r>
              <a:rPr kumimoji="1" lang="zh-CN" altLang="en-US" sz="2400" b="0" i="0" dirty="0">
                <a:solidFill>
                  <a:srgbClr val="000000"/>
                </a:solidFill>
              </a:rPr>
              <a:t>结尾的串的集合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F9C6F6C-9035-734E-982D-26C83B2A1326}"/>
              </a:ext>
            </a:extLst>
          </p:cNvPr>
          <p:cNvSpPr txBox="1"/>
          <p:nvPr/>
        </p:nvSpPr>
        <p:spPr>
          <a:xfrm>
            <a:off x="529996" y="1729562"/>
            <a:ext cx="82341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2400" b="0" i="0" dirty="0">
                <a:solidFill>
                  <a:srgbClr val="000000"/>
                </a:solidFill>
              </a:rPr>
              <a:t>的</a:t>
            </a:r>
            <a:r>
              <a:rPr kumimoji="1" lang="en-US" altLang="zh-CN" sz="2400" b="0" i="0" dirty="0">
                <a:solidFill>
                  <a:srgbClr val="000000"/>
                </a:solidFill>
              </a:rPr>
              <a:t>DFA</a:t>
            </a:r>
            <a:r>
              <a:rPr kumimoji="1" lang="zh-CN" altLang="en-US" sz="2400" b="0" i="0" dirty="0">
                <a:solidFill>
                  <a:srgbClr val="000000"/>
                </a:solidFill>
              </a:rPr>
              <a:t>。</a:t>
            </a: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F8300CBE-E202-5C45-B657-B298B6062CA0}"/>
              </a:ext>
            </a:extLst>
          </p:cNvPr>
          <p:cNvGrpSpPr/>
          <p:nvPr/>
        </p:nvGrpSpPr>
        <p:grpSpPr>
          <a:xfrm>
            <a:off x="514340" y="5108354"/>
            <a:ext cx="8234124" cy="1506043"/>
            <a:chOff x="514340" y="5108354"/>
            <a:chExt cx="8234124" cy="1506043"/>
          </a:xfrm>
        </p:grpSpPr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18F0BDCB-DC51-EC4B-AA8F-426711D08669}"/>
                </a:ext>
              </a:extLst>
            </p:cNvPr>
            <p:cNvSpPr txBox="1"/>
            <p:nvPr/>
          </p:nvSpPr>
          <p:spPr>
            <a:xfrm>
              <a:off x="522410" y="5108354"/>
              <a:ext cx="82260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zh-CN" altLang="en-US" sz="2400" b="0" i="0" dirty="0">
                  <a:solidFill>
                    <a:srgbClr val="000000"/>
                  </a:solidFill>
                </a:rPr>
                <a:t>的</a:t>
              </a:r>
              <a:r>
                <a:rPr kumimoji="1" lang="en-US" altLang="zh-CN" sz="2400" b="0" i="0" dirty="0">
                  <a:solidFill>
                    <a:srgbClr val="000000"/>
                  </a:solidFill>
                </a:rPr>
                <a:t>0</a:t>
              </a:r>
              <a:r>
                <a:rPr kumimoji="1" lang="zh-CN" altLang="en-US" sz="2400" b="0" i="0" dirty="0">
                  <a:solidFill>
                    <a:srgbClr val="000000"/>
                  </a:solidFill>
                </a:rPr>
                <a:t>之前的任意字符串。     表示第一对连续的</a:t>
              </a:r>
              <a:r>
                <a:rPr kumimoji="1" lang="en-US" altLang="zh-CN" sz="2400" b="0" i="0" dirty="0">
                  <a:solidFill>
                    <a:srgbClr val="000000"/>
                  </a:solidFill>
                </a:rPr>
                <a:t>0</a:t>
              </a:r>
              <a:r>
                <a:rPr kumimoji="1" lang="zh-CN" altLang="en-US" sz="2400" b="0" i="0" dirty="0">
                  <a:solidFill>
                    <a:srgbClr val="000000"/>
                  </a:solidFill>
                </a:rPr>
                <a:t>之中的第一个</a:t>
              </a: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1B577B86-9E54-E345-88E3-587057A3E2C8}"/>
                </a:ext>
              </a:extLst>
            </p:cNvPr>
            <p:cNvSpPr txBox="1"/>
            <p:nvPr/>
          </p:nvSpPr>
          <p:spPr>
            <a:xfrm>
              <a:off x="518375" y="5623438"/>
              <a:ext cx="82260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en-US" altLang="zh-CN" sz="2400" b="0" i="0" dirty="0">
                  <a:solidFill>
                    <a:srgbClr val="000000"/>
                  </a:solidFill>
                </a:rPr>
                <a:t>0</a:t>
              </a:r>
              <a:r>
                <a:rPr lang="zh-CN" altLang="en-US" sz="2400" b="0" i="0" dirty="0">
                  <a:solidFill>
                    <a:srgbClr val="000000"/>
                  </a:solidFill>
                </a:rPr>
                <a:t>，一旦在该状态下碰到了</a:t>
              </a:r>
              <a:r>
                <a:rPr lang="en-US" altLang="zh-CN" sz="2400" b="0" i="0" dirty="0">
                  <a:solidFill>
                    <a:srgbClr val="000000"/>
                  </a:solidFill>
                </a:rPr>
                <a:t>1</a:t>
              </a:r>
              <a:r>
                <a:rPr lang="zh-CN" altLang="en-US" sz="2400" b="0" i="0" dirty="0">
                  <a:solidFill>
                    <a:srgbClr val="000000"/>
                  </a:solidFill>
                </a:rPr>
                <a:t>，必须转回到     。    则是终止状</a:t>
              </a:r>
              <a:endParaRPr kumimoji="1" lang="zh-CN" altLang="en-US" sz="2400" b="0" i="0" dirty="0">
                <a:solidFill>
                  <a:srgbClr val="000000"/>
                </a:solidFill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B79BE66A-DD9A-DC47-BB1E-140873F533AA}"/>
                </a:ext>
              </a:extLst>
            </p:cNvPr>
            <p:cNvSpPr txBox="1"/>
            <p:nvPr/>
          </p:nvSpPr>
          <p:spPr>
            <a:xfrm>
              <a:off x="514340" y="6152732"/>
              <a:ext cx="82260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zh-CN" altLang="en-US" sz="2400" b="0" i="0" dirty="0">
                  <a:solidFill>
                    <a:srgbClr val="000000"/>
                  </a:solidFill>
                </a:rPr>
                <a:t>态，可以接受一对连续的</a:t>
              </a:r>
              <a:r>
                <a:rPr kumimoji="1" lang="en-US" altLang="zh-CN" sz="2400" b="0" i="0" dirty="0">
                  <a:solidFill>
                    <a:srgbClr val="000000"/>
                  </a:solidFill>
                </a:rPr>
                <a:t>0</a:t>
              </a:r>
              <a:r>
                <a:rPr kumimoji="1" lang="zh-CN" altLang="en-US" sz="2400" b="0" i="0" dirty="0">
                  <a:solidFill>
                    <a:srgbClr val="000000"/>
                  </a:solidFill>
                </a:rPr>
                <a:t>，也可以接受更多的连续的</a:t>
              </a:r>
              <a:r>
                <a:rPr kumimoji="1" lang="en-US" altLang="zh-CN" sz="2400" b="0" i="0" dirty="0">
                  <a:solidFill>
                    <a:srgbClr val="000000"/>
                  </a:solidFill>
                </a:rPr>
                <a:t>0</a:t>
              </a:r>
              <a:r>
                <a:rPr kumimoji="1" lang="zh-CN" altLang="en-US" sz="2400" b="0" i="0" dirty="0">
                  <a:solidFill>
                    <a:srgbClr val="000000"/>
                  </a:solidFill>
                </a:rPr>
                <a:t>。</a:t>
              </a:r>
            </a:p>
          </p:txBody>
        </p:sp>
      </p:grpSp>
      <p:pic>
        <p:nvPicPr>
          <p:cNvPr id="36" name="图片 35">
            <a:extLst>
              <a:ext uri="{FF2B5EF4-FFF2-40B4-BE49-F238E27FC236}">
                <a16:creationId xmlns:a16="http://schemas.microsoft.com/office/drawing/2014/main" id="{0A0B520C-9038-694A-B81A-D609E1FFCA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7569" y="3220561"/>
            <a:ext cx="1511300" cy="203200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09DF6DCD-6435-4647-A518-2F1830C6AE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8720" y="3236714"/>
            <a:ext cx="1498600" cy="203200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5D4C9324-C156-ED4C-BFC9-D1D346BB12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1839" y="3207776"/>
            <a:ext cx="1511300" cy="203200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EF52C326-098D-7948-B0C1-796015254F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0048" y="4712808"/>
            <a:ext cx="1511300" cy="2032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C70284F9-5B70-334D-BEE2-61AEA7BCFA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7416" y="5241631"/>
            <a:ext cx="1498600" cy="203200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BAE55CFF-39C9-4B46-B1E0-C616ADDC7D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0980" y="5752670"/>
            <a:ext cx="1511300" cy="2032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B01CDDB-431B-9C46-A204-84BA3E1EB2F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50703" y="5746290"/>
            <a:ext cx="1617641" cy="217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335361"/>
      </p:ext>
    </p:extLst>
  </p:cSld>
  <p:clrMapOvr>
    <a:masterClrMapping/>
  </p:clrMapOvr>
  <p:transition spd="med">
    <p:wipe dir="r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35" name="Rectangle 19"/>
          <p:cNvSpPr>
            <a:spLocks noChangeArrowheads="1"/>
          </p:cNvSpPr>
          <p:nvPr/>
        </p:nvSpPr>
        <p:spPr bwMode="auto">
          <a:xfrm>
            <a:off x="1476375" y="195263"/>
            <a:ext cx="3887788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4000" i="0">
                <a:ea typeface="华文行楷" pitchFamily="2" charset="-122"/>
              </a:rPr>
              <a:t>确定有限自动机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C4E9407-D314-8942-ABC0-C2568C1E22B4}"/>
              </a:ext>
            </a:extLst>
          </p:cNvPr>
          <p:cNvSpPr txBox="1"/>
          <p:nvPr/>
        </p:nvSpPr>
        <p:spPr>
          <a:xfrm>
            <a:off x="8604448" y="6471931"/>
            <a:ext cx="5395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0" i="0" dirty="0">
                <a:solidFill>
                  <a:srgbClr val="000066"/>
                </a:solidFill>
              </a:rPr>
              <a:t>35</a:t>
            </a:r>
            <a:endParaRPr kumimoji="1" lang="zh-CN" altLang="en-US" sz="2000" b="0" i="0" dirty="0">
              <a:solidFill>
                <a:srgbClr val="000066"/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04B4B66-158B-C44A-A7BA-20F0C8831A92}"/>
              </a:ext>
            </a:extLst>
          </p:cNvPr>
          <p:cNvSpPr txBox="1"/>
          <p:nvPr/>
        </p:nvSpPr>
        <p:spPr>
          <a:xfrm>
            <a:off x="514340" y="1237026"/>
            <a:ext cx="82341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2400" b="0" i="0" dirty="0">
                <a:solidFill>
                  <a:srgbClr val="000000"/>
                </a:solidFill>
              </a:rPr>
              <a:t>例</a:t>
            </a:r>
            <a:r>
              <a:rPr lang="en-US" altLang="zh-CN" sz="2400" b="0" i="0" dirty="0">
                <a:solidFill>
                  <a:srgbClr val="000000"/>
                </a:solidFill>
              </a:rPr>
              <a:t>2</a:t>
            </a:r>
            <a:r>
              <a:rPr kumimoji="1" lang="zh-CN" altLang="en-US" sz="2400" b="0" i="0" dirty="0">
                <a:solidFill>
                  <a:srgbClr val="000000"/>
                </a:solidFill>
              </a:rPr>
              <a:t>：设计</a:t>
            </a:r>
            <a:r>
              <a:rPr kumimoji="1" lang="en-US" altLang="zh-CN" sz="2400" b="0" i="0" dirty="0">
                <a:solidFill>
                  <a:srgbClr val="000000"/>
                </a:solidFill>
              </a:rPr>
              <a:t>DFA</a:t>
            </a:r>
            <a:r>
              <a:rPr kumimoji="1" lang="zh-CN" altLang="en-US" sz="2400" b="0" i="0" dirty="0">
                <a:solidFill>
                  <a:srgbClr val="000000"/>
                </a:solidFill>
              </a:rPr>
              <a:t>接受以下语言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14F7A270-C1CB-E342-BCF3-20CD82D61F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828413"/>
            <a:ext cx="7228284" cy="340727"/>
          </a:xfrm>
          <a:prstGeom prst="rect">
            <a:avLst/>
          </a:prstGeom>
        </p:spPr>
      </p:pic>
      <p:grpSp>
        <p:nvGrpSpPr>
          <p:cNvPr id="75" name="组合 74">
            <a:extLst>
              <a:ext uri="{FF2B5EF4-FFF2-40B4-BE49-F238E27FC236}">
                <a16:creationId xmlns:a16="http://schemas.microsoft.com/office/drawing/2014/main" id="{8A15D76C-5CBE-814F-96A2-55ECE440C65D}"/>
              </a:ext>
            </a:extLst>
          </p:cNvPr>
          <p:cNvGrpSpPr/>
          <p:nvPr/>
        </p:nvGrpSpPr>
        <p:grpSpPr>
          <a:xfrm>
            <a:off x="2502188" y="3123979"/>
            <a:ext cx="4390112" cy="738456"/>
            <a:chOff x="2502188" y="3123979"/>
            <a:chExt cx="4390112" cy="738456"/>
          </a:xfrm>
        </p:grpSpPr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91DAFA80-9C28-C744-8FC0-153BC9509BEA}"/>
                </a:ext>
              </a:extLst>
            </p:cNvPr>
            <p:cNvSpPr/>
            <p:nvPr/>
          </p:nvSpPr>
          <p:spPr bwMode="auto">
            <a:xfrm>
              <a:off x="2502188" y="3341858"/>
              <a:ext cx="504056" cy="519765"/>
            </a:xfrm>
            <a:prstGeom prst="ellips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7CDA726F-9441-7144-BEBE-874ADE30D318}"/>
                </a:ext>
              </a:extLst>
            </p:cNvPr>
            <p:cNvSpPr/>
            <p:nvPr/>
          </p:nvSpPr>
          <p:spPr bwMode="auto">
            <a:xfrm>
              <a:off x="3797540" y="3342670"/>
              <a:ext cx="504056" cy="519765"/>
            </a:xfrm>
            <a:prstGeom prst="ellips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679F5B8E-8DF0-8649-84AC-3D9501A94B4F}"/>
                </a:ext>
              </a:extLst>
            </p:cNvPr>
            <p:cNvSpPr/>
            <p:nvPr/>
          </p:nvSpPr>
          <p:spPr bwMode="auto">
            <a:xfrm>
              <a:off x="5092892" y="3342669"/>
              <a:ext cx="504056" cy="519765"/>
            </a:xfrm>
            <a:prstGeom prst="ellips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465A8E09-B4A7-054F-BB8A-63B8B07298F4}"/>
                </a:ext>
              </a:extLst>
            </p:cNvPr>
            <p:cNvSpPr/>
            <p:nvPr/>
          </p:nvSpPr>
          <p:spPr bwMode="auto">
            <a:xfrm>
              <a:off x="6388244" y="3341858"/>
              <a:ext cx="504056" cy="519765"/>
            </a:xfrm>
            <a:prstGeom prst="ellips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45" name="椭圆 44">
              <a:extLst>
                <a:ext uri="{FF2B5EF4-FFF2-40B4-BE49-F238E27FC236}">
                  <a16:creationId xmlns:a16="http://schemas.microsoft.com/office/drawing/2014/main" id="{A4F24237-FCBA-FD46-84B2-D3DB32277515}"/>
                </a:ext>
              </a:extLst>
            </p:cNvPr>
            <p:cNvSpPr/>
            <p:nvPr/>
          </p:nvSpPr>
          <p:spPr bwMode="auto">
            <a:xfrm>
              <a:off x="6461441" y="3420329"/>
              <a:ext cx="351656" cy="362821"/>
            </a:xfrm>
            <a:prstGeom prst="ellips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cxnSp>
          <p:nvCxnSpPr>
            <p:cNvPr id="46" name="直线箭头连接符 45">
              <a:extLst>
                <a:ext uri="{FF2B5EF4-FFF2-40B4-BE49-F238E27FC236}">
                  <a16:creationId xmlns:a16="http://schemas.microsoft.com/office/drawing/2014/main" id="{D0BC5201-2725-6446-B99B-BB910427A307}"/>
                </a:ext>
              </a:extLst>
            </p:cNvPr>
            <p:cNvCxnSpPr>
              <a:cxnSpLocks/>
              <a:stCxn id="41" idx="6"/>
              <a:endCxn id="42" idx="2"/>
            </p:cNvCxnSpPr>
            <p:nvPr/>
          </p:nvCxnSpPr>
          <p:spPr bwMode="auto">
            <a:xfrm>
              <a:off x="3006244" y="3601741"/>
              <a:ext cx="791296" cy="81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48" name="直线箭头连接符 47">
              <a:extLst>
                <a:ext uri="{FF2B5EF4-FFF2-40B4-BE49-F238E27FC236}">
                  <a16:creationId xmlns:a16="http://schemas.microsoft.com/office/drawing/2014/main" id="{47F12B05-7B82-B94E-BE0D-10C2C23A6833}"/>
                </a:ext>
              </a:extLst>
            </p:cNvPr>
            <p:cNvCxnSpPr>
              <a:cxnSpLocks/>
              <a:stCxn id="42" idx="6"/>
              <a:endCxn id="43" idx="2"/>
            </p:cNvCxnSpPr>
            <p:nvPr/>
          </p:nvCxnSpPr>
          <p:spPr bwMode="auto">
            <a:xfrm flipV="1">
              <a:off x="4301596" y="3602552"/>
              <a:ext cx="791296" cy="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51" name="直线箭头连接符 50">
              <a:extLst>
                <a:ext uri="{FF2B5EF4-FFF2-40B4-BE49-F238E27FC236}">
                  <a16:creationId xmlns:a16="http://schemas.microsoft.com/office/drawing/2014/main" id="{CB77AF17-1925-3F4E-AD64-9CE023CC1073}"/>
                </a:ext>
              </a:extLst>
            </p:cNvPr>
            <p:cNvCxnSpPr>
              <a:cxnSpLocks/>
              <a:stCxn id="43" idx="6"/>
              <a:endCxn id="44" idx="2"/>
            </p:cNvCxnSpPr>
            <p:nvPr/>
          </p:nvCxnSpPr>
          <p:spPr bwMode="auto">
            <a:xfrm flipV="1">
              <a:off x="5596948" y="3601741"/>
              <a:ext cx="791296" cy="81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0A7B08FF-0FE5-1E47-8E63-F57040B6DD8D}"/>
                </a:ext>
              </a:extLst>
            </p:cNvPr>
            <p:cNvSpPr txBox="1"/>
            <p:nvPr/>
          </p:nvSpPr>
          <p:spPr>
            <a:xfrm flipH="1">
              <a:off x="3338210" y="3123980"/>
              <a:ext cx="1439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b="0" i="0" dirty="0">
                  <a:solidFill>
                    <a:srgbClr val="000000"/>
                  </a:solidFill>
                </a:rPr>
                <a:t>0</a:t>
              </a:r>
              <a:endParaRPr kumimoji="1" lang="zh-CN" altLang="en-US" b="0" i="0" dirty="0">
                <a:solidFill>
                  <a:srgbClr val="000000"/>
                </a:solidFill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A1FF29FD-5334-5E4A-9B32-24D043FB8FF7}"/>
                </a:ext>
              </a:extLst>
            </p:cNvPr>
            <p:cNvSpPr txBox="1"/>
            <p:nvPr/>
          </p:nvSpPr>
          <p:spPr>
            <a:xfrm flipH="1">
              <a:off x="4617020" y="3132103"/>
              <a:ext cx="1439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b="0" i="0" dirty="0">
                  <a:solidFill>
                    <a:srgbClr val="000000"/>
                  </a:solidFill>
                </a:rPr>
                <a:t>1</a:t>
              </a:r>
              <a:endParaRPr kumimoji="1" lang="zh-CN" altLang="en-US" b="0" i="0" dirty="0">
                <a:solidFill>
                  <a:srgbClr val="000000"/>
                </a:solidFill>
              </a:endParaRPr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2023DF03-CC6F-5049-84CB-E1F3439F12D4}"/>
                </a:ext>
              </a:extLst>
            </p:cNvPr>
            <p:cNvSpPr txBox="1"/>
            <p:nvPr/>
          </p:nvSpPr>
          <p:spPr>
            <a:xfrm flipH="1">
              <a:off x="5928914" y="3123979"/>
              <a:ext cx="1439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b="0" i="0" dirty="0">
                  <a:solidFill>
                    <a:srgbClr val="000000"/>
                  </a:solidFill>
                </a:rPr>
                <a:t>0</a:t>
              </a:r>
              <a:endParaRPr kumimoji="1" lang="zh-CN" altLang="en-US" b="0" i="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4561EE08-E65F-6043-AEC7-E1D68984394B}"/>
              </a:ext>
            </a:extLst>
          </p:cNvPr>
          <p:cNvGrpSpPr/>
          <p:nvPr/>
        </p:nvGrpSpPr>
        <p:grpSpPr>
          <a:xfrm>
            <a:off x="2575545" y="3849696"/>
            <a:ext cx="392274" cy="875448"/>
            <a:chOff x="2575545" y="3849696"/>
            <a:chExt cx="392274" cy="875448"/>
          </a:xfrm>
        </p:grpSpPr>
        <p:sp>
          <p:nvSpPr>
            <p:cNvPr id="58" name="弧 57">
              <a:extLst>
                <a:ext uri="{FF2B5EF4-FFF2-40B4-BE49-F238E27FC236}">
                  <a16:creationId xmlns:a16="http://schemas.microsoft.com/office/drawing/2014/main" id="{E5F24AF6-FA9E-1745-89CF-9C990F3A32BB}"/>
                </a:ext>
              </a:extLst>
            </p:cNvPr>
            <p:cNvSpPr/>
            <p:nvPr/>
          </p:nvSpPr>
          <p:spPr bwMode="auto">
            <a:xfrm>
              <a:off x="2575545" y="3849696"/>
              <a:ext cx="392274" cy="424801"/>
            </a:xfrm>
            <a:prstGeom prst="arc">
              <a:avLst>
                <a:gd name="adj1" fmla="val 17142475"/>
                <a:gd name="adj2" fmla="val 14430358"/>
              </a:avLst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AF6BD832-1CED-854A-81F3-8E881DD58084}"/>
                </a:ext>
              </a:extLst>
            </p:cNvPr>
            <p:cNvSpPr txBox="1"/>
            <p:nvPr/>
          </p:nvSpPr>
          <p:spPr>
            <a:xfrm flipH="1">
              <a:off x="2699729" y="4263479"/>
              <a:ext cx="1439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b="0" i="0" dirty="0">
                  <a:solidFill>
                    <a:srgbClr val="000000"/>
                  </a:solidFill>
                </a:rPr>
                <a:t>1</a:t>
              </a:r>
              <a:endParaRPr kumimoji="1" lang="zh-CN" altLang="en-US" b="0" i="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59B55564-FFA6-3842-ACEE-FB3E0DBCE4EB}"/>
              </a:ext>
            </a:extLst>
          </p:cNvPr>
          <p:cNvGrpSpPr/>
          <p:nvPr/>
        </p:nvGrpSpPr>
        <p:grpSpPr>
          <a:xfrm>
            <a:off x="3863763" y="3849696"/>
            <a:ext cx="392274" cy="875448"/>
            <a:chOff x="3863763" y="3849696"/>
            <a:chExt cx="392274" cy="875448"/>
          </a:xfrm>
        </p:grpSpPr>
        <p:sp>
          <p:nvSpPr>
            <p:cNvPr id="60" name="弧 59">
              <a:extLst>
                <a:ext uri="{FF2B5EF4-FFF2-40B4-BE49-F238E27FC236}">
                  <a16:creationId xmlns:a16="http://schemas.microsoft.com/office/drawing/2014/main" id="{A5E4DE52-D0C2-4049-A5C7-F9A4D84AED41}"/>
                </a:ext>
              </a:extLst>
            </p:cNvPr>
            <p:cNvSpPr/>
            <p:nvPr/>
          </p:nvSpPr>
          <p:spPr bwMode="auto">
            <a:xfrm>
              <a:off x="3863763" y="3849696"/>
              <a:ext cx="392274" cy="424801"/>
            </a:xfrm>
            <a:prstGeom prst="arc">
              <a:avLst>
                <a:gd name="adj1" fmla="val 17142475"/>
                <a:gd name="adj2" fmla="val 14430358"/>
              </a:avLst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3406AB45-4CEB-D543-8499-2FE1AA23977A}"/>
                </a:ext>
              </a:extLst>
            </p:cNvPr>
            <p:cNvSpPr txBox="1"/>
            <p:nvPr/>
          </p:nvSpPr>
          <p:spPr>
            <a:xfrm flipH="1">
              <a:off x="3987947" y="4263479"/>
              <a:ext cx="1439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0" i="0" dirty="0">
                  <a:solidFill>
                    <a:srgbClr val="000000"/>
                  </a:solidFill>
                </a:rPr>
                <a:t>0</a:t>
              </a:r>
              <a:endParaRPr kumimoji="1" lang="zh-CN" altLang="en-US" b="0" i="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32752BDC-F12B-8247-8240-B3714B60031A}"/>
              </a:ext>
            </a:extLst>
          </p:cNvPr>
          <p:cNvGrpSpPr/>
          <p:nvPr/>
        </p:nvGrpSpPr>
        <p:grpSpPr>
          <a:xfrm>
            <a:off x="2714588" y="2433888"/>
            <a:ext cx="2652353" cy="1645438"/>
            <a:chOff x="2714588" y="2433888"/>
            <a:chExt cx="2652353" cy="1645438"/>
          </a:xfrm>
        </p:grpSpPr>
        <p:sp>
          <p:nvSpPr>
            <p:cNvPr id="62" name="弧 61">
              <a:extLst>
                <a:ext uri="{FF2B5EF4-FFF2-40B4-BE49-F238E27FC236}">
                  <a16:creationId xmlns:a16="http://schemas.microsoft.com/office/drawing/2014/main" id="{EA525D61-E5F3-0846-899B-E73C873709B9}"/>
                </a:ext>
              </a:extLst>
            </p:cNvPr>
            <p:cNvSpPr/>
            <p:nvPr/>
          </p:nvSpPr>
          <p:spPr bwMode="auto">
            <a:xfrm rot="21302931" flipH="1">
              <a:off x="2714588" y="2859892"/>
              <a:ext cx="2652353" cy="1219434"/>
            </a:xfrm>
            <a:prstGeom prst="arc">
              <a:avLst>
                <a:gd name="adj1" fmla="val 10923734"/>
                <a:gd name="adj2" fmla="val 20917571"/>
              </a:avLst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61EF14C1-AE64-3C41-921B-56024384DBF7}"/>
                </a:ext>
              </a:extLst>
            </p:cNvPr>
            <p:cNvSpPr txBox="1"/>
            <p:nvPr/>
          </p:nvSpPr>
          <p:spPr>
            <a:xfrm flipH="1">
              <a:off x="4145393" y="2433888"/>
              <a:ext cx="1439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b="0" i="0" dirty="0">
                  <a:solidFill>
                    <a:srgbClr val="000000"/>
                  </a:solidFill>
                </a:rPr>
                <a:t>1</a:t>
              </a:r>
              <a:endParaRPr kumimoji="1" lang="zh-CN" altLang="en-US" b="0" i="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CC27AC27-ECB9-844D-9793-11955C71B09E}"/>
              </a:ext>
            </a:extLst>
          </p:cNvPr>
          <p:cNvGrpSpPr/>
          <p:nvPr/>
        </p:nvGrpSpPr>
        <p:grpSpPr>
          <a:xfrm>
            <a:off x="6323654" y="3861621"/>
            <a:ext cx="667847" cy="859683"/>
            <a:chOff x="6323654" y="3861621"/>
            <a:chExt cx="667847" cy="859683"/>
          </a:xfrm>
        </p:grpSpPr>
        <p:sp>
          <p:nvSpPr>
            <p:cNvPr id="64" name="弧 63">
              <a:extLst>
                <a:ext uri="{FF2B5EF4-FFF2-40B4-BE49-F238E27FC236}">
                  <a16:creationId xmlns:a16="http://schemas.microsoft.com/office/drawing/2014/main" id="{CC706A9A-8271-DA46-B8BF-506E17031627}"/>
                </a:ext>
              </a:extLst>
            </p:cNvPr>
            <p:cNvSpPr/>
            <p:nvPr/>
          </p:nvSpPr>
          <p:spPr bwMode="auto">
            <a:xfrm>
              <a:off x="6461441" y="3861621"/>
              <a:ext cx="392274" cy="424801"/>
            </a:xfrm>
            <a:prstGeom prst="arc">
              <a:avLst>
                <a:gd name="adj1" fmla="val 17142475"/>
                <a:gd name="adj2" fmla="val 14430358"/>
              </a:avLst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26ABBC1C-503E-5546-8BCB-C15899BA85CE}"/>
                </a:ext>
              </a:extLst>
            </p:cNvPr>
            <p:cNvSpPr txBox="1"/>
            <p:nvPr/>
          </p:nvSpPr>
          <p:spPr>
            <a:xfrm flipH="1">
              <a:off x="6323654" y="4259639"/>
              <a:ext cx="66784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0" i="0" dirty="0">
                  <a:solidFill>
                    <a:srgbClr val="000000"/>
                  </a:solidFill>
                </a:rPr>
                <a:t>0, 1</a:t>
              </a:r>
              <a:endParaRPr kumimoji="1" lang="zh-CN" altLang="en-US" b="0" i="0" dirty="0">
                <a:solidFill>
                  <a:srgbClr val="000000"/>
                </a:solidFill>
              </a:endParaRPr>
            </a:p>
          </p:txBody>
        </p:sp>
      </p:grpSp>
      <p:cxnSp>
        <p:nvCxnSpPr>
          <p:cNvPr id="66" name="直线箭头连接符 65">
            <a:extLst>
              <a:ext uri="{FF2B5EF4-FFF2-40B4-BE49-F238E27FC236}">
                <a16:creationId xmlns:a16="http://schemas.microsoft.com/office/drawing/2014/main" id="{94FD2D7B-9752-FA4B-9B8D-5427CB4365CB}"/>
              </a:ext>
            </a:extLst>
          </p:cNvPr>
          <p:cNvCxnSpPr>
            <a:cxnSpLocks/>
          </p:cNvCxnSpPr>
          <p:nvPr/>
        </p:nvCxnSpPr>
        <p:spPr bwMode="auto">
          <a:xfrm flipV="1">
            <a:off x="1691680" y="3605987"/>
            <a:ext cx="791296" cy="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8F143BC3-3543-A245-9ECA-1A84AC05D33A}"/>
              </a:ext>
            </a:extLst>
          </p:cNvPr>
          <p:cNvGrpSpPr/>
          <p:nvPr/>
        </p:nvGrpSpPr>
        <p:grpSpPr>
          <a:xfrm>
            <a:off x="1998476" y="3492168"/>
            <a:ext cx="5397012" cy="219943"/>
            <a:chOff x="1998476" y="3492168"/>
            <a:chExt cx="5397012" cy="219943"/>
          </a:xfrm>
        </p:grpSpPr>
        <p:pic>
          <p:nvPicPr>
            <p:cNvPr id="54" name="图片 53">
              <a:extLst>
                <a:ext uri="{FF2B5EF4-FFF2-40B4-BE49-F238E27FC236}">
                  <a16:creationId xmlns:a16="http://schemas.microsoft.com/office/drawing/2014/main" id="{D485B312-B8FA-CE4F-8457-3002515788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98476" y="3508911"/>
              <a:ext cx="1511300" cy="203200"/>
            </a:xfrm>
            <a:prstGeom prst="rect">
              <a:avLst/>
            </a:prstGeom>
          </p:spPr>
        </p:pic>
        <p:pic>
          <p:nvPicPr>
            <p:cNvPr id="67" name="图片 66">
              <a:extLst>
                <a:ext uri="{FF2B5EF4-FFF2-40B4-BE49-F238E27FC236}">
                  <a16:creationId xmlns:a16="http://schemas.microsoft.com/office/drawing/2014/main" id="{1718E594-6461-AC44-9EEB-AE814718C5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05389" y="3492168"/>
              <a:ext cx="1498600" cy="203200"/>
            </a:xfrm>
            <a:prstGeom prst="rect">
              <a:avLst/>
            </a:prstGeom>
          </p:spPr>
        </p:pic>
        <p:pic>
          <p:nvPicPr>
            <p:cNvPr id="68" name="图片 67">
              <a:extLst>
                <a:ext uri="{FF2B5EF4-FFF2-40B4-BE49-F238E27FC236}">
                  <a16:creationId xmlns:a16="http://schemas.microsoft.com/office/drawing/2014/main" id="{A16F6531-0D2A-DC44-891C-0C5D56CF4A8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08513" y="3492168"/>
              <a:ext cx="1511300" cy="203200"/>
            </a:xfrm>
            <a:prstGeom prst="rect">
              <a:avLst/>
            </a:prstGeom>
          </p:spPr>
        </p:pic>
        <p:pic>
          <p:nvPicPr>
            <p:cNvPr id="69" name="图片 68">
              <a:extLst>
                <a:ext uri="{FF2B5EF4-FFF2-40B4-BE49-F238E27FC236}">
                  <a16:creationId xmlns:a16="http://schemas.microsoft.com/office/drawing/2014/main" id="{8168B46B-FFC1-0644-A36C-09D84950BAB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884188" y="3503148"/>
              <a:ext cx="1511300" cy="203200"/>
            </a:xfrm>
            <a:prstGeom prst="rect">
              <a:avLst/>
            </a:prstGeom>
          </p:spPr>
        </p:pic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F6D9BC6F-6B71-944C-B219-370B15729AC7}"/>
              </a:ext>
            </a:extLst>
          </p:cNvPr>
          <p:cNvGrpSpPr/>
          <p:nvPr/>
        </p:nvGrpSpPr>
        <p:grpSpPr>
          <a:xfrm>
            <a:off x="549554" y="4929024"/>
            <a:ext cx="8238634" cy="1553870"/>
            <a:chOff x="549554" y="4929024"/>
            <a:chExt cx="8238634" cy="1553870"/>
          </a:xfrm>
        </p:grpSpPr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D926188E-326B-DC43-90AB-5BE151938E81}"/>
                </a:ext>
              </a:extLst>
            </p:cNvPr>
            <p:cNvSpPr txBox="1"/>
            <p:nvPr/>
          </p:nvSpPr>
          <p:spPr>
            <a:xfrm>
              <a:off x="549554" y="4929024"/>
              <a:ext cx="82168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zh-CN" altLang="en-US" sz="2400" b="0" i="0" dirty="0">
                  <a:solidFill>
                    <a:srgbClr val="000000"/>
                  </a:solidFill>
                </a:rPr>
                <a:t>解：</a:t>
              </a:r>
              <a:r>
                <a:rPr lang="zh-CN" altLang="en-US" sz="2400" b="0" i="0" dirty="0">
                  <a:solidFill>
                    <a:srgbClr val="000000"/>
                  </a:solidFill>
                </a:rPr>
                <a:t>这道题可以采用类似与例</a:t>
              </a:r>
              <a:r>
                <a:rPr lang="en-US" altLang="zh-CN" sz="2400" b="0" i="0" dirty="0">
                  <a:solidFill>
                    <a:srgbClr val="000000"/>
                  </a:solidFill>
                </a:rPr>
                <a:t>1</a:t>
              </a:r>
              <a:r>
                <a:rPr lang="zh-CN" altLang="en-US" sz="2400" b="0" i="0" dirty="0">
                  <a:solidFill>
                    <a:srgbClr val="000000"/>
                  </a:solidFill>
                </a:rPr>
                <a:t>的技巧，首先确定主线上的</a:t>
              </a:r>
              <a:endParaRPr kumimoji="1" lang="zh-CN" altLang="en-US" sz="2400" b="0" i="0" dirty="0">
                <a:solidFill>
                  <a:srgbClr val="000000"/>
                </a:solidFill>
              </a:endParaRPr>
            </a:p>
          </p:txBody>
        </p: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F5A8A76D-1714-6E43-8FFD-2AF3AD22ECE1}"/>
                </a:ext>
              </a:extLst>
            </p:cNvPr>
            <p:cNvSpPr txBox="1"/>
            <p:nvPr/>
          </p:nvSpPr>
          <p:spPr>
            <a:xfrm>
              <a:off x="571380" y="5471783"/>
              <a:ext cx="82168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zh-CN" altLang="en-US" sz="2400" b="0" i="0" dirty="0">
                  <a:solidFill>
                    <a:srgbClr val="000000"/>
                  </a:solidFill>
                </a:rPr>
                <a:t>节点和边，然后再补所缺的出边。一定要想清楚出边应该</a:t>
              </a:r>
            </a:p>
          </p:txBody>
        </p: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A61123ED-C345-A042-A0AE-F62480E2FDA4}"/>
                </a:ext>
              </a:extLst>
            </p:cNvPr>
            <p:cNvSpPr txBox="1"/>
            <p:nvPr/>
          </p:nvSpPr>
          <p:spPr>
            <a:xfrm>
              <a:off x="571380" y="6021229"/>
              <a:ext cx="82168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zh-CN" altLang="en-US" sz="2400" b="0" i="0" dirty="0">
                  <a:solidFill>
                    <a:srgbClr val="000000"/>
                  </a:solidFill>
                </a:rPr>
                <a:t>指向哪个节点。做完后可以列举几个符合条件的串检查一下。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74065335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35" name="Rectangle 19"/>
          <p:cNvSpPr>
            <a:spLocks noChangeArrowheads="1"/>
          </p:cNvSpPr>
          <p:nvPr/>
        </p:nvSpPr>
        <p:spPr bwMode="auto">
          <a:xfrm>
            <a:off x="1476375" y="195263"/>
            <a:ext cx="3887788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4000" i="0">
                <a:ea typeface="华文行楷" pitchFamily="2" charset="-122"/>
              </a:rPr>
              <a:t>确定有限自动机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C4E9407-D314-8942-ABC0-C2568C1E22B4}"/>
              </a:ext>
            </a:extLst>
          </p:cNvPr>
          <p:cNvSpPr txBox="1"/>
          <p:nvPr/>
        </p:nvSpPr>
        <p:spPr>
          <a:xfrm>
            <a:off x="8604448" y="6471931"/>
            <a:ext cx="5395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0" i="0" dirty="0">
                <a:solidFill>
                  <a:srgbClr val="000066"/>
                </a:solidFill>
              </a:rPr>
              <a:t>36</a:t>
            </a:r>
            <a:endParaRPr kumimoji="1" lang="zh-CN" altLang="en-US" sz="2000" b="0" i="0" dirty="0">
              <a:solidFill>
                <a:srgbClr val="000066"/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04B4B66-158B-C44A-A7BA-20F0C8831A92}"/>
              </a:ext>
            </a:extLst>
          </p:cNvPr>
          <p:cNvSpPr txBox="1"/>
          <p:nvPr/>
        </p:nvSpPr>
        <p:spPr>
          <a:xfrm>
            <a:off x="514340" y="1237026"/>
            <a:ext cx="82341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2400" b="0" i="0" dirty="0">
                <a:solidFill>
                  <a:srgbClr val="000000"/>
                </a:solidFill>
              </a:rPr>
              <a:t>例</a:t>
            </a:r>
            <a:r>
              <a:rPr lang="en-US" altLang="zh-CN" sz="2400" b="0" i="0" dirty="0">
                <a:solidFill>
                  <a:srgbClr val="000000"/>
                </a:solidFill>
              </a:rPr>
              <a:t>3</a:t>
            </a:r>
            <a:r>
              <a:rPr kumimoji="1" lang="zh-CN" altLang="en-US" sz="2400" b="0" i="0" dirty="0">
                <a:solidFill>
                  <a:srgbClr val="000000"/>
                </a:solidFill>
              </a:rPr>
              <a:t>：设计</a:t>
            </a:r>
            <a:r>
              <a:rPr kumimoji="1" lang="en-US" altLang="zh-CN" sz="2400" b="0" i="0" dirty="0">
                <a:solidFill>
                  <a:srgbClr val="000000"/>
                </a:solidFill>
              </a:rPr>
              <a:t>DFA</a:t>
            </a:r>
            <a:r>
              <a:rPr kumimoji="1" lang="zh-CN" altLang="en-US" sz="2400" b="0" i="0" dirty="0">
                <a:solidFill>
                  <a:srgbClr val="000000"/>
                </a:solidFill>
              </a:rPr>
              <a:t>接受以下语言</a:t>
            </a:r>
          </a:p>
        </p:txBody>
      </p: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F6D9BC6F-6B71-944C-B219-370B15729AC7}"/>
              </a:ext>
            </a:extLst>
          </p:cNvPr>
          <p:cNvGrpSpPr/>
          <p:nvPr/>
        </p:nvGrpSpPr>
        <p:grpSpPr>
          <a:xfrm>
            <a:off x="549554" y="4929024"/>
            <a:ext cx="8238634" cy="1553870"/>
            <a:chOff x="549554" y="4929024"/>
            <a:chExt cx="8238634" cy="1553870"/>
          </a:xfrm>
        </p:grpSpPr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D926188E-326B-DC43-90AB-5BE151938E81}"/>
                </a:ext>
              </a:extLst>
            </p:cNvPr>
            <p:cNvSpPr txBox="1"/>
            <p:nvPr/>
          </p:nvSpPr>
          <p:spPr>
            <a:xfrm>
              <a:off x="549554" y="4929024"/>
              <a:ext cx="82168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zh-CN" altLang="en-US" sz="2400" b="0" i="0" dirty="0">
                  <a:solidFill>
                    <a:srgbClr val="000000"/>
                  </a:solidFill>
                </a:rPr>
                <a:t>解：</a:t>
              </a:r>
              <a:r>
                <a:rPr lang="zh-CN" altLang="en-US" sz="2400" b="0" i="0" dirty="0">
                  <a:solidFill>
                    <a:srgbClr val="000000"/>
                  </a:solidFill>
                </a:rPr>
                <a:t>这道题看上去似乎无从下手，怎么表示“不包含”？其</a:t>
              </a:r>
              <a:endParaRPr kumimoji="1" lang="zh-CN" altLang="en-US" sz="2400" b="0" i="0" dirty="0">
                <a:solidFill>
                  <a:srgbClr val="000000"/>
                </a:solidFill>
              </a:endParaRPr>
            </a:p>
          </p:txBody>
        </p: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F5A8A76D-1714-6E43-8FFD-2AF3AD22ECE1}"/>
                </a:ext>
              </a:extLst>
            </p:cNvPr>
            <p:cNvSpPr txBox="1"/>
            <p:nvPr/>
          </p:nvSpPr>
          <p:spPr>
            <a:xfrm>
              <a:off x="571380" y="5471783"/>
              <a:ext cx="82168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400" b="0" i="0" dirty="0">
                  <a:solidFill>
                    <a:srgbClr val="000000"/>
                  </a:solidFill>
                </a:rPr>
                <a:t>实可以从补集的角度去考虑，体现在</a:t>
              </a:r>
              <a:r>
                <a:rPr lang="en-US" altLang="zh-CN" sz="2400" b="0" i="0" dirty="0">
                  <a:solidFill>
                    <a:srgbClr val="000000"/>
                  </a:solidFill>
                </a:rPr>
                <a:t>DFA</a:t>
              </a:r>
              <a:r>
                <a:rPr lang="zh-CN" altLang="en-US" sz="2400" b="0" i="0" dirty="0">
                  <a:solidFill>
                    <a:srgbClr val="000000"/>
                  </a:solidFill>
                </a:rPr>
                <a:t>上，就是保留例</a:t>
              </a:r>
              <a:r>
                <a:rPr lang="en-US" altLang="zh-CN" sz="2400" b="0" i="0" dirty="0">
                  <a:solidFill>
                    <a:srgbClr val="000000"/>
                  </a:solidFill>
                </a:rPr>
                <a:t>2</a:t>
              </a:r>
              <a:endParaRPr kumimoji="1" lang="zh-CN" altLang="en-US" sz="2400" b="0" i="0" dirty="0">
                <a:solidFill>
                  <a:srgbClr val="000000"/>
                </a:solidFill>
              </a:endParaRPr>
            </a:p>
          </p:txBody>
        </p: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A61123ED-C345-A042-A0AE-F62480E2FDA4}"/>
                </a:ext>
              </a:extLst>
            </p:cNvPr>
            <p:cNvSpPr txBox="1"/>
            <p:nvPr/>
          </p:nvSpPr>
          <p:spPr>
            <a:xfrm>
              <a:off x="571380" y="6021229"/>
              <a:ext cx="82168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zh-CN" altLang="en-US" sz="2400" b="0" i="0" dirty="0">
                  <a:solidFill>
                    <a:srgbClr val="000000"/>
                  </a:solidFill>
                </a:rPr>
                <a:t>中</a:t>
              </a:r>
              <a:r>
                <a:rPr kumimoji="1" lang="en-US" altLang="zh-CN" sz="2400" b="0" i="0" dirty="0">
                  <a:solidFill>
                    <a:srgbClr val="000000"/>
                  </a:solidFill>
                </a:rPr>
                <a:t>DFA</a:t>
              </a:r>
              <a:r>
                <a:rPr kumimoji="1" lang="zh-CN" altLang="en-US" sz="2400" b="0" i="0" dirty="0">
                  <a:solidFill>
                    <a:srgbClr val="000000"/>
                  </a:solidFill>
                </a:rPr>
                <a:t>的结构，只不过互换终结状态和非终结状态。</a:t>
              </a: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E2283882-C3E4-584E-9B1D-BD7DE5FD22CE}"/>
              </a:ext>
            </a:extLst>
          </p:cNvPr>
          <p:cNvGrpSpPr/>
          <p:nvPr/>
        </p:nvGrpSpPr>
        <p:grpSpPr>
          <a:xfrm>
            <a:off x="1691680" y="2433888"/>
            <a:ext cx="5703808" cy="2291256"/>
            <a:chOff x="1691680" y="2433888"/>
            <a:chExt cx="5703808" cy="2291256"/>
          </a:xfrm>
        </p:grpSpPr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91DAFA80-9C28-C744-8FC0-153BC9509BEA}"/>
                </a:ext>
              </a:extLst>
            </p:cNvPr>
            <p:cNvSpPr/>
            <p:nvPr/>
          </p:nvSpPr>
          <p:spPr bwMode="auto">
            <a:xfrm>
              <a:off x="2502188" y="3341858"/>
              <a:ext cx="504056" cy="519765"/>
            </a:xfrm>
            <a:prstGeom prst="ellips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7CDA726F-9441-7144-BEBE-874ADE30D318}"/>
                </a:ext>
              </a:extLst>
            </p:cNvPr>
            <p:cNvSpPr/>
            <p:nvPr/>
          </p:nvSpPr>
          <p:spPr bwMode="auto">
            <a:xfrm>
              <a:off x="3797540" y="3342670"/>
              <a:ext cx="504056" cy="519765"/>
            </a:xfrm>
            <a:prstGeom prst="ellips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679F5B8E-8DF0-8649-84AC-3D9501A94B4F}"/>
                </a:ext>
              </a:extLst>
            </p:cNvPr>
            <p:cNvSpPr/>
            <p:nvPr/>
          </p:nvSpPr>
          <p:spPr bwMode="auto">
            <a:xfrm>
              <a:off x="5092892" y="3342669"/>
              <a:ext cx="504056" cy="519765"/>
            </a:xfrm>
            <a:prstGeom prst="ellips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465A8E09-B4A7-054F-BB8A-63B8B07298F4}"/>
                </a:ext>
              </a:extLst>
            </p:cNvPr>
            <p:cNvSpPr/>
            <p:nvPr/>
          </p:nvSpPr>
          <p:spPr bwMode="auto">
            <a:xfrm>
              <a:off x="6388244" y="3341858"/>
              <a:ext cx="504056" cy="519765"/>
            </a:xfrm>
            <a:prstGeom prst="ellips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45" name="椭圆 44">
              <a:extLst>
                <a:ext uri="{FF2B5EF4-FFF2-40B4-BE49-F238E27FC236}">
                  <a16:creationId xmlns:a16="http://schemas.microsoft.com/office/drawing/2014/main" id="{A4F24237-FCBA-FD46-84B2-D3DB32277515}"/>
                </a:ext>
              </a:extLst>
            </p:cNvPr>
            <p:cNvSpPr/>
            <p:nvPr/>
          </p:nvSpPr>
          <p:spPr bwMode="auto">
            <a:xfrm>
              <a:off x="5155652" y="3428842"/>
              <a:ext cx="351656" cy="360198"/>
            </a:xfrm>
            <a:prstGeom prst="ellips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cxnSp>
          <p:nvCxnSpPr>
            <p:cNvPr id="46" name="直线箭头连接符 45">
              <a:extLst>
                <a:ext uri="{FF2B5EF4-FFF2-40B4-BE49-F238E27FC236}">
                  <a16:creationId xmlns:a16="http://schemas.microsoft.com/office/drawing/2014/main" id="{D0BC5201-2725-6446-B99B-BB910427A307}"/>
                </a:ext>
              </a:extLst>
            </p:cNvPr>
            <p:cNvCxnSpPr>
              <a:cxnSpLocks/>
              <a:stCxn id="41" idx="6"/>
              <a:endCxn id="42" idx="2"/>
            </p:cNvCxnSpPr>
            <p:nvPr/>
          </p:nvCxnSpPr>
          <p:spPr bwMode="auto">
            <a:xfrm>
              <a:off x="3006244" y="3601741"/>
              <a:ext cx="791296" cy="81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48" name="直线箭头连接符 47">
              <a:extLst>
                <a:ext uri="{FF2B5EF4-FFF2-40B4-BE49-F238E27FC236}">
                  <a16:creationId xmlns:a16="http://schemas.microsoft.com/office/drawing/2014/main" id="{47F12B05-7B82-B94E-BE0D-10C2C23A6833}"/>
                </a:ext>
              </a:extLst>
            </p:cNvPr>
            <p:cNvCxnSpPr>
              <a:cxnSpLocks/>
              <a:stCxn id="42" idx="6"/>
              <a:endCxn id="43" idx="2"/>
            </p:cNvCxnSpPr>
            <p:nvPr/>
          </p:nvCxnSpPr>
          <p:spPr bwMode="auto">
            <a:xfrm flipV="1">
              <a:off x="4301596" y="3602552"/>
              <a:ext cx="791296" cy="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51" name="直线箭头连接符 50">
              <a:extLst>
                <a:ext uri="{FF2B5EF4-FFF2-40B4-BE49-F238E27FC236}">
                  <a16:creationId xmlns:a16="http://schemas.microsoft.com/office/drawing/2014/main" id="{CB77AF17-1925-3F4E-AD64-9CE023CC1073}"/>
                </a:ext>
              </a:extLst>
            </p:cNvPr>
            <p:cNvCxnSpPr>
              <a:cxnSpLocks/>
              <a:stCxn id="43" idx="6"/>
              <a:endCxn id="44" idx="2"/>
            </p:cNvCxnSpPr>
            <p:nvPr/>
          </p:nvCxnSpPr>
          <p:spPr bwMode="auto">
            <a:xfrm flipV="1">
              <a:off x="5596948" y="3601741"/>
              <a:ext cx="791296" cy="81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0A7B08FF-0FE5-1E47-8E63-F57040B6DD8D}"/>
                </a:ext>
              </a:extLst>
            </p:cNvPr>
            <p:cNvSpPr txBox="1"/>
            <p:nvPr/>
          </p:nvSpPr>
          <p:spPr>
            <a:xfrm flipH="1">
              <a:off x="3338210" y="3123980"/>
              <a:ext cx="1439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b="0" i="0" dirty="0">
                  <a:solidFill>
                    <a:srgbClr val="000000"/>
                  </a:solidFill>
                </a:rPr>
                <a:t>0</a:t>
              </a:r>
              <a:endParaRPr kumimoji="1" lang="zh-CN" altLang="en-US" b="0" i="0" dirty="0">
                <a:solidFill>
                  <a:srgbClr val="000000"/>
                </a:solidFill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A1FF29FD-5334-5E4A-9B32-24D043FB8FF7}"/>
                </a:ext>
              </a:extLst>
            </p:cNvPr>
            <p:cNvSpPr txBox="1"/>
            <p:nvPr/>
          </p:nvSpPr>
          <p:spPr>
            <a:xfrm flipH="1">
              <a:off x="4617020" y="3132103"/>
              <a:ext cx="1439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b="0" i="0" dirty="0">
                  <a:solidFill>
                    <a:srgbClr val="000000"/>
                  </a:solidFill>
                </a:rPr>
                <a:t>1</a:t>
              </a:r>
              <a:endParaRPr kumimoji="1" lang="zh-CN" altLang="en-US" b="0" i="0" dirty="0">
                <a:solidFill>
                  <a:srgbClr val="000000"/>
                </a:solidFill>
              </a:endParaRPr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2023DF03-CC6F-5049-84CB-E1F3439F12D4}"/>
                </a:ext>
              </a:extLst>
            </p:cNvPr>
            <p:cNvSpPr txBox="1"/>
            <p:nvPr/>
          </p:nvSpPr>
          <p:spPr>
            <a:xfrm flipH="1">
              <a:off x="5928914" y="3123979"/>
              <a:ext cx="1439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b="0" i="0" dirty="0">
                  <a:solidFill>
                    <a:srgbClr val="000000"/>
                  </a:solidFill>
                </a:rPr>
                <a:t>0</a:t>
              </a:r>
              <a:endParaRPr kumimoji="1" lang="zh-CN" altLang="en-US" b="0" i="0" dirty="0">
                <a:solidFill>
                  <a:srgbClr val="000000"/>
                </a:solidFill>
              </a:endParaRPr>
            </a:p>
          </p:txBody>
        </p:sp>
        <p:sp>
          <p:nvSpPr>
            <p:cNvPr id="58" name="弧 57">
              <a:extLst>
                <a:ext uri="{FF2B5EF4-FFF2-40B4-BE49-F238E27FC236}">
                  <a16:creationId xmlns:a16="http://schemas.microsoft.com/office/drawing/2014/main" id="{E5F24AF6-FA9E-1745-89CF-9C990F3A32BB}"/>
                </a:ext>
              </a:extLst>
            </p:cNvPr>
            <p:cNvSpPr/>
            <p:nvPr/>
          </p:nvSpPr>
          <p:spPr bwMode="auto">
            <a:xfrm>
              <a:off x="2575545" y="3849696"/>
              <a:ext cx="392274" cy="424801"/>
            </a:xfrm>
            <a:prstGeom prst="arc">
              <a:avLst>
                <a:gd name="adj1" fmla="val 17142475"/>
                <a:gd name="adj2" fmla="val 14430358"/>
              </a:avLst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AF6BD832-1CED-854A-81F3-8E881DD58084}"/>
                </a:ext>
              </a:extLst>
            </p:cNvPr>
            <p:cNvSpPr txBox="1"/>
            <p:nvPr/>
          </p:nvSpPr>
          <p:spPr>
            <a:xfrm flipH="1">
              <a:off x="2699729" y="4263479"/>
              <a:ext cx="1439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b="0" i="0" dirty="0">
                  <a:solidFill>
                    <a:srgbClr val="000000"/>
                  </a:solidFill>
                </a:rPr>
                <a:t>1</a:t>
              </a:r>
              <a:endParaRPr kumimoji="1" lang="zh-CN" altLang="en-US" b="0" i="0" dirty="0">
                <a:solidFill>
                  <a:srgbClr val="000000"/>
                </a:solidFill>
              </a:endParaRPr>
            </a:p>
          </p:txBody>
        </p:sp>
        <p:sp>
          <p:nvSpPr>
            <p:cNvPr id="60" name="弧 59">
              <a:extLst>
                <a:ext uri="{FF2B5EF4-FFF2-40B4-BE49-F238E27FC236}">
                  <a16:creationId xmlns:a16="http://schemas.microsoft.com/office/drawing/2014/main" id="{A5E4DE52-D0C2-4049-A5C7-F9A4D84AED41}"/>
                </a:ext>
              </a:extLst>
            </p:cNvPr>
            <p:cNvSpPr/>
            <p:nvPr/>
          </p:nvSpPr>
          <p:spPr bwMode="auto">
            <a:xfrm>
              <a:off x="3863763" y="3849696"/>
              <a:ext cx="392274" cy="424801"/>
            </a:xfrm>
            <a:prstGeom prst="arc">
              <a:avLst>
                <a:gd name="adj1" fmla="val 17142475"/>
                <a:gd name="adj2" fmla="val 14430358"/>
              </a:avLst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3406AB45-4CEB-D543-8499-2FE1AA23977A}"/>
                </a:ext>
              </a:extLst>
            </p:cNvPr>
            <p:cNvSpPr txBox="1"/>
            <p:nvPr/>
          </p:nvSpPr>
          <p:spPr>
            <a:xfrm flipH="1">
              <a:off x="3987947" y="4263479"/>
              <a:ext cx="1439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0" i="0" dirty="0">
                  <a:solidFill>
                    <a:srgbClr val="000000"/>
                  </a:solidFill>
                </a:rPr>
                <a:t>0</a:t>
              </a:r>
              <a:endParaRPr kumimoji="1" lang="zh-CN" altLang="en-US" b="0" i="0" dirty="0">
                <a:solidFill>
                  <a:srgbClr val="000000"/>
                </a:solidFill>
              </a:endParaRPr>
            </a:p>
          </p:txBody>
        </p:sp>
        <p:sp>
          <p:nvSpPr>
            <p:cNvPr id="62" name="弧 61">
              <a:extLst>
                <a:ext uri="{FF2B5EF4-FFF2-40B4-BE49-F238E27FC236}">
                  <a16:creationId xmlns:a16="http://schemas.microsoft.com/office/drawing/2014/main" id="{EA525D61-E5F3-0846-899B-E73C873709B9}"/>
                </a:ext>
              </a:extLst>
            </p:cNvPr>
            <p:cNvSpPr/>
            <p:nvPr/>
          </p:nvSpPr>
          <p:spPr bwMode="auto">
            <a:xfrm rot="21302931" flipH="1">
              <a:off x="2714588" y="2859892"/>
              <a:ext cx="2652353" cy="1219434"/>
            </a:xfrm>
            <a:prstGeom prst="arc">
              <a:avLst>
                <a:gd name="adj1" fmla="val 10923734"/>
                <a:gd name="adj2" fmla="val 20917571"/>
              </a:avLst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61EF14C1-AE64-3C41-921B-56024384DBF7}"/>
                </a:ext>
              </a:extLst>
            </p:cNvPr>
            <p:cNvSpPr txBox="1"/>
            <p:nvPr/>
          </p:nvSpPr>
          <p:spPr>
            <a:xfrm flipH="1">
              <a:off x="4145393" y="2433888"/>
              <a:ext cx="1439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b="0" i="0" dirty="0">
                  <a:solidFill>
                    <a:srgbClr val="000000"/>
                  </a:solidFill>
                </a:rPr>
                <a:t>1</a:t>
              </a:r>
              <a:endParaRPr kumimoji="1" lang="zh-CN" altLang="en-US" b="0" i="0" dirty="0">
                <a:solidFill>
                  <a:srgbClr val="000000"/>
                </a:solidFill>
              </a:endParaRPr>
            </a:p>
          </p:txBody>
        </p:sp>
        <p:sp>
          <p:nvSpPr>
            <p:cNvPr id="64" name="弧 63">
              <a:extLst>
                <a:ext uri="{FF2B5EF4-FFF2-40B4-BE49-F238E27FC236}">
                  <a16:creationId xmlns:a16="http://schemas.microsoft.com/office/drawing/2014/main" id="{CC706A9A-8271-DA46-B8BF-506E17031627}"/>
                </a:ext>
              </a:extLst>
            </p:cNvPr>
            <p:cNvSpPr/>
            <p:nvPr/>
          </p:nvSpPr>
          <p:spPr bwMode="auto">
            <a:xfrm>
              <a:off x="6461441" y="3861621"/>
              <a:ext cx="392274" cy="424801"/>
            </a:xfrm>
            <a:prstGeom prst="arc">
              <a:avLst>
                <a:gd name="adj1" fmla="val 17142475"/>
                <a:gd name="adj2" fmla="val 14430358"/>
              </a:avLst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26ABBC1C-503E-5546-8BCB-C15899BA85CE}"/>
                </a:ext>
              </a:extLst>
            </p:cNvPr>
            <p:cNvSpPr txBox="1"/>
            <p:nvPr/>
          </p:nvSpPr>
          <p:spPr>
            <a:xfrm flipH="1">
              <a:off x="6323654" y="4259639"/>
              <a:ext cx="66784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0" i="0" dirty="0">
                  <a:solidFill>
                    <a:srgbClr val="000000"/>
                  </a:solidFill>
                </a:rPr>
                <a:t>0, 1</a:t>
              </a:r>
              <a:endParaRPr kumimoji="1" lang="zh-CN" altLang="en-US" b="0" i="0" dirty="0">
                <a:solidFill>
                  <a:srgbClr val="000000"/>
                </a:solidFill>
              </a:endParaRPr>
            </a:p>
          </p:txBody>
        </p:sp>
        <p:cxnSp>
          <p:nvCxnSpPr>
            <p:cNvPr id="66" name="直线箭头连接符 65">
              <a:extLst>
                <a:ext uri="{FF2B5EF4-FFF2-40B4-BE49-F238E27FC236}">
                  <a16:creationId xmlns:a16="http://schemas.microsoft.com/office/drawing/2014/main" id="{94FD2D7B-9752-FA4B-9B8D-5427CB4365CB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1691680" y="3605987"/>
              <a:ext cx="791296" cy="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pic>
          <p:nvPicPr>
            <p:cNvPr id="54" name="图片 53">
              <a:extLst>
                <a:ext uri="{FF2B5EF4-FFF2-40B4-BE49-F238E27FC236}">
                  <a16:creationId xmlns:a16="http://schemas.microsoft.com/office/drawing/2014/main" id="{D485B312-B8FA-CE4F-8457-3002515788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98476" y="3508911"/>
              <a:ext cx="1511300" cy="203200"/>
            </a:xfrm>
            <a:prstGeom prst="rect">
              <a:avLst/>
            </a:prstGeom>
          </p:spPr>
        </p:pic>
        <p:pic>
          <p:nvPicPr>
            <p:cNvPr id="67" name="图片 66">
              <a:extLst>
                <a:ext uri="{FF2B5EF4-FFF2-40B4-BE49-F238E27FC236}">
                  <a16:creationId xmlns:a16="http://schemas.microsoft.com/office/drawing/2014/main" id="{1718E594-6461-AC44-9EEB-AE814718C5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05389" y="3492168"/>
              <a:ext cx="1498600" cy="203200"/>
            </a:xfrm>
            <a:prstGeom prst="rect">
              <a:avLst/>
            </a:prstGeom>
          </p:spPr>
        </p:pic>
        <p:pic>
          <p:nvPicPr>
            <p:cNvPr id="68" name="图片 67">
              <a:extLst>
                <a:ext uri="{FF2B5EF4-FFF2-40B4-BE49-F238E27FC236}">
                  <a16:creationId xmlns:a16="http://schemas.microsoft.com/office/drawing/2014/main" id="{A16F6531-0D2A-DC44-891C-0C5D56CF4A8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08513" y="3492168"/>
              <a:ext cx="1511300" cy="203200"/>
            </a:xfrm>
            <a:prstGeom prst="rect">
              <a:avLst/>
            </a:prstGeom>
          </p:spPr>
        </p:pic>
        <p:pic>
          <p:nvPicPr>
            <p:cNvPr id="69" name="图片 68">
              <a:extLst>
                <a:ext uri="{FF2B5EF4-FFF2-40B4-BE49-F238E27FC236}">
                  <a16:creationId xmlns:a16="http://schemas.microsoft.com/office/drawing/2014/main" id="{8168B46B-FFC1-0644-A36C-09D84950BAB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84188" y="3503148"/>
              <a:ext cx="1511300" cy="203200"/>
            </a:xfrm>
            <a:prstGeom prst="rect">
              <a:avLst/>
            </a:prstGeom>
          </p:spPr>
        </p:pic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93CFAC39-1153-954C-8547-88ABA91F78A1}"/>
                </a:ext>
              </a:extLst>
            </p:cNvPr>
            <p:cNvSpPr/>
            <p:nvPr/>
          </p:nvSpPr>
          <p:spPr bwMode="auto">
            <a:xfrm>
              <a:off x="3884072" y="3424078"/>
              <a:ext cx="351656" cy="360198"/>
            </a:xfrm>
            <a:prstGeom prst="ellips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00EE2AC3-305E-4246-9CEF-B9A0DDF89514}"/>
                </a:ext>
              </a:extLst>
            </p:cNvPr>
            <p:cNvSpPr/>
            <p:nvPr/>
          </p:nvSpPr>
          <p:spPr bwMode="auto">
            <a:xfrm>
              <a:off x="2578298" y="3424078"/>
              <a:ext cx="351656" cy="360198"/>
            </a:xfrm>
            <a:prstGeom prst="ellips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A0DE77A8-0D5B-CA42-9CA5-277B0C375D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7300" y="1866443"/>
            <a:ext cx="66294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255839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35" name="Rectangle 19"/>
          <p:cNvSpPr>
            <a:spLocks noChangeArrowheads="1"/>
          </p:cNvSpPr>
          <p:nvPr/>
        </p:nvSpPr>
        <p:spPr bwMode="auto">
          <a:xfrm>
            <a:off x="1476375" y="195263"/>
            <a:ext cx="3887788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4000" i="0">
                <a:ea typeface="华文行楷" pitchFamily="2" charset="-122"/>
              </a:rPr>
              <a:t>确定有限自动机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C4E9407-D314-8942-ABC0-C2568C1E22B4}"/>
              </a:ext>
            </a:extLst>
          </p:cNvPr>
          <p:cNvSpPr txBox="1"/>
          <p:nvPr/>
        </p:nvSpPr>
        <p:spPr>
          <a:xfrm>
            <a:off x="8604448" y="6471931"/>
            <a:ext cx="5395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0" i="0" dirty="0">
                <a:solidFill>
                  <a:srgbClr val="000066"/>
                </a:solidFill>
              </a:rPr>
              <a:t>37</a:t>
            </a:r>
            <a:endParaRPr kumimoji="1" lang="zh-CN" altLang="en-US" sz="2000" b="0" i="0" dirty="0">
              <a:solidFill>
                <a:srgbClr val="000066"/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04B4B66-158B-C44A-A7BA-20F0C8831A92}"/>
              </a:ext>
            </a:extLst>
          </p:cNvPr>
          <p:cNvSpPr txBox="1"/>
          <p:nvPr/>
        </p:nvSpPr>
        <p:spPr>
          <a:xfrm>
            <a:off x="514340" y="1237026"/>
            <a:ext cx="82341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2400" b="0" i="0" dirty="0">
                <a:solidFill>
                  <a:srgbClr val="000000"/>
                </a:solidFill>
              </a:rPr>
              <a:t>例</a:t>
            </a:r>
            <a:r>
              <a:rPr lang="en-US" altLang="zh-CN" sz="2400" b="0" i="0" dirty="0">
                <a:solidFill>
                  <a:srgbClr val="000000"/>
                </a:solidFill>
              </a:rPr>
              <a:t>4</a:t>
            </a:r>
            <a:r>
              <a:rPr kumimoji="1" lang="zh-CN" altLang="en-US" sz="2400" b="0" i="0" dirty="0">
                <a:solidFill>
                  <a:srgbClr val="000000"/>
                </a:solidFill>
              </a:rPr>
              <a:t>：设计</a:t>
            </a:r>
            <a:r>
              <a:rPr kumimoji="1" lang="en-US" altLang="zh-CN" sz="2400" b="0" i="0" dirty="0">
                <a:solidFill>
                  <a:srgbClr val="000000"/>
                </a:solidFill>
              </a:rPr>
              <a:t>DFA</a:t>
            </a:r>
            <a:r>
              <a:rPr lang="zh-CN" altLang="en-US" sz="2400" b="0" i="0" dirty="0">
                <a:solidFill>
                  <a:srgbClr val="000000"/>
                </a:solidFill>
              </a:rPr>
              <a:t>表示所有长度至少为</a:t>
            </a:r>
            <a:r>
              <a:rPr lang="en-US" altLang="zh-CN" sz="2400" b="0" i="0" dirty="0">
                <a:solidFill>
                  <a:srgbClr val="000000"/>
                </a:solidFill>
              </a:rPr>
              <a:t>2</a:t>
            </a:r>
            <a:r>
              <a:rPr lang="zh-CN" altLang="en-US" sz="2400" b="0" i="0" dirty="0">
                <a:solidFill>
                  <a:srgbClr val="000000"/>
                </a:solidFill>
              </a:rPr>
              <a:t>且头两个字符不同的</a:t>
            </a:r>
            <a:r>
              <a:rPr lang="en-US" altLang="zh-CN" sz="2400" b="0" i="0" dirty="0">
                <a:solidFill>
                  <a:srgbClr val="000000"/>
                </a:solidFill>
              </a:rPr>
              <a:t>0</a:t>
            </a:r>
            <a:endParaRPr kumimoji="1" lang="zh-CN" altLang="en-US" sz="2400" b="0" i="0" dirty="0">
              <a:solidFill>
                <a:srgbClr val="000000"/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2A8457D-CFB5-7E49-8EE0-43DB36E15CA4}"/>
              </a:ext>
            </a:extLst>
          </p:cNvPr>
          <p:cNvSpPr txBox="1"/>
          <p:nvPr/>
        </p:nvSpPr>
        <p:spPr>
          <a:xfrm>
            <a:off x="514340" y="1714715"/>
            <a:ext cx="82341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2400" b="0" i="0" dirty="0">
                <a:solidFill>
                  <a:srgbClr val="000000"/>
                </a:solidFill>
              </a:rPr>
              <a:t>和</a:t>
            </a:r>
            <a:r>
              <a:rPr kumimoji="1" lang="en-US" altLang="zh-CN" sz="2400" b="0" i="0" dirty="0">
                <a:solidFill>
                  <a:srgbClr val="000000"/>
                </a:solidFill>
              </a:rPr>
              <a:t>1</a:t>
            </a:r>
            <a:r>
              <a:rPr kumimoji="1" lang="zh-CN" altLang="en-US" sz="2400" b="0" i="0" dirty="0">
                <a:solidFill>
                  <a:srgbClr val="000000"/>
                </a:solidFill>
              </a:rPr>
              <a:t>组成的串的集合。</a:t>
            </a:r>
          </a:p>
        </p:txBody>
      </p: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1D2432FD-A4CE-8045-A0D5-9589E0362781}"/>
              </a:ext>
            </a:extLst>
          </p:cNvPr>
          <p:cNvGrpSpPr/>
          <p:nvPr/>
        </p:nvGrpSpPr>
        <p:grpSpPr>
          <a:xfrm>
            <a:off x="1979712" y="2410239"/>
            <a:ext cx="5219557" cy="2675705"/>
            <a:chOff x="1979712" y="2410239"/>
            <a:chExt cx="5219557" cy="2675705"/>
          </a:xfrm>
        </p:grpSpPr>
        <p:grpSp>
          <p:nvGrpSpPr>
            <p:cNvPr id="71" name="组合 70">
              <a:extLst>
                <a:ext uri="{FF2B5EF4-FFF2-40B4-BE49-F238E27FC236}">
                  <a16:creationId xmlns:a16="http://schemas.microsoft.com/office/drawing/2014/main" id="{8D7BB3C2-EBF1-1E46-8413-7928104C0153}"/>
                </a:ext>
              </a:extLst>
            </p:cNvPr>
            <p:cNvGrpSpPr/>
            <p:nvPr/>
          </p:nvGrpSpPr>
          <p:grpSpPr>
            <a:xfrm>
              <a:off x="1979712" y="2410239"/>
              <a:ext cx="4452690" cy="2675705"/>
              <a:chOff x="1979712" y="2410239"/>
              <a:chExt cx="4452690" cy="2675705"/>
            </a:xfrm>
          </p:grpSpPr>
          <p:sp>
            <p:nvSpPr>
              <p:cNvPr id="30" name="椭圆 29">
                <a:extLst>
                  <a:ext uri="{FF2B5EF4-FFF2-40B4-BE49-F238E27FC236}">
                    <a16:creationId xmlns:a16="http://schemas.microsoft.com/office/drawing/2014/main" id="{3DCF9392-1B78-CF44-AFD8-8525DE49B460}"/>
                  </a:ext>
                </a:extLst>
              </p:cNvPr>
              <p:cNvSpPr/>
              <p:nvPr/>
            </p:nvSpPr>
            <p:spPr bwMode="auto">
              <a:xfrm>
                <a:off x="2688793" y="3415178"/>
                <a:ext cx="598062" cy="576064"/>
              </a:xfrm>
              <a:prstGeom prst="ellipse">
                <a:avLst/>
              </a:prstGeom>
              <a:noFill/>
              <a:ln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000" b="1" i="1" u="none" strike="noStrike" cap="none" normalizeH="0" baseline="0">
                  <a:ln>
                    <a:noFill/>
                  </a:ln>
                  <a:solidFill>
                    <a:srgbClr val="800080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31" name="椭圆 30">
                <a:extLst>
                  <a:ext uri="{FF2B5EF4-FFF2-40B4-BE49-F238E27FC236}">
                    <a16:creationId xmlns:a16="http://schemas.microsoft.com/office/drawing/2014/main" id="{A453C22B-C35B-5648-A327-97779BDEEEBC}"/>
                  </a:ext>
                </a:extLst>
              </p:cNvPr>
              <p:cNvSpPr/>
              <p:nvPr/>
            </p:nvSpPr>
            <p:spPr bwMode="auto">
              <a:xfrm>
                <a:off x="4272969" y="2410239"/>
                <a:ext cx="598062" cy="576064"/>
              </a:xfrm>
              <a:prstGeom prst="ellipse">
                <a:avLst/>
              </a:prstGeom>
              <a:noFill/>
              <a:ln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000" b="1" i="1" u="none" strike="noStrike" cap="none" normalizeH="0" baseline="0">
                  <a:ln>
                    <a:noFill/>
                  </a:ln>
                  <a:solidFill>
                    <a:srgbClr val="800080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33" name="椭圆 32">
                <a:extLst>
                  <a:ext uri="{FF2B5EF4-FFF2-40B4-BE49-F238E27FC236}">
                    <a16:creationId xmlns:a16="http://schemas.microsoft.com/office/drawing/2014/main" id="{3CDFA5FC-030F-904E-B093-718761B9400C}"/>
                  </a:ext>
                </a:extLst>
              </p:cNvPr>
              <p:cNvSpPr/>
              <p:nvPr/>
            </p:nvSpPr>
            <p:spPr bwMode="auto">
              <a:xfrm>
                <a:off x="4272969" y="4509880"/>
                <a:ext cx="598062" cy="576064"/>
              </a:xfrm>
              <a:prstGeom prst="ellipse">
                <a:avLst/>
              </a:prstGeom>
              <a:noFill/>
              <a:ln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000" b="1" i="1" u="none" strike="noStrike" cap="none" normalizeH="0" baseline="0">
                  <a:ln>
                    <a:noFill/>
                  </a:ln>
                  <a:solidFill>
                    <a:srgbClr val="800080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332FEC27-B2EE-DD45-B791-6667E47EE64A}"/>
                  </a:ext>
                </a:extLst>
              </p:cNvPr>
              <p:cNvSpPr/>
              <p:nvPr/>
            </p:nvSpPr>
            <p:spPr bwMode="auto">
              <a:xfrm>
                <a:off x="5834340" y="3415178"/>
                <a:ext cx="598062" cy="576064"/>
              </a:xfrm>
              <a:prstGeom prst="ellipse">
                <a:avLst/>
              </a:prstGeom>
              <a:noFill/>
              <a:ln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000" b="1" i="1" u="none" strike="noStrike" cap="none" normalizeH="0" baseline="0">
                  <a:ln>
                    <a:noFill/>
                  </a:ln>
                  <a:solidFill>
                    <a:srgbClr val="800080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38" name="椭圆 37">
                <a:extLst>
                  <a:ext uri="{FF2B5EF4-FFF2-40B4-BE49-F238E27FC236}">
                    <a16:creationId xmlns:a16="http://schemas.microsoft.com/office/drawing/2014/main" id="{F18604B4-E1F9-784B-9102-A75ED3375E9E}"/>
                  </a:ext>
                </a:extLst>
              </p:cNvPr>
              <p:cNvSpPr/>
              <p:nvPr/>
            </p:nvSpPr>
            <p:spPr bwMode="auto">
              <a:xfrm>
                <a:off x="5887246" y="3462964"/>
                <a:ext cx="492250" cy="480492"/>
              </a:xfrm>
              <a:prstGeom prst="ellipse">
                <a:avLst/>
              </a:prstGeom>
              <a:noFill/>
              <a:ln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000" b="1" i="1" u="none" strike="noStrike" cap="none" normalizeH="0" baseline="0">
                  <a:ln>
                    <a:noFill/>
                  </a:ln>
                  <a:solidFill>
                    <a:srgbClr val="800080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cxnSp>
            <p:nvCxnSpPr>
              <p:cNvPr id="5" name="直线箭头连接符 4">
                <a:extLst>
                  <a:ext uri="{FF2B5EF4-FFF2-40B4-BE49-F238E27FC236}">
                    <a16:creationId xmlns:a16="http://schemas.microsoft.com/office/drawing/2014/main" id="{7A8E1C5E-243B-BE48-A1EC-532B68ED6461}"/>
                  </a:ext>
                </a:extLst>
              </p:cNvPr>
              <p:cNvCxnSpPr>
                <a:endCxn id="30" idx="2"/>
              </p:cNvCxnSpPr>
              <p:nvPr/>
            </p:nvCxnSpPr>
            <p:spPr bwMode="auto">
              <a:xfrm>
                <a:off x="1979712" y="3703210"/>
                <a:ext cx="709081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lg" len="lg"/>
              </a:ln>
              <a:effectLst/>
            </p:spPr>
          </p:cxnSp>
          <p:cxnSp>
            <p:nvCxnSpPr>
              <p:cNvPr id="41" name="直线箭头连接符 40">
                <a:extLst>
                  <a:ext uri="{FF2B5EF4-FFF2-40B4-BE49-F238E27FC236}">
                    <a16:creationId xmlns:a16="http://schemas.microsoft.com/office/drawing/2014/main" id="{3121491A-AA82-ED40-ADEF-878716BACE45}"/>
                  </a:ext>
                </a:extLst>
              </p:cNvPr>
              <p:cNvCxnSpPr>
                <a:cxnSpLocks/>
                <a:stCxn id="30" idx="7"/>
                <a:endCxn id="31" idx="2"/>
              </p:cNvCxnSpPr>
              <p:nvPr/>
            </p:nvCxnSpPr>
            <p:spPr bwMode="auto">
              <a:xfrm flipV="1">
                <a:off x="3199271" y="2698271"/>
                <a:ext cx="1073698" cy="80127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lg" len="lg"/>
              </a:ln>
              <a:effectLst/>
            </p:spPr>
          </p:cxnSp>
          <p:cxnSp>
            <p:nvCxnSpPr>
              <p:cNvPr id="43" name="直线箭头连接符 42">
                <a:extLst>
                  <a:ext uri="{FF2B5EF4-FFF2-40B4-BE49-F238E27FC236}">
                    <a16:creationId xmlns:a16="http://schemas.microsoft.com/office/drawing/2014/main" id="{3E28727D-05CC-F347-8BC5-7D9FEFBF0C4F}"/>
                  </a:ext>
                </a:extLst>
              </p:cNvPr>
              <p:cNvCxnSpPr>
                <a:cxnSpLocks/>
                <a:stCxn id="30" idx="5"/>
                <a:endCxn id="33" idx="2"/>
              </p:cNvCxnSpPr>
              <p:nvPr/>
            </p:nvCxnSpPr>
            <p:spPr bwMode="auto">
              <a:xfrm>
                <a:off x="3199271" y="3906879"/>
                <a:ext cx="1073698" cy="891033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lg" len="lg"/>
              </a:ln>
              <a:effectLst/>
            </p:spPr>
          </p:cxnSp>
          <p:cxnSp>
            <p:nvCxnSpPr>
              <p:cNvPr id="44" name="直线箭头连接符 43">
                <a:extLst>
                  <a:ext uri="{FF2B5EF4-FFF2-40B4-BE49-F238E27FC236}">
                    <a16:creationId xmlns:a16="http://schemas.microsoft.com/office/drawing/2014/main" id="{0789CC91-E37B-A244-908F-08B0C779E765}"/>
                  </a:ext>
                </a:extLst>
              </p:cNvPr>
              <p:cNvCxnSpPr>
                <a:cxnSpLocks/>
                <a:stCxn id="31" idx="6"/>
                <a:endCxn id="34" idx="1"/>
              </p:cNvCxnSpPr>
              <p:nvPr/>
            </p:nvCxnSpPr>
            <p:spPr bwMode="auto">
              <a:xfrm>
                <a:off x="4871031" y="2698271"/>
                <a:ext cx="1050893" cy="80127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lg" len="lg"/>
              </a:ln>
              <a:effectLst/>
            </p:spPr>
          </p:cxnSp>
          <p:cxnSp>
            <p:nvCxnSpPr>
              <p:cNvPr id="47" name="直线箭头连接符 46">
                <a:extLst>
                  <a:ext uri="{FF2B5EF4-FFF2-40B4-BE49-F238E27FC236}">
                    <a16:creationId xmlns:a16="http://schemas.microsoft.com/office/drawing/2014/main" id="{668A6472-F84D-8948-9393-2139683C8856}"/>
                  </a:ext>
                </a:extLst>
              </p:cNvPr>
              <p:cNvCxnSpPr>
                <a:cxnSpLocks/>
                <a:stCxn id="33" idx="6"/>
                <a:endCxn id="34" idx="3"/>
              </p:cNvCxnSpPr>
              <p:nvPr/>
            </p:nvCxnSpPr>
            <p:spPr bwMode="auto">
              <a:xfrm flipV="1">
                <a:off x="4871031" y="3906879"/>
                <a:ext cx="1050893" cy="891033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lg" len="lg"/>
              </a:ln>
              <a:effectLst/>
            </p:spPr>
          </p:cxnSp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AEBB5E5B-DE7A-0F4C-A6E4-38F17C7C37D9}"/>
                  </a:ext>
                </a:extLst>
              </p:cNvPr>
              <p:cNvSpPr txBox="1"/>
              <p:nvPr/>
            </p:nvSpPr>
            <p:spPr>
              <a:xfrm>
                <a:off x="3390461" y="2637241"/>
                <a:ext cx="3600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400" b="0" i="0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0</a:t>
                </a:r>
                <a:endParaRPr kumimoji="1" lang="zh-CN" altLang="en-US" sz="2400" b="0" i="0" dirty="0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</p:txBody>
          </p:sp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1A4D2B17-454F-C84C-937B-DC392C370205}"/>
                  </a:ext>
                </a:extLst>
              </p:cNvPr>
              <p:cNvSpPr txBox="1"/>
              <p:nvPr/>
            </p:nvSpPr>
            <p:spPr>
              <a:xfrm>
                <a:off x="5335094" y="2637241"/>
                <a:ext cx="3600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400" b="0" i="0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1</a:t>
                </a:r>
                <a:endParaRPr kumimoji="1" lang="zh-CN" altLang="en-US" sz="2400" b="0" i="0" dirty="0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</p:txBody>
          </p:sp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F6E9DE50-F6CE-F04F-BCA2-4199E5A34771}"/>
                  </a:ext>
                </a:extLst>
              </p:cNvPr>
              <p:cNvSpPr txBox="1"/>
              <p:nvPr/>
            </p:nvSpPr>
            <p:spPr>
              <a:xfrm>
                <a:off x="3376080" y="4358791"/>
                <a:ext cx="3600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400" b="0" i="0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1</a:t>
                </a:r>
                <a:endParaRPr kumimoji="1" lang="zh-CN" altLang="en-US" sz="2400" b="0" i="0" dirty="0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</p:txBody>
          </p:sp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57C603C9-FC65-CA4E-AA17-472A53FF8B3C}"/>
                  </a:ext>
                </a:extLst>
              </p:cNvPr>
              <p:cNvSpPr txBox="1"/>
              <p:nvPr/>
            </p:nvSpPr>
            <p:spPr>
              <a:xfrm>
                <a:off x="5335094" y="4358791"/>
                <a:ext cx="3600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400" b="0" i="0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0</a:t>
                </a:r>
                <a:endParaRPr kumimoji="1" lang="zh-CN" altLang="en-US" sz="2400" b="0" i="0" dirty="0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72" name="组合 71">
              <a:extLst>
                <a:ext uri="{FF2B5EF4-FFF2-40B4-BE49-F238E27FC236}">
                  <a16:creationId xmlns:a16="http://schemas.microsoft.com/office/drawing/2014/main" id="{35A005D3-3057-7D43-83DB-ADD5C105ED7E}"/>
                </a:ext>
              </a:extLst>
            </p:cNvPr>
            <p:cNvGrpSpPr/>
            <p:nvPr/>
          </p:nvGrpSpPr>
          <p:grpSpPr>
            <a:xfrm>
              <a:off x="5938762" y="2868073"/>
              <a:ext cx="1260507" cy="540079"/>
              <a:chOff x="5938762" y="2868073"/>
              <a:chExt cx="1260507" cy="540079"/>
            </a:xfrm>
          </p:grpSpPr>
          <p:sp>
            <p:nvSpPr>
              <p:cNvPr id="51" name="弧 50">
                <a:extLst>
                  <a:ext uri="{FF2B5EF4-FFF2-40B4-BE49-F238E27FC236}">
                    <a16:creationId xmlns:a16="http://schemas.microsoft.com/office/drawing/2014/main" id="{EE0E42E9-F505-3244-966D-7ADF706BF614}"/>
                  </a:ext>
                </a:extLst>
              </p:cNvPr>
              <p:cNvSpPr/>
              <p:nvPr/>
            </p:nvSpPr>
            <p:spPr bwMode="auto">
              <a:xfrm rot="11190199">
                <a:off x="5938762" y="2983351"/>
                <a:ext cx="392274" cy="424801"/>
              </a:xfrm>
              <a:prstGeom prst="arc">
                <a:avLst>
                  <a:gd name="adj1" fmla="val 17142475"/>
                  <a:gd name="adj2" fmla="val 14430358"/>
                </a:avLst>
              </a:prstGeom>
              <a:noFill/>
              <a:ln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lg" len="lg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000" b="1" i="1" u="none" strike="noStrike" cap="none" normalizeH="0" baseline="0">
                  <a:ln>
                    <a:noFill/>
                  </a:ln>
                  <a:solidFill>
                    <a:srgbClr val="800080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18E2651A-AAE6-5C47-BBC0-D0D9103AAA01}"/>
                  </a:ext>
                </a:extLst>
              </p:cNvPr>
              <p:cNvSpPr txBox="1"/>
              <p:nvPr/>
            </p:nvSpPr>
            <p:spPr>
              <a:xfrm>
                <a:off x="6280870" y="2868073"/>
                <a:ext cx="91839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400" b="0" i="0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0</a:t>
                </a:r>
                <a:r>
                  <a:rPr lang="en-US" altLang="zh-CN" sz="2400" b="0" i="0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, </a:t>
                </a:r>
                <a:r>
                  <a:rPr kumimoji="1" lang="en-US" altLang="zh-CN" sz="2400" b="0" i="0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1</a:t>
                </a:r>
                <a:endParaRPr kumimoji="1" lang="zh-CN" altLang="en-US" sz="2400" b="0" i="0" dirty="0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64E55695-A3A3-E546-81C3-B5C7A3D0A3C7}"/>
              </a:ext>
            </a:extLst>
          </p:cNvPr>
          <p:cNvGrpSpPr/>
          <p:nvPr/>
        </p:nvGrpSpPr>
        <p:grpSpPr>
          <a:xfrm>
            <a:off x="4689319" y="3085805"/>
            <a:ext cx="918399" cy="848522"/>
            <a:chOff x="4689319" y="3085805"/>
            <a:chExt cx="918399" cy="848522"/>
          </a:xfrm>
        </p:grpSpPr>
        <p:sp>
          <p:nvSpPr>
            <p:cNvPr id="64" name="弧 63">
              <a:extLst>
                <a:ext uri="{FF2B5EF4-FFF2-40B4-BE49-F238E27FC236}">
                  <a16:creationId xmlns:a16="http://schemas.microsoft.com/office/drawing/2014/main" id="{7B6A8165-E6EC-3843-AEAE-B96A03631B5F}"/>
                </a:ext>
              </a:extLst>
            </p:cNvPr>
            <p:cNvSpPr/>
            <p:nvPr/>
          </p:nvSpPr>
          <p:spPr bwMode="auto">
            <a:xfrm rot="16974903">
              <a:off x="4862180" y="3525789"/>
              <a:ext cx="392274" cy="424801"/>
            </a:xfrm>
            <a:prstGeom prst="arc">
              <a:avLst>
                <a:gd name="adj1" fmla="val 17142475"/>
                <a:gd name="adj2" fmla="val 14430358"/>
              </a:avLst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782E348A-01AC-6C48-A8C4-881A0D6F658C}"/>
                </a:ext>
              </a:extLst>
            </p:cNvPr>
            <p:cNvSpPr txBox="1"/>
            <p:nvPr/>
          </p:nvSpPr>
          <p:spPr>
            <a:xfrm>
              <a:off x="4689319" y="3085805"/>
              <a:ext cx="9183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b="0" i="0" dirty="0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r>
                <a:rPr lang="en-US" altLang="zh-CN" sz="2400" b="0" i="0" dirty="0">
                  <a:solidFill>
                    <a:srgbClr val="000000"/>
                  </a:solidFill>
                  <a:cs typeface="Times New Roman" panose="02020603050405020304" pitchFamily="18" charset="0"/>
                </a:rPr>
                <a:t>, </a:t>
              </a:r>
              <a:r>
                <a:rPr kumimoji="1" lang="en-US" altLang="zh-CN" sz="2400" b="0" i="0" dirty="0">
                  <a:solidFill>
                    <a:srgbClr val="000000"/>
                  </a:solidFill>
                  <a:cs typeface="Times New Roman" panose="02020603050405020304" pitchFamily="18" charset="0"/>
                </a:rPr>
                <a:t>1</a:t>
              </a:r>
              <a:endParaRPr kumimoji="1" lang="zh-CN" altLang="en-US" sz="2400" b="0" i="0" dirty="0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18DD1E1C-A9F1-704E-8270-3B742064827B}"/>
              </a:ext>
            </a:extLst>
          </p:cNvPr>
          <p:cNvGrpSpPr/>
          <p:nvPr/>
        </p:nvGrpSpPr>
        <p:grpSpPr>
          <a:xfrm>
            <a:off x="4154192" y="2959140"/>
            <a:ext cx="716839" cy="1032102"/>
            <a:chOff x="4154192" y="2959140"/>
            <a:chExt cx="716839" cy="1032102"/>
          </a:xfrm>
        </p:grpSpPr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B5E9F30E-A148-D748-AA97-BF915904DACB}"/>
                </a:ext>
              </a:extLst>
            </p:cNvPr>
            <p:cNvSpPr/>
            <p:nvPr/>
          </p:nvSpPr>
          <p:spPr bwMode="auto">
            <a:xfrm>
              <a:off x="4272969" y="3415178"/>
              <a:ext cx="598062" cy="576064"/>
            </a:xfrm>
            <a:prstGeom prst="ellips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cxnSp>
          <p:nvCxnSpPr>
            <p:cNvPr id="62" name="直线箭头连接符 61">
              <a:extLst>
                <a:ext uri="{FF2B5EF4-FFF2-40B4-BE49-F238E27FC236}">
                  <a16:creationId xmlns:a16="http://schemas.microsoft.com/office/drawing/2014/main" id="{E5547E63-AE33-F14B-8FA8-70E030836A89}"/>
                </a:ext>
              </a:extLst>
            </p:cNvPr>
            <p:cNvCxnSpPr>
              <a:cxnSpLocks/>
              <a:stCxn id="31" idx="4"/>
              <a:endCxn id="36" idx="0"/>
            </p:cNvCxnSpPr>
            <p:nvPr/>
          </p:nvCxnSpPr>
          <p:spPr bwMode="auto">
            <a:xfrm>
              <a:off x="4572000" y="2986303"/>
              <a:ext cx="0" cy="428875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27FDB38C-4FB0-3545-B38B-09888923F4D9}"/>
                </a:ext>
              </a:extLst>
            </p:cNvPr>
            <p:cNvSpPr txBox="1"/>
            <p:nvPr/>
          </p:nvSpPr>
          <p:spPr>
            <a:xfrm>
              <a:off x="4154192" y="2959140"/>
              <a:ext cx="360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b="0" i="0" dirty="0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kumimoji="1" lang="zh-CN" altLang="en-US" sz="2400" b="0" i="0" dirty="0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</p:grp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368FE039-5820-DD4B-9CEE-D2F48A93633E}"/>
              </a:ext>
            </a:extLst>
          </p:cNvPr>
          <p:cNvGrpSpPr/>
          <p:nvPr/>
        </p:nvGrpSpPr>
        <p:grpSpPr>
          <a:xfrm>
            <a:off x="4154296" y="3991242"/>
            <a:ext cx="417704" cy="518865"/>
            <a:chOff x="4154296" y="3991242"/>
            <a:chExt cx="417704" cy="518865"/>
          </a:xfrm>
        </p:grpSpPr>
        <p:cxnSp>
          <p:nvCxnSpPr>
            <p:cNvPr id="63" name="直线箭头连接符 62">
              <a:extLst>
                <a:ext uri="{FF2B5EF4-FFF2-40B4-BE49-F238E27FC236}">
                  <a16:creationId xmlns:a16="http://schemas.microsoft.com/office/drawing/2014/main" id="{27A66059-C4BF-FF44-BDB8-CAA57A99BF26}"/>
                </a:ext>
              </a:extLst>
            </p:cNvPr>
            <p:cNvCxnSpPr>
              <a:cxnSpLocks/>
              <a:stCxn id="33" idx="0"/>
              <a:endCxn id="36" idx="4"/>
            </p:cNvCxnSpPr>
            <p:nvPr/>
          </p:nvCxnSpPr>
          <p:spPr bwMode="auto">
            <a:xfrm flipV="1">
              <a:off x="4572000" y="3991242"/>
              <a:ext cx="0" cy="51863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C9A0B16B-036C-F940-A8BB-86F8FAC4B3B4}"/>
                </a:ext>
              </a:extLst>
            </p:cNvPr>
            <p:cNvSpPr txBox="1"/>
            <p:nvPr/>
          </p:nvSpPr>
          <p:spPr>
            <a:xfrm>
              <a:off x="4154296" y="4048442"/>
              <a:ext cx="360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b="0" i="0" dirty="0">
                  <a:solidFill>
                    <a:srgbClr val="000000"/>
                  </a:solidFill>
                  <a:cs typeface="Times New Roman" panose="02020603050405020304" pitchFamily="18" charset="0"/>
                </a:rPr>
                <a:t>1</a:t>
              </a:r>
              <a:endParaRPr kumimoji="1" lang="zh-CN" altLang="en-US" sz="2400" b="0" i="0" dirty="0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44041AB2-A0B8-E348-A70E-6A6E65D90C50}"/>
              </a:ext>
            </a:extLst>
          </p:cNvPr>
          <p:cNvGrpSpPr/>
          <p:nvPr/>
        </p:nvGrpSpPr>
        <p:grpSpPr>
          <a:xfrm>
            <a:off x="514340" y="5316549"/>
            <a:ext cx="8239600" cy="1441163"/>
            <a:chOff x="514340" y="5316549"/>
            <a:chExt cx="8239600" cy="1441163"/>
          </a:xfrm>
        </p:grpSpPr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4ECC8EEE-8121-9C48-BDB5-A03F2EA422FD}"/>
                </a:ext>
              </a:extLst>
            </p:cNvPr>
            <p:cNvSpPr txBox="1"/>
            <p:nvPr/>
          </p:nvSpPr>
          <p:spPr>
            <a:xfrm>
              <a:off x="514340" y="5316549"/>
              <a:ext cx="823412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400" b="0" i="0" dirty="0">
                  <a:solidFill>
                    <a:srgbClr val="000000"/>
                  </a:solidFill>
                </a:rPr>
                <a:t>解：思路和前面一样，首先完成主线的构建，然后再对每个</a:t>
              </a:r>
              <a:endParaRPr kumimoji="1" lang="zh-CN" altLang="en-US" sz="2400" b="0" i="0" dirty="0">
                <a:solidFill>
                  <a:srgbClr val="000000"/>
                </a:solidFill>
              </a:endParaRPr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F571AF51-F89D-B142-8D42-7F0ACC67FBC1}"/>
                </a:ext>
              </a:extLst>
            </p:cNvPr>
            <p:cNvSpPr txBox="1"/>
            <p:nvPr/>
          </p:nvSpPr>
          <p:spPr>
            <a:xfrm>
              <a:off x="519816" y="5835186"/>
              <a:ext cx="823412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400" b="0" i="0" dirty="0">
                  <a:solidFill>
                    <a:srgbClr val="000000"/>
                  </a:solidFill>
                </a:rPr>
                <a:t>节点补出边。这里专门引入了一个节点充当“垃圾箱”，收</a:t>
              </a:r>
              <a:endParaRPr kumimoji="1" lang="zh-CN" altLang="en-US" sz="2400" b="0" i="0" dirty="0">
                <a:solidFill>
                  <a:srgbClr val="000000"/>
                </a:solidFill>
              </a:endParaRPr>
            </a:p>
          </p:txBody>
        </p: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281AB953-60FB-0B49-B257-FB2A759E4B3C}"/>
                </a:ext>
              </a:extLst>
            </p:cNvPr>
            <p:cNvSpPr txBox="1"/>
            <p:nvPr/>
          </p:nvSpPr>
          <p:spPr>
            <a:xfrm>
              <a:off x="514340" y="6296047"/>
              <a:ext cx="823412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400" b="0" i="0" dirty="0">
                  <a:solidFill>
                    <a:srgbClr val="000000"/>
                  </a:solidFill>
                </a:rPr>
                <a:t>无效的字符串，这是因为</a:t>
              </a:r>
              <a:r>
                <a:rPr lang="en-US" altLang="zh-CN" sz="2400" b="0" i="0" dirty="0">
                  <a:solidFill>
                    <a:srgbClr val="000000"/>
                  </a:solidFill>
                </a:rPr>
                <a:t>DFA</a:t>
              </a:r>
              <a:r>
                <a:rPr lang="zh-CN" altLang="en-US" sz="2400" b="0" i="0" dirty="0">
                  <a:solidFill>
                    <a:srgbClr val="000000"/>
                  </a:solidFill>
                </a:rPr>
                <a:t>要求每个节点必须有出边。</a:t>
              </a:r>
              <a:endParaRPr kumimoji="1" lang="zh-CN" altLang="en-US" sz="2400" b="0" i="0" dirty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32601951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35" name="Rectangle 19"/>
          <p:cNvSpPr>
            <a:spLocks noChangeArrowheads="1"/>
          </p:cNvSpPr>
          <p:nvPr/>
        </p:nvSpPr>
        <p:spPr bwMode="auto">
          <a:xfrm>
            <a:off x="1476375" y="195263"/>
            <a:ext cx="3887788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4000" i="0">
                <a:ea typeface="华文行楷" pitchFamily="2" charset="-122"/>
              </a:rPr>
              <a:t>确定有限自动机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C4E9407-D314-8942-ABC0-C2568C1E22B4}"/>
              </a:ext>
            </a:extLst>
          </p:cNvPr>
          <p:cNvSpPr txBox="1"/>
          <p:nvPr/>
        </p:nvSpPr>
        <p:spPr>
          <a:xfrm>
            <a:off x="8604448" y="6471931"/>
            <a:ext cx="5395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0" i="0" dirty="0">
                <a:solidFill>
                  <a:srgbClr val="000066"/>
                </a:solidFill>
              </a:rPr>
              <a:t>38</a:t>
            </a:r>
            <a:endParaRPr kumimoji="1" lang="zh-CN" altLang="en-US" sz="2000" b="0" i="0" dirty="0">
              <a:solidFill>
                <a:srgbClr val="000066"/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04B4B66-158B-C44A-A7BA-20F0C8831A92}"/>
              </a:ext>
            </a:extLst>
          </p:cNvPr>
          <p:cNvSpPr txBox="1"/>
          <p:nvPr/>
        </p:nvSpPr>
        <p:spPr>
          <a:xfrm>
            <a:off x="514340" y="1237026"/>
            <a:ext cx="82341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2400" b="0" i="0" dirty="0">
                <a:solidFill>
                  <a:srgbClr val="000000"/>
                </a:solidFill>
              </a:rPr>
              <a:t>例</a:t>
            </a:r>
            <a:r>
              <a:rPr lang="en-US" altLang="zh-CN" sz="2400" b="0" i="0" dirty="0">
                <a:solidFill>
                  <a:srgbClr val="000000"/>
                </a:solidFill>
              </a:rPr>
              <a:t>5</a:t>
            </a:r>
            <a:r>
              <a:rPr kumimoji="1" lang="zh-CN" altLang="en-US" sz="2400" b="0" i="0" dirty="0">
                <a:solidFill>
                  <a:srgbClr val="000000"/>
                </a:solidFill>
              </a:rPr>
              <a:t>：设计</a:t>
            </a:r>
            <a:r>
              <a:rPr kumimoji="1" lang="en-US" altLang="zh-CN" sz="2400" b="0" i="0" dirty="0">
                <a:solidFill>
                  <a:srgbClr val="000000"/>
                </a:solidFill>
              </a:rPr>
              <a:t>DFA</a:t>
            </a:r>
            <a:r>
              <a:rPr lang="zh-CN" altLang="en-US" sz="2400" b="0" i="0" dirty="0">
                <a:solidFill>
                  <a:srgbClr val="000000"/>
                </a:solidFill>
              </a:rPr>
              <a:t>表示以下语言</a:t>
            </a:r>
            <a:endParaRPr kumimoji="1" lang="zh-CN" altLang="en-US" sz="2400" b="0" i="0" dirty="0">
              <a:solidFill>
                <a:srgbClr val="000000"/>
              </a:solidFill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A594EEB-8F9C-E44F-9D42-A8A95A6F44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40" y="1776161"/>
            <a:ext cx="8305800" cy="355600"/>
          </a:xfrm>
          <a:prstGeom prst="rect">
            <a:avLst/>
          </a:prstGeom>
        </p:spPr>
      </p:pic>
      <p:grpSp>
        <p:nvGrpSpPr>
          <p:cNvPr id="12" name="组合 11">
            <a:extLst>
              <a:ext uri="{FF2B5EF4-FFF2-40B4-BE49-F238E27FC236}">
                <a16:creationId xmlns:a16="http://schemas.microsoft.com/office/drawing/2014/main" id="{4BB80352-4B5B-5040-BB6D-351454F134EF}"/>
              </a:ext>
            </a:extLst>
          </p:cNvPr>
          <p:cNvGrpSpPr/>
          <p:nvPr/>
        </p:nvGrpSpPr>
        <p:grpSpPr>
          <a:xfrm>
            <a:off x="1979712" y="3079084"/>
            <a:ext cx="3446411" cy="734908"/>
            <a:chOff x="1979712" y="3079084"/>
            <a:chExt cx="3446411" cy="734908"/>
          </a:xfrm>
        </p:grpSpPr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2E9F2F59-C020-EE4C-80B8-96FB16DCC114}"/>
                </a:ext>
              </a:extLst>
            </p:cNvPr>
            <p:cNvSpPr/>
            <p:nvPr/>
          </p:nvSpPr>
          <p:spPr bwMode="auto">
            <a:xfrm>
              <a:off x="2637757" y="3309936"/>
              <a:ext cx="504056" cy="504056"/>
            </a:xfrm>
            <a:prstGeom prst="ellips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4E3E2ED8-FE41-8A40-92F4-0AAAA90D28E7}"/>
                </a:ext>
              </a:extLst>
            </p:cNvPr>
            <p:cNvSpPr/>
            <p:nvPr/>
          </p:nvSpPr>
          <p:spPr bwMode="auto">
            <a:xfrm>
              <a:off x="3779912" y="3309936"/>
              <a:ext cx="504056" cy="504056"/>
            </a:xfrm>
            <a:prstGeom prst="ellips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45" name="椭圆 44">
              <a:extLst>
                <a:ext uri="{FF2B5EF4-FFF2-40B4-BE49-F238E27FC236}">
                  <a16:creationId xmlns:a16="http://schemas.microsoft.com/office/drawing/2014/main" id="{EE1F699B-B200-B14E-A8F3-F219A8589AFA}"/>
                </a:ext>
              </a:extLst>
            </p:cNvPr>
            <p:cNvSpPr/>
            <p:nvPr/>
          </p:nvSpPr>
          <p:spPr bwMode="auto">
            <a:xfrm>
              <a:off x="4922067" y="3309936"/>
              <a:ext cx="504056" cy="504056"/>
            </a:xfrm>
            <a:prstGeom prst="ellips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cxnSp>
          <p:nvCxnSpPr>
            <p:cNvPr id="6" name="直线箭头连接符 5">
              <a:extLst>
                <a:ext uri="{FF2B5EF4-FFF2-40B4-BE49-F238E27FC236}">
                  <a16:creationId xmlns:a16="http://schemas.microsoft.com/office/drawing/2014/main" id="{AD866607-AE76-C64B-9D09-4F3C845AD11E}"/>
                </a:ext>
              </a:extLst>
            </p:cNvPr>
            <p:cNvCxnSpPr>
              <a:endCxn id="3" idx="2"/>
            </p:cNvCxnSpPr>
            <p:nvPr/>
          </p:nvCxnSpPr>
          <p:spPr bwMode="auto">
            <a:xfrm>
              <a:off x="1979712" y="3561964"/>
              <a:ext cx="658045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48" name="直线箭头连接符 47">
              <a:extLst>
                <a:ext uri="{FF2B5EF4-FFF2-40B4-BE49-F238E27FC236}">
                  <a16:creationId xmlns:a16="http://schemas.microsoft.com/office/drawing/2014/main" id="{6C678C13-9874-CF48-85E4-46871E64CB26}"/>
                </a:ext>
              </a:extLst>
            </p:cNvPr>
            <p:cNvCxnSpPr>
              <a:cxnSpLocks/>
              <a:endCxn id="42" idx="2"/>
            </p:cNvCxnSpPr>
            <p:nvPr/>
          </p:nvCxnSpPr>
          <p:spPr bwMode="auto">
            <a:xfrm>
              <a:off x="3141813" y="3561964"/>
              <a:ext cx="638099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49" name="直线箭头连接符 48">
              <a:extLst>
                <a:ext uri="{FF2B5EF4-FFF2-40B4-BE49-F238E27FC236}">
                  <a16:creationId xmlns:a16="http://schemas.microsoft.com/office/drawing/2014/main" id="{B4DCA154-E632-5843-971C-3DB65EC5DAC9}"/>
                </a:ext>
              </a:extLst>
            </p:cNvPr>
            <p:cNvCxnSpPr>
              <a:cxnSpLocks/>
              <a:stCxn id="42" idx="6"/>
            </p:cNvCxnSpPr>
            <p:nvPr/>
          </p:nvCxnSpPr>
          <p:spPr bwMode="auto">
            <a:xfrm>
              <a:off x="4283968" y="3561964"/>
              <a:ext cx="638099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45578B6C-C046-C343-8E61-C09BE8C97996}"/>
                </a:ext>
              </a:extLst>
            </p:cNvPr>
            <p:cNvSpPr txBox="1"/>
            <p:nvPr/>
          </p:nvSpPr>
          <p:spPr>
            <a:xfrm>
              <a:off x="3275856" y="3079084"/>
              <a:ext cx="36043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0" i="0" dirty="0">
                  <a:solidFill>
                    <a:srgbClr val="000000"/>
                  </a:solidFill>
                </a:rPr>
                <a:t>0</a:t>
              </a:r>
              <a:endParaRPr kumimoji="1" lang="zh-CN" altLang="en-US" b="0" i="0" dirty="0">
                <a:solidFill>
                  <a:srgbClr val="000000"/>
                </a:solidFill>
              </a:endParaRP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8249DD29-34AE-B348-9893-03B15819C516}"/>
                </a:ext>
              </a:extLst>
            </p:cNvPr>
            <p:cNvSpPr txBox="1"/>
            <p:nvPr/>
          </p:nvSpPr>
          <p:spPr>
            <a:xfrm>
              <a:off x="4412825" y="3087814"/>
              <a:ext cx="36043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0" i="0" dirty="0">
                  <a:solidFill>
                    <a:srgbClr val="000000"/>
                  </a:solidFill>
                </a:rPr>
                <a:t>1</a:t>
              </a:r>
              <a:endParaRPr kumimoji="1" lang="zh-CN" altLang="en-US" b="0" i="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A1A05C02-1CF0-DB46-8653-B3F41A3CAD54}"/>
              </a:ext>
            </a:extLst>
          </p:cNvPr>
          <p:cNvGrpSpPr/>
          <p:nvPr/>
        </p:nvGrpSpPr>
        <p:grpSpPr>
          <a:xfrm>
            <a:off x="5426123" y="3079084"/>
            <a:ext cx="1142155" cy="734908"/>
            <a:chOff x="5426123" y="3079084"/>
            <a:chExt cx="1142155" cy="734908"/>
          </a:xfrm>
        </p:grpSpPr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9F6E6178-0781-A748-92CE-56F0410B6947}"/>
                </a:ext>
              </a:extLst>
            </p:cNvPr>
            <p:cNvSpPr/>
            <p:nvPr/>
          </p:nvSpPr>
          <p:spPr bwMode="auto">
            <a:xfrm>
              <a:off x="6064222" y="3309936"/>
              <a:ext cx="504056" cy="504056"/>
            </a:xfrm>
            <a:prstGeom prst="ellips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cxnSp>
          <p:nvCxnSpPr>
            <p:cNvPr id="52" name="直线箭头连接符 51">
              <a:extLst>
                <a:ext uri="{FF2B5EF4-FFF2-40B4-BE49-F238E27FC236}">
                  <a16:creationId xmlns:a16="http://schemas.microsoft.com/office/drawing/2014/main" id="{9F7BFA23-EA48-0A42-87DB-725D2AEE93C5}"/>
                </a:ext>
              </a:extLst>
            </p:cNvPr>
            <p:cNvCxnSpPr/>
            <p:nvPr/>
          </p:nvCxnSpPr>
          <p:spPr bwMode="auto">
            <a:xfrm>
              <a:off x="5426123" y="3562397"/>
              <a:ext cx="658045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29DF4FC5-4E9B-D74C-A067-D0F48D27E0BB}"/>
                </a:ext>
              </a:extLst>
            </p:cNvPr>
            <p:cNvSpPr txBox="1"/>
            <p:nvPr/>
          </p:nvSpPr>
          <p:spPr>
            <a:xfrm>
              <a:off x="5574928" y="3079084"/>
              <a:ext cx="36043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0" i="0" dirty="0">
                  <a:solidFill>
                    <a:srgbClr val="000000"/>
                  </a:solidFill>
                </a:rPr>
                <a:t>0</a:t>
              </a:r>
              <a:endParaRPr kumimoji="1" lang="zh-CN" altLang="en-US" b="0" i="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C436B1FD-F17B-D04A-87A4-680CF655A368}"/>
              </a:ext>
            </a:extLst>
          </p:cNvPr>
          <p:cNvGrpSpPr/>
          <p:nvPr/>
        </p:nvGrpSpPr>
        <p:grpSpPr>
          <a:xfrm>
            <a:off x="2885896" y="2276872"/>
            <a:ext cx="3414295" cy="1631069"/>
            <a:chOff x="2885896" y="2276872"/>
            <a:chExt cx="3414295" cy="1631069"/>
          </a:xfrm>
        </p:grpSpPr>
        <p:sp>
          <p:nvSpPr>
            <p:cNvPr id="8" name="弧 7">
              <a:extLst>
                <a:ext uri="{FF2B5EF4-FFF2-40B4-BE49-F238E27FC236}">
                  <a16:creationId xmlns:a16="http://schemas.microsoft.com/office/drawing/2014/main" id="{DEE479DC-6526-404A-B228-BC0A8A2CB39F}"/>
                </a:ext>
              </a:extLst>
            </p:cNvPr>
            <p:cNvSpPr/>
            <p:nvPr/>
          </p:nvSpPr>
          <p:spPr bwMode="auto">
            <a:xfrm>
              <a:off x="2885896" y="2647042"/>
              <a:ext cx="3414295" cy="1260899"/>
            </a:xfrm>
            <a:prstGeom prst="arc">
              <a:avLst>
                <a:gd name="adj1" fmla="val 10775232"/>
                <a:gd name="adj2" fmla="val 0"/>
              </a:avLst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triangle" w="lg" len="lg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935EE019-F614-D34F-B011-9E126CF24ECD}"/>
                </a:ext>
              </a:extLst>
            </p:cNvPr>
            <p:cNvSpPr txBox="1"/>
            <p:nvPr/>
          </p:nvSpPr>
          <p:spPr>
            <a:xfrm>
              <a:off x="4427587" y="2276872"/>
              <a:ext cx="36043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0" i="0" dirty="0">
                  <a:solidFill>
                    <a:srgbClr val="000000"/>
                  </a:solidFill>
                </a:rPr>
                <a:t>1</a:t>
              </a:r>
              <a:endParaRPr kumimoji="1" lang="zh-CN" altLang="en-US" b="0" i="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0D5830ED-FA53-E74B-A7B1-F158E06447ED}"/>
              </a:ext>
            </a:extLst>
          </p:cNvPr>
          <p:cNvGrpSpPr/>
          <p:nvPr/>
        </p:nvGrpSpPr>
        <p:grpSpPr>
          <a:xfrm>
            <a:off x="2713524" y="3791831"/>
            <a:ext cx="392274" cy="822253"/>
            <a:chOff x="2713524" y="3791831"/>
            <a:chExt cx="392274" cy="822253"/>
          </a:xfrm>
        </p:grpSpPr>
        <p:sp>
          <p:nvSpPr>
            <p:cNvPr id="58" name="弧 57">
              <a:extLst>
                <a:ext uri="{FF2B5EF4-FFF2-40B4-BE49-F238E27FC236}">
                  <a16:creationId xmlns:a16="http://schemas.microsoft.com/office/drawing/2014/main" id="{C6408978-EE08-C341-9E04-8C65B0240CC1}"/>
                </a:ext>
              </a:extLst>
            </p:cNvPr>
            <p:cNvSpPr/>
            <p:nvPr/>
          </p:nvSpPr>
          <p:spPr bwMode="auto">
            <a:xfrm rot="641817">
              <a:off x="2713524" y="3791831"/>
              <a:ext cx="392274" cy="424801"/>
            </a:xfrm>
            <a:prstGeom prst="arc">
              <a:avLst>
                <a:gd name="adj1" fmla="val 17142475"/>
                <a:gd name="adj2" fmla="val 14430358"/>
              </a:avLst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AA6F0CAC-911F-3D44-9E3A-B7A697D2DB88}"/>
                </a:ext>
              </a:extLst>
            </p:cNvPr>
            <p:cNvSpPr txBox="1"/>
            <p:nvPr/>
          </p:nvSpPr>
          <p:spPr>
            <a:xfrm>
              <a:off x="2729442" y="4213974"/>
              <a:ext cx="36043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0" i="0" dirty="0">
                  <a:solidFill>
                    <a:srgbClr val="000000"/>
                  </a:solidFill>
                </a:rPr>
                <a:t>1</a:t>
              </a:r>
              <a:endParaRPr kumimoji="1" lang="zh-CN" altLang="en-US" b="0" i="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DF4085E2-8747-2040-AE93-88791CCDA65B}"/>
              </a:ext>
            </a:extLst>
          </p:cNvPr>
          <p:cNvGrpSpPr/>
          <p:nvPr/>
        </p:nvGrpSpPr>
        <p:grpSpPr>
          <a:xfrm>
            <a:off x="3844391" y="3791831"/>
            <a:ext cx="392274" cy="822253"/>
            <a:chOff x="3844391" y="3791831"/>
            <a:chExt cx="392274" cy="822253"/>
          </a:xfrm>
        </p:grpSpPr>
        <p:sp>
          <p:nvSpPr>
            <p:cNvPr id="78" name="弧 77">
              <a:extLst>
                <a:ext uri="{FF2B5EF4-FFF2-40B4-BE49-F238E27FC236}">
                  <a16:creationId xmlns:a16="http://schemas.microsoft.com/office/drawing/2014/main" id="{7362623C-D5B7-4846-AB26-CA99C72FFCB9}"/>
                </a:ext>
              </a:extLst>
            </p:cNvPr>
            <p:cNvSpPr/>
            <p:nvPr/>
          </p:nvSpPr>
          <p:spPr bwMode="auto">
            <a:xfrm rot="641817">
              <a:off x="3844391" y="3791831"/>
              <a:ext cx="392274" cy="424801"/>
            </a:xfrm>
            <a:prstGeom prst="arc">
              <a:avLst>
                <a:gd name="adj1" fmla="val 17142475"/>
                <a:gd name="adj2" fmla="val 14430358"/>
              </a:avLst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BF79B1AC-497E-404F-B821-BB024D4ADFC6}"/>
                </a:ext>
              </a:extLst>
            </p:cNvPr>
            <p:cNvSpPr txBox="1"/>
            <p:nvPr/>
          </p:nvSpPr>
          <p:spPr>
            <a:xfrm>
              <a:off x="3851920" y="4213974"/>
              <a:ext cx="36043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0" i="0" dirty="0">
                  <a:solidFill>
                    <a:srgbClr val="000000"/>
                  </a:solidFill>
                </a:rPr>
                <a:t>0</a:t>
              </a:r>
              <a:endParaRPr kumimoji="1" lang="zh-CN" altLang="en-US" b="0" i="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3156E725-2469-984A-A517-5C9D56584895}"/>
              </a:ext>
            </a:extLst>
          </p:cNvPr>
          <p:cNvGrpSpPr/>
          <p:nvPr/>
        </p:nvGrpSpPr>
        <p:grpSpPr>
          <a:xfrm>
            <a:off x="4981709" y="3791831"/>
            <a:ext cx="392274" cy="822253"/>
            <a:chOff x="4981709" y="3791831"/>
            <a:chExt cx="392274" cy="822253"/>
          </a:xfrm>
        </p:grpSpPr>
        <p:sp>
          <p:nvSpPr>
            <p:cNvPr id="80" name="弧 79">
              <a:extLst>
                <a:ext uri="{FF2B5EF4-FFF2-40B4-BE49-F238E27FC236}">
                  <a16:creationId xmlns:a16="http://schemas.microsoft.com/office/drawing/2014/main" id="{23F5C3F6-A62A-334F-B4ED-883008C991BE}"/>
                </a:ext>
              </a:extLst>
            </p:cNvPr>
            <p:cNvSpPr/>
            <p:nvPr/>
          </p:nvSpPr>
          <p:spPr bwMode="auto">
            <a:xfrm rot="641817">
              <a:off x="4981709" y="3791831"/>
              <a:ext cx="392274" cy="424801"/>
            </a:xfrm>
            <a:prstGeom prst="arc">
              <a:avLst>
                <a:gd name="adj1" fmla="val 17142475"/>
                <a:gd name="adj2" fmla="val 14430358"/>
              </a:avLst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CFCE26BA-8654-7A4B-8EE6-20D149A6759B}"/>
                </a:ext>
              </a:extLst>
            </p:cNvPr>
            <p:cNvSpPr txBox="1"/>
            <p:nvPr/>
          </p:nvSpPr>
          <p:spPr>
            <a:xfrm>
              <a:off x="4982787" y="4213974"/>
              <a:ext cx="36043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0" i="0" dirty="0">
                  <a:solidFill>
                    <a:srgbClr val="000000"/>
                  </a:solidFill>
                </a:rPr>
                <a:t>1</a:t>
              </a:r>
              <a:endParaRPr kumimoji="1" lang="zh-CN" altLang="en-US" b="0" i="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2F6DAA7D-BB6C-9647-874F-1219A7147172}"/>
              </a:ext>
            </a:extLst>
          </p:cNvPr>
          <p:cNvGrpSpPr/>
          <p:nvPr/>
        </p:nvGrpSpPr>
        <p:grpSpPr>
          <a:xfrm>
            <a:off x="6134217" y="3801477"/>
            <a:ext cx="392274" cy="812607"/>
            <a:chOff x="6134217" y="3801477"/>
            <a:chExt cx="392274" cy="812607"/>
          </a:xfrm>
        </p:grpSpPr>
        <p:sp>
          <p:nvSpPr>
            <p:cNvPr id="82" name="弧 81">
              <a:extLst>
                <a:ext uri="{FF2B5EF4-FFF2-40B4-BE49-F238E27FC236}">
                  <a16:creationId xmlns:a16="http://schemas.microsoft.com/office/drawing/2014/main" id="{91D06990-68C9-3748-BBD9-580FF7D4E2FA}"/>
                </a:ext>
              </a:extLst>
            </p:cNvPr>
            <p:cNvSpPr/>
            <p:nvPr/>
          </p:nvSpPr>
          <p:spPr bwMode="auto">
            <a:xfrm rot="641817">
              <a:off x="6134217" y="3801477"/>
              <a:ext cx="392274" cy="424801"/>
            </a:xfrm>
            <a:prstGeom prst="arc">
              <a:avLst>
                <a:gd name="adj1" fmla="val 17142475"/>
                <a:gd name="adj2" fmla="val 14430358"/>
              </a:avLst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83" name="文本框 82">
              <a:extLst>
                <a:ext uri="{FF2B5EF4-FFF2-40B4-BE49-F238E27FC236}">
                  <a16:creationId xmlns:a16="http://schemas.microsoft.com/office/drawing/2014/main" id="{9BFF713C-6A58-1C4C-AFAF-789D94BD46BB}"/>
                </a:ext>
              </a:extLst>
            </p:cNvPr>
            <p:cNvSpPr txBox="1"/>
            <p:nvPr/>
          </p:nvSpPr>
          <p:spPr>
            <a:xfrm>
              <a:off x="6156176" y="4213974"/>
              <a:ext cx="36043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0" i="0" dirty="0">
                  <a:solidFill>
                    <a:srgbClr val="000000"/>
                  </a:solidFill>
                </a:rPr>
                <a:t>0</a:t>
              </a:r>
              <a:endParaRPr kumimoji="1" lang="zh-CN" altLang="en-US" b="0" i="0" dirty="0">
                <a:solidFill>
                  <a:srgbClr val="000000"/>
                </a:solidFill>
              </a:endParaRPr>
            </a:p>
          </p:txBody>
        </p:sp>
      </p:grpSp>
      <p:sp>
        <p:nvSpPr>
          <p:cNvPr id="84" name="椭圆 83">
            <a:extLst>
              <a:ext uri="{FF2B5EF4-FFF2-40B4-BE49-F238E27FC236}">
                <a16:creationId xmlns:a16="http://schemas.microsoft.com/office/drawing/2014/main" id="{260949E1-4C36-7144-9E50-204292482DE5}"/>
              </a:ext>
            </a:extLst>
          </p:cNvPr>
          <p:cNvSpPr/>
          <p:nvPr/>
        </p:nvSpPr>
        <p:spPr bwMode="auto">
          <a:xfrm>
            <a:off x="4981278" y="3372227"/>
            <a:ext cx="385634" cy="386889"/>
          </a:xfrm>
          <a:prstGeom prst="ellips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0E325BAE-CBA8-F044-B000-CE6A5D0306EA}"/>
              </a:ext>
            </a:extLst>
          </p:cNvPr>
          <p:cNvSpPr/>
          <p:nvPr/>
        </p:nvSpPr>
        <p:spPr bwMode="auto">
          <a:xfrm>
            <a:off x="6125938" y="3368418"/>
            <a:ext cx="385634" cy="386889"/>
          </a:xfrm>
          <a:prstGeom prst="ellips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A46C027D-3210-F446-BF00-E6678AA65C90}"/>
              </a:ext>
            </a:extLst>
          </p:cNvPr>
          <p:cNvGrpSpPr/>
          <p:nvPr/>
        </p:nvGrpSpPr>
        <p:grpSpPr>
          <a:xfrm>
            <a:off x="586016" y="4666099"/>
            <a:ext cx="8234124" cy="1996638"/>
            <a:chOff x="586016" y="4666099"/>
            <a:chExt cx="8234124" cy="1996638"/>
          </a:xfrm>
        </p:grpSpPr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3C483157-0C00-CC4B-A143-B3314A595F05}"/>
                </a:ext>
              </a:extLst>
            </p:cNvPr>
            <p:cNvSpPr txBox="1"/>
            <p:nvPr/>
          </p:nvSpPr>
          <p:spPr>
            <a:xfrm>
              <a:off x="586016" y="4666099"/>
              <a:ext cx="823412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zh-CN" altLang="en-US" sz="2400" b="0" i="0" dirty="0">
                  <a:solidFill>
                    <a:srgbClr val="000000"/>
                  </a:solidFill>
                </a:rPr>
                <a:t>解：此题的难点在于如何实现奇数。基本的策略是即将形成</a:t>
              </a:r>
            </a:p>
          </p:txBody>
        </p:sp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24108B6E-9411-EB46-870D-8E4DAC906163}"/>
                </a:ext>
              </a:extLst>
            </p:cNvPr>
            <p:cNvSpPr txBox="1"/>
            <p:nvPr/>
          </p:nvSpPr>
          <p:spPr>
            <a:xfrm>
              <a:off x="586016" y="5176783"/>
              <a:ext cx="823412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zh-CN" altLang="en-US" sz="2400" b="0" i="0" dirty="0">
                  <a:solidFill>
                    <a:srgbClr val="000000"/>
                  </a:solidFill>
                </a:rPr>
                <a:t>偶数个</a:t>
              </a:r>
              <a:r>
                <a:rPr kumimoji="1" lang="en-US" altLang="zh-CN" sz="2400" b="0" i="0" dirty="0">
                  <a:solidFill>
                    <a:srgbClr val="000000"/>
                  </a:solidFill>
                </a:rPr>
                <a:t>01</a:t>
              </a:r>
              <a:r>
                <a:rPr kumimoji="1" lang="zh-CN" altLang="en-US" sz="2400" b="0" i="0" dirty="0">
                  <a:solidFill>
                    <a:srgbClr val="000000"/>
                  </a:solidFill>
                </a:rPr>
                <a:t>子串时就远离终结状态。需要注意的是，该串并不</a:t>
              </a:r>
            </a:p>
          </p:txBody>
        </p: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B0E47502-4520-3447-B521-6B7712153D0A}"/>
                </a:ext>
              </a:extLst>
            </p:cNvPr>
            <p:cNvSpPr txBox="1"/>
            <p:nvPr/>
          </p:nvSpPr>
          <p:spPr>
            <a:xfrm>
              <a:off x="586016" y="5687467"/>
              <a:ext cx="823412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zh-CN" altLang="en-US" sz="2400" b="0" i="0" dirty="0">
                  <a:solidFill>
                    <a:srgbClr val="000000"/>
                  </a:solidFill>
                </a:rPr>
                <a:t>子串</a:t>
              </a:r>
              <a:r>
                <a:rPr kumimoji="1" lang="en-US" altLang="zh-CN" sz="2400" b="0" i="0" dirty="0">
                  <a:solidFill>
                    <a:srgbClr val="000000"/>
                  </a:solidFill>
                </a:rPr>
                <a:t>01</a:t>
              </a:r>
              <a:r>
                <a:rPr kumimoji="1" lang="zh-CN" altLang="en-US" sz="2400" b="0" i="0" dirty="0">
                  <a:solidFill>
                    <a:srgbClr val="000000"/>
                  </a:solidFill>
                </a:rPr>
                <a:t>的幂，只是包含子串</a:t>
              </a:r>
              <a:r>
                <a:rPr kumimoji="1" lang="en-US" altLang="zh-CN" sz="2400" b="0" i="0" dirty="0">
                  <a:solidFill>
                    <a:srgbClr val="000000"/>
                  </a:solidFill>
                </a:rPr>
                <a:t>01</a:t>
              </a:r>
              <a:r>
                <a:rPr lang="zh-CN" altLang="en-US" sz="2400" b="0" i="0" dirty="0">
                  <a:solidFill>
                    <a:srgbClr val="000000"/>
                  </a:solidFill>
                </a:rPr>
                <a:t>，所以还有其他的子串。初始</a:t>
              </a:r>
              <a:endParaRPr kumimoji="1" lang="zh-CN" altLang="en-US" sz="2400" b="0" i="0" dirty="0">
                <a:solidFill>
                  <a:srgbClr val="000000"/>
                </a:solidFill>
              </a:endParaRPr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8C3E2289-5EF2-F947-822D-6EA9B20420F1}"/>
                </a:ext>
              </a:extLst>
            </p:cNvPr>
            <p:cNvSpPr txBox="1"/>
            <p:nvPr/>
          </p:nvSpPr>
          <p:spPr>
            <a:xfrm>
              <a:off x="586016" y="6201072"/>
              <a:ext cx="823412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zh-CN" altLang="en-US" sz="2400" b="0" i="0" dirty="0">
                  <a:solidFill>
                    <a:srgbClr val="000000"/>
                  </a:solidFill>
                </a:rPr>
                <a:t>节点的含义是包含了偶数个子串</a:t>
              </a:r>
              <a:r>
                <a:rPr kumimoji="1" lang="en-US" altLang="zh-CN" sz="2400" b="0" i="0" dirty="0">
                  <a:solidFill>
                    <a:srgbClr val="000000"/>
                  </a:solidFill>
                </a:rPr>
                <a:t>01</a:t>
              </a:r>
              <a:r>
                <a:rPr kumimoji="1" lang="zh-CN" altLang="en-US" sz="2400" b="0" i="0" dirty="0">
                  <a:solidFill>
                    <a:srgbClr val="000000"/>
                  </a:solidFill>
                </a:rPr>
                <a:t>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52525300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 animBg="1"/>
      <p:bldP spid="86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35" name="Rectangle 19"/>
          <p:cNvSpPr>
            <a:spLocks noChangeArrowheads="1"/>
          </p:cNvSpPr>
          <p:nvPr/>
        </p:nvSpPr>
        <p:spPr bwMode="auto">
          <a:xfrm>
            <a:off x="1476375" y="195263"/>
            <a:ext cx="3887788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4000" i="0">
                <a:ea typeface="华文行楷" pitchFamily="2" charset="-122"/>
              </a:rPr>
              <a:t>确定有限自动机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C4E9407-D314-8942-ABC0-C2568C1E22B4}"/>
              </a:ext>
            </a:extLst>
          </p:cNvPr>
          <p:cNvSpPr txBox="1"/>
          <p:nvPr/>
        </p:nvSpPr>
        <p:spPr>
          <a:xfrm>
            <a:off x="8604448" y="6471931"/>
            <a:ext cx="5395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0" i="0" dirty="0">
                <a:solidFill>
                  <a:srgbClr val="000066"/>
                </a:solidFill>
              </a:rPr>
              <a:t>39</a:t>
            </a:r>
            <a:endParaRPr kumimoji="1" lang="zh-CN" altLang="en-US" sz="2000" b="0" i="0" dirty="0">
              <a:solidFill>
                <a:srgbClr val="000066"/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04B4B66-158B-C44A-A7BA-20F0C8831A92}"/>
              </a:ext>
            </a:extLst>
          </p:cNvPr>
          <p:cNvSpPr txBox="1"/>
          <p:nvPr/>
        </p:nvSpPr>
        <p:spPr>
          <a:xfrm>
            <a:off x="514340" y="1237026"/>
            <a:ext cx="82341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2400" b="0" i="0" dirty="0">
                <a:solidFill>
                  <a:srgbClr val="000000"/>
                </a:solidFill>
              </a:rPr>
              <a:t>例</a:t>
            </a:r>
            <a:r>
              <a:rPr lang="en-US" altLang="zh-CN" sz="2400" b="0" i="0" dirty="0">
                <a:solidFill>
                  <a:srgbClr val="000000"/>
                </a:solidFill>
              </a:rPr>
              <a:t>6</a:t>
            </a:r>
            <a:r>
              <a:rPr kumimoji="1" lang="zh-CN" altLang="en-US" sz="2400" b="0" i="0" dirty="0">
                <a:solidFill>
                  <a:srgbClr val="000000"/>
                </a:solidFill>
              </a:rPr>
              <a:t>：设计</a:t>
            </a:r>
            <a:r>
              <a:rPr kumimoji="1" lang="en-US" altLang="zh-CN" sz="2400" b="0" i="0" dirty="0">
                <a:solidFill>
                  <a:srgbClr val="000000"/>
                </a:solidFill>
              </a:rPr>
              <a:t>DFA</a:t>
            </a:r>
            <a:r>
              <a:rPr lang="zh-CN" altLang="en-US" sz="2400" b="0" i="0" dirty="0">
                <a:solidFill>
                  <a:srgbClr val="000000"/>
                </a:solidFill>
              </a:rPr>
              <a:t>表示以下语言</a:t>
            </a:r>
            <a:endParaRPr kumimoji="1" lang="zh-CN" altLang="en-US" sz="2400" b="0" i="0" dirty="0">
              <a:solidFill>
                <a:srgbClr val="000000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1E3E68B-0954-0143-AAD1-D62D087110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051" y="1844824"/>
            <a:ext cx="7997898" cy="349908"/>
          </a:xfrm>
          <a:prstGeom prst="rect">
            <a:avLst/>
          </a:prstGeom>
        </p:spPr>
      </p:pic>
      <p:grpSp>
        <p:nvGrpSpPr>
          <p:cNvPr id="24" name="组合 23">
            <a:extLst>
              <a:ext uri="{FF2B5EF4-FFF2-40B4-BE49-F238E27FC236}">
                <a16:creationId xmlns:a16="http://schemas.microsoft.com/office/drawing/2014/main" id="{E225745C-7515-3D48-B2EE-747F2C3222E7}"/>
              </a:ext>
            </a:extLst>
          </p:cNvPr>
          <p:cNvGrpSpPr/>
          <p:nvPr/>
        </p:nvGrpSpPr>
        <p:grpSpPr>
          <a:xfrm>
            <a:off x="2972639" y="2542368"/>
            <a:ext cx="2592363" cy="1360757"/>
            <a:chOff x="2972639" y="2542368"/>
            <a:chExt cx="2592363" cy="1360757"/>
          </a:xfrm>
        </p:grpSpPr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27C65559-7052-CE46-87F1-45B970D08B6F}"/>
                </a:ext>
              </a:extLst>
            </p:cNvPr>
            <p:cNvSpPr/>
            <p:nvPr/>
          </p:nvSpPr>
          <p:spPr bwMode="auto">
            <a:xfrm>
              <a:off x="3578998" y="2970718"/>
              <a:ext cx="504056" cy="504056"/>
            </a:xfrm>
            <a:prstGeom prst="ellips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4C7F3C48-ECB3-334D-BC37-4D0683049279}"/>
                </a:ext>
              </a:extLst>
            </p:cNvPr>
            <p:cNvSpPr/>
            <p:nvPr/>
          </p:nvSpPr>
          <p:spPr bwMode="auto">
            <a:xfrm>
              <a:off x="5060946" y="2970718"/>
              <a:ext cx="504056" cy="504056"/>
            </a:xfrm>
            <a:prstGeom prst="ellips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cxnSp>
          <p:nvCxnSpPr>
            <p:cNvPr id="10" name="直线箭头连接符 9">
              <a:extLst>
                <a:ext uri="{FF2B5EF4-FFF2-40B4-BE49-F238E27FC236}">
                  <a16:creationId xmlns:a16="http://schemas.microsoft.com/office/drawing/2014/main" id="{A32DDBFF-CBC2-1E4E-91F9-178A53584693}"/>
                </a:ext>
              </a:extLst>
            </p:cNvPr>
            <p:cNvCxnSpPr>
              <a:stCxn id="5" idx="7"/>
              <a:endCxn id="43" idx="1"/>
            </p:cNvCxnSpPr>
            <p:nvPr/>
          </p:nvCxnSpPr>
          <p:spPr bwMode="auto">
            <a:xfrm>
              <a:off x="4009237" y="3044535"/>
              <a:ext cx="1125526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47" name="直线箭头连接符 46">
              <a:extLst>
                <a:ext uri="{FF2B5EF4-FFF2-40B4-BE49-F238E27FC236}">
                  <a16:creationId xmlns:a16="http://schemas.microsoft.com/office/drawing/2014/main" id="{3F3C63E5-88BD-F840-B7F1-E357C5F85053}"/>
                </a:ext>
              </a:extLst>
            </p:cNvPr>
            <p:cNvCxnSpPr>
              <a:cxnSpLocks/>
              <a:stCxn id="43" idx="3"/>
              <a:endCxn id="5" idx="5"/>
            </p:cNvCxnSpPr>
            <p:nvPr/>
          </p:nvCxnSpPr>
          <p:spPr bwMode="auto">
            <a:xfrm flipH="1">
              <a:off x="4009237" y="3400957"/>
              <a:ext cx="1125526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50" name="直线箭头连接符 49">
              <a:extLst>
                <a:ext uri="{FF2B5EF4-FFF2-40B4-BE49-F238E27FC236}">
                  <a16:creationId xmlns:a16="http://schemas.microsoft.com/office/drawing/2014/main" id="{6D17CA3A-FB1D-AF4A-B5EE-775DBD20B43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972639" y="3222746"/>
              <a:ext cx="606359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sp>
          <p:nvSpPr>
            <p:cNvPr id="51" name="椭圆 50">
              <a:extLst>
                <a:ext uri="{FF2B5EF4-FFF2-40B4-BE49-F238E27FC236}">
                  <a16:creationId xmlns:a16="http://schemas.microsoft.com/office/drawing/2014/main" id="{05DB6574-E498-384B-9163-FA02D55BF7DA}"/>
                </a:ext>
              </a:extLst>
            </p:cNvPr>
            <p:cNvSpPr/>
            <p:nvPr/>
          </p:nvSpPr>
          <p:spPr bwMode="auto">
            <a:xfrm>
              <a:off x="5134762" y="3044535"/>
              <a:ext cx="358157" cy="356422"/>
            </a:xfrm>
            <a:prstGeom prst="ellips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AC5F2429-A219-6046-A4FD-B8E44268608B}"/>
                </a:ext>
              </a:extLst>
            </p:cNvPr>
            <p:cNvSpPr txBox="1"/>
            <p:nvPr/>
          </p:nvSpPr>
          <p:spPr>
            <a:xfrm>
              <a:off x="4215968" y="2542368"/>
              <a:ext cx="83086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b="0" i="0" dirty="0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r>
                <a:rPr lang="en-US" altLang="zh-CN" sz="2400" b="0" i="0" dirty="0">
                  <a:solidFill>
                    <a:srgbClr val="000000"/>
                  </a:solidFill>
                  <a:cs typeface="Times New Roman" panose="02020603050405020304" pitchFamily="18" charset="0"/>
                </a:rPr>
                <a:t>, </a:t>
              </a:r>
              <a:r>
                <a:rPr kumimoji="1" lang="en-US" altLang="zh-CN" sz="2400" b="0" i="0" dirty="0">
                  <a:solidFill>
                    <a:srgbClr val="000000"/>
                  </a:solidFill>
                  <a:cs typeface="Times New Roman" panose="02020603050405020304" pitchFamily="18" charset="0"/>
                </a:rPr>
                <a:t>1</a:t>
              </a:r>
              <a:endParaRPr kumimoji="1" lang="zh-CN" altLang="en-US" sz="2400" b="0" i="0" dirty="0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FEB20B22-7C85-D34D-A4DA-DDB8C6EFED51}"/>
                </a:ext>
              </a:extLst>
            </p:cNvPr>
            <p:cNvSpPr txBox="1"/>
            <p:nvPr/>
          </p:nvSpPr>
          <p:spPr>
            <a:xfrm>
              <a:off x="4215969" y="3441460"/>
              <a:ext cx="83086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b="0" i="0" dirty="0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r>
                <a:rPr lang="en-US" altLang="zh-CN" sz="2400" b="0" i="0" dirty="0">
                  <a:solidFill>
                    <a:srgbClr val="000000"/>
                  </a:solidFill>
                  <a:cs typeface="Times New Roman" panose="02020603050405020304" pitchFamily="18" charset="0"/>
                </a:rPr>
                <a:t>, </a:t>
              </a:r>
              <a:r>
                <a:rPr kumimoji="1" lang="en-US" altLang="zh-CN" sz="2400" b="0" i="0" dirty="0">
                  <a:solidFill>
                    <a:srgbClr val="000000"/>
                  </a:solidFill>
                  <a:cs typeface="Times New Roman" panose="02020603050405020304" pitchFamily="18" charset="0"/>
                </a:rPr>
                <a:t>1</a:t>
              </a:r>
              <a:endParaRPr kumimoji="1" lang="zh-CN" altLang="en-US" sz="2400" b="0" i="0" dirty="0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0AC5C24B-53AA-B448-AFFC-26B14DBE59E5}"/>
              </a:ext>
            </a:extLst>
          </p:cNvPr>
          <p:cNvGrpSpPr/>
          <p:nvPr/>
        </p:nvGrpSpPr>
        <p:grpSpPr>
          <a:xfrm>
            <a:off x="573050" y="4098848"/>
            <a:ext cx="8463445" cy="1544866"/>
            <a:chOff x="573050" y="4098848"/>
            <a:chExt cx="8463445" cy="1544866"/>
          </a:xfrm>
        </p:grpSpPr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8DD153F3-83BF-1949-A9FB-842D12EF6A7B}"/>
                </a:ext>
              </a:extLst>
            </p:cNvPr>
            <p:cNvSpPr txBox="1"/>
            <p:nvPr/>
          </p:nvSpPr>
          <p:spPr>
            <a:xfrm>
              <a:off x="573051" y="4098848"/>
              <a:ext cx="823412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zh-CN" altLang="en-US" sz="2400" b="0" i="0" dirty="0">
                  <a:solidFill>
                    <a:srgbClr val="000000"/>
                  </a:solidFill>
                </a:rPr>
                <a:t>解：</a:t>
              </a:r>
              <a:r>
                <a:rPr lang="zh-CN" altLang="en-US" sz="2400" b="0" i="0" dirty="0">
                  <a:solidFill>
                    <a:srgbClr val="000000"/>
                  </a:solidFill>
                </a:rPr>
                <a:t>这道题比较简单。题目等价于字符串的长度是奇数，这</a:t>
              </a:r>
              <a:endParaRPr kumimoji="1" lang="zh-CN" altLang="en-US" sz="2400" b="0" i="0" dirty="0">
                <a:solidFill>
                  <a:srgbClr val="000000"/>
                </a:solidFill>
              </a:endParaRPr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F35ED44A-41B3-3F4C-A1C0-3A56E6287B6E}"/>
                </a:ext>
              </a:extLst>
            </p:cNvPr>
            <p:cNvSpPr txBox="1"/>
            <p:nvPr/>
          </p:nvSpPr>
          <p:spPr>
            <a:xfrm>
              <a:off x="573050" y="4645007"/>
              <a:ext cx="846344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zh-CN" altLang="en-US" sz="2400" b="0" i="0" dirty="0">
                  <a:solidFill>
                    <a:srgbClr val="000000"/>
                  </a:solidFill>
                </a:rPr>
                <a:t>样就类似于电灯开关，比如按奇数次才处于开的状态。因此，</a:t>
              </a:r>
            </a:p>
          </p:txBody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F0529FBC-4432-2C41-8BE5-549E1EE12301}"/>
                </a:ext>
              </a:extLst>
            </p:cNvPr>
            <p:cNvSpPr txBox="1"/>
            <p:nvPr/>
          </p:nvSpPr>
          <p:spPr>
            <a:xfrm>
              <a:off x="573051" y="5182049"/>
              <a:ext cx="823412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zh-CN" altLang="en-US" sz="2400" b="0" i="0" dirty="0">
                  <a:solidFill>
                    <a:srgbClr val="000000"/>
                  </a:solidFill>
                </a:rPr>
                <a:t>很容易设计相应的</a:t>
              </a:r>
              <a:r>
                <a:rPr kumimoji="1" lang="en-US" altLang="zh-CN" sz="2400" b="0" i="0" dirty="0">
                  <a:solidFill>
                    <a:srgbClr val="000000"/>
                  </a:solidFill>
                </a:rPr>
                <a:t>DFA</a:t>
              </a:r>
              <a:r>
                <a:rPr kumimoji="1" lang="zh-CN" altLang="en-US" sz="2400" b="0" i="0" dirty="0">
                  <a:solidFill>
                    <a:srgbClr val="000000"/>
                  </a:solidFill>
                </a:rPr>
                <a:t>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510475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35" name="Rectangle 19"/>
          <p:cNvSpPr>
            <a:spLocks noChangeArrowheads="1"/>
          </p:cNvSpPr>
          <p:nvPr/>
        </p:nvSpPr>
        <p:spPr bwMode="auto">
          <a:xfrm>
            <a:off x="1476375" y="195263"/>
            <a:ext cx="3887788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4000" i="0">
                <a:ea typeface="华文行楷" pitchFamily="2" charset="-122"/>
              </a:rPr>
              <a:t>确定有限自动机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C4E9407-D314-8942-ABC0-C2568C1E22B4}"/>
              </a:ext>
            </a:extLst>
          </p:cNvPr>
          <p:cNvSpPr txBox="1"/>
          <p:nvPr/>
        </p:nvSpPr>
        <p:spPr>
          <a:xfrm>
            <a:off x="8604448" y="6471931"/>
            <a:ext cx="5395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0" i="0" dirty="0">
                <a:solidFill>
                  <a:srgbClr val="000066"/>
                </a:solidFill>
              </a:rPr>
              <a:t>40</a:t>
            </a:r>
            <a:endParaRPr kumimoji="1" lang="zh-CN" altLang="en-US" sz="2000" b="0" i="0" dirty="0">
              <a:solidFill>
                <a:srgbClr val="000066"/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04B4B66-158B-C44A-A7BA-20F0C8831A92}"/>
              </a:ext>
            </a:extLst>
          </p:cNvPr>
          <p:cNvSpPr txBox="1"/>
          <p:nvPr/>
        </p:nvSpPr>
        <p:spPr>
          <a:xfrm>
            <a:off x="514340" y="1237026"/>
            <a:ext cx="82341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2400" b="0" i="0" dirty="0">
                <a:solidFill>
                  <a:srgbClr val="000000"/>
                </a:solidFill>
              </a:rPr>
              <a:t>例</a:t>
            </a:r>
            <a:r>
              <a:rPr lang="en-US" altLang="zh-CN" sz="2400" b="0" i="0" dirty="0">
                <a:solidFill>
                  <a:srgbClr val="000000"/>
                </a:solidFill>
              </a:rPr>
              <a:t>7</a:t>
            </a:r>
            <a:r>
              <a:rPr kumimoji="1" lang="zh-CN" altLang="en-US" sz="2400" b="0" i="0" dirty="0">
                <a:solidFill>
                  <a:srgbClr val="000000"/>
                </a:solidFill>
              </a:rPr>
              <a:t>：设计</a:t>
            </a:r>
            <a:r>
              <a:rPr kumimoji="1" lang="en-US" altLang="zh-CN" sz="2400" b="0" i="0" dirty="0">
                <a:solidFill>
                  <a:srgbClr val="000000"/>
                </a:solidFill>
              </a:rPr>
              <a:t>DFA</a:t>
            </a:r>
            <a:r>
              <a:rPr lang="zh-CN" altLang="en-US" sz="2400" b="0" i="0" dirty="0">
                <a:solidFill>
                  <a:srgbClr val="000000"/>
                </a:solidFill>
              </a:rPr>
              <a:t>表示以下语言</a:t>
            </a:r>
            <a:endParaRPr kumimoji="1" lang="zh-CN" altLang="en-US" sz="2400" b="0" i="0" dirty="0">
              <a:solidFill>
                <a:srgbClr val="000000"/>
              </a:solidFill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676BCBC-A340-EC40-AA92-256E4DE4A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719" y="1866063"/>
            <a:ext cx="8498562" cy="344869"/>
          </a:xfrm>
          <a:prstGeom prst="rect">
            <a:avLst/>
          </a:prstGeom>
        </p:spPr>
      </p:pic>
      <p:grpSp>
        <p:nvGrpSpPr>
          <p:cNvPr id="62" name="组合 61">
            <a:extLst>
              <a:ext uri="{FF2B5EF4-FFF2-40B4-BE49-F238E27FC236}">
                <a16:creationId xmlns:a16="http://schemas.microsoft.com/office/drawing/2014/main" id="{A6306BA7-5309-2644-B0D5-E06D57235245}"/>
              </a:ext>
            </a:extLst>
          </p:cNvPr>
          <p:cNvGrpSpPr/>
          <p:nvPr/>
        </p:nvGrpSpPr>
        <p:grpSpPr>
          <a:xfrm>
            <a:off x="2843808" y="2354965"/>
            <a:ext cx="2930146" cy="2493278"/>
            <a:chOff x="2843808" y="2354965"/>
            <a:chExt cx="2930146" cy="2493278"/>
          </a:xfrm>
        </p:grpSpPr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53CC0B10-EB15-7048-8371-A513938E21AB}"/>
                </a:ext>
              </a:extLst>
            </p:cNvPr>
            <p:cNvSpPr/>
            <p:nvPr/>
          </p:nvSpPr>
          <p:spPr bwMode="auto">
            <a:xfrm>
              <a:off x="3491880" y="2708920"/>
              <a:ext cx="504056" cy="504056"/>
            </a:xfrm>
            <a:prstGeom prst="ellips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B3285608-8794-BD4D-8543-BE57E7A0B212}"/>
                </a:ext>
              </a:extLst>
            </p:cNvPr>
            <p:cNvSpPr/>
            <p:nvPr/>
          </p:nvSpPr>
          <p:spPr bwMode="auto">
            <a:xfrm>
              <a:off x="4932107" y="2708920"/>
              <a:ext cx="504056" cy="504056"/>
            </a:xfrm>
            <a:prstGeom prst="ellips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442EC2AF-B795-C24E-ADB1-7EA3C56AA69F}"/>
                </a:ext>
              </a:extLst>
            </p:cNvPr>
            <p:cNvSpPr/>
            <p:nvPr/>
          </p:nvSpPr>
          <p:spPr bwMode="auto">
            <a:xfrm>
              <a:off x="3491880" y="4005064"/>
              <a:ext cx="504056" cy="504056"/>
            </a:xfrm>
            <a:prstGeom prst="ellips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F93F3BFE-AA97-5745-A58E-18D021EE74C0}"/>
                </a:ext>
              </a:extLst>
            </p:cNvPr>
            <p:cNvSpPr/>
            <p:nvPr/>
          </p:nvSpPr>
          <p:spPr bwMode="auto">
            <a:xfrm>
              <a:off x="4946535" y="3985145"/>
              <a:ext cx="504053" cy="523975"/>
            </a:xfrm>
            <a:prstGeom prst="ellips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EE0375C0-C663-7845-BD76-757BB0B693A1}"/>
                </a:ext>
              </a:extLst>
            </p:cNvPr>
            <p:cNvSpPr/>
            <p:nvPr/>
          </p:nvSpPr>
          <p:spPr bwMode="auto">
            <a:xfrm>
              <a:off x="3563888" y="2765960"/>
              <a:ext cx="360040" cy="375008"/>
            </a:xfrm>
            <a:prstGeom prst="ellips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cxnSp>
          <p:nvCxnSpPr>
            <p:cNvPr id="7" name="直线箭头连接符 6">
              <a:extLst>
                <a:ext uri="{FF2B5EF4-FFF2-40B4-BE49-F238E27FC236}">
                  <a16:creationId xmlns:a16="http://schemas.microsoft.com/office/drawing/2014/main" id="{C7C62E97-07C1-DA4C-932D-A86F906B509B}"/>
                </a:ext>
              </a:extLst>
            </p:cNvPr>
            <p:cNvCxnSpPr>
              <a:cxnSpLocks/>
              <a:endCxn id="3" idx="2"/>
            </p:cNvCxnSpPr>
            <p:nvPr/>
          </p:nvCxnSpPr>
          <p:spPr bwMode="auto">
            <a:xfrm>
              <a:off x="2843808" y="2960948"/>
              <a:ext cx="648072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29" name="直线箭头连接符 28">
              <a:extLst>
                <a:ext uri="{FF2B5EF4-FFF2-40B4-BE49-F238E27FC236}">
                  <a16:creationId xmlns:a16="http://schemas.microsoft.com/office/drawing/2014/main" id="{3464A34D-5D09-1B48-A3AD-25772DA0152D}"/>
                </a:ext>
              </a:extLst>
            </p:cNvPr>
            <p:cNvCxnSpPr>
              <a:cxnSpLocks/>
              <a:stCxn id="3" idx="7"/>
              <a:endCxn id="21" idx="1"/>
            </p:cNvCxnSpPr>
            <p:nvPr/>
          </p:nvCxnSpPr>
          <p:spPr bwMode="auto">
            <a:xfrm>
              <a:off x="3922119" y="2782737"/>
              <a:ext cx="1083805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32" name="直线箭头连接符 31">
              <a:extLst>
                <a:ext uri="{FF2B5EF4-FFF2-40B4-BE49-F238E27FC236}">
                  <a16:creationId xmlns:a16="http://schemas.microsoft.com/office/drawing/2014/main" id="{79F0EB05-EADC-134F-BB0D-DCB17E4F5727}"/>
                </a:ext>
              </a:extLst>
            </p:cNvPr>
            <p:cNvCxnSpPr>
              <a:cxnSpLocks/>
              <a:stCxn id="21" idx="3"/>
              <a:endCxn id="3" idx="5"/>
            </p:cNvCxnSpPr>
            <p:nvPr/>
          </p:nvCxnSpPr>
          <p:spPr bwMode="auto">
            <a:xfrm flipH="1">
              <a:off x="3922119" y="3139159"/>
              <a:ext cx="1083805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35" name="直线箭头连接符 34">
              <a:extLst>
                <a:ext uri="{FF2B5EF4-FFF2-40B4-BE49-F238E27FC236}">
                  <a16:creationId xmlns:a16="http://schemas.microsoft.com/office/drawing/2014/main" id="{544E27AD-6760-AD44-A7E5-D97E850BD985}"/>
                </a:ext>
              </a:extLst>
            </p:cNvPr>
            <p:cNvCxnSpPr>
              <a:cxnSpLocks/>
              <a:stCxn id="3" idx="5"/>
              <a:endCxn id="22" idx="7"/>
            </p:cNvCxnSpPr>
            <p:nvPr/>
          </p:nvCxnSpPr>
          <p:spPr bwMode="auto">
            <a:xfrm>
              <a:off x="3922119" y="3139159"/>
              <a:ext cx="0" cy="93972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38" name="直线箭头连接符 37">
              <a:extLst>
                <a:ext uri="{FF2B5EF4-FFF2-40B4-BE49-F238E27FC236}">
                  <a16:creationId xmlns:a16="http://schemas.microsoft.com/office/drawing/2014/main" id="{E9028F7F-9D7C-C244-B750-D19B33C0E6DC}"/>
                </a:ext>
              </a:extLst>
            </p:cNvPr>
            <p:cNvCxnSpPr>
              <a:cxnSpLocks/>
              <a:stCxn id="22" idx="1"/>
              <a:endCxn id="3" idx="3"/>
            </p:cNvCxnSpPr>
            <p:nvPr/>
          </p:nvCxnSpPr>
          <p:spPr bwMode="auto">
            <a:xfrm flipV="1">
              <a:off x="3565697" y="3139159"/>
              <a:ext cx="0" cy="93972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41" name="直线箭头连接符 40">
              <a:extLst>
                <a:ext uri="{FF2B5EF4-FFF2-40B4-BE49-F238E27FC236}">
                  <a16:creationId xmlns:a16="http://schemas.microsoft.com/office/drawing/2014/main" id="{08133510-D1AF-B342-8D41-6F983B780223}"/>
                </a:ext>
              </a:extLst>
            </p:cNvPr>
            <p:cNvCxnSpPr>
              <a:cxnSpLocks/>
              <a:stCxn id="21" idx="5"/>
              <a:endCxn id="25" idx="7"/>
            </p:cNvCxnSpPr>
            <p:nvPr/>
          </p:nvCxnSpPr>
          <p:spPr bwMode="auto">
            <a:xfrm>
              <a:off x="5362346" y="3139159"/>
              <a:ext cx="14425" cy="92272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44" name="直线箭头连接符 43">
              <a:extLst>
                <a:ext uri="{FF2B5EF4-FFF2-40B4-BE49-F238E27FC236}">
                  <a16:creationId xmlns:a16="http://schemas.microsoft.com/office/drawing/2014/main" id="{73872B54-1C96-3040-8AAE-89249392E893}"/>
                </a:ext>
              </a:extLst>
            </p:cNvPr>
            <p:cNvCxnSpPr>
              <a:cxnSpLocks/>
              <a:stCxn id="25" idx="1"/>
              <a:endCxn id="21" idx="3"/>
            </p:cNvCxnSpPr>
            <p:nvPr/>
          </p:nvCxnSpPr>
          <p:spPr bwMode="auto">
            <a:xfrm flipH="1" flipV="1">
              <a:off x="5005924" y="3139159"/>
              <a:ext cx="14428" cy="92272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48" name="直线箭头连接符 47">
              <a:extLst>
                <a:ext uri="{FF2B5EF4-FFF2-40B4-BE49-F238E27FC236}">
                  <a16:creationId xmlns:a16="http://schemas.microsoft.com/office/drawing/2014/main" id="{201D763E-99E6-474C-9C79-528606C28253}"/>
                </a:ext>
              </a:extLst>
            </p:cNvPr>
            <p:cNvCxnSpPr>
              <a:cxnSpLocks/>
              <a:stCxn id="22" idx="7"/>
              <a:endCxn id="25" idx="1"/>
            </p:cNvCxnSpPr>
            <p:nvPr/>
          </p:nvCxnSpPr>
          <p:spPr bwMode="auto">
            <a:xfrm flipV="1">
              <a:off x="3922119" y="4061879"/>
              <a:ext cx="1098233" cy="1700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58" name="直线箭头连接符 57">
              <a:extLst>
                <a:ext uri="{FF2B5EF4-FFF2-40B4-BE49-F238E27FC236}">
                  <a16:creationId xmlns:a16="http://schemas.microsoft.com/office/drawing/2014/main" id="{158860E4-F285-1F4A-8AC0-02F7A1EA08C9}"/>
                </a:ext>
              </a:extLst>
            </p:cNvPr>
            <p:cNvCxnSpPr>
              <a:cxnSpLocks/>
              <a:stCxn id="25" idx="3"/>
              <a:endCxn id="22" idx="5"/>
            </p:cNvCxnSpPr>
            <p:nvPr/>
          </p:nvCxnSpPr>
          <p:spPr bwMode="auto">
            <a:xfrm flipH="1">
              <a:off x="3922119" y="4432386"/>
              <a:ext cx="1098233" cy="2917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968268D7-81AF-1540-8D58-AD66B58B4C2C}"/>
                </a:ext>
              </a:extLst>
            </p:cNvPr>
            <p:cNvSpPr txBox="1"/>
            <p:nvPr/>
          </p:nvSpPr>
          <p:spPr>
            <a:xfrm>
              <a:off x="4291215" y="2354965"/>
              <a:ext cx="360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b="0" i="0" dirty="0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kumimoji="1" lang="zh-CN" altLang="en-US" sz="2400" b="0" i="0" dirty="0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A5E8DCDF-0A8F-AB48-B5D5-69BB66BF5A27}"/>
                </a:ext>
              </a:extLst>
            </p:cNvPr>
            <p:cNvSpPr txBox="1"/>
            <p:nvPr/>
          </p:nvSpPr>
          <p:spPr>
            <a:xfrm>
              <a:off x="4288024" y="3133651"/>
              <a:ext cx="360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b="0" i="0" dirty="0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kumimoji="1" lang="zh-CN" altLang="en-US" sz="2400" b="0" i="0" dirty="0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E63FA656-DC0B-D544-8D48-90D3D633D9A4}"/>
                </a:ext>
              </a:extLst>
            </p:cNvPr>
            <p:cNvSpPr txBox="1"/>
            <p:nvPr/>
          </p:nvSpPr>
          <p:spPr>
            <a:xfrm>
              <a:off x="5413914" y="3285114"/>
              <a:ext cx="360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b="0" i="0" dirty="0">
                  <a:solidFill>
                    <a:srgbClr val="000000"/>
                  </a:solidFill>
                  <a:cs typeface="Times New Roman" panose="02020603050405020304" pitchFamily="18" charset="0"/>
                </a:rPr>
                <a:t>1</a:t>
              </a:r>
              <a:endParaRPr kumimoji="1" lang="zh-CN" altLang="en-US" sz="2400" b="0" i="0" dirty="0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C55D282A-7872-3C48-83B5-95C1584DDE48}"/>
                </a:ext>
              </a:extLst>
            </p:cNvPr>
            <p:cNvSpPr txBox="1"/>
            <p:nvPr/>
          </p:nvSpPr>
          <p:spPr>
            <a:xfrm>
              <a:off x="4670473" y="3285115"/>
              <a:ext cx="360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b="0" i="0" dirty="0">
                  <a:solidFill>
                    <a:srgbClr val="000000"/>
                  </a:solidFill>
                  <a:cs typeface="Times New Roman" panose="02020603050405020304" pitchFamily="18" charset="0"/>
                </a:rPr>
                <a:t>1</a:t>
              </a:r>
              <a:endParaRPr kumimoji="1" lang="zh-CN" altLang="en-US" sz="2400" b="0" i="0" dirty="0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778C9E03-73DF-6A47-8ED1-149579854343}"/>
                </a:ext>
              </a:extLst>
            </p:cNvPr>
            <p:cNvSpPr txBox="1"/>
            <p:nvPr/>
          </p:nvSpPr>
          <p:spPr>
            <a:xfrm>
              <a:off x="3893434" y="3297242"/>
              <a:ext cx="360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b="0" i="0" dirty="0">
                  <a:solidFill>
                    <a:srgbClr val="000000"/>
                  </a:solidFill>
                  <a:cs typeface="Times New Roman" panose="02020603050405020304" pitchFamily="18" charset="0"/>
                </a:rPr>
                <a:t>1</a:t>
              </a:r>
              <a:endParaRPr kumimoji="1" lang="zh-CN" altLang="en-US" sz="2400" b="0" i="0" dirty="0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D4197A47-244B-A440-AD66-CE13FF276D68}"/>
                </a:ext>
              </a:extLst>
            </p:cNvPr>
            <p:cNvSpPr txBox="1"/>
            <p:nvPr/>
          </p:nvSpPr>
          <p:spPr>
            <a:xfrm>
              <a:off x="3196175" y="3310581"/>
              <a:ext cx="360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b="0" i="0" dirty="0">
                  <a:solidFill>
                    <a:srgbClr val="000000"/>
                  </a:solidFill>
                  <a:cs typeface="Times New Roman" panose="02020603050405020304" pitchFamily="18" charset="0"/>
                </a:rPr>
                <a:t>1</a:t>
              </a:r>
              <a:endParaRPr kumimoji="1" lang="zh-CN" altLang="en-US" sz="2400" b="0" i="0" dirty="0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3B548E48-C9E5-E54D-8E81-5B80B65D01AA}"/>
                </a:ext>
              </a:extLst>
            </p:cNvPr>
            <p:cNvSpPr txBox="1"/>
            <p:nvPr/>
          </p:nvSpPr>
          <p:spPr>
            <a:xfrm>
              <a:off x="4283554" y="3654089"/>
              <a:ext cx="360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b="0" i="0" dirty="0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kumimoji="1" lang="zh-CN" altLang="en-US" sz="2400" b="0" i="0" dirty="0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D1291B10-7205-7846-82E3-C9B72EED1F4E}"/>
                </a:ext>
              </a:extLst>
            </p:cNvPr>
            <p:cNvSpPr txBox="1"/>
            <p:nvPr/>
          </p:nvSpPr>
          <p:spPr>
            <a:xfrm>
              <a:off x="4283554" y="4386578"/>
              <a:ext cx="360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b="0" i="0" dirty="0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kumimoji="1" lang="zh-CN" altLang="en-US" sz="2400" b="0" i="0" dirty="0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</p:grp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C6E6188F-F663-E541-B9E6-310084F30B5B}"/>
              </a:ext>
            </a:extLst>
          </p:cNvPr>
          <p:cNvGrpSpPr/>
          <p:nvPr/>
        </p:nvGrpSpPr>
        <p:grpSpPr>
          <a:xfrm>
            <a:off x="587157" y="4847229"/>
            <a:ext cx="8234124" cy="1544866"/>
            <a:chOff x="573051" y="4098848"/>
            <a:chExt cx="8234124" cy="1544866"/>
          </a:xfrm>
        </p:grpSpPr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7B7F064E-563C-5B41-A2C5-FAEDE12331BE}"/>
                </a:ext>
              </a:extLst>
            </p:cNvPr>
            <p:cNvSpPr txBox="1"/>
            <p:nvPr/>
          </p:nvSpPr>
          <p:spPr>
            <a:xfrm>
              <a:off x="573051" y="4098848"/>
              <a:ext cx="823412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zh-CN" altLang="en-US" sz="2400" b="0" i="0" dirty="0">
                  <a:solidFill>
                    <a:srgbClr val="000000"/>
                  </a:solidFill>
                </a:rPr>
                <a:t>解：题目等价于</a:t>
              </a:r>
              <a:r>
                <a:rPr kumimoji="1" lang="en-US" altLang="zh-CN" sz="2400" b="0" i="0" dirty="0">
                  <a:solidFill>
                    <a:srgbClr val="000000"/>
                  </a:solidFill>
                </a:rPr>
                <a:t>0</a:t>
              </a:r>
              <a:r>
                <a:rPr kumimoji="1" lang="zh-CN" altLang="en-US" sz="2400" b="0" i="0" dirty="0">
                  <a:solidFill>
                    <a:srgbClr val="000000"/>
                  </a:solidFill>
                </a:rPr>
                <a:t>的个数是偶数，</a:t>
              </a:r>
              <a:r>
                <a:rPr kumimoji="1" lang="en-US" altLang="zh-CN" sz="2400" b="0" i="0" dirty="0">
                  <a:solidFill>
                    <a:srgbClr val="000000"/>
                  </a:solidFill>
                </a:rPr>
                <a:t>1</a:t>
              </a:r>
              <a:r>
                <a:rPr kumimoji="1" lang="zh-CN" altLang="en-US" sz="2400" b="0" i="0" dirty="0">
                  <a:solidFill>
                    <a:srgbClr val="000000"/>
                  </a:solidFill>
                </a:rPr>
                <a:t>的个数也是偶数。根据</a:t>
              </a:r>
              <a:r>
                <a:rPr kumimoji="1" lang="en-US" altLang="zh-CN" sz="2400" b="0" i="0" dirty="0">
                  <a:solidFill>
                    <a:srgbClr val="000000"/>
                  </a:solidFill>
                </a:rPr>
                <a:t>0</a:t>
              </a:r>
              <a:endParaRPr kumimoji="1" lang="zh-CN" altLang="en-US" sz="2400" b="0" i="0" dirty="0">
                <a:solidFill>
                  <a:srgbClr val="000000"/>
                </a:solidFill>
              </a:endParaRPr>
            </a:p>
          </p:txBody>
        </p: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537B91CB-E210-0040-9C68-BEC360875797}"/>
                </a:ext>
              </a:extLst>
            </p:cNvPr>
            <p:cNvSpPr txBox="1"/>
            <p:nvPr/>
          </p:nvSpPr>
          <p:spPr>
            <a:xfrm>
              <a:off x="573051" y="4645007"/>
              <a:ext cx="823412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400" b="0" i="0" dirty="0">
                  <a:solidFill>
                    <a:srgbClr val="000000"/>
                  </a:solidFill>
                </a:rPr>
                <a:t>和</a:t>
              </a:r>
              <a:r>
                <a:rPr lang="en-US" altLang="zh-CN" sz="2400" b="0" i="0" dirty="0">
                  <a:solidFill>
                    <a:srgbClr val="000000"/>
                  </a:solidFill>
                </a:rPr>
                <a:t>1</a:t>
              </a:r>
              <a:r>
                <a:rPr lang="zh-CN" altLang="en-US" sz="2400" b="0" i="0" dirty="0">
                  <a:solidFill>
                    <a:srgbClr val="000000"/>
                  </a:solidFill>
                </a:rPr>
                <a:t>的奇、偶性，可以划分为</a:t>
              </a:r>
              <a:r>
                <a:rPr lang="en-US" altLang="zh-CN" sz="2400" b="0" i="0" dirty="0">
                  <a:solidFill>
                    <a:srgbClr val="000000"/>
                  </a:solidFill>
                </a:rPr>
                <a:t>4</a:t>
              </a:r>
              <a:r>
                <a:rPr lang="zh-CN" altLang="en-US" sz="2400" b="0" i="0" dirty="0">
                  <a:solidFill>
                    <a:srgbClr val="000000"/>
                  </a:solidFill>
                </a:rPr>
                <a:t>种状态，</a:t>
              </a:r>
              <a:endParaRPr kumimoji="1" lang="zh-CN" altLang="en-US" sz="2400" b="0" i="0" dirty="0">
                <a:solidFill>
                  <a:srgbClr val="000000"/>
                </a:solidFill>
              </a:endParaRPr>
            </a:p>
          </p:txBody>
        </p: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230018E4-15B4-7D4D-A9DB-FEF3EC5C7233}"/>
                </a:ext>
              </a:extLst>
            </p:cNvPr>
            <p:cNvSpPr txBox="1"/>
            <p:nvPr/>
          </p:nvSpPr>
          <p:spPr>
            <a:xfrm>
              <a:off x="573051" y="5182049"/>
              <a:ext cx="823412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zh-CN" altLang="en-US" sz="2400" b="0" i="0" dirty="0">
                  <a:solidFill>
                    <a:srgbClr val="000000"/>
                  </a:solidFill>
                </a:rPr>
                <a:t>相互关联。这样就比较容易设计</a:t>
              </a:r>
              <a:r>
                <a:rPr kumimoji="1" lang="en-US" altLang="zh-CN" sz="2400" b="0" i="0" dirty="0">
                  <a:solidFill>
                    <a:srgbClr val="000000"/>
                  </a:solidFill>
                </a:rPr>
                <a:t>DFA</a:t>
              </a:r>
              <a:r>
                <a:rPr kumimoji="1" lang="zh-CN" altLang="en-US" sz="2400" b="0" i="0" dirty="0">
                  <a:solidFill>
                    <a:srgbClr val="000000"/>
                  </a:solidFill>
                </a:rPr>
                <a:t>了。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97013893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35" name="Rectangle 19"/>
          <p:cNvSpPr>
            <a:spLocks noChangeArrowheads="1"/>
          </p:cNvSpPr>
          <p:nvPr/>
        </p:nvSpPr>
        <p:spPr bwMode="auto">
          <a:xfrm>
            <a:off x="1476375" y="195263"/>
            <a:ext cx="3887788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4000" i="0">
                <a:ea typeface="华文行楷" pitchFamily="2" charset="-122"/>
              </a:rPr>
              <a:t>确定有限自动机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C4E9407-D314-8942-ABC0-C2568C1E22B4}"/>
              </a:ext>
            </a:extLst>
          </p:cNvPr>
          <p:cNvSpPr txBox="1"/>
          <p:nvPr/>
        </p:nvSpPr>
        <p:spPr>
          <a:xfrm>
            <a:off x="8604448" y="6471931"/>
            <a:ext cx="5395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0" i="0" dirty="0">
                <a:solidFill>
                  <a:srgbClr val="000066"/>
                </a:solidFill>
              </a:rPr>
              <a:t>41</a:t>
            </a:r>
            <a:endParaRPr kumimoji="1" lang="zh-CN" altLang="en-US" sz="2000" b="0" i="0" dirty="0">
              <a:solidFill>
                <a:srgbClr val="000066"/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04B4B66-158B-C44A-A7BA-20F0C8831A92}"/>
              </a:ext>
            </a:extLst>
          </p:cNvPr>
          <p:cNvSpPr txBox="1"/>
          <p:nvPr/>
        </p:nvSpPr>
        <p:spPr>
          <a:xfrm>
            <a:off x="514340" y="1237026"/>
            <a:ext cx="82341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2400" b="0" i="0" dirty="0">
                <a:solidFill>
                  <a:srgbClr val="000000"/>
                </a:solidFill>
              </a:rPr>
              <a:t>例</a:t>
            </a:r>
            <a:r>
              <a:rPr lang="en-US" altLang="zh-CN" sz="2400" b="0" i="0" dirty="0">
                <a:solidFill>
                  <a:srgbClr val="000000"/>
                </a:solidFill>
              </a:rPr>
              <a:t>8</a:t>
            </a:r>
            <a:r>
              <a:rPr kumimoji="1" lang="zh-CN" altLang="en-US" sz="2400" b="0" i="0" dirty="0">
                <a:solidFill>
                  <a:srgbClr val="000000"/>
                </a:solidFill>
              </a:rPr>
              <a:t>：设计</a:t>
            </a:r>
            <a:r>
              <a:rPr kumimoji="1" lang="en-US" altLang="zh-CN" sz="2400" b="0" i="0" dirty="0">
                <a:solidFill>
                  <a:srgbClr val="000000"/>
                </a:solidFill>
              </a:rPr>
              <a:t>DFA</a:t>
            </a:r>
            <a:r>
              <a:rPr lang="zh-CN" altLang="en-US" sz="2400" b="0" i="0" dirty="0">
                <a:solidFill>
                  <a:srgbClr val="000000"/>
                </a:solidFill>
              </a:rPr>
              <a:t>表示以下语言</a:t>
            </a:r>
            <a:endParaRPr kumimoji="1" lang="zh-CN" altLang="en-US" sz="2400" b="0" i="0" dirty="0">
              <a:solidFill>
                <a:srgbClr val="000000"/>
              </a:solidFill>
            </a:endParaRPr>
          </a:p>
        </p:txBody>
      </p: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C6E6188F-F663-E541-B9E6-310084F30B5B}"/>
              </a:ext>
            </a:extLst>
          </p:cNvPr>
          <p:cNvGrpSpPr/>
          <p:nvPr/>
        </p:nvGrpSpPr>
        <p:grpSpPr>
          <a:xfrm>
            <a:off x="587157" y="4847229"/>
            <a:ext cx="8234124" cy="1544866"/>
            <a:chOff x="573051" y="4098848"/>
            <a:chExt cx="8234124" cy="1544866"/>
          </a:xfrm>
        </p:grpSpPr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7B7F064E-563C-5B41-A2C5-FAEDE12331BE}"/>
                </a:ext>
              </a:extLst>
            </p:cNvPr>
            <p:cNvSpPr txBox="1"/>
            <p:nvPr/>
          </p:nvSpPr>
          <p:spPr>
            <a:xfrm>
              <a:off x="573051" y="4098848"/>
              <a:ext cx="823412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zh-CN" altLang="en-US" sz="2400" b="0" i="0" dirty="0">
                  <a:solidFill>
                    <a:srgbClr val="000000"/>
                  </a:solidFill>
                </a:rPr>
                <a:t>解：这道题的难点是如何实现每个前缀中</a:t>
              </a:r>
              <a:r>
                <a:rPr kumimoji="1" lang="en-US" altLang="zh-CN" sz="2400" b="0" i="0" dirty="0">
                  <a:solidFill>
                    <a:srgbClr val="000000"/>
                  </a:solidFill>
                </a:rPr>
                <a:t>0</a:t>
              </a:r>
              <a:r>
                <a:rPr kumimoji="1" lang="zh-CN" altLang="en-US" sz="2400" b="0" i="0" dirty="0">
                  <a:solidFill>
                    <a:srgbClr val="000000"/>
                  </a:solidFill>
                </a:rPr>
                <a:t>和</a:t>
              </a:r>
              <a:r>
                <a:rPr kumimoji="1" lang="en-US" altLang="zh-CN" sz="2400" b="0" i="0" dirty="0">
                  <a:solidFill>
                    <a:srgbClr val="000000"/>
                  </a:solidFill>
                </a:rPr>
                <a:t>1</a:t>
              </a:r>
              <a:r>
                <a:rPr kumimoji="1" lang="zh-CN" altLang="en-US" sz="2400" b="0" i="0" dirty="0">
                  <a:solidFill>
                    <a:srgbClr val="000000"/>
                  </a:solidFill>
                </a:rPr>
                <a:t>的个数之差不</a:t>
              </a:r>
            </a:p>
          </p:txBody>
        </p: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537B91CB-E210-0040-9C68-BEC360875797}"/>
                </a:ext>
              </a:extLst>
            </p:cNvPr>
            <p:cNvSpPr txBox="1"/>
            <p:nvPr/>
          </p:nvSpPr>
          <p:spPr>
            <a:xfrm>
              <a:off x="573051" y="4645007"/>
              <a:ext cx="823412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zh-CN" altLang="en-US" sz="2400" b="0" i="0" dirty="0">
                  <a:solidFill>
                    <a:srgbClr val="000000"/>
                  </a:solidFill>
                </a:rPr>
                <a:t>超过</a:t>
              </a:r>
              <a:r>
                <a:rPr kumimoji="1" lang="en-US" altLang="zh-CN" sz="2400" b="0" i="0" dirty="0">
                  <a:solidFill>
                    <a:srgbClr val="000000"/>
                  </a:solidFill>
                </a:rPr>
                <a:t>1</a:t>
              </a:r>
              <a:r>
                <a:rPr kumimoji="1" lang="zh-CN" altLang="en-US" sz="2400" b="0" i="0" dirty="0">
                  <a:solidFill>
                    <a:srgbClr val="000000"/>
                  </a:solidFill>
                </a:rPr>
                <a:t>。实现起来，就是只要出现</a:t>
              </a:r>
              <a:r>
                <a:rPr lang="en-US" altLang="zh-CN" sz="2400" b="0" i="0" dirty="0">
                  <a:solidFill>
                    <a:srgbClr val="000000"/>
                  </a:solidFill>
                </a:rPr>
                <a:t>0</a:t>
              </a:r>
              <a:r>
                <a:rPr lang="zh-CN" altLang="en-US" sz="2400" b="0" i="0" dirty="0">
                  <a:solidFill>
                    <a:srgbClr val="000000"/>
                  </a:solidFill>
                </a:rPr>
                <a:t>，紧接着要出现</a:t>
              </a:r>
              <a:r>
                <a:rPr lang="en-US" altLang="zh-CN" sz="2400" b="0" i="0" dirty="0">
                  <a:solidFill>
                    <a:srgbClr val="000000"/>
                  </a:solidFill>
                </a:rPr>
                <a:t>1</a:t>
              </a:r>
              <a:r>
                <a:rPr lang="zh-CN" altLang="en-US" sz="2400" b="0" i="0" dirty="0">
                  <a:solidFill>
                    <a:srgbClr val="000000"/>
                  </a:solidFill>
                </a:rPr>
                <a:t>，反之</a:t>
              </a:r>
              <a:endParaRPr kumimoji="1" lang="zh-CN" altLang="en-US" sz="2400" b="0" i="0" dirty="0">
                <a:solidFill>
                  <a:srgbClr val="000000"/>
                </a:solidFill>
              </a:endParaRPr>
            </a:p>
          </p:txBody>
        </p: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230018E4-15B4-7D4D-A9DB-FEF3EC5C7233}"/>
                </a:ext>
              </a:extLst>
            </p:cNvPr>
            <p:cNvSpPr txBox="1"/>
            <p:nvPr/>
          </p:nvSpPr>
          <p:spPr>
            <a:xfrm>
              <a:off x="573051" y="5182049"/>
              <a:ext cx="823412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zh-CN" altLang="en-US" sz="2400" b="0" i="0" dirty="0">
                  <a:solidFill>
                    <a:srgbClr val="000000"/>
                  </a:solidFill>
                </a:rPr>
                <a:t>亦然。再加上垃圾回收节点，整个</a:t>
              </a:r>
              <a:r>
                <a:rPr kumimoji="1" lang="en-US" altLang="zh-CN" sz="2400" b="0" i="0" dirty="0">
                  <a:solidFill>
                    <a:srgbClr val="000000"/>
                  </a:solidFill>
                </a:rPr>
                <a:t>DFA</a:t>
              </a:r>
              <a:r>
                <a:rPr kumimoji="1" lang="zh-CN" altLang="en-US" sz="2400" b="0" i="0" dirty="0">
                  <a:solidFill>
                    <a:srgbClr val="000000"/>
                  </a:solidFill>
                </a:rPr>
                <a:t>就容易构建了。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77F25AF4-82DB-C245-80D7-93B3429E1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157" y="1846176"/>
            <a:ext cx="6889452" cy="329189"/>
          </a:xfrm>
          <a:prstGeom prst="rect">
            <a:avLst/>
          </a:prstGeom>
        </p:spPr>
      </p:pic>
      <p:grpSp>
        <p:nvGrpSpPr>
          <p:cNvPr id="56" name="组合 55">
            <a:extLst>
              <a:ext uri="{FF2B5EF4-FFF2-40B4-BE49-F238E27FC236}">
                <a16:creationId xmlns:a16="http://schemas.microsoft.com/office/drawing/2014/main" id="{7B88AD47-6E39-4F4F-B3F0-1B3C89829B2A}"/>
              </a:ext>
            </a:extLst>
          </p:cNvPr>
          <p:cNvGrpSpPr/>
          <p:nvPr/>
        </p:nvGrpSpPr>
        <p:grpSpPr>
          <a:xfrm>
            <a:off x="2219037" y="2708920"/>
            <a:ext cx="5099259" cy="2000537"/>
            <a:chOff x="2219037" y="2827646"/>
            <a:chExt cx="5099259" cy="2000537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166EED1C-2C7E-9545-A7E3-C6CB59F497FF}"/>
                </a:ext>
              </a:extLst>
            </p:cNvPr>
            <p:cNvSpPr/>
            <p:nvPr/>
          </p:nvSpPr>
          <p:spPr bwMode="auto">
            <a:xfrm>
              <a:off x="2843808" y="3573016"/>
              <a:ext cx="504056" cy="504056"/>
            </a:xfrm>
            <a:prstGeom prst="ellips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553905B7-9EB9-3044-9C4F-2B7467A7C9D9}"/>
                </a:ext>
              </a:extLst>
            </p:cNvPr>
            <p:cNvSpPr/>
            <p:nvPr/>
          </p:nvSpPr>
          <p:spPr bwMode="auto">
            <a:xfrm>
              <a:off x="4200163" y="2827646"/>
              <a:ext cx="504056" cy="504056"/>
            </a:xfrm>
            <a:prstGeom prst="ellips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69A35DD2-418C-3540-AD00-2F47AAD3E989}"/>
                </a:ext>
              </a:extLst>
            </p:cNvPr>
            <p:cNvSpPr/>
            <p:nvPr/>
          </p:nvSpPr>
          <p:spPr bwMode="auto">
            <a:xfrm>
              <a:off x="4200163" y="4324127"/>
              <a:ext cx="504056" cy="504056"/>
            </a:xfrm>
            <a:prstGeom prst="ellips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ED00EDA3-B5CC-934B-AFB7-9D77ABEF1954}"/>
                </a:ext>
              </a:extLst>
            </p:cNvPr>
            <p:cNvSpPr/>
            <p:nvPr/>
          </p:nvSpPr>
          <p:spPr bwMode="auto">
            <a:xfrm>
              <a:off x="5544110" y="3560159"/>
              <a:ext cx="504056" cy="504056"/>
            </a:xfrm>
            <a:prstGeom prst="ellips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cxnSp>
          <p:nvCxnSpPr>
            <p:cNvPr id="9" name="直线箭头连接符 8">
              <a:extLst>
                <a:ext uri="{FF2B5EF4-FFF2-40B4-BE49-F238E27FC236}">
                  <a16:creationId xmlns:a16="http://schemas.microsoft.com/office/drawing/2014/main" id="{DDC20592-AE0E-D541-9E64-B188C681E968}"/>
                </a:ext>
              </a:extLst>
            </p:cNvPr>
            <p:cNvCxnSpPr>
              <a:stCxn id="6" idx="7"/>
              <a:endCxn id="36" idx="2"/>
            </p:cNvCxnSpPr>
            <p:nvPr/>
          </p:nvCxnSpPr>
          <p:spPr bwMode="auto">
            <a:xfrm flipV="1">
              <a:off x="3274047" y="3079674"/>
              <a:ext cx="926116" cy="567159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42" name="直线箭头连接符 41">
              <a:extLst>
                <a:ext uri="{FF2B5EF4-FFF2-40B4-BE49-F238E27FC236}">
                  <a16:creationId xmlns:a16="http://schemas.microsoft.com/office/drawing/2014/main" id="{C63F6940-DD89-9444-BBA0-1025396B1F5F}"/>
                </a:ext>
              </a:extLst>
            </p:cNvPr>
            <p:cNvCxnSpPr>
              <a:cxnSpLocks/>
              <a:stCxn id="36" idx="3"/>
              <a:endCxn id="6" idx="6"/>
            </p:cNvCxnSpPr>
            <p:nvPr/>
          </p:nvCxnSpPr>
          <p:spPr bwMode="auto">
            <a:xfrm flipH="1">
              <a:off x="3347864" y="3257885"/>
              <a:ext cx="926116" cy="567159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45" name="直线箭头连接符 44">
              <a:extLst>
                <a:ext uri="{FF2B5EF4-FFF2-40B4-BE49-F238E27FC236}">
                  <a16:creationId xmlns:a16="http://schemas.microsoft.com/office/drawing/2014/main" id="{AE269DDC-59B1-6144-BA7E-90ECB17CA912}"/>
                </a:ext>
              </a:extLst>
            </p:cNvPr>
            <p:cNvCxnSpPr>
              <a:cxnSpLocks/>
              <a:stCxn id="6" idx="5"/>
              <a:endCxn id="37" idx="2"/>
            </p:cNvCxnSpPr>
            <p:nvPr/>
          </p:nvCxnSpPr>
          <p:spPr bwMode="auto">
            <a:xfrm>
              <a:off x="3274047" y="4003255"/>
              <a:ext cx="926116" cy="5729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triangle" w="lg" len="lg"/>
              <a:tailEnd type="none" w="lg" len="lg"/>
            </a:ln>
            <a:effectLst/>
          </p:spPr>
        </p:cxnSp>
        <p:cxnSp>
          <p:nvCxnSpPr>
            <p:cNvPr id="49" name="直线箭头连接符 48">
              <a:extLst>
                <a:ext uri="{FF2B5EF4-FFF2-40B4-BE49-F238E27FC236}">
                  <a16:creationId xmlns:a16="http://schemas.microsoft.com/office/drawing/2014/main" id="{B5AB8CF0-4B0B-3843-81AC-8B638A908200}"/>
                </a:ext>
              </a:extLst>
            </p:cNvPr>
            <p:cNvCxnSpPr>
              <a:cxnSpLocks/>
              <a:stCxn id="37" idx="1"/>
              <a:endCxn id="6" idx="6"/>
            </p:cNvCxnSpPr>
            <p:nvPr/>
          </p:nvCxnSpPr>
          <p:spPr bwMode="auto">
            <a:xfrm flipH="1" flipV="1">
              <a:off x="3347864" y="3825044"/>
              <a:ext cx="926116" cy="5729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triangle" w="lg" len="lg"/>
              <a:tailEnd type="none" w="lg" len="lg"/>
            </a:ln>
            <a:effectLst/>
          </p:spPr>
        </p:cxnSp>
        <p:cxnSp>
          <p:nvCxnSpPr>
            <p:cNvPr id="75" name="直线箭头连接符 74">
              <a:extLst>
                <a:ext uri="{FF2B5EF4-FFF2-40B4-BE49-F238E27FC236}">
                  <a16:creationId xmlns:a16="http://schemas.microsoft.com/office/drawing/2014/main" id="{1EEABD1F-0EBE-7C45-8F0C-7FE4E4F7D030}"/>
                </a:ext>
              </a:extLst>
            </p:cNvPr>
            <p:cNvCxnSpPr>
              <a:cxnSpLocks/>
              <a:stCxn id="36" idx="6"/>
              <a:endCxn id="39" idx="1"/>
            </p:cNvCxnSpPr>
            <p:nvPr/>
          </p:nvCxnSpPr>
          <p:spPr bwMode="auto">
            <a:xfrm>
              <a:off x="4704219" y="3079674"/>
              <a:ext cx="913708" cy="55430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76" name="直线箭头连接符 75">
              <a:extLst>
                <a:ext uri="{FF2B5EF4-FFF2-40B4-BE49-F238E27FC236}">
                  <a16:creationId xmlns:a16="http://schemas.microsoft.com/office/drawing/2014/main" id="{0538E1FF-137B-CA41-996F-856DF53841C6}"/>
                </a:ext>
              </a:extLst>
            </p:cNvPr>
            <p:cNvCxnSpPr>
              <a:cxnSpLocks/>
              <a:stCxn id="37" idx="6"/>
              <a:endCxn id="39" idx="3"/>
            </p:cNvCxnSpPr>
            <p:nvPr/>
          </p:nvCxnSpPr>
          <p:spPr bwMode="auto">
            <a:xfrm flipV="1">
              <a:off x="4704219" y="3990398"/>
              <a:ext cx="913708" cy="585757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sp>
          <p:nvSpPr>
            <p:cNvPr id="77" name="弧 76">
              <a:extLst>
                <a:ext uri="{FF2B5EF4-FFF2-40B4-BE49-F238E27FC236}">
                  <a16:creationId xmlns:a16="http://schemas.microsoft.com/office/drawing/2014/main" id="{1E8CC654-78CE-0349-B1BA-9BFF106D0AF7}"/>
                </a:ext>
              </a:extLst>
            </p:cNvPr>
            <p:cNvSpPr/>
            <p:nvPr/>
          </p:nvSpPr>
          <p:spPr bwMode="auto">
            <a:xfrm rot="16584142">
              <a:off x="6050555" y="3612643"/>
              <a:ext cx="392274" cy="424801"/>
            </a:xfrm>
            <a:prstGeom prst="arc">
              <a:avLst>
                <a:gd name="adj1" fmla="val 17142475"/>
                <a:gd name="adj2" fmla="val 14430358"/>
              </a:avLst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cxnSp>
          <p:nvCxnSpPr>
            <p:cNvPr id="78" name="直线箭头连接符 77">
              <a:extLst>
                <a:ext uri="{FF2B5EF4-FFF2-40B4-BE49-F238E27FC236}">
                  <a16:creationId xmlns:a16="http://schemas.microsoft.com/office/drawing/2014/main" id="{8EA41835-9AFF-7A4F-90C5-50B307383B35}"/>
                </a:ext>
              </a:extLst>
            </p:cNvPr>
            <p:cNvCxnSpPr>
              <a:cxnSpLocks/>
              <a:endCxn id="6" idx="2"/>
            </p:cNvCxnSpPr>
            <p:nvPr/>
          </p:nvCxnSpPr>
          <p:spPr bwMode="auto">
            <a:xfrm>
              <a:off x="2219037" y="3825044"/>
              <a:ext cx="624771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1A45174A-7E99-534A-B7CF-9AEA15A1ECC1}"/>
                </a:ext>
              </a:extLst>
            </p:cNvPr>
            <p:cNvSpPr txBox="1"/>
            <p:nvPr/>
          </p:nvSpPr>
          <p:spPr>
            <a:xfrm>
              <a:off x="3470024" y="2940243"/>
              <a:ext cx="360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b="0" i="0" dirty="0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kumimoji="1" lang="zh-CN" altLang="en-US" sz="2400" b="0" i="0" dirty="0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9130B184-2714-CF47-AE39-C32DC4B149FD}"/>
                </a:ext>
              </a:extLst>
            </p:cNvPr>
            <p:cNvSpPr txBox="1"/>
            <p:nvPr/>
          </p:nvSpPr>
          <p:spPr>
            <a:xfrm>
              <a:off x="3858011" y="3380916"/>
              <a:ext cx="360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b="0" i="0" dirty="0">
                  <a:solidFill>
                    <a:srgbClr val="000000"/>
                  </a:solidFill>
                  <a:cs typeface="Times New Roman" panose="02020603050405020304" pitchFamily="18" charset="0"/>
                </a:rPr>
                <a:t>1</a:t>
              </a:r>
              <a:endParaRPr kumimoji="1" lang="zh-CN" altLang="en-US" sz="2400" b="0" i="0" dirty="0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411F19E4-2552-514B-8269-1D3496561860}"/>
                </a:ext>
              </a:extLst>
            </p:cNvPr>
            <p:cNvSpPr txBox="1"/>
            <p:nvPr/>
          </p:nvSpPr>
          <p:spPr>
            <a:xfrm>
              <a:off x="3858011" y="3837289"/>
              <a:ext cx="360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b="0" i="0" dirty="0">
                  <a:solidFill>
                    <a:srgbClr val="000000"/>
                  </a:solidFill>
                  <a:cs typeface="Times New Roman" panose="02020603050405020304" pitchFamily="18" charset="0"/>
                </a:rPr>
                <a:t>1</a:t>
              </a:r>
              <a:endParaRPr kumimoji="1" lang="zh-CN" altLang="en-US" sz="2400" b="0" i="0" dirty="0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61FE6E70-D668-024B-B2CD-18ECF19D4AF6}"/>
                </a:ext>
              </a:extLst>
            </p:cNvPr>
            <p:cNvSpPr txBox="1"/>
            <p:nvPr/>
          </p:nvSpPr>
          <p:spPr>
            <a:xfrm>
              <a:off x="3470024" y="4319145"/>
              <a:ext cx="360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0" i="0" dirty="0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kumimoji="1" lang="zh-CN" altLang="en-US" sz="2400" b="0" i="0" dirty="0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83" name="文本框 82">
              <a:extLst>
                <a:ext uri="{FF2B5EF4-FFF2-40B4-BE49-F238E27FC236}">
                  <a16:creationId xmlns:a16="http://schemas.microsoft.com/office/drawing/2014/main" id="{86FAE830-B07A-494F-B7A9-A5867ECF8BE1}"/>
                </a:ext>
              </a:extLst>
            </p:cNvPr>
            <p:cNvSpPr txBox="1"/>
            <p:nvPr/>
          </p:nvSpPr>
          <p:spPr>
            <a:xfrm>
              <a:off x="5057533" y="2940529"/>
              <a:ext cx="360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b="0" i="0" dirty="0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kumimoji="1" lang="zh-CN" altLang="en-US" sz="2400" b="0" i="0" dirty="0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7B70BC2E-E163-DC46-9928-F23DCFD60482}"/>
                </a:ext>
              </a:extLst>
            </p:cNvPr>
            <p:cNvSpPr txBox="1"/>
            <p:nvPr/>
          </p:nvSpPr>
          <p:spPr>
            <a:xfrm>
              <a:off x="5081338" y="4319661"/>
              <a:ext cx="360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b="0" i="0" dirty="0">
                  <a:solidFill>
                    <a:srgbClr val="000000"/>
                  </a:solidFill>
                  <a:cs typeface="Times New Roman" panose="02020603050405020304" pitchFamily="18" charset="0"/>
                </a:rPr>
                <a:t>1</a:t>
              </a:r>
              <a:endParaRPr kumimoji="1" lang="zh-CN" altLang="en-US" sz="2400" b="0" i="0" dirty="0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1BD754BC-FC9D-5F4F-BF92-A310A1ADBF39}"/>
                </a:ext>
              </a:extLst>
            </p:cNvPr>
            <p:cNvSpPr txBox="1"/>
            <p:nvPr/>
          </p:nvSpPr>
          <p:spPr>
            <a:xfrm>
              <a:off x="6479640" y="3573016"/>
              <a:ext cx="8386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b="0" i="0" dirty="0">
                  <a:solidFill>
                    <a:srgbClr val="000000"/>
                  </a:solidFill>
                  <a:cs typeface="Times New Roman" panose="02020603050405020304" pitchFamily="18" charset="0"/>
                </a:rPr>
                <a:t>0, 1</a:t>
              </a:r>
              <a:endParaRPr kumimoji="1" lang="zh-CN" altLang="en-US" sz="2400" b="0" i="0" dirty="0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86" name="椭圆 85">
              <a:extLst>
                <a:ext uri="{FF2B5EF4-FFF2-40B4-BE49-F238E27FC236}">
                  <a16:creationId xmlns:a16="http://schemas.microsoft.com/office/drawing/2014/main" id="{A11F711D-14BA-3D46-A6B0-1F34009F5180}"/>
                </a:ext>
              </a:extLst>
            </p:cNvPr>
            <p:cNvSpPr/>
            <p:nvPr/>
          </p:nvSpPr>
          <p:spPr bwMode="auto">
            <a:xfrm>
              <a:off x="2888135" y="3622391"/>
              <a:ext cx="425473" cy="414754"/>
            </a:xfrm>
            <a:prstGeom prst="ellips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</p:grpSp>
      <p:pic>
        <p:nvPicPr>
          <p:cNvPr id="55" name="图片 54">
            <a:extLst>
              <a:ext uri="{FF2B5EF4-FFF2-40B4-BE49-F238E27FC236}">
                <a16:creationId xmlns:a16="http://schemas.microsoft.com/office/drawing/2014/main" id="{2C0693E4-B0E9-204D-9C47-97310B8628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375" y="2193136"/>
            <a:ext cx="6000234" cy="339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982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35" name="Rectangle 19"/>
          <p:cNvSpPr>
            <a:spLocks noChangeArrowheads="1"/>
          </p:cNvSpPr>
          <p:nvPr/>
        </p:nvSpPr>
        <p:spPr bwMode="auto">
          <a:xfrm>
            <a:off x="1476375" y="195263"/>
            <a:ext cx="3887788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4000" i="0">
                <a:ea typeface="华文行楷" pitchFamily="2" charset="-122"/>
              </a:rPr>
              <a:t>确定有限自动机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C4E9407-D314-8942-ABC0-C2568C1E22B4}"/>
              </a:ext>
            </a:extLst>
          </p:cNvPr>
          <p:cNvSpPr txBox="1"/>
          <p:nvPr/>
        </p:nvSpPr>
        <p:spPr>
          <a:xfrm>
            <a:off x="8604448" y="6471931"/>
            <a:ext cx="5395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0" i="0" dirty="0">
                <a:solidFill>
                  <a:srgbClr val="000066"/>
                </a:solidFill>
              </a:rPr>
              <a:t>42</a:t>
            </a:r>
            <a:endParaRPr kumimoji="1" lang="zh-CN" altLang="en-US" sz="2000" b="0" i="0" dirty="0">
              <a:solidFill>
                <a:srgbClr val="000066"/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04B4B66-158B-C44A-A7BA-20F0C8831A92}"/>
              </a:ext>
            </a:extLst>
          </p:cNvPr>
          <p:cNvSpPr txBox="1"/>
          <p:nvPr/>
        </p:nvSpPr>
        <p:spPr>
          <a:xfrm>
            <a:off x="514340" y="1237026"/>
            <a:ext cx="82341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2400" b="0" i="0" dirty="0">
                <a:solidFill>
                  <a:srgbClr val="000000"/>
                </a:solidFill>
              </a:rPr>
              <a:t>例</a:t>
            </a:r>
            <a:r>
              <a:rPr lang="en-US" altLang="zh-CN" sz="2400" b="0" i="0" dirty="0">
                <a:solidFill>
                  <a:srgbClr val="000000"/>
                </a:solidFill>
              </a:rPr>
              <a:t>9</a:t>
            </a:r>
            <a:r>
              <a:rPr kumimoji="1" lang="zh-CN" altLang="en-US" sz="2400" b="0" i="0" dirty="0">
                <a:solidFill>
                  <a:srgbClr val="000000"/>
                </a:solidFill>
              </a:rPr>
              <a:t>：设计</a:t>
            </a:r>
            <a:r>
              <a:rPr kumimoji="1" lang="en-US" altLang="zh-CN" sz="2400" b="0" i="0" dirty="0">
                <a:solidFill>
                  <a:srgbClr val="000000"/>
                </a:solidFill>
              </a:rPr>
              <a:t>DFA</a:t>
            </a:r>
            <a:r>
              <a:rPr lang="zh-CN" altLang="en-US" sz="2400" b="0" i="0" dirty="0">
                <a:solidFill>
                  <a:srgbClr val="000000"/>
                </a:solidFill>
              </a:rPr>
              <a:t>表示以下语言</a:t>
            </a:r>
            <a:endParaRPr kumimoji="1" lang="zh-CN" altLang="en-US" sz="2400" b="0" i="0" dirty="0">
              <a:solidFill>
                <a:srgbClr val="000000"/>
              </a:solidFill>
            </a:endParaRPr>
          </a:p>
        </p:txBody>
      </p: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C6E6188F-F663-E541-B9E6-310084F30B5B}"/>
              </a:ext>
            </a:extLst>
          </p:cNvPr>
          <p:cNvGrpSpPr/>
          <p:nvPr/>
        </p:nvGrpSpPr>
        <p:grpSpPr>
          <a:xfrm>
            <a:off x="587156" y="4847229"/>
            <a:ext cx="8377331" cy="1544866"/>
            <a:chOff x="573050" y="4098848"/>
            <a:chExt cx="8377331" cy="1544866"/>
          </a:xfrm>
        </p:grpSpPr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7B7F064E-563C-5B41-A2C5-FAEDE12331BE}"/>
                </a:ext>
              </a:extLst>
            </p:cNvPr>
            <p:cNvSpPr txBox="1"/>
            <p:nvPr/>
          </p:nvSpPr>
          <p:spPr>
            <a:xfrm>
              <a:off x="573050" y="4098848"/>
              <a:ext cx="837733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zh-CN" altLang="en-US" sz="2400" b="0" i="0" dirty="0">
                  <a:solidFill>
                    <a:srgbClr val="000000"/>
                  </a:solidFill>
                </a:rPr>
                <a:t>解：</a:t>
              </a:r>
              <a:r>
                <a:rPr lang="zh-CN" altLang="en-US" sz="2400" b="0" i="0" dirty="0">
                  <a:solidFill>
                    <a:srgbClr val="000000"/>
                  </a:solidFill>
                </a:rPr>
                <a:t>这道题看上去很复杂，既有包含关系，又有不包含关系。</a:t>
              </a:r>
              <a:endParaRPr kumimoji="1" lang="zh-CN" altLang="en-US" sz="2400" b="0" i="0" dirty="0">
                <a:solidFill>
                  <a:srgbClr val="000000"/>
                </a:solidFill>
              </a:endParaRPr>
            </a:p>
          </p:txBody>
        </p: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537B91CB-E210-0040-9C68-BEC360875797}"/>
                </a:ext>
              </a:extLst>
            </p:cNvPr>
            <p:cNvSpPr txBox="1"/>
            <p:nvPr/>
          </p:nvSpPr>
          <p:spPr>
            <a:xfrm>
              <a:off x="573051" y="4645007"/>
              <a:ext cx="823412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zh-CN" altLang="en-US" sz="2400" b="0" i="0" dirty="0">
                  <a:solidFill>
                    <a:srgbClr val="000000"/>
                  </a:solidFill>
                </a:rPr>
                <a:t>但基本策略不变，还是先把主线上的节点和连线确定，再补</a:t>
              </a:r>
            </a:p>
          </p:txBody>
        </p: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230018E4-15B4-7D4D-A9DB-FEF3EC5C7233}"/>
                </a:ext>
              </a:extLst>
            </p:cNvPr>
            <p:cNvSpPr txBox="1"/>
            <p:nvPr/>
          </p:nvSpPr>
          <p:spPr>
            <a:xfrm>
              <a:off x="573051" y="5182049"/>
              <a:ext cx="823412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zh-CN" altLang="en-US" sz="2400" b="0" i="0" dirty="0">
                  <a:solidFill>
                    <a:srgbClr val="000000"/>
                  </a:solidFill>
                </a:rPr>
                <a:t>齐所有的出边。</a:t>
              </a:r>
            </a:p>
          </p:txBody>
        </p:sp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97A94961-49E6-854B-AE2E-AC73223E21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719" y="1783185"/>
            <a:ext cx="7684705" cy="341542"/>
          </a:xfrm>
          <a:prstGeom prst="rect">
            <a:avLst/>
          </a:prstGeom>
        </p:spPr>
      </p:pic>
      <p:grpSp>
        <p:nvGrpSpPr>
          <p:cNvPr id="33" name="组合 32">
            <a:extLst>
              <a:ext uri="{FF2B5EF4-FFF2-40B4-BE49-F238E27FC236}">
                <a16:creationId xmlns:a16="http://schemas.microsoft.com/office/drawing/2014/main" id="{7697708B-C284-7648-8C06-C2CA127B2AF9}"/>
              </a:ext>
            </a:extLst>
          </p:cNvPr>
          <p:cNvGrpSpPr/>
          <p:nvPr/>
        </p:nvGrpSpPr>
        <p:grpSpPr>
          <a:xfrm>
            <a:off x="2863540" y="3739611"/>
            <a:ext cx="2166717" cy="894196"/>
            <a:chOff x="2863540" y="3739611"/>
            <a:chExt cx="2166717" cy="894196"/>
          </a:xfrm>
        </p:grpSpPr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66B93520-59AB-ED4C-BCFB-4F3D4840821A}"/>
                </a:ext>
              </a:extLst>
            </p:cNvPr>
            <p:cNvSpPr/>
            <p:nvPr/>
          </p:nvSpPr>
          <p:spPr bwMode="auto">
            <a:xfrm>
              <a:off x="3467924" y="3926986"/>
              <a:ext cx="432048" cy="432048"/>
            </a:xfrm>
            <a:prstGeom prst="ellips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85805005-6CDD-E246-B2D3-73BF4C5D5977}"/>
                </a:ext>
              </a:extLst>
            </p:cNvPr>
            <p:cNvSpPr/>
            <p:nvPr/>
          </p:nvSpPr>
          <p:spPr bwMode="auto">
            <a:xfrm>
              <a:off x="4598209" y="3923302"/>
              <a:ext cx="432048" cy="432048"/>
            </a:xfrm>
            <a:prstGeom prst="ellips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cxnSp>
          <p:nvCxnSpPr>
            <p:cNvPr id="52" name="直线箭头连接符 51">
              <a:extLst>
                <a:ext uri="{FF2B5EF4-FFF2-40B4-BE49-F238E27FC236}">
                  <a16:creationId xmlns:a16="http://schemas.microsoft.com/office/drawing/2014/main" id="{B659EFF2-4C48-1E44-8138-9CD5934E2D18}"/>
                </a:ext>
              </a:extLst>
            </p:cNvPr>
            <p:cNvCxnSpPr>
              <a:cxnSpLocks/>
              <a:stCxn id="3" idx="5"/>
              <a:endCxn id="38" idx="2"/>
            </p:cNvCxnSpPr>
            <p:nvPr/>
          </p:nvCxnSpPr>
          <p:spPr bwMode="auto">
            <a:xfrm>
              <a:off x="2863540" y="3739611"/>
              <a:ext cx="604384" cy="403399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57" name="直线箭头连接符 56">
              <a:extLst>
                <a:ext uri="{FF2B5EF4-FFF2-40B4-BE49-F238E27FC236}">
                  <a16:creationId xmlns:a16="http://schemas.microsoft.com/office/drawing/2014/main" id="{AF9E885A-47B4-384C-80E6-B3654BD75E13}"/>
                </a:ext>
              </a:extLst>
            </p:cNvPr>
            <p:cNvCxnSpPr>
              <a:cxnSpLocks/>
              <a:stCxn id="38" idx="6"/>
              <a:endCxn id="40" idx="2"/>
            </p:cNvCxnSpPr>
            <p:nvPr/>
          </p:nvCxnSpPr>
          <p:spPr bwMode="auto">
            <a:xfrm flipV="1">
              <a:off x="3899972" y="4139326"/>
              <a:ext cx="698237" cy="368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4847AD0F-AF76-984A-815F-97B52BF6FD5F}"/>
                </a:ext>
              </a:extLst>
            </p:cNvPr>
            <p:cNvSpPr txBox="1"/>
            <p:nvPr/>
          </p:nvSpPr>
          <p:spPr>
            <a:xfrm>
              <a:off x="2863540" y="3941310"/>
              <a:ext cx="360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b="0" i="0" dirty="0">
                  <a:solidFill>
                    <a:srgbClr val="000000"/>
                  </a:solidFill>
                  <a:cs typeface="Times New Roman" panose="02020603050405020304" pitchFamily="18" charset="0"/>
                </a:rPr>
                <a:t>1</a:t>
              </a:r>
              <a:endParaRPr kumimoji="1" lang="zh-CN" altLang="en-US" sz="2400" b="0" i="0" dirty="0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3BD9CCC5-272C-B142-A3C7-BE41619715BE}"/>
                </a:ext>
              </a:extLst>
            </p:cNvPr>
            <p:cNvSpPr txBox="1"/>
            <p:nvPr/>
          </p:nvSpPr>
          <p:spPr>
            <a:xfrm>
              <a:off x="4069948" y="4172142"/>
              <a:ext cx="360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b="0" i="0" dirty="0">
                  <a:solidFill>
                    <a:srgbClr val="000000"/>
                  </a:solidFill>
                  <a:cs typeface="Times New Roman" panose="02020603050405020304" pitchFamily="18" charset="0"/>
                </a:rPr>
                <a:t>1</a:t>
              </a:r>
              <a:endParaRPr kumimoji="1" lang="zh-CN" altLang="en-US" sz="2400" b="0" i="0" dirty="0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A9D1B36F-6437-8F4F-9DA8-DA26A25F207F}"/>
              </a:ext>
            </a:extLst>
          </p:cNvPr>
          <p:cNvGrpSpPr/>
          <p:nvPr/>
        </p:nvGrpSpPr>
        <p:grpSpPr>
          <a:xfrm>
            <a:off x="5046695" y="3905079"/>
            <a:ext cx="1145335" cy="461665"/>
            <a:chOff x="5046695" y="3905079"/>
            <a:chExt cx="1145335" cy="461665"/>
          </a:xfrm>
        </p:grpSpPr>
        <p:sp>
          <p:nvSpPr>
            <p:cNvPr id="63" name="弧 62">
              <a:extLst>
                <a:ext uri="{FF2B5EF4-FFF2-40B4-BE49-F238E27FC236}">
                  <a16:creationId xmlns:a16="http://schemas.microsoft.com/office/drawing/2014/main" id="{866C4B58-06EE-AE4C-AC75-7A986EB89C56}"/>
                </a:ext>
              </a:extLst>
            </p:cNvPr>
            <p:cNvSpPr/>
            <p:nvPr/>
          </p:nvSpPr>
          <p:spPr bwMode="auto">
            <a:xfrm rot="16619624">
              <a:off x="5062959" y="3933803"/>
              <a:ext cx="392274" cy="424801"/>
            </a:xfrm>
            <a:prstGeom prst="arc">
              <a:avLst>
                <a:gd name="adj1" fmla="val 17142475"/>
                <a:gd name="adj2" fmla="val 14430358"/>
              </a:avLst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CBE23FAF-E203-6E49-B707-987B92EC6605}"/>
                </a:ext>
              </a:extLst>
            </p:cNvPr>
            <p:cNvSpPr txBox="1"/>
            <p:nvPr/>
          </p:nvSpPr>
          <p:spPr>
            <a:xfrm>
              <a:off x="5493797" y="3905079"/>
              <a:ext cx="69823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b="0" i="0" dirty="0">
                  <a:solidFill>
                    <a:srgbClr val="000000"/>
                  </a:solidFill>
                  <a:cs typeface="Times New Roman" panose="02020603050405020304" pitchFamily="18" charset="0"/>
                </a:rPr>
                <a:t>0, 1</a:t>
              </a:r>
              <a:endParaRPr kumimoji="1" lang="zh-CN" altLang="en-US" sz="2400" b="0" i="0" dirty="0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5375442F-6024-A04C-BE81-2FEA1E59B1DB}"/>
              </a:ext>
            </a:extLst>
          </p:cNvPr>
          <p:cNvGrpSpPr/>
          <p:nvPr/>
        </p:nvGrpSpPr>
        <p:grpSpPr>
          <a:xfrm>
            <a:off x="4814233" y="3115373"/>
            <a:ext cx="390181" cy="807929"/>
            <a:chOff x="4814233" y="3115373"/>
            <a:chExt cx="390181" cy="807929"/>
          </a:xfrm>
        </p:grpSpPr>
        <p:cxnSp>
          <p:nvCxnSpPr>
            <p:cNvPr id="50" name="直线箭头连接符 49">
              <a:extLst>
                <a:ext uri="{FF2B5EF4-FFF2-40B4-BE49-F238E27FC236}">
                  <a16:creationId xmlns:a16="http://schemas.microsoft.com/office/drawing/2014/main" id="{090F8760-1A12-2E49-BEF4-28B1CB189AD4}"/>
                </a:ext>
              </a:extLst>
            </p:cNvPr>
            <p:cNvCxnSpPr>
              <a:cxnSpLocks/>
              <a:stCxn id="35" idx="4"/>
              <a:endCxn id="40" idx="0"/>
            </p:cNvCxnSpPr>
            <p:nvPr/>
          </p:nvCxnSpPr>
          <p:spPr bwMode="auto">
            <a:xfrm>
              <a:off x="4814233" y="3115373"/>
              <a:ext cx="0" cy="807929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3513F8FD-9879-164F-8E02-EBC21B9D7EB5}"/>
                </a:ext>
              </a:extLst>
            </p:cNvPr>
            <p:cNvSpPr txBox="1"/>
            <p:nvPr/>
          </p:nvSpPr>
          <p:spPr>
            <a:xfrm>
              <a:off x="4844374" y="3267735"/>
              <a:ext cx="360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b="0" i="0" dirty="0">
                  <a:solidFill>
                    <a:srgbClr val="000000"/>
                  </a:solidFill>
                  <a:cs typeface="Times New Roman" panose="02020603050405020304" pitchFamily="18" charset="0"/>
                </a:rPr>
                <a:t>1</a:t>
              </a:r>
              <a:endParaRPr kumimoji="1" lang="zh-CN" altLang="en-US" sz="2400" b="0" i="0" dirty="0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34B8B4CA-7575-FF48-B029-34D5FFE4FCE4}"/>
              </a:ext>
            </a:extLst>
          </p:cNvPr>
          <p:cNvGrpSpPr/>
          <p:nvPr/>
        </p:nvGrpSpPr>
        <p:grpSpPr>
          <a:xfrm>
            <a:off x="3346999" y="3110341"/>
            <a:ext cx="360040" cy="816645"/>
            <a:chOff x="3346999" y="3110341"/>
            <a:chExt cx="360040" cy="816645"/>
          </a:xfrm>
        </p:grpSpPr>
        <p:cxnSp>
          <p:nvCxnSpPr>
            <p:cNvPr id="58" name="直线箭头连接符 57">
              <a:extLst>
                <a:ext uri="{FF2B5EF4-FFF2-40B4-BE49-F238E27FC236}">
                  <a16:creationId xmlns:a16="http://schemas.microsoft.com/office/drawing/2014/main" id="{B770A095-5C0D-4A4E-A088-1301D3EA3403}"/>
                </a:ext>
              </a:extLst>
            </p:cNvPr>
            <p:cNvCxnSpPr>
              <a:cxnSpLocks/>
              <a:stCxn id="38" idx="0"/>
              <a:endCxn id="34" idx="4"/>
            </p:cNvCxnSpPr>
            <p:nvPr/>
          </p:nvCxnSpPr>
          <p:spPr bwMode="auto">
            <a:xfrm flipV="1">
              <a:off x="3683948" y="3110341"/>
              <a:ext cx="0" cy="816645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8B99608B-BE1D-2B4D-9EF2-D7B9168EB6D5}"/>
                </a:ext>
              </a:extLst>
            </p:cNvPr>
            <p:cNvSpPr txBox="1"/>
            <p:nvPr/>
          </p:nvSpPr>
          <p:spPr>
            <a:xfrm>
              <a:off x="3346999" y="3298349"/>
              <a:ext cx="360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b="0" i="0" dirty="0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kumimoji="1" lang="zh-CN" altLang="en-US" sz="2400" b="0" i="0" dirty="0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E989C4F9-C7E8-004C-ACDD-A911AA282850}"/>
              </a:ext>
            </a:extLst>
          </p:cNvPr>
          <p:cNvGrpSpPr/>
          <p:nvPr/>
        </p:nvGrpSpPr>
        <p:grpSpPr>
          <a:xfrm>
            <a:off x="1919419" y="2382089"/>
            <a:ext cx="3110838" cy="1420794"/>
            <a:chOff x="1919419" y="2382089"/>
            <a:chExt cx="3110838" cy="1420794"/>
          </a:xfrm>
        </p:grpSpPr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2AEBE7BC-8EF2-954E-A5A2-71856555958D}"/>
                </a:ext>
              </a:extLst>
            </p:cNvPr>
            <p:cNvSpPr/>
            <p:nvPr/>
          </p:nvSpPr>
          <p:spPr bwMode="auto">
            <a:xfrm>
              <a:off x="2494764" y="3370835"/>
              <a:ext cx="432048" cy="432048"/>
            </a:xfrm>
            <a:prstGeom prst="ellips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905D4C19-688C-144A-8EAC-242854BA349A}"/>
                </a:ext>
              </a:extLst>
            </p:cNvPr>
            <p:cNvSpPr/>
            <p:nvPr/>
          </p:nvSpPr>
          <p:spPr bwMode="auto">
            <a:xfrm>
              <a:off x="3467924" y="2678293"/>
              <a:ext cx="432048" cy="432048"/>
            </a:xfrm>
            <a:prstGeom prst="ellips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9B7E16E2-5025-6F4E-99EB-55AEE6439EFA}"/>
                </a:ext>
              </a:extLst>
            </p:cNvPr>
            <p:cNvSpPr/>
            <p:nvPr/>
          </p:nvSpPr>
          <p:spPr bwMode="auto">
            <a:xfrm>
              <a:off x="4598209" y="2683325"/>
              <a:ext cx="432048" cy="432048"/>
            </a:xfrm>
            <a:prstGeom prst="ellips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cxnSp>
          <p:nvCxnSpPr>
            <p:cNvPr id="7" name="直线箭头连接符 6">
              <a:extLst>
                <a:ext uri="{FF2B5EF4-FFF2-40B4-BE49-F238E27FC236}">
                  <a16:creationId xmlns:a16="http://schemas.microsoft.com/office/drawing/2014/main" id="{18302CB3-9EDB-A54C-9C3F-84FE68F07830}"/>
                </a:ext>
              </a:extLst>
            </p:cNvPr>
            <p:cNvCxnSpPr>
              <a:cxnSpLocks/>
              <a:endCxn id="3" idx="2"/>
            </p:cNvCxnSpPr>
            <p:nvPr/>
          </p:nvCxnSpPr>
          <p:spPr bwMode="auto">
            <a:xfrm>
              <a:off x="1919419" y="3586859"/>
              <a:ext cx="575345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43" name="直线箭头连接符 42">
              <a:extLst>
                <a:ext uri="{FF2B5EF4-FFF2-40B4-BE49-F238E27FC236}">
                  <a16:creationId xmlns:a16="http://schemas.microsoft.com/office/drawing/2014/main" id="{5C10B17B-B142-8F4B-806A-59FDB5D335BE}"/>
                </a:ext>
              </a:extLst>
            </p:cNvPr>
            <p:cNvCxnSpPr>
              <a:cxnSpLocks/>
              <a:stCxn id="3" idx="7"/>
              <a:endCxn id="34" idx="2"/>
            </p:cNvCxnSpPr>
            <p:nvPr/>
          </p:nvCxnSpPr>
          <p:spPr bwMode="auto">
            <a:xfrm flipV="1">
              <a:off x="2863540" y="2894317"/>
              <a:ext cx="604384" cy="53979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46" name="直线箭头连接符 45">
              <a:extLst>
                <a:ext uri="{FF2B5EF4-FFF2-40B4-BE49-F238E27FC236}">
                  <a16:creationId xmlns:a16="http://schemas.microsoft.com/office/drawing/2014/main" id="{7C7DEF71-5241-C242-B846-3F92ACAC0D1A}"/>
                </a:ext>
              </a:extLst>
            </p:cNvPr>
            <p:cNvCxnSpPr>
              <a:cxnSpLocks/>
              <a:stCxn id="34" idx="6"/>
              <a:endCxn id="35" idx="2"/>
            </p:cNvCxnSpPr>
            <p:nvPr/>
          </p:nvCxnSpPr>
          <p:spPr bwMode="auto">
            <a:xfrm>
              <a:off x="3899972" y="2894317"/>
              <a:ext cx="698237" cy="503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AF2CC575-9E79-2C40-9820-B02777CFEC69}"/>
                </a:ext>
              </a:extLst>
            </p:cNvPr>
            <p:cNvSpPr txBox="1"/>
            <p:nvPr/>
          </p:nvSpPr>
          <p:spPr>
            <a:xfrm>
              <a:off x="2874191" y="2743037"/>
              <a:ext cx="360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b="0" i="0" dirty="0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kumimoji="1" lang="zh-CN" altLang="en-US" sz="2400" b="0" i="0" dirty="0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53130EFE-F8E0-5D42-8DA5-911FEC7772E3}"/>
                </a:ext>
              </a:extLst>
            </p:cNvPr>
            <p:cNvSpPr txBox="1"/>
            <p:nvPr/>
          </p:nvSpPr>
          <p:spPr>
            <a:xfrm>
              <a:off x="4069070" y="2382089"/>
              <a:ext cx="360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b="0" i="0" dirty="0">
                  <a:solidFill>
                    <a:srgbClr val="000000"/>
                  </a:solidFill>
                  <a:cs typeface="Times New Roman" panose="02020603050405020304" pitchFamily="18" charset="0"/>
                </a:rPr>
                <a:t>1</a:t>
              </a:r>
              <a:endParaRPr kumimoji="1" lang="zh-CN" altLang="en-US" sz="2400" b="0" i="0" dirty="0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91" name="椭圆 90">
              <a:extLst>
                <a:ext uri="{FF2B5EF4-FFF2-40B4-BE49-F238E27FC236}">
                  <a16:creationId xmlns:a16="http://schemas.microsoft.com/office/drawing/2014/main" id="{7240EB5B-79F0-BD4C-8F84-83BED15553B6}"/>
                </a:ext>
              </a:extLst>
            </p:cNvPr>
            <p:cNvSpPr/>
            <p:nvPr/>
          </p:nvSpPr>
          <p:spPr bwMode="auto">
            <a:xfrm>
              <a:off x="4667438" y="2739576"/>
              <a:ext cx="298440" cy="322270"/>
            </a:xfrm>
            <a:prstGeom prst="ellips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46FCFB35-5E30-2C4B-858E-7ACC8F843CF4}"/>
              </a:ext>
            </a:extLst>
          </p:cNvPr>
          <p:cNvGrpSpPr/>
          <p:nvPr/>
        </p:nvGrpSpPr>
        <p:grpSpPr>
          <a:xfrm>
            <a:off x="5005726" y="2361068"/>
            <a:ext cx="1950712" cy="1070314"/>
            <a:chOff x="5005726" y="2361068"/>
            <a:chExt cx="1950712" cy="1070314"/>
          </a:xfrm>
        </p:grpSpPr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4E6362EB-4556-1F42-8977-704C1851B6E2}"/>
                </a:ext>
              </a:extLst>
            </p:cNvPr>
            <p:cNvSpPr/>
            <p:nvPr/>
          </p:nvSpPr>
          <p:spPr bwMode="auto">
            <a:xfrm>
              <a:off x="5703959" y="2678293"/>
              <a:ext cx="432048" cy="432048"/>
            </a:xfrm>
            <a:prstGeom prst="ellips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cxnSp>
          <p:nvCxnSpPr>
            <p:cNvPr id="48" name="直线箭头连接符 47">
              <a:extLst>
                <a:ext uri="{FF2B5EF4-FFF2-40B4-BE49-F238E27FC236}">
                  <a16:creationId xmlns:a16="http://schemas.microsoft.com/office/drawing/2014/main" id="{81608158-2E65-184D-BA05-038F9E861D8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015044" y="2823914"/>
              <a:ext cx="698237" cy="503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sp>
          <p:nvSpPr>
            <p:cNvPr id="62" name="弧 61">
              <a:extLst>
                <a:ext uri="{FF2B5EF4-FFF2-40B4-BE49-F238E27FC236}">
                  <a16:creationId xmlns:a16="http://schemas.microsoft.com/office/drawing/2014/main" id="{C89AF34C-C607-7441-8BE5-2077F3FDC615}"/>
                </a:ext>
              </a:extLst>
            </p:cNvPr>
            <p:cNvSpPr/>
            <p:nvPr/>
          </p:nvSpPr>
          <p:spPr bwMode="auto">
            <a:xfrm rot="16619624">
              <a:off x="6165559" y="2686432"/>
              <a:ext cx="392274" cy="424801"/>
            </a:xfrm>
            <a:prstGeom prst="arc">
              <a:avLst>
                <a:gd name="adj1" fmla="val 17142475"/>
                <a:gd name="adj2" fmla="val 14430358"/>
              </a:avLst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9B5546A0-51B3-7844-A548-0F62474F14DA}"/>
                </a:ext>
              </a:extLst>
            </p:cNvPr>
            <p:cNvSpPr txBox="1"/>
            <p:nvPr/>
          </p:nvSpPr>
          <p:spPr>
            <a:xfrm>
              <a:off x="5187088" y="2361068"/>
              <a:ext cx="360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b="0" i="0" dirty="0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kumimoji="1" lang="zh-CN" altLang="en-US" sz="2400" b="0" i="0" dirty="0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cxnSp>
          <p:nvCxnSpPr>
            <p:cNvPr id="88" name="直线箭头连接符 87">
              <a:extLst>
                <a:ext uri="{FF2B5EF4-FFF2-40B4-BE49-F238E27FC236}">
                  <a16:creationId xmlns:a16="http://schemas.microsoft.com/office/drawing/2014/main" id="{60F6311A-9FBD-3445-BB1E-8B2C89D83D89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5005726" y="2975346"/>
              <a:ext cx="698233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A3B276B6-1209-534F-A051-46C315DCACE7}"/>
                </a:ext>
              </a:extLst>
            </p:cNvPr>
            <p:cNvSpPr txBox="1"/>
            <p:nvPr/>
          </p:nvSpPr>
          <p:spPr>
            <a:xfrm>
              <a:off x="5194051" y="2969717"/>
              <a:ext cx="360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b="0" i="0" dirty="0">
                  <a:solidFill>
                    <a:srgbClr val="000000"/>
                  </a:solidFill>
                  <a:cs typeface="Times New Roman" panose="02020603050405020304" pitchFamily="18" charset="0"/>
                </a:rPr>
                <a:t>1</a:t>
              </a:r>
              <a:endParaRPr kumimoji="1" lang="zh-CN" altLang="en-US" sz="2400" b="0" i="0" dirty="0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A379CA52-3CFE-B047-842D-699F8B32060D}"/>
                </a:ext>
              </a:extLst>
            </p:cNvPr>
            <p:cNvSpPr txBox="1"/>
            <p:nvPr/>
          </p:nvSpPr>
          <p:spPr>
            <a:xfrm>
              <a:off x="6596398" y="2605212"/>
              <a:ext cx="360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b="0" i="0" dirty="0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kumimoji="1" lang="zh-CN" altLang="en-US" sz="2400" b="0" i="0" dirty="0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93" name="椭圆 92">
              <a:extLst>
                <a:ext uri="{FF2B5EF4-FFF2-40B4-BE49-F238E27FC236}">
                  <a16:creationId xmlns:a16="http://schemas.microsoft.com/office/drawing/2014/main" id="{2C50D09A-0339-6949-BCD4-261E88E21979}"/>
                </a:ext>
              </a:extLst>
            </p:cNvPr>
            <p:cNvSpPr/>
            <p:nvPr/>
          </p:nvSpPr>
          <p:spPr bwMode="auto">
            <a:xfrm>
              <a:off x="5770917" y="2736926"/>
              <a:ext cx="298440" cy="322270"/>
            </a:xfrm>
            <a:prstGeom prst="ellips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555FD858-0704-9D48-A7B2-B45EC2E6A2AE}"/>
              </a:ext>
            </a:extLst>
          </p:cNvPr>
          <p:cNvGrpSpPr/>
          <p:nvPr/>
        </p:nvGrpSpPr>
        <p:grpSpPr>
          <a:xfrm>
            <a:off x="3169975" y="2166112"/>
            <a:ext cx="714088" cy="527290"/>
            <a:chOff x="3185684" y="2177341"/>
            <a:chExt cx="714088" cy="527290"/>
          </a:xfrm>
        </p:grpSpPr>
        <p:sp>
          <p:nvSpPr>
            <p:cNvPr id="45" name="弧 44">
              <a:extLst>
                <a:ext uri="{FF2B5EF4-FFF2-40B4-BE49-F238E27FC236}">
                  <a16:creationId xmlns:a16="http://schemas.microsoft.com/office/drawing/2014/main" id="{E488B9AF-A795-894B-BF7D-8956B7DF069A}"/>
                </a:ext>
              </a:extLst>
            </p:cNvPr>
            <p:cNvSpPr/>
            <p:nvPr/>
          </p:nvSpPr>
          <p:spPr bwMode="auto">
            <a:xfrm rot="11339693">
              <a:off x="3507498" y="2279830"/>
              <a:ext cx="392274" cy="424801"/>
            </a:xfrm>
            <a:prstGeom prst="arc">
              <a:avLst>
                <a:gd name="adj1" fmla="val 17142475"/>
                <a:gd name="adj2" fmla="val 14430358"/>
              </a:avLst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BDDFA35B-3EF5-D04E-877D-1EC73C1478F5}"/>
                </a:ext>
              </a:extLst>
            </p:cNvPr>
            <p:cNvSpPr txBox="1"/>
            <p:nvPr/>
          </p:nvSpPr>
          <p:spPr>
            <a:xfrm>
              <a:off x="3185684" y="2177341"/>
              <a:ext cx="33626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b="0" i="0" dirty="0">
                  <a:solidFill>
                    <a:srgbClr val="000000"/>
                  </a:solidFill>
                </a:rPr>
                <a:t>0</a:t>
              </a:r>
              <a:endParaRPr kumimoji="1" lang="zh-CN" altLang="en-US" b="0" i="0" dirty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96510474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9E4809-253F-8644-B6FF-1DF66E56A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华文行楷" pitchFamily="2" charset="-122"/>
              </a:rPr>
              <a:t>确定有穷自动机 </a:t>
            </a:r>
            <a:r>
              <a:rPr lang="en-US" altLang="zh-CN" dirty="0">
                <a:ea typeface="华文行楷" pitchFamily="2" charset="-122"/>
              </a:rPr>
              <a:t>(</a:t>
            </a:r>
            <a:r>
              <a:rPr lang="zh-CN" altLang="en-US" dirty="0">
                <a:ea typeface="华文行楷" pitchFamily="2" charset="-122"/>
              </a:rPr>
              <a:t>回顾</a:t>
            </a:r>
            <a:r>
              <a:rPr lang="en-US" altLang="zh-CN" dirty="0">
                <a:ea typeface="华文行楷" pitchFamily="2" charset="-122"/>
              </a:rPr>
              <a:t>)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F51F3F-457D-5B41-900D-06244F264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A60C455B-B212-44F5-BDE5-4E865130930B}" type="slidenum">
              <a:rPr kumimoji="0" lang="en-US" altLang="zh-CN" b="0" i="0">
                <a:solidFill>
                  <a:prstClr val="black">
                    <a:tint val="75000"/>
                  </a:prstClr>
                </a:solidFill>
                <a:latin typeface="Calibri"/>
              </a:rPr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t>50</a:t>
            </a:fld>
            <a:endParaRPr kumimoji="0" lang="en-US" altLang="zh-CN" b="0" i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E7C6D229-C4F3-3C47-A026-73AEB58B4821}"/>
              </a:ext>
            </a:extLst>
          </p:cNvPr>
          <p:cNvGrpSpPr/>
          <p:nvPr/>
        </p:nvGrpSpPr>
        <p:grpSpPr>
          <a:xfrm>
            <a:off x="1597614" y="2267741"/>
            <a:ext cx="6202399" cy="2946180"/>
            <a:chOff x="510892" y="1868271"/>
            <a:chExt cx="8269865" cy="3928240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33BB8F69-8D6D-7140-A619-C70A3C9946C7}"/>
                </a:ext>
              </a:extLst>
            </p:cNvPr>
            <p:cNvGrpSpPr/>
            <p:nvPr/>
          </p:nvGrpSpPr>
          <p:grpSpPr>
            <a:xfrm>
              <a:off x="510892" y="1868271"/>
              <a:ext cx="8269865" cy="3428346"/>
              <a:chOff x="510892" y="1868271"/>
              <a:chExt cx="8269865" cy="3428346"/>
            </a:xfrm>
          </p:grpSpPr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4B5A4F6-4408-AD41-8BBA-FCC5D6E2DC52}"/>
                  </a:ext>
                </a:extLst>
              </p:cNvPr>
              <p:cNvSpPr txBox="1"/>
              <p:nvPr/>
            </p:nvSpPr>
            <p:spPr>
              <a:xfrm>
                <a:off x="539939" y="1868271"/>
                <a:ext cx="8234124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800" b="0" i="0" dirty="0">
                    <a:solidFill>
                      <a:srgbClr val="000000"/>
                    </a:solidFill>
                    <a:latin typeface="Calibri"/>
                  </a:rPr>
                  <a:t>解：既然是二进制数，那么实际上就是字母表是</a:t>
                </a:r>
                <a:r>
                  <a:rPr lang="en-US" altLang="zh-CN" sz="1800" b="0" i="0" dirty="0">
                    <a:solidFill>
                      <a:srgbClr val="000000"/>
                    </a:solidFill>
                    <a:latin typeface="Calibri"/>
                  </a:rPr>
                  <a:t>{0, 1}</a:t>
                </a:r>
                <a:r>
                  <a:rPr lang="zh-CN" altLang="en-US" sz="1800" b="0" i="0" dirty="0">
                    <a:solidFill>
                      <a:srgbClr val="000000"/>
                    </a:solidFill>
                    <a:latin typeface="Calibri"/>
                  </a:rPr>
                  <a:t>的字</a:t>
                </a:r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A29A3B82-85D8-AD46-934B-B78C0DEA7C4D}"/>
                  </a:ext>
                </a:extLst>
              </p:cNvPr>
              <p:cNvSpPr txBox="1"/>
              <p:nvPr/>
            </p:nvSpPr>
            <p:spPr>
              <a:xfrm>
                <a:off x="546633" y="2334446"/>
                <a:ext cx="8234124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800" b="0" i="0" dirty="0">
                    <a:solidFill>
                      <a:srgbClr val="000000"/>
                    </a:solidFill>
                    <a:latin typeface="Calibri"/>
                  </a:rPr>
                  <a:t>符串集合。</a:t>
                </a:r>
                <a:r>
                  <a:rPr lang="en-US" altLang="zh-CN" sz="1800" b="0" i="0" dirty="0">
                    <a:solidFill>
                      <a:srgbClr val="000000"/>
                    </a:solidFill>
                    <a:latin typeface="Calibri"/>
                  </a:rPr>
                  <a:t>DFA</a:t>
                </a:r>
                <a:r>
                  <a:rPr lang="zh-CN" altLang="en-US" sz="1800" b="0" i="0" dirty="0">
                    <a:solidFill>
                      <a:srgbClr val="000000"/>
                    </a:solidFill>
                    <a:latin typeface="Calibri"/>
                  </a:rPr>
                  <a:t>在处理字符串时，往往采用</a:t>
                </a:r>
                <a:r>
                  <a:rPr lang="en-US" altLang="zh-CN" sz="1800" b="0" i="0" dirty="0">
                    <a:solidFill>
                      <a:srgbClr val="000000"/>
                    </a:solidFill>
                    <a:latin typeface="Calibri"/>
                  </a:rPr>
                  <a:t>              </a:t>
                </a:r>
                <a:r>
                  <a:rPr lang="zh-CN" altLang="en-US" sz="1800" b="0" i="0" dirty="0">
                    <a:solidFill>
                      <a:srgbClr val="000000"/>
                    </a:solidFill>
                    <a:latin typeface="Calibri"/>
                  </a:rPr>
                  <a:t>  的形式，</a:t>
                </a:r>
              </a:p>
            </p:txBody>
          </p:sp>
          <p:pic>
            <p:nvPicPr>
              <p:cNvPr id="12" name="图片 11">
                <a:extLst>
                  <a:ext uri="{FF2B5EF4-FFF2-40B4-BE49-F238E27FC236}">
                    <a16:creationId xmlns:a16="http://schemas.microsoft.com/office/drawing/2014/main" id="{4E302253-F3B2-DA40-AB15-0EAD59A59E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796136" y="2499516"/>
                <a:ext cx="2222500" cy="152400"/>
              </a:xfrm>
              <a:prstGeom prst="rect">
                <a:avLst/>
              </a:prstGeom>
            </p:spPr>
          </p:pic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8003B2B9-18A7-C94E-A825-270564D4B903}"/>
                  </a:ext>
                </a:extLst>
              </p:cNvPr>
              <p:cNvSpPr txBox="1"/>
              <p:nvPr/>
            </p:nvSpPr>
            <p:spPr>
              <a:xfrm>
                <a:off x="539939" y="2823319"/>
                <a:ext cx="8234124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800" b="0" i="0" dirty="0">
                    <a:solidFill>
                      <a:srgbClr val="000000"/>
                    </a:solidFill>
                    <a:latin typeface="Calibri"/>
                  </a:rPr>
                  <a:t>即在当前状态下（接受了   ）再接受一个符号进入新的状态。</a:t>
                </a:r>
              </a:p>
            </p:txBody>
          </p:sp>
          <p:pic>
            <p:nvPicPr>
              <p:cNvPr id="14" name="图片 13">
                <a:extLst>
                  <a:ext uri="{FF2B5EF4-FFF2-40B4-BE49-F238E27FC236}">
                    <a16:creationId xmlns:a16="http://schemas.microsoft.com/office/drawing/2014/main" id="{5DB9696B-77EA-CE40-83C9-71A0750370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24932" y="2996952"/>
                <a:ext cx="1435100" cy="152400"/>
              </a:xfrm>
              <a:prstGeom prst="rect">
                <a:avLst/>
              </a:prstGeom>
            </p:spPr>
          </p:pic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495AA787-2167-CA4D-A3F3-AEB145ECF806}"/>
                  </a:ext>
                </a:extLst>
              </p:cNvPr>
              <p:cNvSpPr txBox="1"/>
              <p:nvPr/>
            </p:nvSpPr>
            <p:spPr>
              <a:xfrm>
                <a:off x="514340" y="3316702"/>
                <a:ext cx="8234124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800" i="0" dirty="0">
                    <a:solidFill>
                      <a:srgbClr val="C830CC">
                        <a:lumMod val="75000"/>
                      </a:srgbClr>
                    </a:solidFill>
                    <a:latin typeface="Calibri"/>
                  </a:rPr>
                  <a:t>我们可以把     看成是一个二进制数，如果再追加一个</a:t>
                </a:r>
                <a:r>
                  <a:rPr lang="en-US" altLang="zh-CN" sz="1800" i="0" dirty="0">
                    <a:solidFill>
                      <a:srgbClr val="C830CC">
                        <a:lumMod val="75000"/>
                      </a:srgbClr>
                    </a:solidFill>
                    <a:latin typeface="Calibri"/>
                  </a:rPr>
                  <a:t>0</a:t>
                </a:r>
                <a:r>
                  <a:rPr lang="zh-CN" altLang="en-US" sz="1800" i="0" dirty="0">
                    <a:solidFill>
                      <a:srgbClr val="C830CC">
                        <a:lumMod val="75000"/>
                      </a:srgbClr>
                    </a:solidFill>
                    <a:latin typeface="Calibri"/>
                  </a:rPr>
                  <a:t>，相</a:t>
                </a:r>
              </a:p>
            </p:txBody>
          </p:sp>
          <p:pic>
            <p:nvPicPr>
              <p:cNvPr id="16" name="图片 15">
                <a:extLst>
                  <a:ext uri="{FF2B5EF4-FFF2-40B4-BE49-F238E27FC236}">
                    <a16:creationId xmlns:a16="http://schemas.microsoft.com/office/drawing/2014/main" id="{B24899E4-9FE2-124F-B2C1-3ECD52FB80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19672" y="3471334"/>
                <a:ext cx="1435100" cy="152400"/>
              </a:xfrm>
              <a:prstGeom prst="rect">
                <a:avLst/>
              </a:prstGeom>
            </p:spPr>
          </p:pic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59366DC6-ECBC-4543-8EE5-9BA3562CBB81}"/>
                  </a:ext>
                </a:extLst>
              </p:cNvPr>
              <p:cNvSpPr txBox="1"/>
              <p:nvPr/>
            </p:nvSpPr>
            <p:spPr>
              <a:xfrm>
                <a:off x="510892" y="3815178"/>
                <a:ext cx="8234124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800" i="0" dirty="0">
                    <a:solidFill>
                      <a:srgbClr val="C830CC">
                        <a:lumMod val="75000"/>
                      </a:srgbClr>
                    </a:solidFill>
                    <a:latin typeface="Calibri"/>
                  </a:rPr>
                  <a:t>当于乘以</a:t>
                </a:r>
                <a:r>
                  <a:rPr lang="en-US" altLang="zh-CN" sz="1800" i="0" dirty="0">
                    <a:solidFill>
                      <a:srgbClr val="C830CC">
                        <a:lumMod val="75000"/>
                      </a:srgbClr>
                    </a:solidFill>
                    <a:latin typeface="Calibri"/>
                  </a:rPr>
                  <a:t>2</a:t>
                </a:r>
                <a:r>
                  <a:rPr lang="zh-CN" altLang="en-US" sz="1800" b="0" i="0" dirty="0">
                    <a:solidFill>
                      <a:srgbClr val="000000"/>
                    </a:solidFill>
                    <a:latin typeface="Calibri"/>
                  </a:rPr>
                  <a:t>。例如，二进制数“</a:t>
                </a:r>
                <a:r>
                  <a:rPr lang="en-US" altLang="zh-CN" sz="1800" b="0" i="0" dirty="0">
                    <a:solidFill>
                      <a:srgbClr val="000000"/>
                    </a:solidFill>
                    <a:latin typeface="Calibri"/>
                  </a:rPr>
                  <a:t>11</a:t>
                </a:r>
                <a:r>
                  <a:rPr lang="zh-CN" altLang="en-US" sz="1800" b="0" i="0" dirty="0">
                    <a:solidFill>
                      <a:srgbClr val="000000"/>
                    </a:solidFill>
                    <a:latin typeface="Calibri"/>
                  </a:rPr>
                  <a:t>”表示十进制数“</a:t>
                </a:r>
                <a:r>
                  <a:rPr lang="en-US" altLang="zh-CN" sz="1800" b="0" i="0" dirty="0">
                    <a:solidFill>
                      <a:srgbClr val="000000"/>
                    </a:solidFill>
                    <a:latin typeface="Calibri"/>
                  </a:rPr>
                  <a:t>3</a:t>
                </a:r>
                <a:r>
                  <a:rPr lang="zh-CN" altLang="en-US" sz="1800" b="0" i="0" dirty="0">
                    <a:solidFill>
                      <a:srgbClr val="000000"/>
                    </a:solidFill>
                    <a:latin typeface="Calibri"/>
                  </a:rPr>
                  <a:t>”，追</a:t>
                </a:r>
              </a:p>
            </p:txBody>
          </p:sp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FE306507-5ED7-BB43-B98A-3629D49D39EB}"/>
                  </a:ext>
                </a:extLst>
              </p:cNvPr>
              <p:cNvSpPr txBox="1"/>
              <p:nvPr/>
            </p:nvSpPr>
            <p:spPr>
              <a:xfrm>
                <a:off x="510892" y="4313654"/>
                <a:ext cx="8234124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800" b="0" i="0" dirty="0">
                    <a:solidFill>
                      <a:srgbClr val="000000"/>
                    </a:solidFill>
                    <a:latin typeface="Calibri"/>
                  </a:rPr>
                  <a:t>加一个</a:t>
                </a:r>
                <a:r>
                  <a:rPr lang="en-US" altLang="zh-CN" sz="1800" b="0" i="0" dirty="0">
                    <a:solidFill>
                      <a:srgbClr val="000000"/>
                    </a:solidFill>
                    <a:latin typeface="Calibri"/>
                  </a:rPr>
                  <a:t>0</a:t>
                </a:r>
                <a:r>
                  <a:rPr lang="zh-CN" altLang="en-US" sz="1800" b="0" i="0" dirty="0">
                    <a:solidFill>
                      <a:srgbClr val="000000"/>
                    </a:solidFill>
                    <a:latin typeface="Calibri"/>
                  </a:rPr>
                  <a:t>之后，二进制数“</a:t>
                </a:r>
                <a:r>
                  <a:rPr lang="en-US" altLang="zh-CN" sz="1800" b="0" i="0" dirty="0">
                    <a:solidFill>
                      <a:srgbClr val="000000"/>
                    </a:solidFill>
                    <a:latin typeface="Calibri"/>
                  </a:rPr>
                  <a:t>110</a:t>
                </a:r>
                <a:r>
                  <a:rPr lang="zh-CN" altLang="en-US" sz="1800" b="0" i="0" dirty="0">
                    <a:solidFill>
                      <a:srgbClr val="000000"/>
                    </a:solidFill>
                    <a:latin typeface="Calibri"/>
                  </a:rPr>
                  <a:t>”表示十进制数“</a:t>
                </a:r>
                <a:r>
                  <a:rPr lang="en-US" altLang="zh-CN" sz="1800" b="0" i="0" dirty="0">
                    <a:solidFill>
                      <a:srgbClr val="000000"/>
                    </a:solidFill>
                    <a:latin typeface="Calibri"/>
                  </a:rPr>
                  <a:t>6</a:t>
                </a:r>
                <a:r>
                  <a:rPr lang="zh-CN" altLang="en-US" sz="1800" b="0" i="0" dirty="0">
                    <a:solidFill>
                      <a:srgbClr val="000000"/>
                    </a:solidFill>
                    <a:latin typeface="Calibri"/>
                  </a:rPr>
                  <a:t>”。同理，</a:t>
                </a:r>
              </a:p>
            </p:txBody>
          </p:sp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C009747A-4778-E644-BE61-2801E43E3A3C}"/>
                  </a:ext>
                </a:extLst>
              </p:cNvPr>
              <p:cNvSpPr txBox="1"/>
              <p:nvPr/>
            </p:nvSpPr>
            <p:spPr>
              <a:xfrm>
                <a:off x="522252" y="4804174"/>
                <a:ext cx="8234124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800" i="0" dirty="0">
                    <a:solidFill>
                      <a:srgbClr val="C830CC">
                        <a:lumMod val="75000"/>
                      </a:srgbClr>
                    </a:solidFill>
                    <a:latin typeface="Calibri"/>
                  </a:rPr>
                  <a:t>在二进制数上追加一个</a:t>
                </a:r>
                <a:r>
                  <a:rPr lang="en-US" altLang="zh-CN" sz="1800" i="0" dirty="0">
                    <a:solidFill>
                      <a:srgbClr val="C830CC">
                        <a:lumMod val="75000"/>
                      </a:srgbClr>
                    </a:solidFill>
                    <a:latin typeface="Calibri"/>
                  </a:rPr>
                  <a:t>1</a:t>
                </a:r>
                <a:r>
                  <a:rPr lang="zh-CN" altLang="en-US" sz="1800" i="0" dirty="0">
                    <a:solidFill>
                      <a:srgbClr val="C830CC">
                        <a:lumMod val="75000"/>
                      </a:srgbClr>
                    </a:solidFill>
                    <a:latin typeface="Calibri"/>
                  </a:rPr>
                  <a:t>，相当于乘以</a:t>
                </a:r>
                <a:r>
                  <a:rPr lang="en-US" altLang="zh-CN" sz="1800" i="0" dirty="0">
                    <a:solidFill>
                      <a:srgbClr val="C830CC">
                        <a:lumMod val="75000"/>
                      </a:srgbClr>
                    </a:solidFill>
                    <a:latin typeface="Calibri"/>
                  </a:rPr>
                  <a:t>2</a:t>
                </a:r>
                <a:r>
                  <a:rPr lang="zh-CN" altLang="en-US" sz="1800" i="0" dirty="0">
                    <a:solidFill>
                      <a:srgbClr val="C830CC">
                        <a:lumMod val="75000"/>
                      </a:srgbClr>
                    </a:solidFill>
                    <a:latin typeface="Calibri"/>
                  </a:rPr>
                  <a:t>再加上</a:t>
                </a:r>
                <a:r>
                  <a:rPr lang="en-US" altLang="zh-CN" sz="1800" i="0" dirty="0">
                    <a:solidFill>
                      <a:srgbClr val="C830CC">
                        <a:lumMod val="75000"/>
                      </a:srgbClr>
                    </a:solidFill>
                    <a:latin typeface="Calibri"/>
                  </a:rPr>
                  <a:t>1</a:t>
                </a:r>
                <a:r>
                  <a:rPr lang="zh-CN" altLang="en-US" sz="1800" b="0" i="0" dirty="0">
                    <a:solidFill>
                      <a:srgbClr val="000000"/>
                    </a:solidFill>
                    <a:latin typeface="Calibri"/>
                  </a:rPr>
                  <a:t>。例如，二</a:t>
                </a:r>
              </a:p>
            </p:txBody>
          </p:sp>
        </p:grp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A8AA9570-51D7-524D-A4FE-6ECF91A02EA0}"/>
                </a:ext>
              </a:extLst>
            </p:cNvPr>
            <p:cNvSpPr txBox="1"/>
            <p:nvPr/>
          </p:nvSpPr>
          <p:spPr>
            <a:xfrm>
              <a:off x="546633" y="5304068"/>
              <a:ext cx="8234124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00" b="0" i="0" dirty="0">
                  <a:solidFill>
                    <a:srgbClr val="000000"/>
                  </a:solidFill>
                  <a:latin typeface="Calibri"/>
                </a:rPr>
                <a:t>进制数“</a:t>
              </a:r>
              <a:r>
                <a:rPr lang="en-US" altLang="zh-CN" sz="1800" b="0" i="0" dirty="0">
                  <a:solidFill>
                    <a:srgbClr val="000000"/>
                  </a:solidFill>
                  <a:latin typeface="Calibri"/>
                </a:rPr>
                <a:t>111</a:t>
              </a:r>
              <a:r>
                <a:rPr lang="zh-CN" altLang="en-US" sz="1800" b="0" i="0" dirty="0">
                  <a:solidFill>
                    <a:srgbClr val="000000"/>
                  </a:solidFill>
                  <a:latin typeface="Calibri"/>
                </a:rPr>
                <a:t>”表示十进制数</a:t>
              </a:r>
              <a:r>
                <a:rPr lang="en-US" altLang="zh-CN" sz="1800" b="0" i="0" dirty="0">
                  <a:solidFill>
                    <a:srgbClr val="000000"/>
                  </a:solidFill>
                  <a:latin typeface="Calibri"/>
                </a:rPr>
                <a:t>7</a:t>
              </a:r>
              <a:r>
                <a:rPr lang="zh-CN" altLang="en-US" sz="1800" b="0" i="0" dirty="0">
                  <a:solidFill>
                    <a:srgbClr val="000000"/>
                  </a:solidFill>
                  <a:latin typeface="Calibri"/>
                </a:rPr>
                <a:t>。</a:t>
              </a: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CA65430B-EBE5-DB48-B1FB-10D5A4374893}"/>
              </a:ext>
            </a:extLst>
          </p:cNvPr>
          <p:cNvGrpSpPr/>
          <p:nvPr/>
        </p:nvGrpSpPr>
        <p:grpSpPr>
          <a:xfrm>
            <a:off x="1619399" y="5217385"/>
            <a:ext cx="6180614" cy="715581"/>
            <a:chOff x="539939" y="5801126"/>
            <a:chExt cx="8240818" cy="954107"/>
          </a:xfrm>
        </p:grpSpPr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EBC2DBB7-3C5C-0A45-8308-BAD043D8B228}"/>
                </a:ext>
              </a:extLst>
            </p:cNvPr>
            <p:cNvSpPr txBox="1"/>
            <p:nvPr/>
          </p:nvSpPr>
          <p:spPr>
            <a:xfrm>
              <a:off x="546634" y="5801126"/>
              <a:ext cx="8234123" cy="492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zh-CN" altLang="en-US" sz="1800" b="0" i="0" dirty="0">
                  <a:solidFill>
                    <a:srgbClr val="000000"/>
                  </a:solidFill>
                  <a:latin typeface="Calibri"/>
                </a:rPr>
                <a:t>        通过上述策略，我们便建立了二进制数和</a:t>
              </a:r>
              <a:r>
                <a:rPr kumimoji="0" lang="en-US" altLang="zh-CN" sz="1800" b="0" i="0" dirty="0">
                  <a:solidFill>
                    <a:srgbClr val="000000"/>
                  </a:solidFill>
                  <a:latin typeface="Calibri"/>
                </a:rPr>
                <a:t>DFA</a:t>
              </a:r>
              <a:r>
                <a:rPr kumimoji="0" lang="zh-CN" altLang="en-US" sz="1800" b="0" i="0" dirty="0">
                  <a:solidFill>
                    <a:srgbClr val="000000"/>
                  </a:solidFill>
                  <a:latin typeface="Calibri"/>
                </a:rPr>
                <a:t>之间的直</a:t>
              </a:r>
              <a:endParaRPr lang="zh-CN" altLang="en-US" sz="1800" b="0" i="0" dirty="0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25AF703-198E-3541-AD57-056010604D8C}"/>
                </a:ext>
              </a:extLst>
            </p:cNvPr>
            <p:cNvSpPr txBox="1"/>
            <p:nvPr/>
          </p:nvSpPr>
          <p:spPr>
            <a:xfrm>
              <a:off x="539939" y="6262791"/>
              <a:ext cx="8234123" cy="492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00" b="0" i="0" dirty="0">
                  <a:solidFill>
                    <a:srgbClr val="000000"/>
                  </a:solidFill>
                  <a:latin typeface="Calibri"/>
                </a:rPr>
                <a:t>接关联。接下来看怎么处理“被</a:t>
              </a:r>
              <a:r>
                <a:rPr lang="en-US" altLang="zh-CN" sz="1800" b="0" i="0" dirty="0">
                  <a:solidFill>
                    <a:srgbClr val="000000"/>
                  </a:solidFill>
                  <a:latin typeface="Calibri"/>
                </a:rPr>
                <a:t>3</a:t>
              </a:r>
              <a:r>
                <a:rPr kumimoji="0" lang="zh-CN" altLang="en-US" sz="1800" b="0" i="0" dirty="0">
                  <a:solidFill>
                    <a:srgbClr val="000000"/>
                  </a:solidFill>
                  <a:latin typeface="Calibri"/>
                </a:rPr>
                <a:t>整除</a:t>
              </a:r>
              <a:r>
                <a:rPr lang="zh-CN" altLang="en-US" sz="1800" b="0" i="0" dirty="0">
                  <a:solidFill>
                    <a:srgbClr val="000000"/>
                  </a:solidFill>
                  <a:latin typeface="Calibri"/>
                </a:rPr>
                <a:t>”。</a:t>
              </a:r>
            </a:p>
          </p:txBody>
        </p: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4F3C88B3-DAA3-354F-90DA-8D7AAAB66FBA}"/>
              </a:ext>
            </a:extLst>
          </p:cNvPr>
          <p:cNvSpPr txBox="1"/>
          <p:nvPr/>
        </p:nvSpPr>
        <p:spPr>
          <a:xfrm>
            <a:off x="1600200" y="1794307"/>
            <a:ext cx="6175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68580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800" b="0" i="0" dirty="0">
                <a:solidFill>
                  <a:srgbClr val="000000"/>
                </a:solidFill>
                <a:latin typeface="Calibri"/>
              </a:rPr>
              <a:t>例</a:t>
            </a:r>
            <a:r>
              <a:rPr kumimoji="0" lang="en-US" altLang="zh-CN" sz="1800" b="0" i="0" dirty="0">
                <a:solidFill>
                  <a:srgbClr val="000000"/>
                </a:solidFill>
                <a:latin typeface="Calibri"/>
              </a:rPr>
              <a:t>10</a:t>
            </a:r>
            <a:r>
              <a:rPr lang="zh-CN" altLang="en-US" sz="1800" b="0" i="0" dirty="0">
                <a:solidFill>
                  <a:srgbClr val="000000"/>
                </a:solidFill>
                <a:latin typeface="Calibri"/>
              </a:rPr>
              <a:t>：设计</a:t>
            </a:r>
            <a:r>
              <a:rPr lang="en-US" altLang="zh-CN" sz="1800" b="0" i="0" dirty="0">
                <a:solidFill>
                  <a:srgbClr val="000000"/>
                </a:solidFill>
                <a:latin typeface="Calibri"/>
              </a:rPr>
              <a:t>DFA</a:t>
            </a:r>
            <a:r>
              <a:rPr kumimoji="0" lang="zh-CN" altLang="en-US" sz="1800" b="0" i="0" dirty="0">
                <a:solidFill>
                  <a:srgbClr val="000000"/>
                </a:solidFill>
                <a:latin typeface="Calibri"/>
              </a:rPr>
              <a:t>表示所有被</a:t>
            </a:r>
            <a:r>
              <a:rPr kumimoji="0" lang="en-US" altLang="zh-CN" sz="1800" b="0" i="0" dirty="0">
                <a:solidFill>
                  <a:srgbClr val="000000"/>
                </a:solidFill>
                <a:latin typeface="Calibri"/>
              </a:rPr>
              <a:t>3</a:t>
            </a:r>
            <a:r>
              <a:rPr kumimoji="0" lang="zh-CN" altLang="en-US" sz="1800" b="0" i="0" dirty="0">
                <a:solidFill>
                  <a:srgbClr val="000000"/>
                </a:solidFill>
                <a:latin typeface="Calibri"/>
              </a:rPr>
              <a:t>整除的二进制数。</a:t>
            </a:r>
            <a:endParaRPr lang="zh-CN" altLang="en-US" sz="1800" b="0" i="0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49708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9E4809-253F-8644-B6FF-1DF66E56A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华文行楷" pitchFamily="2" charset="-122"/>
              </a:rPr>
              <a:t>确定有穷自动机 </a:t>
            </a:r>
            <a:r>
              <a:rPr lang="en-US" altLang="zh-CN" dirty="0">
                <a:ea typeface="华文行楷" pitchFamily="2" charset="-122"/>
              </a:rPr>
              <a:t>(</a:t>
            </a:r>
            <a:r>
              <a:rPr lang="zh-CN" altLang="en-US" dirty="0">
                <a:ea typeface="华文行楷" pitchFamily="2" charset="-122"/>
              </a:rPr>
              <a:t>回顾</a:t>
            </a:r>
            <a:r>
              <a:rPr lang="en-US" altLang="zh-CN" dirty="0">
                <a:ea typeface="华文行楷" pitchFamily="2" charset="-122"/>
              </a:rPr>
              <a:t>)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F51F3F-457D-5B41-900D-06244F264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A60C455B-B212-44F5-BDE5-4E865130930B}" type="slidenum">
              <a:rPr kumimoji="0" lang="en-US" altLang="zh-CN" b="0" i="0">
                <a:solidFill>
                  <a:prstClr val="black">
                    <a:tint val="75000"/>
                  </a:prstClr>
                </a:solidFill>
                <a:latin typeface="Calibri"/>
              </a:rPr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t>51</a:t>
            </a:fld>
            <a:endParaRPr kumimoji="0" lang="en-US" altLang="zh-CN" b="0" i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F3C88B3-DAA3-354F-90DA-8D7AAAB66FBA}"/>
              </a:ext>
            </a:extLst>
          </p:cNvPr>
          <p:cNvSpPr txBox="1"/>
          <p:nvPr/>
        </p:nvSpPr>
        <p:spPr>
          <a:xfrm>
            <a:off x="385755" y="1785020"/>
            <a:ext cx="6175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68580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800" b="0" i="0" dirty="0">
                <a:solidFill>
                  <a:srgbClr val="000000"/>
                </a:solidFill>
                <a:latin typeface="Calibri"/>
              </a:rPr>
              <a:t>例</a:t>
            </a:r>
            <a:r>
              <a:rPr kumimoji="0" lang="en-US" altLang="zh-CN" sz="1800" b="0" i="0" dirty="0">
                <a:solidFill>
                  <a:srgbClr val="000000"/>
                </a:solidFill>
                <a:latin typeface="Calibri"/>
              </a:rPr>
              <a:t>10</a:t>
            </a:r>
            <a:r>
              <a:rPr lang="zh-CN" altLang="en-US" sz="1800" b="0" i="0" dirty="0">
                <a:solidFill>
                  <a:srgbClr val="000000"/>
                </a:solidFill>
                <a:latin typeface="Calibri"/>
              </a:rPr>
              <a:t>：设计</a:t>
            </a:r>
            <a:r>
              <a:rPr lang="en-US" altLang="zh-CN" sz="1800" b="0" i="0" dirty="0">
                <a:solidFill>
                  <a:srgbClr val="000000"/>
                </a:solidFill>
                <a:latin typeface="Calibri"/>
              </a:rPr>
              <a:t>DFA</a:t>
            </a:r>
            <a:r>
              <a:rPr kumimoji="0" lang="zh-CN" altLang="en-US" sz="1800" b="0" i="0" dirty="0">
                <a:solidFill>
                  <a:srgbClr val="000000"/>
                </a:solidFill>
                <a:latin typeface="Calibri"/>
              </a:rPr>
              <a:t>表示所有被</a:t>
            </a:r>
            <a:r>
              <a:rPr kumimoji="0" lang="en-US" altLang="zh-CN" sz="1800" b="0" i="0" dirty="0">
                <a:solidFill>
                  <a:srgbClr val="000000"/>
                </a:solidFill>
                <a:latin typeface="Calibri"/>
              </a:rPr>
              <a:t>3</a:t>
            </a:r>
            <a:r>
              <a:rPr kumimoji="0" lang="zh-CN" altLang="en-US" sz="1800" b="0" i="0" dirty="0">
                <a:solidFill>
                  <a:srgbClr val="000000"/>
                </a:solidFill>
                <a:latin typeface="Calibri"/>
              </a:rPr>
              <a:t>整除的二进制数。</a:t>
            </a:r>
            <a:endParaRPr lang="zh-CN" altLang="en-US" sz="1800" b="0" i="0" dirty="0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9BE31297-A49A-B843-B347-F0B27534B2D7}"/>
              </a:ext>
            </a:extLst>
          </p:cNvPr>
          <p:cNvGrpSpPr/>
          <p:nvPr/>
        </p:nvGrpSpPr>
        <p:grpSpPr>
          <a:xfrm>
            <a:off x="400178" y="2258454"/>
            <a:ext cx="6180370" cy="1085349"/>
            <a:chOff x="533570" y="1868271"/>
            <a:chExt cx="8240493" cy="1447132"/>
          </a:xfrm>
        </p:grpSpPr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7CA2B4E9-D045-BD44-B0C7-817BA84BAEA9}"/>
                </a:ext>
              </a:extLst>
            </p:cNvPr>
            <p:cNvSpPr txBox="1"/>
            <p:nvPr/>
          </p:nvSpPr>
          <p:spPr>
            <a:xfrm>
              <a:off x="539939" y="1868271"/>
              <a:ext cx="8234124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00" b="0" i="0" dirty="0">
                  <a:solidFill>
                    <a:srgbClr val="000000"/>
                  </a:solidFill>
                  <a:latin typeface="Calibri"/>
                </a:rPr>
                <a:t>解：根据整除关系，我们可以把所有的整数分成三类：被</a:t>
              </a:r>
              <a:r>
                <a:rPr lang="en-US" altLang="zh-CN" sz="1800" b="0" i="0" dirty="0">
                  <a:solidFill>
                    <a:srgbClr val="000000"/>
                  </a:solidFill>
                  <a:latin typeface="Calibri"/>
                </a:rPr>
                <a:t>3</a:t>
              </a:r>
              <a:endParaRPr lang="zh-CN" altLang="en-US" sz="1800" b="0" i="0" dirty="0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F9452EA1-2EC6-794E-BF51-CF21176495B5}"/>
                </a:ext>
              </a:extLst>
            </p:cNvPr>
            <p:cNvSpPr txBox="1"/>
            <p:nvPr/>
          </p:nvSpPr>
          <p:spPr>
            <a:xfrm>
              <a:off x="539939" y="2361295"/>
              <a:ext cx="8234124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00" b="0" i="0" dirty="0">
                  <a:solidFill>
                    <a:srgbClr val="000000"/>
                  </a:solidFill>
                  <a:latin typeface="Calibri"/>
                </a:rPr>
                <a:t>除余数为</a:t>
              </a:r>
              <a:r>
                <a:rPr lang="en-US" altLang="zh-CN" sz="1800" b="0" i="0" dirty="0">
                  <a:solidFill>
                    <a:srgbClr val="000000"/>
                  </a:solidFill>
                  <a:latin typeface="Calibri"/>
                </a:rPr>
                <a:t>0</a:t>
              </a:r>
              <a:r>
                <a:rPr lang="zh-CN" altLang="en-US" sz="1800" b="0" i="0" dirty="0">
                  <a:solidFill>
                    <a:srgbClr val="000000"/>
                  </a:solidFill>
                  <a:latin typeface="Calibri"/>
                </a:rPr>
                <a:t>、余数为</a:t>
              </a:r>
              <a:r>
                <a:rPr lang="en-US" altLang="zh-CN" sz="1800" b="0" i="0" dirty="0">
                  <a:solidFill>
                    <a:srgbClr val="000000"/>
                  </a:solidFill>
                  <a:latin typeface="Calibri"/>
                </a:rPr>
                <a:t>1</a:t>
              </a:r>
              <a:r>
                <a:rPr lang="zh-CN" altLang="en-US" sz="1800" b="0" i="0" dirty="0">
                  <a:solidFill>
                    <a:srgbClr val="000000"/>
                  </a:solidFill>
                  <a:latin typeface="Calibri"/>
                </a:rPr>
                <a:t>和余数为</a:t>
              </a:r>
              <a:r>
                <a:rPr lang="en-US" altLang="zh-CN" sz="1800" b="0" i="0" dirty="0">
                  <a:solidFill>
                    <a:srgbClr val="000000"/>
                  </a:solidFill>
                  <a:latin typeface="Calibri"/>
                </a:rPr>
                <a:t>2</a:t>
              </a:r>
              <a:r>
                <a:rPr lang="zh-CN" altLang="en-US" sz="1800" b="0" i="0" dirty="0">
                  <a:solidFill>
                    <a:srgbClr val="000000"/>
                  </a:solidFill>
                  <a:latin typeface="Calibri"/>
                </a:rPr>
                <a:t>。这三类可以分别对应</a:t>
              </a:r>
              <a:r>
                <a:rPr lang="en-US" altLang="zh-CN" sz="1800" b="0" i="0" dirty="0">
                  <a:solidFill>
                    <a:srgbClr val="000000"/>
                  </a:solidFill>
                  <a:latin typeface="Calibri"/>
                </a:rPr>
                <a:t>DFA</a:t>
              </a:r>
              <a:endParaRPr lang="zh-CN" altLang="en-US" sz="1800" b="0" i="0" dirty="0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4921301B-B466-3240-90F5-D040B10390A1}"/>
                </a:ext>
              </a:extLst>
            </p:cNvPr>
            <p:cNvSpPr txBox="1"/>
            <p:nvPr/>
          </p:nvSpPr>
          <p:spPr>
            <a:xfrm>
              <a:off x="533570" y="2822960"/>
              <a:ext cx="8234124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00" b="0" i="0" dirty="0">
                  <a:solidFill>
                    <a:srgbClr val="000000"/>
                  </a:solidFill>
                  <a:latin typeface="Calibri"/>
                </a:rPr>
                <a:t>中的三个状态节点。</a:t>
              </a:r>
            </a:p>
          </p:txBody>
        </p:sp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id="{BFDE113A-2B57-CF4B-BCB4-4F9C74783588}"/>
              </a:ext>
            </a:extLst>
          </p:cNvPr>
          <p:cNvSpPr txBox="1"/>
          <p:nvPr/>
        </p:nvSpPr>
        <p:spPr>
          <a:xfrm>
            <a:off x="836712" y="3344238"/>
            <a:ext cx="6175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68580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800" b="0" i="0" dirty="0">
                <a:solidFill>
                  <a:srgbClr val="000000"/>
                </a:solidFill>
                <a:latin typeface="Calibri"/>
              </a:rPr>
              <a:t>接下来看状态节点之间的转移情况。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DF524FFE-5925-0F48-AEB6-FC338391EB31}"/>
              </a:ext>
            </a:extLst>
          </p:cNvPr>
          <p:cNvSpPr txBox="1"/>
          <p:nvPr/>
        </p:nvSpPr>
        <p:spPr>
          <a:xfrm>
            <a:off x="836712" y="5555849"/>
            <a:ext cx="6175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68580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800" b="0" i="0" dirty="0">
                <a:solidFill>
                  <a:srgbClr val="000000"/>
                </a:solidFill>
                <a:latin typeface="Calibri"/>
              </a:rPr>
              <a:t>因此，可以根据上表来设计</a:t>
            </a:r>
            <a:r>
              <a:rPr lang="en-US" altLang="zh-CN" sz="1800" b="0" i="0" dirty="0">
                <a:solidFill>
                  <a:srgbClr val="000000"/>
                </a:solidFill>
                <a:latin typeface="Calibri"/>
              </a:rPr>
              <a:t>DFA</a:t>
            </a:r>
            <a:r>
              <a:rPr lang="zh-CN" altLang="en-US" sz="1800" b="0" i="0" dirty="0">
                <a:solidFill>
                  <a:srgbClr val="000000"/>
                </a:solidFill>
                <a:latin typeface="Calibri"/>
              </a:rPr>
              <a:t>。</a:t>
            </a: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E85D8475-8CC0-2740-B754-C8388587314B}"/>
              </a:ext>
            </a:extLst>
          </p:cNvPr>
          <p:cNvSpPr/>
          <p:nvPr/>
        </p:nvSpPr>
        <p:spPr bwMode="auto">
          <a:xfrm>
            <a:off x="5715000" y="3666968"/>
            <a:ext cx="486054" cy="486054"/>
          </a:xfrm>
          <a:prstGeom prst="ellips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/>
            <a:endParaRPr lang="zh-CN" altLang="en-US" sz="1500"/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30948A20-C786-D442-95AC-021FE0E4CCC5}"/>
              </a:ext>
            </a:extLst>
          </p:cNvPr>
          <p:cNvSpPr/>
          <p:nvPr/>
        </p:nvSpPr>
        <p:spPr bwMode="auto">
          <a:xfrm>
            <a:off x="7271720" y="3655698"/>
            <a:ext cx="486054" cy="486054"/>
          </a:xfrm>
          <a:prstGeom prst="ellips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/>
            <a:r>
              <a:rPr lang="en-US" altLang="zh-CN" sz="1800" b="0" i="0" dirty="0">
                <a:solidFill>
                  <a:srgbClr val="000000"/>
                </a:solidFill>
              </a:rPr>
              <a:t>0</a:t>
            </a:r>
            <a:endParaRPr lang="zh-CN" altLang="en-US" sz="1800" b="0" i="0" dirty="0">
              <a:solidFill>
                <a:srgbClr val="000000"/>
              </a:solidFill>
            </a:endParaRP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E15F4C5C-8C36-A649-9A76-78B032A81DC6}"/>
              </a:ext>
            </a:extLst>
          </p:cNvPr>
          <p:cNvSpPr/>
          <p:nvPr/>
        </p:nvSpPr>
        <p:spPr bwMode="auto">
          <a:xfrm>
            <a:off x="5715000" y="4963112"/>
            <a:ext cx="486054" cy="486054"/>
          </a:xfrm>
          <a:prstGeom prst="ellips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/>
            <a:r>
              <a:rPr lang="en-US" altLang="zh-CN" sz="1800" b="0" i="0" dirty="0">
                <a:solidFill>
                  <a:srgbClr val="000000"/>
                </a:solidFill>
              </a:rPr>
              <a:t>2</a:t>
            </a:r>
            <a:endParaRPr lang="zh-CN" altLang="en-US" sz="1800" b="0" i="0" dirty="0">
              <a:solidFill>
                <a:srgbClr val="000000"/>
              </a:solidFill>
            </a:endParaRPr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879BF808-0E0D-8E47-AF46-8283B61F9675}"/>
              </a:ext>
            </a:extLst>
          </p:cNvPr>
          <p:cNvSpPr/>
          <p:nvPr/>
        </p:nvSpPr>
        <p:spPr bwMode="auto">
          <a:xfrm>
            <a:off x="7271720" y="4963112"/>
            <a:ext cx="486054" cy="486054"/>
          </a:xfrm>
          <a:prstGeom prst="ellips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/>
            <a:r>
              <a:rPr kumimoji="0" lang="en-US" altLang="zh-CN" sz="1800" b="0" i="0" dirty="0">
                <a:solidFill>
                  <a:srgbClr val="000000"/>
                </a:solidFill>
                <a:latin typeface="Calibri"/>
              </a:rPr>
              <a:t>1</a:t>
            </a:r>
            <a:endParaRPr lang="zh-CN" altLang="en-US" sz="1800" b="0" i="0" dirty="0">
              <a:solidFill>
                <a:srgbClr val="000000"/>
              </a:solidFill>
            </a:endParaRPr>
          </a:p>
        </p:txBody>
      </p:sp>
      <p:cxnSp>
        <p:nvCxnSpPr>
          <p:cNvPr id="35" name="直线箭头连接符 34">
            <a:extLst>
              <a:ext uri="{FF2B5EF4-FFF2-40B4-BE49-F238E27FC236}">
                <a16:creationId xmlns:a16="http://schemas.microsoft.com/office/drawing/2014/main" id="{0052B756-DD75-5D49-B689-5FE79848579F}"/>
              </a:ext>
            </a:extLst>
          </p:cNvPr>
          <p:cNvCxnSpPr>
            <a:cxnSpLocks/>
            <a:endCxn id="32" idx="2"/>
          </p:cNvCxnSpPr>
          <p:nvPr/>
        </p:nvCxnSpPr>
        <p:spPr bwMode="auto">
          <a:xfrm flipV="1">
            <a:off x="6215142" y="3898725"/>
            <a:ext cx="1056578" cy="563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cxnSp>
        <p:nvCxnSpPr>
          <p:cNvPr id="36" name="直线箭头连接符 35">
            <a:extLst>
              <a:ext uri="{FF2B5EF4-FFF2-40B4-BE49-F238E27FC236}">
                <a16:creationId xmlns:a16="http://schemas.microsoft.com/office/drawing/2014/main" id="{EF17BA64-E2AE-5547-9CA1-26E2B41B1437}"/>
              </a:ext>
            </a:extLst>
          </p:cNvPr>
          <p:cNvCxnSpPr>
            <a:cxnSpLocks/>
            <a:stCxn id="32" idx="3"/>
            <a:endCxn id="34" idx="1"/>
          </p:cNvCxnSpPr>
          <p:nvPr/>
        </p:nvCxnSpPr>
        <p:spPr bwMode="auto">
          <a:xfrm>
            <a:off x="7342901" y="4070571"/>
            <a:ext cx="0" cy="96372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885AEF30-D5E1-0D4F-A4C9-F97021D87CDA}"/>
              </a:ext>
            </a:extLst>
          </p:cNvPr>
          <p:cNvSpPr txBox="1"/>
          <p:nvPr/>
        </p:nvSpPr>
        <p:spPr>
          <a:xfrm>
            <a:off x="6579096" y="3504950"/>
            <a:ext cx="270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i="0" dirty="0">
                <a:solidFill>
                  <a:srgbClr val="000000"/>
                </a:solidFill>
                <a:latin typeface="Calibri"/>
                <a:cs typeface="Times New Roman" panose="02020603050405020304" pitchFamily="18" charset="0"/>
              </a:rPr>
              <a:t>0</a:t>
            </a:r>
            <a:endParaRPr lang="zh-CN" altLang="en-US" sz="1800" b="0" i="0" dirty="0">
              <a:solidFill>
                <a:srgbClr val="000000"/>
              </a:solidFill>
              <a:latin typeface="Calibri"/>
              <a:cs typeface="Times New Roman" panose="02020603050405020304" pitchFamily="18" charset="0"/>
            </a:endParaRPr>
          </a:p>
        </p:txBody>
      </p:sp>
      <p:sp>
        <p:nvSpPr>
          <p:cNvPr id="38" name="弧 37">
            <a:extLst>
              <a:ext uri="{FF2B5EF4-FFF2-40B4-BE49-F238E27FC236}">
                <a16:creationId xmlns:a16="http://schemas.microsoft.com/office/drawing/2014/main" id="{4F088A05-2C39-524D-AD67-B6CE68C9223C}"/>
              </a:ext>
            </a:extLst>
          </p:cNvPr>
          <p:cNvSpPr/>
          <p:nvPr/>
        </p:nvSpPr>
        <p:spPr bwMode="auto">
          <a:xfrm rot="11190199">
            <a:off x="7367644" y="3355114"/>
            <a:ext cx="294206" cy="318601"/>
          </a:xfrm>
          <a:prstGeom prst="arc">
            <a:avLst>
              <a:gd name="adj1" fmla="val 17142475"/>
              <a:gd name="adj2" fmla="val 14430358"/>
            </a:avLst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/>
            <a:endParaRPr lang="zh-CN" altLang="en-US" sz="150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D60DBB80-B15A-BF4B-AAE9-57E8B3A5E0DC}"/>
              </a:ext>
            </a:extLst>
          </p:cNvPr>
          <p:cNvSpPr txBox="1"/>
          <p:nvPr/>
        </p:nvSpPr>
        <p:spPr>
          <a:xfrm>
            <a:off x="7379732" y="3007119"/>
            <a:ext cx="270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i="0" dirty="0">
                <a:solidFill>
                  <a:srgbClr val="000000"/>
                </a:solidFill>
                <a:latin typeface="Calibri"/>
                <a:cs typeface="Times New Roman" panose="02020603050405020304" pitchFamily="18" charset="0"/>
              </a:rPr>
              <a:t>0</a:t>
            </a:r>
            <a:endParaRPr lang="zh-CN" altLang="en-US" sz="1800" b="0" i="0" dirty="0">
              <a:solidFill>
                <a:srgbClr val="000000"/>
              </a:solidFill>
              <a:latin typeface="Calibri"/>
              <a:cs typeface="Times New Roman" panose="02020603050405020304" pitchFamily="18" charset="0"/>
            </a:endParaRPr>
          </a:p>
        </p:txBody>
      </p:sp>
      <p:cxnSp>
        <p:nvCxnSpPr>
          <p:cNvPr id="40" name="直线箭头连接符 39">
            <a:extLst>
              <a:ext uri="{FF2B5EF4-FFF2-40B4-BE49-F238E27FC236}">
                <a16:creationId xmlns:a16="http://schemas.microsoft.com/office/drawing/2014/main" id="{356A3B5A-BC2C-BC47-8C7C-6BD6BBA68661}"/>
              </a:ext>
            </a:extLst>
          </p:cNvPr>
          <p:cNvCxnSpPr>
            <a:cxnSpLocks/>
            <a:stCxn id="33" idx="5"/>
            <a:endCxn id="34" idx="3"/>
          </p:cNvCxnSpPr>
          <p:nvPr/>
        </p:nvCxnSpPr>
        <p:spPr bwMode="auto">
          <a:xfrm>
            <a:off x="6129873" y="5377985"/>
            <a:ext cx="121302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B8815A73-0F0B-934D-9FCA-85A7ACC796C5}"/>
              </a:ext>
            </a:extLst>
          </p:cNvPr>
          <p:cNvSpPr txBox="1"/>
          <p:nvPr/>
        </p:nvSpPr>
        <p:spPr>
          <a:xfrm>
            <a:off x="6601372" y="5515865"/>
            <a:ext cx="270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i="0" dirty="0">
                <a:solidFill>
                  <a:srgbClr val="000000"/>
                </a:solidFill>
                <a:latin typeface="Calibri"/>
                <a:cs typeface="Times New Roman" panose="02020603050405020304" pitchFamily="18" charset="0"/>
              </a:rPr>
              <a:t>0</a:t>
            </a:r>
            <a:endParaRPr lang="zh-CN" altLang="en-US" sz="1800" b="0" i="0" dirty="0">
              <a:solidFill>
                <a:srgbClr val="000000"/>
              </a:solidFill>
              <a:latin typeface="Calibri"/>
              <a:cs typeface="Times New Roman" panose="02020603050405020304" pitchFamily="18" charset="0"/>
            </a:endParaRPr>
          </a:p>
        </p:txBody>
      </p:sp>
      <p:cxnSp>
        <p:nvCxnSpPr>
          <p:cNvPr id="42" name="直线箭头连接符 41">
            <a:extLst>
              <a:ext uri="{FF2B5EF4-FFF2-40B4-BE49-F238E27FC236}">
                <a16:creationId xmlns:a16="http://schemas.microsoft.com/office/drawing/2014/main" id="{6B580A05-B647-FA40-824B-DD6248A63CB7}"/>
              </a:ext>
            </a:extLst>
          </p:cNvPr>
          <p:cNvCxnSpPr>
            <a:cxnSpLocks/>
            <a:stCxn id="34" idx="1"/>
            <a:endCxn id="33" idx="7"/>
          </p:cNvCxnSpPr>
          <p:nvPr/>
        </p:nvCxnSpPr>
        <p:spPr bwMode="auto">
          <a:xfrm flipH="1">
            <a:off x="6129873" y="5034293"/>
            <a:ext cx="121302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DEFBAD53-A0A6-8143-BEE1-89258FECA957}"/>
              </a:ext>
            </a:extLst>
          </p:cNvPr>
          <p:cNvSpPr txBox="1"/>
          <p:nvPr/>
        </p:nvSpPr>
        <p:spPr>
          <a:xfrm>
            <a:off x="6660161" y="4667797"/>
            <a:ext cx="270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i="0" dirty="0">
                <a:solidFill>
                  <a:srgbClr val="000000"/>
                </a:solidFill>
                <a:latin typeface="Calibri"/>
                <a:cs typeface="Times New Roman" panose="02020603050405020304" pitchFamily="18" charset="0"/>
              </a:rPr>
              <a:t>0</a:t>
            </a:r>
            <a:endParaRPr lang="zh-CN" altLang="en-US" sz="1800" b="0" i="0" dirty="0">
              <a:solidFill>
                <a:srgbClr val="000000"/>
              </a:solidFill>
              <a:latin typeface="Calibri"/>
              <a:cs typeface="Times New Roman" panose="02020603050405020304" pitchFamily="18" charset="0"/>
            </a:endParaRPr>
          </a:p>
        </p:txBody>
      </p:sp>
      <p:sp>
        <p:nvSpPr>
          <p:cNvPr id="44" name="弧 43">
            <a:extLst>
              <a:ext uri="{FF2B5EF4-FFF2-40B4-BE49-F238E27FC236}">
                <a16:creationId xmlns:a16="http://schemas.microsoft.com/office/drawing/2014/main" id="{B76DFB6C-EC67-934C-B347-7D89BECF171D}"/>
              </a:ext>
            </a:extLst>
          </p:cNvPr>
          <p:cNvSpPr/>
          <p:nvPr/>
        </p:nvSpPr>
        <p:spPr bwMode="auto">
          <a:xfrm rot="11190199">
            <a:off x="5810923" y="4648756"/>
            <a:ext cx="294206" cy="318601"/>
          </a:xfrm>
          <a:prstGeom prst="arc">
            <a:avLst>
              <a:gd name="adj1" fmla="val 17142475"/>
              <a:gd name="adj2" fmla="val 14430358"/>
            </a:avLst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/>
            <a:endParaRPr lang="zh-CN" altLang="en-US" sz="1500"/>
          </a:p>
        </p:txBody>
      </p:sp>
      <p:cxnSp>
        <p:nvCxnSpPr>
          <p:cNvPr id="45" name="直线箭头连接符 44">
            <a:extLst>
              <a:ext uri="{FF2B5EF4-FFF2-40B4-BE49-F238E27FC236}">
                <a16:creationId xmlns:a16="http://schemas.microsoft.com/office/drawing/2014/main" id="{AA59E3A8-E06E-6F40-AD57-2BA1DBD7BB41}"/>
              </a:ext>
            </a:extLst>
          </p:cNvPr>
          <p:cNvCxnSpPr>
            <a:cxnSpLocks/>
          </p:cNvCxnSpPr>
          <p:nvPr/>
        </p:nvCxnSpPr>
        <p:spPr bwMode="auto">
          <a:xfrm>
            <a:off x="4975415" y="3909995"/>
            <a:ext cx="71279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4F4E792A-9DB1-FC44-B736-E6476063DFBA}"/>
              </a:ext>
            </a:extLst>
          </p:cNvPr>
          <p:cNvSpPr txBox="1"/>
          <p:nvPr/>
        </p:nvSpPr>
        <p:spPr>
          <a:xfrm>
            <a:off x="5823011" y="4283125"/>
            <a:ext cx="270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i="0" dirty="0">
                <a:solidFill>
                  <a:srgbClr val="000000"/>
                </a:solidFill>
                <a:latin typeface="Calibri"/>
                <a:cs typeface="Times New Roman" panose="02020603050405020304" pitchFamily="18" charset="0"/>
              </a:rPr>
              <a:t>1</a:t>
            </a:r>
            <a:endParaRPr lang="zh-CN" altLang="en-US" sz="1800" b="0" i="0" dirty="0">
              <a:solidFill>
                <a:srgbClr val="000000"/>
              </a:solidFill>
              <a:latin typeface="Calibri"/>
              <a:cs typeface="Times New Roman" panose="02020603050405020304" pitchFamily="18" charset="0"/>
            </a:endParaRPr>
          </a:p>
        </p:txBody>
      </p:sp>
      <p:cxnSp>
        <p:nvCxnSpPr>
          <p:cNvPr id="47" name="直线箭头连接符 46">
            <a:extLst>
              <a:ext uri="{FF2B5EF4-FFF2-40B4-BE49-F238E27FC236}">
                <a16:creationId xmlns:a16="http://schemas.microsoft.com/office/drawing/2014/main" id="{C807CF4B-43B2-6044-B4A3-E47E173D4F1D}"/>
              </a:ext>
            </a:extLst>
          </p:cNvPr>
          <p:cNvCxnSpPr>
            <a:cxnSpLocks/>
            <a:stCxn id="34" idx="7"/>
            <a:endCxn id="32" idx="5"/>
          </p:cNvCxnSpPr>
          <p:nvPr/>
        </p:nvCxnSpPr>
        <p:spPr bwMode="auto">
          <a:xfrm flipV="1">
            <a:off x="7686593" y="4070571"/>
            <a:ext cx="0" cy="96372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5E0C735E-EBA0-7B4C-AA95-853BF0C52ADC}"/>
              </a:ext>
            </a:extLst>
          </p:cNvPr>
          <p:cNvSpPr txBox="1"/>
          <p:nvPr/>
        </p:nvSpPr>
        <p:spPr>
          <a:xfrm>
            <a:off x="7043687" y="4285634"/>
            <a:ext cx="270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i="0" dirty="0">
                <a:solidFill>
                  <a:srgbClr val="000000"/>
                </a:solidFill>
                <a:latin typeface="Calibri"/>
                <a:cs typeface="Times New Roman" panose="02020603050405020304" pitchFamily="18" charset="0"/>
              </a:rPr>
              <a:t>1</a:t>
            </a:r>
            <a:endParaRPr lang="zh-CN" altLang="en-US" sz="1800" b="0" i="0" dirty="0">
              <a:solidFill>
                <a:srgbClr val="000000"/>
              </a:solidFill>
              <a:latin typeface="Calibri"/>
              <a:cs typeface="Times New Roman" panose="02020603050405020304" pitchFamily="18" charset="0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BFD8B8C5-304E-1941-AEFC-E78B5F6642EC}"/>
              </a:ext>
            </a:extLst>
          </p:cNvPr>
          <p:cNvSpPr txBox="1"/>
          <p:nvPr/>
        </p:nvSpPr>
        <p:spPr>
          <a:xfrm>
            <a:off x="7739036" y="4283125"/>
            <a:ext cx="270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i="0" dirty="0">
                <a:solidFill>
                  <a:srgbClr val="000000"/>
                </a:solidFill>
                <a:latin typeface="Calibri"/>
                <a:cs typeface="Times New Roman" panose="02020603050405020304" pitchFamily="18" charset="0"/>
              </a:rPr>
              <a:t>1</a:t>
            </a:r>
            <a:endParaRPr lang="zh-CN" altLang="en-US" sz="1800" b="0" i="0" dirty="0">
              <a:solidFill>
                <a:srgbClr val="000000"/>
              </a:solidFill>
              <a:latin typeface="Calibri"/>
              <a:cs typeface="Times New Roman" panose="02020603050405020304" pitchFamily="18" charset="0"/>
            </a:endParaRP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112F31FB-B597-184E-9839-060DEF2CE398}"/>
              </a:ext>
            </a:extLst>
          </p:cNvPr>
          <p:cNvSpPr/>
          <p:nvPr/>
        </p:nvSpPr>
        <p:spPr bwMode="auto">
          <a:xfrm>
            <a:off x="7350548" y="3731236"/>
            <a:ext cx="328398" cy="346249"/>
          </a:xfrm>
          <a:prstGeom prst="ellips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/>
            <a:endParaRPr lang="zh-CN" altLang="en-US" sz="1800" b="0" i="0" dirty="0">
              <a:solidFill>
                <a:srgbClr val="000000"/>
              </a:solidFill>
            </a:endParaRPr>
          </a:p>
        </p:txBody>
      </p:sp>
      <p:cxnSp>
        <p:nvCxnSpPr>
          <p:cNvPr id="51" name="直线箭头连接符 50">
            <a:extLst>
              <a:ext uri="{FF2B5EF4-FFF2-40B4-BE49-F238E27FC236}">
                <a16:creationId xmlns:a16="http://schemas.microsoft.com/office/drawing/2014/main" id="{C5487A5A-2C30-5A4D-90C9-1594519CF11B}"/>
              </a:ext>
            </a:extLst>
          </p:cNvPr>
          <p:cNvCxnSpPr>
            <a:cxnSpLocks/>
            <a:stCxn id="31" idx="5"/>
          </p:cNvCxnSpPr>
          <p:nvPr/>
        </p:nvCxnSpPr>
        <p:spPr bwMode="auto">
          <a:xfrm>
            <a:off x="6129873" y="4081841"/>
            <a:ext cx="1141847" cy="88127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1E7A823B-0FBE-8842-9F6D-E34C80C539EC}"/>
              </a:ext>
            </a:extLst>
          </p:cNvPr>
          <p:cNvSpPr txBox="1"/>
          <p:nvPr/>
        </p:nvSpPr>
        <p:spPr>
          <a:xfrm>
            <a:off x="6398800" y="4041916"/>
            <a:ext cx="270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i="0" dirty="0">
                <a:solidFill>
                  <a:srgbClr val="000000"/>
                </a:solidFill>
                <a:latin typeface="Calibri"/>
                <a:cs typeface="Times New Roman" panose="02020603050405020304" pitchFamily="18" charset="0"/>
              </a:rPr>
              <a:t>1</a:t>
            </a:r>
            <a:endParaRPr lang="zh-CN" altLang="en-US" sz="1800" b="0" i="0" dirty="0">
              <a:solidFill>
                <a:srgbClr val="000000"/>
              </a:solidFill>
              <a:latin typeface="Calibri"/>
              <a:cs typeface="Times New Roman" panose="02020603050405020304" pitchFamily="18" charset="0"/>
            </a:endParaRPr>
          </a:p>
        </p:txBody>
      </p:sp>
      <p:graphicFrame>
        <p:nvGraphicFramePr>
          <p:cNvPr id="3" name="表格 4">
            <a:extLst>
              <a:ext uri="{FF2B5EF4-FFF2-40B4-BE49-F238E27FC236}">
                <a16:creationId xmlns:a16="http://schemas.microsoft.com/office/drawing/2014/main" id="{48B99989-E6EE-AE47-84ED-D3D64F2CB4AC}"/>
              </a:ext>
            </a:extLst>
          </p:cNvPr>
          <p:cNvGraphicFramePr>
            <a:graphicFrameLocks noGrp="1"/>
          </p:cNvGraphicFramePr>
          <p:nvPr/>
        </p:nvGraphicFramePr>
        <p:xfrm>
          <a:off x="902287" y="3698292"/>
          <a:ext cx="3590280" cy="18153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96760">
                  <a:extLst>
                    <a:ext uri="{9D8B030D-6E8A-4147-A177-3AD203B41FA5}">
                      <a16:colId xmlns:a16="http://schemas.microsoft.com/office/drawing/2014/main" val="3173375533"/>
                    </a:ext>
                  </a:extLst>
                </a:gridCol>
                <a:gridCol w="1196760">
                  <a:extLst>
                    <a:ext uri="{9D8B030D-6E8A-4147-A177-3AD203B41FA5}">
                      <a16:colId xmlns:a16="http://schemas.microsoft.com/office/drawing/2014/main" val="754568120"/>
                    </a:ext>
                  </a:extLst>
                </a:gridCol>
                <a:gridCol w="1196760">
                  <a:extLst>
                    <a:ext uri="{9D8B030D-6E8A-4147-A177-3AD203B41FA5}">
                      <a16:colId xmlns:a16="http://schemas.microsoft.com/office/drawing/2014/main" val="2763277007"/>
                    </a:ext>
                  </a:extLst>
                </a:gridCol>
              </a:tblGrid>
              <a:tr h="4538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X%3</a:t>
                      </a:r>
                      <a:endParaRPr lang="zh-CN" altLang="en-US" sz="10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X0%3</a:t>
                      </a:r>
                      <a:endParaRPr lang="zh-CN" altLang="en-US" sz="10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X1%3</a:t>
                      </a:r>
                      <a:endParaRPr lang="zh-CN" altLang="en-US" sz="10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91226336"/>
                  </a:ext>
                </a:extLst>
              </a:tr>
              <a:tr h="4538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</a:t>
                      </a:r>
                      <a:r>
                        <a:rPr lang="zh-CN" altLang="en-US" sz="1000" dirty="0"/>
                        <a:t> </a:t>
                      </a:r>
                      <a:r>
                        <a:rPr lang="en-US" altLang="zh-CN" sz="1000" dirty="0"/>
                        <a:t>(3K)</a:t>
                      </a:r>
                      <a:endParaRPr lang="zh-CN" altLang="en-US" sz="10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 </a:t>
                      </a:r>
                      <a:r>
                        <a:rPr lang="en-US" altLang="zh-CN" sz="1000" dirty="0"/>
                        <a:t>0</a:t>
                      </a:r>
                      <a:r>
                        <a:rPr lang="zh-CN" altLang="en-US" sz="1000" dirty="0"/>
                        <a:t> </a:t>
                      </a:r>
                      <a:r>
                        <a:rPr lang="en-US" altLang="zh-CN" sz="1000" dirty="0"/>
                        <a:t>(6K)</a:t>
                      </a:r>
                      <a:endParaRPr lang="zh-CN" altLang="en-US" sz="10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 </a:t>
                      </a:r>
                      <a:r>
                        <a:rPr lang="en-US" altLang="zh-CN" sz="1000" dirty="0"/>
                        <a:t>1</a:t>
                      </a:r>
                      <a:r>
                        <a:rPr lang="zh-CN" altLang="en-US" sz="1000" dirty="0"/>
                        <a:t> </a:t>
                      </a:r>
                      <a:r>
                        <a:rPr lang="en-US" altLang="zh-CN" sz="1000" dirty="0"/>
                        <a:t>(6K+1)</a:t>
                      </a:r>
                      <a:endParaRPr lang="zh-CN" altLang="en-US" sz="10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3844522801"/>
                  </a:ext>
                </a:extLst>
              </a:tr>
              <a:tr h="4538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1</a:t>
                      </a:r>
                      <a:r>
                        <a:rPr lang="zh-CN" altLang="en-US" sz="1000" dirty="0"/>
                        <a:t> </a:t>
                      </a:r>
                      <a:r>
                        <a:rPr lang="en-US" altLang="zh-CN" sz="1000" dirty="0"/>
                        <a:t>(3K+1)</a:t>
                      </a:r>
                      <a:endParaRPr lang="zh-CN" altLang="en-US" sz="10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 </a:t>
                      </a:r>
                      <a:r>
                        <a:rPr lang="en-US" altLang="zh-CN" sz="1000" dirty="0"/>
                        <a:t>2</a:t>
                      </a:r>
                      <a:r>
                        <a:rPr lang="zh-CN" altLang="en-US" sz="1000" dirty="0"/>
                        <a:t> </a:t>
                      </a:r>
                      <a:r>
                        <a:rPr lang="en-US" altLang="zh-CN" sz="1000" dirty="0"/>
                        <a:t>(6k+2)</a:t>
                      </a:r>
                      <a:endParaRPr lang="zh-CN" altLang="en-US" sz="10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 </a:t>
                      </a:r>
                      <a:r>
                        <a:rPr lang="en-US" altLang="zh-CN" sz="1000" dirty="0"/>
                        <a:t>0</a:t>
                      </a:r>
                      <a:r>
                        <a:rPr lang="zh-CN" altLang="en-US" sz="1000" dirty="0"/>
                        <a:t> </a:t>
                      </a:r>
                      <a:r>
                        <a:rPr lang="en-US" altLang="zh-CN" sz="1000" dirty="0"/>
                        <a:t>(6K+3)</a:t>
                      </a:r>
                      <a:endParaRPr lang="zh-CN" altLang="en-US" sz="10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155937016"/>
                  </a:ext>
                </a:extLst>
              </a:tr>
              <a:tr h="4538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2</a:t>
                      </a:r>
                      <a:r>
                        <a:rPr lang="zh-CN" altLang="en-US" sz="1000" dirty="0"/>
                        <a:t> </a:t>
                      </a:r>
                      <a:r>
                        <a:rPr lang="en-US" altLang="zh-CN" sz="1000" dirty="0"/>
                        <a:t>(3K+2)</a:t>
                      </a:r>
                      <a:endParaRPr lang="zh-CN" altLang="en-US" sz="10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 </a:t>
                      </a:r>
                      <a:r>
                        <a:rPr lang="en-US" altLang="zh-CN" sz="1000" dirty="0"/>
                        <a:t>1</a:t>
                      </a:r>
                      <a:r>
                        <a:rPr lang="zh-CN" altLang="en-US" sz="1000" dirty="0"/>
                        <a:t> </a:t>
                      </a:r>
                      <a:r>
                        <a:rPr lang="en-US" altLang="zh-CN" sz="1000" dirty="0"/>
                        <a:t>(6K+4)</a:t>
                      </a:r>
                      <a:endParaRPr lang="zh-CN" altLang="en-US" sz="10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 </a:t>
                      </a:r>
                      <a:r>
                        <a:rPr lang="en-US" altLang="zh-CN" sz="1000" dirty="0"/>
                        <a:t>2</a:t>
                      </a:r>
                      <a:r>
                        <a:rPr lang="zh-CN" altLang="en-US" sz="1000" dirty="0"/>
                        <a:t> </a:t>
                      </a:r>
                      <a:r>
                        <a:rPr lang="en-US" altLang="zh-CN" sz="1000" dirty="0"/>
                        <a:t>(6K+5)</a:t>
                      </a:r>
                      <a:endParaRPr lang="zh-CN" altLang="en-US" sz="10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5389736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0265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0" grpId="0"/>
      <p:bldP spid="31" grpId="0" animBg="1"/>
      <p:bldP spid="32" grpId="0" animBg="1"/>
      <p:bldP spid="33" grpId="0" animBg="1"/>
      <p:bldP spid="34" grpId="0" animBg="1"/>
      <p:bldP spid="37" grpId="0"/>
      <p:bldP spid="38" grpId="0" animBg="1"/>
      <p:bldP spid="39" grpId="0"/>
      <p:bldP spid="41" grpId="0"/>
      <p:bldP spid="43" grpId="0"/>
      <p:bldP spid="44" grpId="0" animBg="1"/>
      <p:bldP spid="46" grpId="0"/>
      <p:bldP spid="48" grpId="0"/>
      <p:bldP spid="49" grpId="0"/>
      <p:bldP spid="50" grpId="0" animBg="1"/>
      <p:bldP spid="52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.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Capsules">
  <a:themeElements>
    <a:clrScheme name="Capsules 2">
      <a:dk1>
        <a:srgbClr val="003366"/>
      </a:dk1>
      <a:lt1>
        <a:srgbClr val="FFFFFF"/>
      </a:lt1>
      <a:dk2>
        <a:srgbClr val="006666"/>
      </a:dk2>
      <a:lt2>
        <a:srgbClr val="003366"/>
      </a:lt2>
      <a:accent1>
        <a:srgbClr val="99CC99"/>
      </a:accent1>
      <a:accent2>
        <a:srgbClr val="33CCCC"/>
      </a:accent2>
      <a:accent3>
        <a:srgbClr val="FFFFFF"/>
      </a:accent3>
      <a:accent4>
        <a:srgbClr val="002A56"/>
      </a:accent4>
      <a:accent5>
        <a:srgbClr val="CAE2CA"/>
      </a:accent5>
      <a:accent6>
        <a:srgbClr val="2DB9B9"/>
      </a:accent6>
      <a:hlink>
        <a:srgbClr val="666699"/>
      </a:hlink>
      <a:folHlink>
        <a:srgbClr val="CC99FF"/>
      </a:folHlink>
    </a:clrScheme>
    <a:fontScheme name="Capsules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000" b="1" i="1" u="none" strike="noStrike" cap="none" normalizeH="0" baseline="0" smtClean="0">
            <a:ln>
              <a:noFill/>
            </a:ln>
            <a:solidFill>
              <a:srgbClr val="800080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000" b="1" i="1" u="none" strike="noStrike" cap="none" normalizeH="0" baseline="0" smtClean="0">
            <a:ln>
              <a:noFill/>
            </a:ln>
            <a:solidFill>
              <a:srgbClr val="800080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Capsules 1">
        <a:dk1>
          <a:srgbClr val="000066"/>
        </a:dk1>
        <a:lt1>
          <a:srgbClr val="FFFFEB"/>
        </a:lt1>
        <a:dk2>
          <a:srgbClr val="336699"/>
        </a:dk2>
        <a:lt2>
          <a:srgbClr val="FFFFEB"/>
        </a:lt2>
        <a:accent1>
          <a:srgbClr val="666699"/>
        </a:accent1>
        <a:accent2>
          <a:srgbClr val="99CCFF"/>
        </a:accent2>
        <a:accent3>
          <a:srgbClr val="ADB8CA"/>
        </a:accent3>
        <a:accent4>
          <a:srgbClr val="DADAC9"/>
        </a:accent4>
        <a:accent5>
          <a:srgbClr val="B8B8CA"/>
        </a:accent5>
        <a:accent6>
          <a:srgbClr val="8AB9E7"/>
        </a:accent6>
        <a:hlink>
          <a:srgbClr val="CCCCFF"/>
        </a:hlink>
        <a:folHlink>
          <a:srgbClr val="C68D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2">
        <a:dk1>
          <a:srgbClr val="003366"/>
        </a:dk1>
        <a:lt1>
          <a:srgbClr val="FFFFFF"/>
        </a:lt1>
        <a:dk2>
          <a:srgbClr val="006666"/>
        </a:dk2>
        <a:lt2>
          <a:srgbClr val="003366"/>
        </a:lt2>
        <a:accent1>
          <a:srgbClr val="99CC99"/>
        </a:accent1>
        <a:accent2>
          <a:srgbClr val="33CCCC"/>
        </a:accent2>
        <a:accent3>
          <a:srgbClr val="FFFFFF"/>
        </a:accent3>
        <a:accent4>
          <a:srgbClr val="002A56"/>
        </a:accent4>
        <a:accent5>
          <a:srgbClr val="CAE2CA"/>
        </a:accent5>
        <a:accent6>
          <a:srgbClr val="2DB9B9"/>
        </a:accent6>
        <a:hlink>
          <a:srgbClr val="666699"/>
        </a:hlink>
        <a:folHlink>
          <a:srgbClr val="CC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C0C0C0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737373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4">
        <a:dk1>
          <a:srgbClr val="000000"/>
        </a:dk1>
        <a:lt1>
          <a:srgbClr val="FFFFFF"/>
        </a:lt1>
        <a:dk2>
          <a:srgbClr val="9900CC"/>
        </a:dk2>
        <a:lt2>
          <a:srgbClr val="0033CC"/>
        </a:lt2>
        <a:accent1>
          <a:srgbClr val="FFCC66"/>
        </a:accent1>
        <a:accent2>
          <a:srgbClr val="33CC33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2DB92D"/>
        </a:accent6>
        <a:hlink>
          <a:srgbClr val="9900CC"/>
        </a:hlink>
        <a:folHlink>
          <a:srgbClr val="9900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主题1">
  <a:themeElements>
    <a:clrScheme name="紫红色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主题1" id="{F2CBA3DC-87F5-45E1-B70B-6C3BD31C931B}" vid="{98324BA4-9ED8-4B6F-B04C-AFE9D5A2B320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Designs\Capsules.pot</Template>
  <TotalTime>20610</TotalTime>
  <Words>3315</Words>
  <Application>Microsoft Macintosh PowerPoint</Application>
  <PresentationFormat>全屏显示(4:3)</PresentationFormat>
  <Paragraphs>560</Paragraphs>
  <Slides>51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51</vt:i4>
      </vt:variant>
    </vt:vector>
  </HeadingPairs>
  <TitlesOfParts>
    <vt:vector size="67" baseType="lpstr">
      <vt:lpstr>华文行楷</vt:lpstr>
      <vt:lpstr>KaiTi_GB2312</vt:lpstr>
      <vt:lpstr>KaiTi_GB2312</vt:lpstr>
      <vt:lpstr>等线</vt:lpstr>
      <vt:lpstr>宋体</vt:lpstr>
      <vt:lpstr>微软雅黑</vt:lpstr>
      <vt:lpstr>Arial</vt:lpstr>
      <vt:lpstr>Calibri</vt:lpstr>
      <vt:lpstr>Cambria Math</vt:lpstr>
      <vt:lpstr>Symbol</vt:lpstr>
      <vt:lpstr>Times New Roman</vt:lpstr>
      <vt:lpstr>Wingdings</vt:lpstr>
      <vt:lpstr>Capsules</vt:lpstr>
      <vt:lpstr>主题1</vt:lpstr>
      <vt:lpstr>VISIO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确定有穷自动机 (回顾)</vt:lpstr>
      <vt:lpstr>确定有穷自动机 (回顾)</vt:lpstr>
    </vt:vector>
  </TitlesOfParts>
  <Company>wyy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wang</dc:creator>
  <cp:lastModifiedBy>Xuebo Liu</cp:lastModifiedBy>
  <cp:revision>440</cp:revision>
  <dcterms:created xsi:type="dcterms:W3CDTF">2002-02-03T03:17:28Z</dcterms:created>
  <dcterms:modified xsi:type="dcterms:W3CDTF">2025-09-04T04:38:08Z</dcterms:modified>
</cp:coreProperties>
</file>