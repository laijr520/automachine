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69" r:id="rId2"/>
    <p:sldId id="264" r:id="rId3"/>
    <p:sldId id="268" r:id="rId4"/>
    <p:sldId id="1326" r:id="rId5"/>
    <p:sldId id="267" r:id="rId6"/>
    <p:sldId id="265" r:id="rId7"/>
    <p:sldId id="266" r:id="rId8"/>
    <p:sldId id="270" r:id="rId9"/>
    <p:sldId id="271" r:id="rId10"/>
    <p:sldId id="294" r:id="rId11"/>
    <p:sldId id="272" r:id="rId12"/>
    <p:sldId id="1360" r:id="rId13"/>
    <p:sldId id="273" r:id="rId14"/>
    <p:sldId id="274" r:id="rId15"/>
    <p:sldId id="299" r:id="rId16"/>
    <p:sldId id="276" r:id="rId17"/>
    <p:sldId id="297" r:id="rId18"/>
    <p:sldId id="298" r:id="rId19"/>
    <p:sldId id="279" r:id="rId20"/>
    <p:sldId id="281" r:id="rId21"/>
    <p:sldId id="280" r:id="rId22"/>
    <p:sldId id="1329" r:id="rId23"/>
    <p:sldId id="1327" r:id="rId24"/>
    <p:sldId id="1330" r:id="rId25"/>
    <p:sldId id="1328" r:id="rId26"/>
    <p:sldId id="1331" r:id="rId27"/>
    <p:sldId id="1332" r:id="rId28"/>
    <p:sldId id="1333" r:id="rId29"/>
    <p:sldId id="295" r:id="rId30"/>
    <p:sldId id="284" r:id="rId31"/>
    <p:sldId id="285" r:id="rId32"/>
    <p:sldId id="288" r:id="rId33"/>
    <p:sldId id="289" r:id="rId34"/>
    <p:sldId id="1357" r:id="rId35"/>
    <p:sldId id="1358" r:id="rId36"/>
    <p:sldId id="1359" r:id="rId37"/>
  </p:sldIdLst>
  <p:sldSz cx="12192000" cy="6858000"/>
  <p:notesSz cx="6858000" cy="9144000"/>
  <p:custDataLst>
    <p:tags r:id="rId3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 Yifeng" initials="Z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AAE8E-DEC1-4C44-A292-A7C236E87E3B}" v="72" dt="2026-04-20T07:27:50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8" autoAdjust="0"/>
    <p:restoredTop sz="77362" autoAdjust="0"/>
  </p:normalViewPr>
  <p:slideViewPr>
    <p:cSldViewPr snapToGrid="0">
      <p:cViewPr varScale="1">
        <p:scale>
          <a:sx n="94" d="100"/>
          <a:sy n="94" d="100"/>
        </p:scale>
        <p:origin x="456" y="1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ebo Liu" userId="03ca8e3e-ef5d-4c2c-a759-93b02397f0c8" providerId="ADAL" clId="{5469A19A-8731-5071-ACFB-69940F350C15}"/>
    <pc:docChg chg="custSel modSld">
      <pc:chgData name="Xuebo Liu" userId="03ca8e3e-ef5d-4c2c-a759-93b02397f0c8" providerId="ADAL" clId="{5469A19A-8731-5071-ACFB-69940F350C15}" dt="2026-04-20T07:27:50.534" v="143"/>
      <pc:docMkLst>
        <pc:docMk/>
      </pc:docMkLst>
      <pc:sldChg chg="modSp mod">
        <pc:chgData name="Xuebo Liu" userId="03ca8e3e-ef5d-4c2c-a759-93b02397f0c8" providerId="ADAL" clId="{5469A19A-8731-5071-ACFB-69940F350C15}" dt="2026-04-20T07:27:49.943" v="135"/>
        <pc:sldMkLst>
          <pc:docMk/>
          <pc:sldMk cId="0" sldId="1357"/>
        </pc:sldMkLst>
        <pc:spChg chg="mod">
          <ac:chgData name="Xuebo Liu" userId="03ca8e3e-ef5d-4c2c-a759-93b02397f0c8" providerId="ADAL" clId="{5469A19A-8731-5071-ACFB-69940F350C15}" dt="2026-04-20T07:27:49.935" v="132" actId="20577"/>
          <ac:spMkLst>
            <pc:docMk/>
            <pc:sldMk cId="0" sldId="1357"/>
            <ac:spMk id="9" creationId="{00000000-0000-0000-0000-000000000000}"/>
          </ac:spMkLst>
        </pc:spChg>
        <pc:spChg chg="mod">
          <ac:chgData name="Xuebo Liu" userId="03ca8e3e-ef5d-4c2c-a759-93b02397f0c8" providerId="ADAL" clId="{5469A19A-8731-5071-ACFB-69940F350C15}" dt="2026-04-20T07:27:49.939" v="133" actId="20577"/>
          <ac:spMkLst>
            <pc:docMk/>
            <pc:sldMk cId="0" sldId="1357"/>
            <ac:spMk id="10" creationId="{00000000-0000-0000-0000-000000000000}"/>
          </ac:spMkLst>
        </pc:spChg>
        <pc:spChg chg="mod">
          <ac:chgData name="Xuebo Liu" userId="03ca8e3e-ef5d-4c2c-a759-93b02397f0c8" providerId="ADAL" clId="{5469A19A-8731-5071-ACFB-69940F350C15}" dt="2026-04-20T07:27:49.942" v="134"/>
          <ac:spMkLst>
            <pc:docMk/>
            <pc:sldMk cId="0" sldId="1357"/>
            <ac:spMk id="14" creationId="{00000000-0000-0000-0000-000000000000}"/>
          </ac:spMkLst>
        </pc:spChg>
        <pc:picChg chg="mod">
          <ac:chgData name="Xuebo Liu" userId="03ca8e3e-ef5d-4c2c-a759-93b02397f0c8" providerId="ADAL" clId="{5469A19A-8731-5071-ACFB-69940F350C15}" dt="2026-04-20T07:27:49.943" v="135"/>
          <ac:picMkLst>
            <pc:docMk/>
            <pc:sldMk cId="0" sldId="1357"/>
            <ac:picMk id="3" creationId="{00000000-0000-0000-0000-000000000000}"/>
          </ac:picMkLst>
        </pc:picChg>
      </pc:sldChg>
      <pc:sldChg chg="modSp mod">
        <pc:chgData name="Xuebo Liu" userId="03ca8e3e-ef5d-4c2c-a759-93b02397f0c8" providerId="ADAL" clId="{5469A19A-8731-5071-ACFB-69940F350C15}" dt="2026-04-20T07:27:50.224" v="139"/>
        <pc:sldMkLst>
          <pc:docMk/>
          <pc:sldMk cId="0" sldId="1358"/>
        </pc:sldMkLst>
        <pc:spChg chg="mod">
          <ac:chgData name="Xuebo Liu" userId="03ca8e3e-ef5d-4c2c-a759-93b02397f0c8" providerId="ADAL" clId="{5469A19A-8731-5071-ACFB-69940F350C15}" dt="2026-04-20T07:27:50.211" v="136" actId="20577"/>
          <ac:spMkLst>
            <pc:docMk/>
            <pc:sldMk cId="0" sldId="1358"/>
            <ac:spMk id="9" creationId="{C5588785-0390-6E95-7AB5-397B20F01142}"/>
          </ac:spMkLst>
        </pc:spChg>
        <pc:spChg chg="mod">
          <ac:chgData name="Xuebo Liu" userId="03ca8e3e-ef5d-4c2c-a759-93b02397f0c8" providerId="ADAL" clId="{5469A19A-8731-5071-ACFB-69940F350C15}" dt="2026-04-20T07:27:50.222" v="137" actId="20577"/>
          <ac:spMkLst>
            <pc:docMk/>
            <pc:sldMk cId="0" sldId="1358"/>
            <ac:spMk id="10" creationId="{2B461217-A371-43FA-619D-96B9FC62F917}"/>
          </ac:spMkLst>
        </pc:spChg>
        <pc:spChg chg="mod">
          <ac:chgData name="Xuebo Liu" userId="03ca8e3e-ef5d-4c2c-a759-93b02397f0c8" providerId="ADAL" clId="{5469A19A-8731-5071-ACFB-69940F350C15}" dt="2026-04-20T07:27:50.223" v="138"/>
          <ac:spMkLst>
            <pc:docMk/>
            <pc:sldMk cId="0" sldId="1358"/>
            <ac:spMk id="14" creationId="{00000000-0000-0000-0000-000000000000}"/>
          </ac:spMkLst>
        </pc:spChg>
        <pc:picChg chg="mod">
          <ac:chgData name="Xuebo Liu" userId="03ca8e3e-ef5d-4c2c-a759-93b02397f0c8" providerId="ADAL" clId="{5469A19A-8731-5071-ACFB-69940F350C15}" dt="2026-04-20T07:27:50.224" v="139"/>
          <ac:picMkLst>
            <pc:docMk/>
            <pc:sldMk cId="0" sldId="1358"/>
            <ac:picMk id="3" creationId="{00000000-0000-0000-0000-000000000000}"/>
          </ac:picMkLst>
        </pc:picChg>
      </pc:sldChg>
      <pc:sldChg chg="modSp mod">
        <pc:chgData name="Xuebo Liu" userId="03ca8e3e-ef5d-4c2c-a759-93b02397f0c8" providerId="ADAL" clId="{5469A19A-8731-5071-ACFB-69940F350C15}" dt="2026-04-20T07:27:50.534" v="143"/>
        <pc:sldMkLst>
          <pc:docMk/>
          <pc:sldMk cId="0" sldId="1359"/>
        </pc:sldMkLst>
        <pc:spChg chg="mod">
          <ac:chgData name="Xuebo Liu" userId="03ca8e3e-ef5d-4c2c-a759-93b02397f0c8" providerId="ADAL" clId="{5469A19A-8731-5071-ACFB-69940F350C15}" dt="2026-04-20T07:27:50.514" v="140" actId="20577"/>
          <ac:spMkLst>
            <pc:docMk/>
            <pc:sldMk cId="0" sldId="1359"/>
            <ac:spMk id="9" creationId="{00000000-0000-0000-0000-000000000000}"/>
          </ac:spMkLst>
        </pc:spChg>
        <pc:spChg chg="mod">
          <ac:chgData name="Xuebo Liu" userId="03ca8e3e-ef5d-4c2c-a759-93b02397f0c8" providerId="ADAL" clId="{5469A19A-8731-5071-ACFB-69940F350C15}" dt="2026-04-20T07:27:50.533" v="141" actId="20577"/>
          <ac:spMkLst>
            <pc:docMk/>
            <pc:sldMk cId="0" sldId="1359"/>
            <ac:spMk id="10" creationId="{00000000-0000-0000-0000-000000000000}"/>
          </ac:spMkLst>
        </pc:spChg>
        <pc:spChg chg="mod">
          <ac:chgData name="Xuebo Liu" userId="03ca8e3e-ef5d-4c2c-a759-93b02397f0c8" providerId="ADAL" clId="{5469A19A-8731-5071-ACFB-69940F350C15}" dt="2026-04-20T07:27:50.534" v="142"/>
          <ac:spMkLst>
            <pc:docMk/>
            <pc:sldMk cId="0" sldId="1359"/>
            <ac:spMk id="14" creationId="{00000000-0000-0000-0000-000000000000}"/>
          </ac:spMkLst>
        </pc:spChg>
        <pc:picChg chg="mod">
          <ac:chgData name="Xuebo Liu" userId="03ca8e3e-ef5d-4c2c-a759-93b02397f0c8" providerId="ADAL" clId="{5469A19A-8731-5071-ACFB-69940F350C15}" dt="2026-04-20T07:27:50.534" v="143"/>
          <ac:picMkLst>
            <pc:docMk/>
            <pc:sldMk cId="0" sldId="1359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C3DEA-197C-4542-87C0-981212C4EFB2}" type="datetimeFigureOut">
              <a:rPr lang="en-AU" smtClean="0"/>
              <a:t>20/4/2026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A903-3A42-486D-A3BC-854A05CABB63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代换本来是定义在字符上，我们扩展定义到字符串上，也就是通过递归的定义。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S</a:t>
            </a:r>
            <a:r>
              <a:rPr lang="zh-CN" altLang="en-US" dirty="0"/>
              <a:t>作用到一个字符串上得到的语言，也就是把</a:t>
            </a:r>
            <a:r>
              <a:rPr lang="en-US" altLang="zh-CN" dirty="0"/>
              <a:t>s</a:t>
            </a:r>
            <a:r>
              <a:rPr lang="zh-CN" altLang="en-US" dirty="0"/>
              <a:t>作用于每一个字符得到的语言连接起来。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再扩展</a:t>
            </a:r>
            <a:r>
              <a:rPr lang="en-AU" altLang="zh-CN" dirty="0"/>
              <a:t>s</a:t>
            </a:r>
            <a:r>
              <a:rPr lang="zh-CN" altLang="en-US" dirty="0"/>
              <a:t>到语言，也就是</a:t>
            </a:r>
            <a:r>
              <a:rPr lang="en-US" altLang="zh-CN" dirty="0"/>
              <a:t>s</a:t>
            </a:r>
            <a:r>
              <a:rPr lang="zh-CN" altLang="en-US" dirty="0"/>
              <a:t>应用于</a:t>
            </a:r>
            <a:r>
              <a:rPr lang="en-US" altLang="zh-CN" dirty="0"/>
              <a:t>L</a:t>
            </a:r>
            <a:r>
              <a:rPr lang="zh-CN" altLang="en-US" dirty="0"/>
              <a:t>中每一个符号串得到的语言的并集。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2</a:t>
            </a:fld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S(L)</a:t>
                </a:r>
                <a:r>
                  <a:rPr lang="zh-CN" altLang="en-US" dirty="0"/>
                  <a:t>的开始变元，使用文法</a:t>
                </a:r>
                <a:r>
                  <a:rPr lang="en-AU" altLang="zh-CN" dirty="0"/>
                  <a:t>G</a:t>
                </a:r>
                <a:r>
                  <a:rPr lang="zh-CN" altLang="en-US" dirty="0"/>
                  <a:t>的开始变元。那么它的构造方法为</a:t>
                </a: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b="0" i="0" dirty="0">
                  <a:latin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∪(</m:t>
                      </m:r>
                      <m:nary>
                        <m:naryPr>
                          <m:chr m:val="⋃"/>
                          <m:limLoc m:val="subSup"/>
                          <m:sup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A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nary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每个</a:t>
                </a:r>
                <a:r>
                  <a:rPr lang="en-AU" altLang="zh-CN" dirty="0" err="1"/>
                  <a:t>V_a</a:t>
                </a:r>
                <a:r>
                  <a:rPr lang="zh-CN" altLang="en-US" dirty="0"/>
                  <a:t>就是</a:t>
                </a:r>
                <a:r>
                  <a:rPr lang="en-US" altLang="zh-CN" dirty="0"/>
                  <a:t>s(a)</a:t>
                </a:r>
                <a:r>
                  <a:rPr lang="zh-CN" altLang="en-US" dirty="0"/>
                  <a:t>文法中的变元，就是求它们的并集。</a:t>
                </a: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每个</a:t>
                </a:r>
                <a:r>
                  <a:rPr lang="en-US" altLang="zh-CN" dirty="0"/>
                  <a:t>T</a:t>
                </a:r>
                <a:r>
                  <a:rPr lang="en-AU" altLang="zh-CN" dirty="0"/>
                  <a:t>_a</a:t>
                </a:r>
                <a:r>
                  <a:rPr lang="zh-CN" altLang="en-US" dirty="0"/>
                  <a:t>就是</a:t>
                </a:r>
                <a:r>
                  <a:rPr lang="en-US" altLang="zh-CN" dirty="0"/>
                  <a:t>s(a)</a:t>
                </a:r>
                <a:r>
                  <a:rPr lang="zh-CN" altLang="en-US" dirty="0"/>
                  <a:t>文法中的变元</a:t>
                </a: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所以</a:t>
                </a:r>
                <a:r>
                  <a:rPr lang="en-AU" altLang="zh-CN" dirty="0"/>
                  <a:t>V’</a:t>
                </a:r>
                <a:r>
                  <a:rPr lang="zh-CN" altLang="en-US" dirty="0"/>
                  <a:t>就是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并上每个</a:t>
                </a:r>
                <a:r>
                  <a:rPr lang="en-AU" altLang="zh-CN" dirty="0"/>
                  <a:t>s(a)</a:t>
                </a:r>
                <a:r>
                  <a:rPr lang="zh-CN" altLang="en-US" dirty="0"/>
                  <a:t>文法中的所有变元， 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‘也类似。</a:t>
                </a: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3</a:t>
            </a:fld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首先，我们设计</a:t>
            </a:r>
            <a:r>
              <a:rPr lang="en-US" altLang="zh-CN" dirty="0"/>
              <a:t>L</a:t>
            </a:r>
            <a:r>
              <a:rPr lang="zh-CN" altLang="en-US" dirty="0"/>
              <a:t>的文法，然后设计</a:t>
            </a:r>
            <a:r>
              <a:rPr lang="en-AU" altLang="zh-CN" dirty="0"/>
              <a:t>La</a:t>
            </a:r>
            <a:r>
              <a:rPr lang="zh-CN" altLang="en-US" dirty="0"/>
              <a:t>和</a:t>
            </a:r>
            <a:r>
              <a:rPr lang="en-AU" altLang="zh-CN" dirty="0"/>
              <a:t>Lb</a:t>
            </a:r>
            <a:r>
              <a:rPr lang="zh-CN" altLang="en-US" dirty="0"/>
              <a:t>的文法，利用前面的构造合在一起。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对于</a:t>
            </a:r>
            <a:r>
              <a:rPr lang="en-US" altLang="zh-CN" dirty="0"/>
              <a:t>L</a:t>
            </a:r>
            <a:r>
              <a:rPr lang="zh-CN" altLang="en-US" dirty="0"/>
              <a:t>的文法，可以设计为：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对于</a:t>
            </a:r>
            <a:r>
              <a:rPr lang="en-US" altLang="zh-CN" dirty="0"/>
              <a:t>La</a:t>
            </a:r>
            <a:r>
              <a:rPr lang="zh-CN" altLang="en-US" dirty="0"/>
              <a:t>的文法，可以设计为</a:t>
            </a:r>
            <a:r>
              <a:rPr lang="en-AU" altLang="zh-CN" dirty="0"/>
              <a:t>: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4</a:t>
            </a:fld>
            <a:endParaRPr lang="en-A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首先，我们设计</a:t>
            </a:r>
            <a:r>
              <a:rPr lang="en-US" altLang="zh-CN" dirty="0"/>
              <a:t>L</a:t>
            </a:r>
            <a:r>
              <a:rPr lang="zh-CN" altLang="en-US" dirty="0"/>
              <a:t>的文法，然后设计</a:t>
            </a:r>
            <a:r>
              <a:rPr lang="en-AU" altLang="zh-CN" dirty="0"/>
              <a:t>La</a:t>
            </a:r>
            <a:r>
              <a:rPr lang="zh-CN" altLang="en-US" dirty="0"/>
              <a:t>和</a:t>
            </a:r>
            <a:r>
              <a:rPr lang="en-AU" altLang="zh-CN" dirty="0"/>
              <a:t>Lb</a:t>
            </a:r>
            <a:r>
              <a:rPr lang="zh-CN" altLang="en-US" dirty="0"/>
              <a:t>的文法，利用前面的构造合在一起。</a:t>
            </a:r>
            <a:endParaRPr lang="en-AU" altLang="zh-CN" dirty="0"/>
          </a:p>
          <a:p>
            <a:endParaRPr lang="en-AU" dirty="0"/>
          </a:p>
          <a:p>
            <a:endParaRPr lang="en-AU" dirty="0"/>
          </a:p>
          <a:p>
            <a:r>
              <a:rPr lang="zh-CN" altLang="en-US" dirty="0"/>
              <a:t>对于</a:t>
            </a:r>
            <a:r>
              <a:rPr lang="en-US" altLang="zh-CN" dirty="0"/>
              <a:t>L</a:t>
            </a:r>
            <a:r>
              <a:rPr lang="zh-CN" altLang="en-US" dirty="0"/>
              <a:t>的文法，可以设计为：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对于</a:t>
            </a:r>
            <a:r>
              <a:rPr lang="en-US" altLang="zh-CN" dirty="0"/>
              <a:t>La</a:t>
            </a:r>
            <a:r>
              <a:rPr lang="zh-CN" altLang="en-US" dirty="0"/>
              <a:t>的文法，可以设计为</a:t>
            </a:r>
            <a:r>
              <a:rPr lang="en-AU" altLang="zh-CN" dirty="0"/>
              <a:t>: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5</a:t>
            </a:fld>
            <a:endParaRPr lang="en-A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600" dirty="0"/>
                  <a:t>我们要证明语言</a:t>
                </a:r>
                <a:r>
                  <a:rPr lang="en-US" altLang="zh-CN" sz="1600" dirty="0"/>
                  <a:t>L</a:t>
                </a:r>
                <a:r>
                  <a:rPr lang="zh-CN" altLang="en-US" sz="1600" dirty="0"/>
                  <a:t>在代换下得到的语言</a:t>
                </a:r>
                <a:r>
                  <a:rPr lang="en-AU" altLang="zh-CN" sz="1600" dirty="0"/>
                  <a:t>s(L)</a:t>
                </a:r>
                <a:r>
                  <a:rPr lang="zh-CN" altLang="en-US" sz="1600" dirty="0"/>
                  <a:t>与我们构造的文法所定义的语言是相等的。对于任意一个在代换的作用下得到语言中的一个串</a:t>
                </a:r>
                <a:r>
                  <a:rPr lang="en-AU" altLang="zh-CN" sz="1600" dirty="0"/>
                  <a:t>w</a:t>
                </a:r>
                <a:r>
                  <a:rPr lang="zh-CN" altLang="en-US" sz="1600" dirty="0"/>
                  <a:t>。显然，它是</a:t>
                </a:r>
                <a:r>
                  <a:rPr lang="en-US" altLang="zh-CN" sz="1600" dirty="0"/>
                  <a:t>L</a:t>
                </a:r>
                <a:r>
                  <a:rPr lang="zh-CN" altLang="en-US" sz="1600" dirty="0"/>
                  <a:t>中的某一个串在</a:t>
                </a:r>
                <a:r>
                  <a:rPr lang="en-AU" altLang="zh-CN" sz="1600" dirty="0"/>
                  <a:t>s</a:t>
                </a:r>
                <a:r>
                  <a:rPr lang="zh-CN" altLang="en-US" sz="1600" dirty="0"/>
                  <a:t>的作用下得到的语言中来的。</a:t>
                </a:r>
                <a:endParaRPr lang="en-AU" altLang="zh-CN" sz="1600" dirty="0"/>
              </a:p>
              <a:p>
                <a:endParaRPr lang="en-AU" altLang="zh-CN" sz="1600" dirty="0"/>
              </a:p>
              <a:p>
                <a:r>
                  <a:rPr lang="zh-CN" altLang="en-US" sz="1600" dirty="0"/>
                  <a:t>因为</a:t>
                </a:r>
                <a:r>
                  <a:rPr lang="en-AU" altLang="zh-CN" sz="1600" dirty="0"/>
                  <a:t>s(L)</a:t>
                </a:r>
                <a:r>
                  <a:rPr lang="zh-CN" altLang="en-US" sz="1600" dirty="0"/>
                  <a:t>的</a:t>
                </a:r>
                <a:r>
                  <a:rPr lang="en-US" altLang="zh-CN" sz="1600" dirty="0"/>
                  <a:t>L</a:t>
                </a:r>
                <a:r>
                  <a:rPr lang="zh-CN" altLang="en-US" sz="1600" dirty="0"/>
                  <a:t>中每一个符号串在</a:t>
                </a:r>
                <a:r>
                  <a:rPr lang="en-AU" altLang="zh-CN" sz="1600" dirty="0"/>
                  <a:t>s</a:t>
                </a:r>
                <a:r>
                  <a:rPr lang="zh-CN" altLang="en-US" sz="1600" dirty="0"/>
                  <a:t>作用下得到的语言的并集，因此</a:t>
                </a:r>
                <a:r>
                  <a:rPr lang="en-AU" altLang="zh-CN" sz="1600" dirty="0"/>
                  <a:t>w</a:t>
                </a:r>
                <a:r>
                  <a:rPr lang="zh-CN" altLang="en-US" sz="1600" dirty="0"/>
                  <a:t>属于其中的某一个语言，也就是</a:t>
                </a:r>
                <a:r>
                  <a:rPr lang="en-US" altLang="zh-CN" sz="1600" dirty="0"/>
                  <a:t>w</a:t>
                </a:r>
                <a:r>
                  <a:rPr lang="zh-CN" altLang="en-US" sz="1600" dirty="0"/>
                  <a:t>是</a:t>
                </a:r>
                <a:r>
                  <a:rPr lang="en-US" altLang="zh-CN" sz="1600" dirty="0"/>
                  <a:t>L</a:t>
                </a:r>
                <a:r>
                  <a:rPr lang="zh-CN" altLang="en-US" sz="1600" dirty="0"/>
                  <a:t>中的某一个串在</a:t>
                </a:r>
                <a:r>
                  <a:rPr lang="en-AU" altLang="zh-CN" sz="1600" dirty="0"/>
                  <a:t>s</a:t>
                </a:r>
                <a:r>
                  <a:rPr lang="zh-CN" altLang="en-US" sz="1600" dirty="0"/>
                  <a:t>的作用下得到的语言中来的。</a:t>
                </a:r>
                <a:endParaRPr lang="en-AU" altLang="zh-CN" sz="1600" dirty="0"/>
              </a:p>
              <a:p>
                <a:endParaRPr lang="en-AU" altLang="zh-CN" sz="16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36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sz="3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36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sz="3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) · · ·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36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sz="3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sz="36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600" dirty="0"/>
                  <a:t>。</a:t>
                </a:r>
                <a:r>
                  <a:rPr lang="en-US" altLang="zh-CN" sz="3600" dirty="0"/>
                  <a:t>(</a:t>
                </a:r>
                <a:r>
                  <a:rPr lang="zh-CN" altLang="en-US" sz="3600" dirty="0"/>
                  <a:t>而</a:t>
                </a:r>
                <a:r>
                  <a:rPr lang="en-US" altLang="zh-CN" sz="3600" dirty="0"/>
                  <a:t>s(x)</a:t>
                </a:r>
                <a:r>
                  <a:rPr lang="zh-CN" altLang="en-US" sz="3600" dirty="0"/>
                  <a:t>是对</a:t>
                </a:r>
                <a:r>
                  <a:rPr lang="en-US" altLang="zh-CN" sz="3600" dirty="0"/>
                  <a:t>x</a:t>
                </a:r>
                <a:r>
                  <a:rPr lang="zh-CN" altLang="en-US" sz="3600" dirty="0"/>
                  <a:t>的每一个符号应用代换</a:t>
                </a:r>
                <a:r>
                  <a:rPr lang="en-AU" altLang="zh-CN" sz="3600" dirty="0"/>
                  <a:t>s</a:t>
                </a:r>
                <a:r>
                  <a:rPr lang="zh-CN" altLang="en-US" sz="3600" dirty="0"/>
                  <a:t>得到的语言的连接</a:t>
                </a:r>
                <a:r>
                  <a:rPr lang="en-US" altLang="zh-CN" sz="3600" dirty="0"/>
                  <a:t>)</a:t>
                </a:r>
                <a:endParaRPr lang="en-AU" altLang="zh-CN" sz="3600" dirty="0"/>
              </a:p>
              <a:p>
                <a:endParaRPr lang="en-AU" altLang="zh-CN" sz="1600" dirty="0"/>
              </a:p>
              <a:p>
                <a:endParaRPr lang="en-AU" sz="1600" dirty="0"/>
              </a:p>
              <a:p>
                <a:r>
                  <a:rPr lang="zh-CN" altLang="en-US" sz="1600" dirty="0"/>
                  <a:t>那么</a:t>
                </a:r>
                <a:r>
                  <a:rPr lang="en-AU" altLang="zh-CN" sz="1600" dirty="0"/>
                  <a:t>w</a:t>
                </a:r>
                <a:r>
                  <a:rPr lang="zh-CN" altLang="en-US" sz="1600" dirty="0"/>
                  <a:t>可以分为</a:t>
                </a:r>
                <a:r>
                  <a:rPr lang="en-AU" altLang="zh-CN" sz="1600" dirty="0"/>
                  <a:t>n</a:t>
                </a:r>
                <a:r>
                  <a:rPr lang="zh-CN" altLang="en-US" sz="1600" dirty="0"/>
                  <a:t>段，</a:t>
                </a:r>
                <a:endParaRPr lang="en-AU" altLang="zh-CN" sz="1600" dirty="0"/>
              </a:p>
              <a:p>
                <a:endParaRPr lang="en-AU" sz="1600" dirty="0"/>
              </a:p>
              <a:p>
                <a:endParaRPr lang="en-AU" sz="1600" dirty="0"/>
              </a:p>
              <a:p>
                <a:r>
                  <a:rPr lang="zh-CN" altLang="en-US" sz="1600" dirty="0"/>
                  <a:t>我们所构造的文法，在</a:t>
                </a:r>
                <a:r>
                  <a:rPr lang="en-AU" altLang="zh-CN" sz="1600" dirty="0"/>
                  <a:t>G’</a:t>
                </a:r>
                <a:r>
                  <a:rPr lang="zh-CN" altLang="en-US" sz="1600" dirty="0"/>
                  <a:t>中，会将</a:t>
                </a:r>
                <a:r>
                  <a:rPr lang="en-US" altLang="zh-CN" sz="1600" dirty="0"/>
                  <a:t>G</a:t>
                </a:r>
                <a:r>
                  <a:rPr lang="zh-CN" altLang="en-US" sz="1600" dirty="0"/>
                  <a:t>中的</a:t>
                </a:r>
                <a:r>
                  <a:rPr lang="zh-CN" altLang="en-US" sz="3600" dirty="0"/>
                  <a:t>产生式</a:t>
                </a:r>
                <a14:m>
                  <m:oMath xmlns:m="http://schemas.openxmlformats.org/officeDocument/2006/math">
                    <m:r>
                      <a:rPr lang="en-AU" altLang="zh-CN" sz="3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3600" dirty="0"/>
                  <a:t>中的每个终结符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3600" dirty="0"/>
                  <a:t>均替换为文法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36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altLang="zh-CN" sz="36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3600" dirty="0"/>
                  <a:t>的开始符号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36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36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/>
                  <a:t>。因此在文法</a:t>
                </a:r>
                <a:r>
                  <a:rPr lang="en-AU" altLang="zh-CN" sz="1600" dirty="0"/>
                  <a:t>G’</a:t>
                </a:r>
                <a:r>
                  <a:rPr lang="zh-CN" altLang="en-US" sz="1600" dirty="0"/>
                  <a:t>中，我们有</a:t>
                </a:r>
                <a:r>
                  <a:rPr lang="en-AU" altLang="zh-CN" sz="1600" dirty="0"/>
                  <a:t>S</a:t>
                </a:r>
                <a:r>
                  <a:rPr lang="zh-CN" altLang="en-US" sz="1600" dirty="0"/>
                  <a:t>可以派生出</a:t>
                </a:r>
                <a:r>
                  <a:rPr lang="en-AU" altLang="zh-CN" sz="1600" dirty="0"/>
                  <a:t>S</a:t>
                </a:r>
                <a:r>
                  <a:rPr lang="en-US" altLang="zh-CN" sz="1600" dirty="0"/>
                  <a:t>a1,Sa2,…., San, </a:t>
                </a:r>
                <a:r>
                  <a:rPr lang="zh-CN" altLang="en-US" sz="1600" dirty="0"/>
                  <a:t>也就是</a:t>
                </a:r>
                <a:r>
                  <a:rPr lang="en-AU" altLang="zh-CN" sz="1600" dirty="0"/>
                  <a:t>S</a:t>
                </a:r>
                <a:r>
                  <a:rPr lang="zh-CN" altLang="en-US" sz="1600" dirty="0"/>
                  <a:t>可以派生出</a:t>
                </a:r>
                <a:r>
                  <a:rPr lang="en-AU" altLang="zh-CN" sz="1600" dirty="0"/>
                  <a:t>w</a:t>
                </a:r>
                <a:r>
                  <a:rPr lang="zh-CN" altLang="en-US" sz="1600" dirty="0"/>
                  <a:t>。因此</a:t>
                </a:r>
                <a:r>
                  <a:rPr lang="en-AU" altLang="zh-CN" sz="1600" dirty="0"/>
                  <a:t>s(L)</a:t>
                </a:r>
                <a:r>
                  <a:rPr lang="zh-CN" altLang="en-US" sz="1600" dirty="0"/>
                  <a:t>是</a:t>
                </a:r>
                <a:r>
                  <a:rPr lang="en-AU" altLang="zh-CN" sz="1600" dirty="0"/>
                  <a:t>L(G’)</a:t>
                </a:r>
                <a:r>
                  <a:rPr lang="zh-CN" altLang="en-US" sz="1600" dirty="0"/>
                  <a:t>的子集。</a:t>
                </a:r>
                <a:endParaRPr lang="en-AU" sz="16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b="-116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6</a:t>
            </a:fld>
            <a:endParaRPr lang="en-A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如果一个字符串能够被我们所构造的文法所定义，因为我们都构造的文法的每一个终结符，都是由某个</a:t>
                </a:r>
                <a:r>
                  <a:rPr lang="en-AU" altLang="zh-CN" dirty="0"/>
                  <a:t>Sa</a:t>
                </a:r>
                <a:r>
                  <a:rPr lang="zh-CN" altLang="en-US" dirty="0"/>
                  <a:t>派生出来。所以如果一个串属于文法所定义的语言的话，那么它一定在文法的开始符号，可以派生出来一个全是</a:t>
                </a:r>
                <a:r>
                  <a:rPr lang="en-AU" altLang="zh-CN" dirty="0"/>
                  <a:t>Sa</a:t>
                </a:r>
                <a:r>
                  <a:rPr lang="zh-CN" altLang="en-US" dirty="0"/>
                  <a:t>的一个句型，这样的一个句型最终能够派生出</a:t>
                </a:r>
                <a:r>
                  <a:rPr lang="en-AU" altLang="zh-CN" dirty="0"/>
                  <a:t>w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endParaRPr lang="en-AU" dirty="0"/>
              </a:p>
              <a:p>
                <a:endParaRPr lang="en-A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/>
                  <a:t>中的每个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中是终结符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所以有在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中，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可以派生出</a:t>
                </a:r>
                <a:r>
                  <a:rPr lang="en-AU" altLang="zh-CN" dirty="0"/>
                  <a:t>a_1, ..</a:t>
                </a:r>
                <a:r>
                  <a:rPr lang="en-AU" altLang="zh-CN" dirty="0" err="1"/>
                  <a:t>a_n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如果</a:t>
                </a:r>
                <a:r>
                  <a:rPr lang="en-AU" altLang="zh-CN" dirty="0"/>
                  <a:t>a1a2…an=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的话，那么显然它是在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中。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因为互为子集，所以相等。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l-G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groupChr>
                      <m:groupChrPr>
                        <m:chr m:val="⇒"/>
                        <m:pos m:val="top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groupCh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· · ·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，所以每个</a:t>
                </a:r>
                <a:r>
                  <a:rPr lang="en-AU" altLang="zh-CN" dirty="0"/>
                  <a:t>Sai</a:t>
                </a:r>
                <a:r>
                  <a:rPr lang="zh-CN" altLang="en-US" dirty="0"/>
                  <a:t>一定派生出</a:t>
                </a:r>
                <a:r>
                  <a:rPr lang="en-AU" altLang="zh-CN" dirty="0"/>
                  <a:t>w</a:t>
                </a:r>
                <a:r>
                  <a:rPr lang="zh-CN" altLang="en-US" dirty="0"/>
                  <a:t>中的某一部分，我们不妨设</a:t>
                </a:r>
                <a:r>
                  <a:rPr lang="en-AU" altLang="zh-CN" dirty="0"/>
                  <a:t>Sai</a:t>
                </a:r>
                <a:r>
                  <a:rPr lang="zh-CN" altLang="en-US" dirty="0"/>
                  <a:t>派生出</a:t>
                </a:r>
                <a:r>
                  <a:rPr lang="en-AU" altLang="zh-CN" dirty="0" err="1"/>
                  <a:t>wi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注意</a:t>
                </a:r>
                <a:r>
                  <a:rPr lang="en-AU" altLang="zh-CN" dirty="0"/>
                  <a:t>x</a:t>
                </a:r>
                <a:r>
                  <a:rPr lang="zh-CN" altLang="en-US" dirty="0"/>
                  <a:t>属于</a:t>
                </a:r>
                <a:r>
                  <a:rPr lang="en-AU" altLang="zh-CN" dirty="0"/>
                  <a:t>L, </a:t>
                </a:r>
                <a:r>
                  <a:rPr lang="en-US" altLang="zh-CN" dirty="0"/>
                  <a:t>s(L)</a:t>
                </a:r>
                <a:r>
                  <a:rPr lang="zh-CN" altLang="en-US" dirty="0"/>
                  <a:t>是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中每个符号串应用代换得到的语言的并集。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因为</a:t>
                </a:r>
                <a:r>
                  <a:rPr lang="en-AU" altLang="zh-CN" dirty="0"/>
                  <a:t>s(x)</a:t>
                </a:r>
                <a:r>
                  <a:rPr lang="zh-CN" altLang="en-US" dirty="0"/>
                  <a:t>包含于</a:t>
                </a:r>
                <a:r>
                  <a:rPr lang="en-AU" altLang="zh-CN" dirty="0"/>
                  <a:t>s(L)</a:t>
                </a:r>
                <a:r>
                  <a:rPr lang="zh-CN" altLang="en-US" dirty="0"/>
                  <a:t>，因此</a:t>
                </a:r>
                <a:r>
                  <a:rPr lang="en-AU" altLang="zh-CN" dirty="0"/>
                  <a:t>w</a:t>
                </a:r>
                <a:r>
                  <a:rPr lang="zh-CN" altLang="en-US" dirty="0"/>
                  <a:t>属于</a:t>
                </a:r>
                <a:r>
                  <a:rPr lang="en-AU" altLang="zh-CN" dirty="0"/>
                  <a:t>s(L)</a:t>
                </a:r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7</a:t>
            </a:fld>
            <a:endParaRPr lang="en-A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这个定理的证明使用到了前面的代换运算。因为上下文无关语言在代换运算下封闭，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我们可以直接去用代换运算构造出来上下文无关语言在并</a:t>
            </a:r>
            <a:r>
              <a:rPr lang="en-US" altLang="zh-CN" dirty="0"/>
              <a:t>, </a:t>
            </a:r>
            <a:r>
              <a:rPr lang="zh-CN" altLang="en-US" dirty="0"/>
              <a:t>连接</a:t>
            </a:r>
            <a:r>
              <a:rPr lang="en-US" altLang="zh-CN" dirty="0"/>
              <a:t>, </a:t>
            </a:r>
            <a:r>
              <a:rPr lang="zh-CN" altLang="en-US" dirty="0"/>
              <a:t>闭包</a:t>
            </a:r>
            <a:r>
              <a:rPr lang="en-US" altLang="zh-CN" dirty="0"/>
              <a:t>, </a:t>
            </a:r>
            <a:r>
              <a:rPr lang="zh-CN" altLang="en-US" dirty="0"/>
              <a:t>正闭包</a:t>
            </a:r>
            <a:r>
              <a:rPr lang="en-US" altLang="zh-CN" dirty="0"/>
              <a:t>, </a:t>
            </a:r>
            <a:r>
              <a:rPr lang="zh-CN" altLang="en-US" dirty="0"/>
              <a:t>同态下的封闭性。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那么我们来看下这个定理的证明。设一个字母表</a:t>
            </a:r>
            <a:r>
              <a:rPr lang="en-AU" altLang="zh-CN" dirty="0"/>
              <a:t>sigma</a:t>
            </a:r>
            <a:r>
              <a:rPr lang="zh-CN" altLang="en-US" dirty="0"/>
              <a:t>，它包含</a:t>
            </a:r>
            <a:r>
              <a:rPr lang="en-AU" altLang="zh-CN" dirty="0"/>
              <a:t>1</a:t>
            </a:r>
            <a:r>
              <a:rPr lang="zh-CN" altLang="en-US" dirty="0"/>
              <a:t>，</a:t>
            </a:r>
            <a:r>
              <a:rPr lang="en-AU" altLang="zh-CN" dirty="0"/>
              <a:t>2</a:t>
            </a:r>
            <a:r>
              <a:rPr lang="zh-CN" altLang="en-US" dirty="0"/>
              <a:t>，而</a:t>
            </a:r>
            <a:r>
              <a:rPr lang="en-AU" altLang="zh-CN" dirty="0"/>
              <a:t>L1, L2</a:t>
            </a:r>
            <a:r>
              <a:rPr lang="zh-CN" altLang="en-US" dirty="0"/>
              <a:t>是任意的</a:t>
            </a:r>
            <a:r>
              <a:rPr lang="en-AU" altLang="zh-CN" dirty="0"/>
              <a:t>CFL</a:t>
            </a:r>
            <a:r>
              <a:rPr lang="zh-CN" altLang="en-US" dirty="0"/>
              <a:t>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8</a:t>
            </a:fld>
            <a:endParaRPr lang="en-A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altLang="zh-CN" dirty="0"/>
                  <a:t>Sigma</a:t>
                </a:r>
                <a:r>
                  <a:rPr lang="zh-CN" altLang="en-US" dirty="0"/>
                  <a:t>上的每一个字符在同态的作用下是一个字符串。那么我们可以将代换定义为这个字符串所构成的语言。</a:t>
                </a:r>
                <a:endParaRPr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AU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AU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12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AU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sz="12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hr m:val="⋃"/>
                        <m:supHide m:val="on"/>
                        <m:ctrlPr>
                          <a:rPr lang="en-AU" altLang="zh-CN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AU" altLang="zh-CN" sz="12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AU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r>
                          <a:rPr lang="en-AU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′(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)=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′(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AU" altLang="zh-CN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dirty="0"/>
                  <a:t>，在这一步的构造中，利用了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)}, </m:t>
                    </m:r>
                  </m:oMath>
                </a14:m>
                <a:endParaRPr lang="en-AU" altLang="zh-CN" dirty="0"/>
              </a:p>
              <a:p>
                <a:endParaRPr lang="en-AU" altLang="zh-CN" dirty="0"/>
              </a:p>
              <a:p>
                <a:r>
                  <a:rPr lang="zh-CN" altLang="en-US" dirty="0"/>
                  <a:t>同态是将一个字符映射为一个字符串。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那么</a:t>
                </a:r>
                <a:r>
                  <a:rPr lang="en-AU" altLang="zh-CN" dirty="0"/>
                  <a:t>h(L)</a:t>
                </a:r>
                <a:r>
                  <a:rPr lang="zh-CN" altLang="en-US" dirty="0"/>
                  <a:t>就可以转化为</a:t>
                </a:r>
                <a:r>
                  <a:rPr lang="en-AU" altLang="zh-CN" dirty="0"/>
                  <a:t>s’(L)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zh-CN" altLang="en-US" dirty="0"/>
                  <a:t>因为</a:t>
                </a:r>
                <a:r>
                  <a:rPr lang="en-AU" altLang="zh-CN" dirty="0"/>
                  <a:t>s’(L)</a:t>
                </a:r>
                <a:r>
                  <a:rPr lang="zh-CN" altLang="en-US" dirty="0"/>
                  <a:t>是上下文无关的，所以</a:t>
                </a:r>
                <a:r>
                  <a:rPr lang="en-AU" altLang="zh-CN" dirty="0"/>
                  <a:t>h(L)</a:t>
                </a:r>
                <a:r>
                  <a:rPr lang="zh-CN" altLang="en-US" dirty="0"/>
                  <a:t>也是上下文无关的。</a:t>
                </a: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10</a:t>
            </a:fld>
            <a:endParaRPr lang="en-A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只要把</a:t>
            </a:r>
            <a:r>
              <a:rPr lang="en-US" altLang="zh-CN" dirty="0"/>
              <a:t>L</a:t>
            </a:r>
            <a:r>
              <a:rPr lang="zh-CN" altLang="en-US" dirty="0"/>
              <a:t>的文法中每一条产生式的右部进行反转即可。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5473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只要把</a:t>
            </a:r>
            <a:r>
              <a:rPr lang="en-US" altLang="zh-CN" dirty="0"/>
              <a:t>L</a:t>
            </a:r>
            <a:r>
              <a:rPr lang="zh-CN" altLang="en-US" dirty="0"/>
              <a:t>的文法中每一条产生式的右部进行反转即可。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13</a:t>
            </a:fld>
            <a:endParaRPr lang="en-A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2000" dirty="0"/>
              <a:t>h^(-1) (L)</a:t>
            </a:r>
            <a:r>
              <a:rPr lang="zh-CN" altLang="en-US" sz="2000" dirty="0"/>
              <a:t>读作</a:t>
            </a:r>
            <a:r>
              <a:rPr lang="en-US" altLang="zh-CN" sz="2000" dirty="0"/>
              <a:t>h</a:t>
            </a:r>
            <a:r>
              <a:rPr lang="zh-CN" altLang="en-US" sz="2000" dirty="0"/>
              <a:t>逆</a:t>
            </a:r>
            <a:r>
              <a:rPr lang="en-US" altLang="zh-CN" sz="2000" dirty="0"/>
              <a:t>L</a:t>
            </a:r>
            <a:r>
              <a:rPr lang="zh-CN" altLang="en-US" sz="2000" dirty="0"/>
              <a:t>。我们通过构造识别</a:t>
            </a:r>
            <a:r>
              <a:rPr lang="en-AU" sz="2000" dirty="0"/>
              <a:t>h^(-1) </a:t>
            </a:r>
            <a:r>
              <a:rPr lang="zh-CN" altLang="en-US" sz="2000" dirty="0"/>
              <a:t>的下推自动机来证明这个定理。</a:t>
            </a:r>
            <a:endParaRPr lang="en-AU" altLang="zh-CN" sz="2000" dirty="0"/>
          </a:p>
          <a:p>
            <a:endParaRPr lang="en-AU" altLang="zh-CN" sz="2000" dirty="0"/>
          </a:p>
          <a:p>
            <a:r>
              <a:rPr lang="zh-CN" altLang="en-US" sz="2000" dirty="0"/>
              <a:t>我们设一个以终态方式识别的</a:t>
            </a:r>
            <a:r>
              <a:rPr lang="en-AU" altLang="zh-CN" sz="2000" dirty="0"/>
              <a:t>PDA P</a:t>
            </a:r>
          </a:p>
          <a:p>
            <a:endParaRPr lang="en-AU" altLang="zh-CN" sz="2000" dirty="0"/>
          </a:p>
          <a:p>
            <a:endParaRPr lang="en-AU" altLang="zh-CN" sz="2000" dirty="0"/>
          </a:p>
          <a:p>
            <a:r>
              <a:rPr lang="zh-CN" altLang="en-US" sz="2000" dirty="0"/>
              <a:t>对于每个输入符号</a:t>
            </a:r>
            <a:r>
              <a:rPr lang="en-US" altLang="zh-CN" sz="2000" dirty="0"/>
              <a:t>a</a:t>
            </a:r>
            <a:r>
              <a:rPr lang="zh-CN" altLang="en-US" sz="2000" dirty="0"/>
              <a:t>，先通过同态函数变为符号串</a:t>
            </a:r>
            <a:r>
              <a:rPr lang="en-AU" altLang="zh-CN" sz="2000" dirty="0"/>
              <a:t>h(a)</a:t>
            </a:r>
            <a:r>
              <a:rPr lang="zh-CN" altLang="en-US" sz="2000" dirty="0"/>
              <a:t>，存在一个</a:t>
            </a:r>
            <a:r>
              <a:rPr lang="en-AU" altLang="zh-CN" sz="2000" dirty="0"/>
              <a:t>buffer</a:t>
            </a:r>
            <a:r>
              <a:rPr lang="zh-CN" altLang="en-US" sz="2000" dirty="0"/>
              <a:t>中（这个</a:t>
            </a:r>
            <a:r>
              <a:rPr lang="en-AU" altLang="zh-CN" sz="2000" dirty="0"/>
              <a:t>buffer</a:t>
            </a:r>
            <a:r>
              <a:rPr lang="zh-CN" altLang="en-US" sz="2000" dirty="0"/>
              <a:t>是</a:t>
            </a:r>
            <a:r>
              <a:rPr lang="en-US" altLang="zh-CN" sz="2000" dirty="0"/>
              <a:t>P’</a:t>
            </a:r>
            <a:r>
              <a:rPr lang="zh-CN" altLang="en-US" sz="2000" dirty="0"/>
              <a:t>的输入带），</a:t>
            </a:r>
            <a:r>
              <a:rPr lang="en-AU" altLang="zh-CN" sz="2000" dirty="0"/>
              <a:t>buffer</a:t>
            </a:r>
            <a:r>
              <a:rPr lang="zh-CN" altLang="en-US" sz="2000" dirty="0"/>
              <a:t>中的符号串成为</a:t>
            </a:r>
            <a:r>
              <a:rPr lang="en-US" altLang="zh-CN" sz="2000" dirty="0"/>
              <a:t>PDA</a:t>
            </a:r>
            <a:r>
              <a:rPr lang="zh-CN" altLang="en-US" sz="2000" dirty="0"/>
              <a:t>的输入串。然后</a:t>
            </a:r>
            <a:r>
              <a:rPr lang="en-AU" altLang="zh-CN" sz="2000" dirty="0"/>
              <a:t>P’</a:t>
            </a:r>
            <a:r>
              <a:rPr lang="zh-CN" altLang="en-US" sz="2000" dirty="0"/>
              <a:t>去扫描这个</a:t>
            </a:r>
            <a:r>
              <a:rPr lang="en-AU" altLang="zh-CN" sz="2000" dirty="0"/>
              <a:t>h(a), </a:t>
            </a:r>
            <a:r>
              <a:rPr lang="zh-CN" altLang="en-US" sz="2000" dirty="0"/>
              <a:t>进行状态转移。</a:t>
            </a:r>
            <a:endParaRPr lang="en-AU" altLang="zh-CN" sz="2000" dirty="0"/>
          </a:p>
          <a:p>
            <a:endParaRPr lang="en-AU" altLang="zh-CN" sz="2000" dirty="0"/>
          </a:p>
          <a:p>
            <a:r>
              <a:rPr lang="zh-CN" altLang="en-US" sz="2000" dirty="0"/>
              <a:t>当扫描完输入带上的符号串</a:t>
            </a:r>
            <a:r>
              <a:rPr lang="en-AU" altLang="zh-CN" sz="2000" dirty="0"/>
              <a:t>w</a:t>
            </a:r>
            <a:r>
              <a:rPr lang="zh-CN" altLang="en-US" sz="2000" dirty="0"/>
              <a:t>的时候，</a:t>
            </a:r>
            <a:r>
              <a:rPr lang="en-AU" altLang="zh-CN" sz="2000" dirty="0"/>
              <a:t>P’</a:t>
            </a:r>
            <a:r>
              <a:rPr lang="zh-CN" altLang="en-US" sz="2000" dirty="0"/>
              <a:t>所扫描的刚好就是</a:t>
            </a:r>
            <a:r>
              <a:rPr lang="en-AU" altLang="zh-CN" sz="2000" dirty="0"/>
              <a:t>h(w)</a:t>
            </a:r>
            <a:r>
              <a:rPr lang="zh-CN" altLang="en-US" sz="2000" dirty="0"/>
              <a:t>，如果</a:t>
            </a:r>
            <a:r>
              <a:rPr lang="en-AU" altLang="zh-CN" sz="2000" dirty="0"/>
              <a:t>h(w)</a:t>
            </a:r>
            <a:r>
              <a:rPr lang="zh-CN" altLang="en-US" sz="2000" dirty="0"/>
              <a:t>被接受的话</a:t>
            </a:r>
            <a:r>
              <a:rPr lang="en-AU" altLang="zh-CN" sz="2000" dirty="0"/>
              <a:t>,w</a:t>
            </a:r>
            <a:r>
              <a:rPr lang="zh-CN" altLang="en-US" sz="2000" dirty="0"/>
              <a:t>也就被接受。我们通过这样的方式去构造识别</a:t>
            </a:r>
            <a:r>
              <a:rPr lang="en-AU" altLang="zh-CN" sz="2000" dirty="0"/>
              <a:t>L</a:t>
            </a:r>
            <a:r>
              <a:rPr lang="zh-CN" altLang="en-US" sz="2000" dirty="0"/>
              <a:t>的</a:t>
            </a:r>
            <a:r>
              <a:rPr lang="en-US" altLang="zh-CN" sz="2000" dirty="0"/>
              <a:t>H</a:t>
            </a:r>
            <a:r>
              <a:rPr lang="zh-CN" altLang="en-US" sz="2000" dirty="0"/>
              <a:t>逆的语言。</a:t>
            </a:r>
            <a:endParaRPr lang="en-AU" altLang="zh-CN" sz="2000" dirty="0"/>
          </a:p>
          <a:p>
            <a:endParaRPr lang="en-AU" altLang="zh-CN" sz="2000" dirty="0"/>
          </a:p>
          <a:p>
            <a:endParaRPr lang="en-AU" altLang="zh-CN" sz="2000" dirty="0"/>
          </a:p>
          <a:p>
            <a:r>
              <a:rPr lang="zh-CN" altLang="en-US" sz="2000" dirty="0"/>
              <a:t>这里值得注意的是，</a:t>
            </a:r>
            <a:r>
              <a:rPr lang="en-AU" altLang="zh-CN" sz="2000" dirty="0"/>
              <a:t>P’</a:t>
            </a:r>
            <a:r>
              <a:rPr lang="zh-CN" altLang="en-US" sz="2000" dirty="0"/>
              <a:t>的有穷控制器不能存储任意的信息，只能存储有限个。那么把缓冲作为输入带，会不会导致</a:t>
            </a:r>
            <a:r>
              <a:rPr lang="en-AU" altLang="zh-CN" sz="2000" dirty="0"/>
              <a:t>P’</a:t>
            </a:r>
            <a:r>
              <a:rPr lang="zh-CN" altLang="en-US" sz="2000" dirty="0"/>
              <a:t>需要存储任意多的信息？我们说不会。我们每次读入一个字符</a:t>
            </a:r>
            <a:r>
              <a:rPr lang="en-US" altLang="zh-CN" sz="2000" dirty="0"/>
              <a:t>a</a:t>
            </a:r>
            <a:r>
              <a:rPr lang="zh-CN" altLang="en-US" sz="2000" dirty="0"/>
              <a:t>的时候，我们装载的仅仅是这个</a:t>
            </a:r>
            <a:r>
              <a:rPr lang="en-AU" altLang="zh-CN" sz="2000" dirty="0"/>
              <a:t>h(a)</a:t>
            </a:r>
            <a:r>
              <a:rPr lang="zh-CN" altLang="en-US" sz="2000" dirty="0"/>
              <a:t>的符号串。而</a:t>
            </a:r>
            <a:r>
              <a:rPr lang="en-AU" altLang="zh-CN" sz="2000" dirty="0"/>
              <a:t>sigma</a:t>
            </a:r>
            <a:r>
              <a:rPr lang="zh-CN" altLang="en-US" sz="2000" dirty="0"/>
              <a:t>上的字符是有限个，而对每个字符在</a:t>
            </a:r>
            <a:r>
              <a:rPr lang="en-AU" altLang="zh-CN" sz="2000" dirty="0"/>
              <a:t>h</a:t>
            </a:r>
            <a:r>
              <a:rPr lang="zh-CN" altLang="en-US" sz="2000" dirty="0"/>
              <a:t>的作用下得到的</a:t>
            </a:r>
            <a:r>
              <a:rPr lang="en-AU" altLang="zh-CN" sz="2000" dirty="0"/>
              <a:t>h(a)</a:t>
            </a:r>
            <a:r>
              <a:rPr lang="zh-CN" altLang="en-US" sz="2000" dirty="0"/>
              <a:t>也是有限长的。我们装载</a:t>
            </a:r>
            <a:r>
              <a:rPr lang="en-AU" altLang="zh-CN" sz="2000" dirty="0"/>
              <a:t>h(a)</a:t>
            </a:r>
            <a:r>
              <a:rPr lang="zh-CN" altLang="en-US" sz="2000" dirty="0"/>
              <a:t>的时候，从左到右装载。装载完</a:t>
            </a:r>
            <a:r>
              <a:rPr lang="en-AU" altLang="zh-CN" sz="2000" dirty="0"/>
              <a:t>h(a)</a:t>
            </a:r>
            <a:r>
              <a:rPr lang="zh-CN" altLang="en-US" sz="2000" dirty="0"/>
              <a:t>的时候，重新回到第一个单元格，装载下一个字符的</a:t>
            </a:r>
            <a:r>
              <a:rPr lang="en-US" altLang="zh-CN" sz="2000" dirty="0"/>
              <a:t>h</a:t>
            </a:r>
            <a:r>
              <a:rPr lang="zh-CN" altLang="en-US" sz="2000" dirty="0"/>
              <a:t>函数的输出。因此，只要</a:t>
            </a:r>
            <a:r>
              <a:rPr lang="en-AU" altLang="zh-CN" sz="2000" dirty="0"/>
              <a:t>buffer</a:t>
            </a:r>
            <a:r>
              <a:rPr lang="zh-CN" altLang="en-US" sz="2000" dirty="0"/>
              <a:t>足够大，能装载最长的</a:t>
            </a:r>
            <a:r>
              <a:rPr lang="en-AU" altLang="zh-CN" sz="2000" dirty="0"/>
              <a:t>h(a)</a:t>
            </a:r>
            <a:r>
              <a:rPr lang="zh-CN" altLang="en-US" sz="2000" dirty="0"/>
              <a:t>即可。</a:t>
            </a:r>
            <a:endParaRPr lang="en-AU" altLang="zh-CN" sz="2000" dirty="0"/>
          </a:p>
          <a:p>
            <a:endParaRPr lang="en-AU" altLang="zh-CN" sz="2000" dirty="0"/>
          </a:p>
          <a:p>
            <a:endParaRPr lang="en-AU" altLang="zh-CN" sz="2000" dirty="0"/>
          </a:p>
          <a:p>
            <a:endParaRPr lang="en-AU" altLang="zh-CN" sz="2000" dirty="0"/>
          </a:p>
          <a:p>
            <a:r>
              <a:rPr lang="en-AU" altLang="zh-CN" sz="2000" dirty="0"/>
              <a:t>P’</a:t>
            </a:r>
            <a:r>
              <a:rPr lang="zh-CN" altLang="en-US" sz="2000" dirty="0"/>
              <a:t>的每个状态由两部分组成，一个是正常的状态，一个是缓冲区的符号串。</a:t>
            </a:r>
            <a:endParaRPr lang="en-AU" altLang="zh-C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14</a:t>
            </a:fld>
            <a:endParaRPr lang="en-A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2000" dirty="0"/>
                  <a:t>那么构造方法是这样的。</a:t>
                </a:r>
                <a:endParaRPr lang="en-AU" altLang="zh-CN" sz="2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altLang="zh-CN" sz="2000" dirty="0"/>
                  <a:t>: </a:t>
                </a:r>
                <a:r>
                  <a:rPr lang="zh-CN" altLang="en-US" sz="2000" dirty="0"/>
                  <a:t>状态</a:t>
                </a:r>
                <a14:m>
                  <m:oMath xmlns:m="http://schemas.openxmlformats.org/officeDocument/2006/math">
                    <m:r>
                      <a:rPr lang="en-AU" altLang="zh-CN" sz="20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sz="20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sz="20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000" dirty="0"/>
                  <a:t>中的</a:t>
                </a:r>
                <a14:m>
                  <m:oMath xmlns:m="http://schemas.openxmlformats.org/officeDocument/2006/math">
                    <m:r>
                      <a:rPr lang="en-AU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/>
                  <a:t>为缓冲中还未被消耗的串，即某个</a:t>
                </a:r>
                <a14:m>
                  <m:oMath xmlns:m="http://schemas.openxmlformats.org/officeDocument/2006/math">
                    <m:r>
                      <a:rPr lang="en-AU" altLang="zh-CN" sz="20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/>
                  <a:t>的后缀。</a:t>
                </a:r>
                <a:endParaRPr lang="en-AU" altLang="zh-CN" sz="2000" dirty="0"/>
              </a:p>
              <a:p>
                <a:endParaRPr lang="en-AU" sz="2000" dirty="0"/>
              </a:p>
              <a:p>
                <a:r>
                  <a:rPr lang="zh-CN" altLang="en-US" sz="2000" dirty="0"/>
                  <a:t>其实后缀这个说法是针对后续的每一步而言的，在一开始的时候，其实就是</a:t>
                </a:r>
                <a:r>
                  <a:rPr lang="en-AU" altLang="zh-CN" sz="2000" dirty="0"/>
                  <a:t>buffer</a:t>
                </a:r>
                <a:r>
                  <a:rPr lang="zh-CN" altLang="en-US" sz="2000" dirty="0"/>
                  <a:t>里面的符号串。</a:t>
                </a:r>
                <a:endParaRPr lang="en-AU" sz="2000" dirty="0"/>
              </a:p>
              <a:p>
                <a:endParaRPr lang="en-AU" altLang="zh-CN" sz="2000" dirty="0"/>
              </a:p>
              <a:p>
                <a:r>
                  <a:rPr lang="zh-CN" altLang="en-US" sz="2000" dirty="0"/>
                  <a:t>首先设识别</a:t>
                </a:r>
                <a:r>
                  <a:rPr lang="en-AU" altLang="zh-CN" sz="2000" dirty="0"/>
                  <a:t>L</a:t>
                </a:r>
                <a:r>
                  <a:rPr lang="zh-CN" altLang="en-US" sz="2000" dirty="0"/>
                  <a:t>的</a:t>
                </a:r>
                <a:r>
                  <a:rPr lang="en-US" altLang="zh-CN" sz="2000" dirty="0"/>
                  <a:t>PDA</a:t>
                </a:r>
                <a:r>
                  <a:rPr lang="zh-CN" altLang="en-US" sz="2000" dirty="0"/>
                  <a:t>是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en-AU" altLang="zh-CN" sz="2000" dirty="0"/>
                  <a:t>P</a:t>
                </a:r>
                <a:r>
                  <a:rPr lang="zh-CN" altLang="en-US" sz="2000" dirty="0"/>
                  <a:t>‘的状态由两部分组成，除了含</a:t>
                </a:r>
                <a:r>
                  <a:rPr lang="en-AU" altLang="zh-CN" sz="2000" dirty="0"/>
                  <a:t>P</a:t>
                </a:r>
                <a:r>
                  <a:rPr lang="zh-CN" altLang="en-US" sz="2000" dirty="0"/>
                  <a:t>的状态，还要使用到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的输入的一个缓冲。我们使用一个二元组定义状态。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en-AU" altLang="zh-CN" sz="2000" dirty="0"/>
                  <a:t>Start state: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3"/>
                  </a:rPr>
                  <a:t>the start state of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1"/>
                  </a:rPr>
                  <a:t>P’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9"/>
                  </a:rPr>
                  <a:t>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3"/>
                  </a:rPr>
                  <a:t>is (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1"/>
                  </a:rPr>
                  <a:t>q0,epsilon),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3"/>
                  </a:rPr>
                  <a:t> i.e.,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1"/>
                  </a:rPr>
                  <a:t>P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9"/>
                  </a:rPr>
                  <a:t>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3"/>
                  </a:rPr>
                  <a:t>starts in the start state of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11"/>
                  </a:rPr>
                  <a:t>P </a:t>
                </a:r>
                <a:r>
                  <a:rPr lang="en-AU" sz="1800" b="0" i="0" dirty="0">
                    <a:solidFill>
                      <a:srgbClr val="000000"/>
                    </a:solidFill>
                    <a:effectLst/>
                    <a:latin typeface="T3"/>
                  </a:rPr>
                  <a:t>with an empty buffer.</a:t>
                </a:r>
                <a:br>
                  <a:rPr lang="en-AU" sz="3200" dirty="0"/>
                </a:br>
                <a:endParaRPr lang="en-AU" altLang="zh-CN" sz="2000" dirty="0"/>
              </a:p>
              <a:p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zh-CN" altLang="en-US" sz="2000" dirty="0"/>
                  <a:t>其中开始状态，就是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的</a:t>
                </a:r>
                <a:r>
                  <a:rPr lang="en-US" altLang="zh-CN" sz="2000" dirty="0"/>
                  <a:t>q0</a:t>
                </a:r>
                <a:r>
                  <a:rPr lang="zh-CN" altLang="en-US" sz="2000" dirty="0"/>
                  <a:t>和空串这样的一个缓冲。</a:t>
                </a:r>
                <a:endParaRPr lang="en-AU" altLang="zh-CN" sz="2000" dirty="0"/>
              </a:p>
              <a:p>
                <a:r>
                  <a:rPr lang="zh-CN" altLang="en-US" sz="2000" dirty="0"/>
                  <a:t>而接受状态，就是所有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的接受状态</a:t>
                </a:r>
                <a:r>
                  <a:rPr lang="en-AU" altLang="zh-CN" sz="2000" dirty="0"/>
                  <a:t>F</a:t>
                </a:r>
                <a:r>
                  <a:rPr lang="zh-CN" altLang="en-US" sz="2000" dirty="0"/>
                  <a:t>，但是呢，已经读完缓冲的二元组。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zh-CN" altLang="en-US" sz="2000" dirty="0"/>
                  <a:t>那么栈呢，和</a:t>
                </a:r>
                <a:r>
                  <a:rPr lang="en-AU" altLang="zh-CN" sz="2000" dirty="0"/>
                  <a:t>P</a:t>
                </a:r>
                <a:r>
                  <a:rPr lang="zh-CN" altLang="en-US" sz="2000" dirty="0"/>
                  <a:t>是一样的，使用同一个栈，动作也和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一样。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en-AU" altLang="zh-CN" sz="2000" dirty="0"/>
                  <a:t>P’</a:t>
                </a:r>
                <a:r>
                  <a:rPr lang="zh-CN" altLang="en-US" sz="2000" dirty="0"/>
                  <a:t>模拟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的动作。</a:t>
                </a:r>
                <a:r>
                  <a:rPr lang="en-AU" altLang="zh-CN" sz="2000" dirty="0"/>
                  <a:t>Delta’</a:t>
                </a:r>
                <a:r>
                  <a:rPr lang="zh-CN" altLang="en-US" sz="2000" dirty="0"/>
                  <a:t>去模拟</a:t>
                </a:r>
                <a:r>
                  <a:rPr lang="en-AU" altLang="zh-CN" sz="2000" dirty="0"/>
                  <a:t>delta</a:t>
                </a:r>
                <a:r>
                  <a:rPr lang="zh-CN" altLang="en-US" sz="2000" dirty="0"/>
                  <a:t>的动作。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zh-CN" altLang="en-US" sz="2000" dirty="0"/>
                  <a:t>那么我们来看下</a:t>
                </a:r>
                <a:r>
                  <a:rPr lang="en-AU" altLang="zh-CN" sz="2000" dirty="0"/>
                  <a:t>Q’</a:t>
                </a:r>
                <a:r>
                  <a:rPr lang="zh-CN" altLang="en-US" sz="2000" dirty="0"/>
                  <a:t>和</a:t>
                </a:r>
                <a:r>
                  <a:rPr lang="en-AU" altLang="zh-CN" sz="2000" dirty="0"/>
                  <a:t>delta’</a:t>
                </a:r>
                <a:r>
                  <a:rPr lang="zh-CN" altLang="en-US" sz="2000" dirty="0"/>
                  <a:t>的构造。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0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AU" altLang="zh-CN" sz="20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AU" sz="2000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sz="2000" dirty="0"/>
                  <a:t>读入一个字符</a:t>
                </a:r>
                <a:r>
                  <a:rPr lang="en-AU" altLang="zh-CN" sz="2000" dirty="0"/>
                  <a:t>a,</a:t>
                </a:r>
                <a:r>
                  <a:rPr lang="zh-CN" altLang="en-US" sz="2000" dirty="0"/>
                  <a:t>就是把</a:t>
                </a:r>
                <a:r>
                  <a:rPr lang="en-AU" altLang="zh-CN" sz="2000" dirty="0"/>
                  <a:t>h(a)</a:t>
                </a:r>
                <a:r>
                  <a:rPr lang="zh-CN" altLang="en-US" sz="2000" dirty="0"/>
                  <a:t>装载到缓冲里面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AU" sz="20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2000" dirty="0"/>
                  <a:t>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zh-CN" altLang="en-US" sz="2000" dirty="0"/>
                  <a:t>然后剩余的就模拟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的动作就可以了。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endParaRPr lang="en-AU" altLang="zh-CN" sz="2000" dirty="0"/>
              </a:p>
              <a:p>
                <a:r>
                  <a:rPr lang="en-AU" altLang="zh-CN" sz="2000" dirty="0"/>
                  <a:t>X</a:t>
                </a:r>
                <a:r>
                  <a:rPr lang="zh-CN" altLang="en-US" sz="2000" dirty="0"/>
                  <a:t>是栈符号</a:t>
                </a:r>
                <a:endParaRPr lang="en-AU" altLang="zh-CN" sz="2000" dirty="0"/>
              </a:p>
              <a:p>
                <a:endParaRPr lang="en-AU" altLang="zh-CN" sz="2000" dirty="0"/>
              </a:p>
              <a:p>
                <a:endParaRPr lang="en-AU" altLang="zh-CN" sz="20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 r="-1065" b="-24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15</a:t>
            </a:fld>
            <a:endParaRPr lang="en-A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L1</a:t>
            </a:r>
            <a:r>
              <a:rPr lang="zh-CN" altLang="en-US" dirty="0"/>
              <a:t>交</a:t>
            </a:r>
            <a:r>
              <a:rPr lang="en-US" altLang="zh-CN" dirty="0"/>
              <a:t>L2</a:t>
            </a:r>
            <a:r>
              <a:rPr lang="zh-CN" altLang="en-US" dirty="0"/>
              <a:t>得到的语言为</a:t>
            </a:r>
            <a:r>
              <a:rPr lang="en-AU" altLang="zh-CN" dirty="0"/>
              <a:t>0n1n2n,</a:t>
            </a:r>
            <a:r>
              <a:rPr lang="zh-CN" altLang="en-US" dirty="0"/>
              <a:t>显然不是上下文无关的，我们前面已经用泵引理证明过。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16</a:t>
            </a:fld>
            <a:endParaRPr lang="en-A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相当于并行的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17</a:t>
            </a:fld>
            <a:endParaRPr lang="en-A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P’</a:t>
                </a:r>
                <a:r>
                  <a:rPr lang="zh-CN" altLang="en-US" dirty="0"/>
                  <a:t>的状态集由</a:t>
                </a:r>
                <a:r>
                  <a:rPr lang="en-AU" altLang="zh-CN" dirty="0"/>
                  <a:t>Q1</a:t>
                </a:r>
                <a:r>
                  <a:rPr lang="zh-CN" altLang="en-US" dirty="0"/>
                  <a:t>和</a:t>
                </a:r>
                <a:r>
                  <a:rPr lang="en-AU" altLang="zh-CN" dirty="0"/>
                  <a:t>Q2</a:t>
                </a:r>
                <a:r>
                  <a:rPr lang="zh-CN" altLang="en-US" dirty="0"/>
                  <a:t>的笛卡尔积组成，即每一个状态由</a:t>
                </a:r>
                <a:r>
                  <a:rPr lang="en-AU" altLang="zh-CN" dirty="0"/>
                  <a:t>Q1</a:t>
                </a:r>
                <a:r>
                  <a:rPr lang="zh-CN" altLang="en-US" dirty="0"/>
                  <a:t>中的一个状态和</a:t>
                </a:r>
                <a:r>
                  <a:rPr lang="en-US" altLang="zh-CN" dirty="0"/>
                  <a:t>Q2</a:t>
                </a:r>
                <a:r>
                  <a:rPr lang="zh-CN" altLang="en-US" dirty="0"/>
                  <a:t>中的状态组合而成。</a:t>
                </a:r>
                <a:endParaRPr lang="en-AU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AU" sz="1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AU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AU" altLang="zh-CN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AU" altLang="zh-CN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sz="1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AU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1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zh-CN" altLang="en-US" sz="1200" dirty="0"/>
                  <a:t>若</a:t>
                </a:r>
                <a14:m>
                  <m:oMath xmlns:m="http://schemas.openxmlformats.org/officeDocument/2006/math">
                    <m:r>
                      <a:rPr lang="en-AU" altLang="zh-CN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altLang="zh-CN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AU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这个时候只有</a:t>
                </a:r>
                <a:r>
                  <a:rPr lang="en-US" altLang="zh-CN" dirty="0"/>
                  <a:t>PDA</a:t>
                </a:r>
                <a:r>
                  <a:rPr lang="zh-CN" altLang="en-US" dirty="0"/>
                  <a:t>有动作，</a:t>
                </a:r>
                <a:r>
                  <a:rPr lang="en-AU" altLang="zh-CN" dirty="0"/>
                  <a:t>DFA</a:t>
                </a:r>
                <a:r>
                  <a:rPr lang="zh-CN" altLang="en-US" dirty="0"/>
                  <a:t>不改变状态，因此对应于</a:t>
                </a:r>
                <a:r>
                  <a:rPr lang="en-US" altLang="zh-CN" dirty="0"/>
                  <a:t>DFA</a:t>
                </a:r>
                <a:r>
                  <a:rPr lang="zh-CN" altLang="en-US" dirty="0"/>
                  <a:t>的状态仍为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，而另一个状态则是</a:t>
                </a:r>
                <a:r>
                  <a:rPr lang="en-AU" altLang="zh-CN" dirty="0"/>
                  <a:t>PDA</a:t>
                </a:r>
                <a:r>
                  <a:rPr lang="zh-CN" altLang="en-US" dirty="0"/>
                  <a:t>转移后的状态</a:t>
                </a:r>
                <a:r>
                  <a:rPr lang="en-AU" altLang="zh-CN" dirty="0"/>
                  <a:t>s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endParaRPr lang="en-AU" dirty="0"/>
              </a:p>
              <a:p>
                <a:r>
                  <a:rPr lang="zh-CN" altLang="en-US" dirty="0"/>
                  <a:t>若</a:t>
                </a:r>
                <a:r>
                  <a:rPr lang="en-AU" altLang="zh-CN" dirty="0"/>
                  <a:t>a</a:t>
                </a:r>
                <a:r>
                  <a:rPr lang="zh-CN" altLang="en-US" dirty="0"/>
                  <a:t>非空，则</a:t>
                </a: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18</a:t>
            </a:fld>
            <a:endParaRPr lang="en-A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1" dirty="0">
                    <a:latin typeface="Cambria Math" panose="02040503050406030204" pitchFamily="18" charset="0"/>
                  </a:rPr>
                  <a:t>利用上下文无关语言的封闭性，我们可以利用它来证明某些语言不是上下文无关的。</a:t>
                </a: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i="1" dirty="0">
                    <a:latin typeface="Cambria Math" panose="02040503050406030204" pitchFamily="18" charset="0"/>
                  </a:rPr>
                  <a:t>比如，大家看下面这个例子</a:t>
                </a: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AU" altLang="zh-CN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显然是正则语言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因为我们可以写出它的正则表达式。</a:t>
                </a:r>
                <a:endParaRPr lang="en-AU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19</a:t>
            </a:fld>
            <a:endParaRPr lang="en-A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对于空性，只需判断文法的开始符号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是否为非产生的。因为如果开始符号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无法产生终结符的话，那么显然是空的。</a:t>
                </a: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21</a:t>
            </a:fld>
            <a:endParaRPr lang="en-AU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对于空性，只需判断文法的开始符号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是否为非产生的。因为如果开始符号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无法产生终结符的话，那么显然是空的。</a:t>
                </a: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22</a:t>
            </a:fld>
            <a:endParaRPr lang="en-AU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</a:t>
            </a:r>
            <a:r>
              <a:rPr lang="en-AU" altLang="zh-CN" dirty="0"/>
              <a:t>CFL</a:t>
            </a:r>
            <a:r>
              <a:rPr lang="zh-CN" altLang="en-US" dirty="0"/>
              <a:t>相关的很多问题，往往都是不可判定的。比如判断，等等问题。</a:t>
            </a:r>
            <a:endParaRPr lang="en-US" altLang="zh-CN" dirty="0"/>
          </a:p>
          <a:p>
            <a:r>
              <a:rPr lang="zh-CN" altLang="en-US" dirty="0"/>
              <a:t>感兴趣的可以去看看可计算性理论的相关知识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30</a:t>
            </a:fld>
            <a:endParaRPr lang="en-AU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altLang="zh-CN" dirty="0"/>
              <a:t>alpha</a:t>
            </a:r>
            <a:r>
              <a:rPr lang="zh-CN" altLang="en-US" dirty="0"/>
              <a:t>由终结符和变元组成。</a:t>
            </a:r>
            <a:r>
              <a:rPr lang="el-GR" dirty="0"/>
              <a:t>α </a:t>
            </a:r>
            <a:r>
              <a:rPr lang="zh-CN" altLang="en-US" dirty="0"/>
              <a:t>中至少要有一个变元</a:t>
            </a:r>
            <a:endParaRPr lang="en-AU" altLang="zh-CN" dirty="0"/>
          </a:p>
          <a:p>
            <a:r>
              <a:rPr lang="zh-CN" altLang="en-US" dirty="0"/>
              <a:t>如果符合上面的要求，</a:t>
            </a:r>
            <a:r>
              <a:rPr lang="en-US" altLang="zh-CN" dirty="0"/>
              <a:t>G</a:t>
            </a:r>
            <a:r>
              <a:rPr lang="zh-CN" altLang="en-US" dirty="0"/>
              <a:t>称为</a:t>
            </a:r>
            <a:r>
              <a:rPr lang="en-AU" altLang="zh-CN" dirty="0"/>
              <a:t>0</a:t>
            </a:r>
            <a:r>
              <a:rPr lang="zh-CN" altLang="en-US" dirty="0"/>
              <a:t>型文法或短语结构文法，识别这样文法的语言的装置是图灵机。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而如果在这样的基础上，增加一条限制，要求</a:t>
            </a:r>
            <a:r>
              <a:rPr lang="en-AU" altLang="zh-CN" dirty="0"/>
              <a:t>beta</a:t>
            </a:r>
            <a:r>
              <a:rPr lang="zh-CN" altLang="en-US" dirty="0"/>
              <a:t>的长度大于</a:t>
            </a:r>
            <a:r>
              <a:rPr lang="en-AU" altLang="zh-CN" dirty="0" err="1"/>
              <a:t>alph</a:t>
            </a:r>
            <a:r>
              <a:rPr lang="en-US" altLang="zh-CN" dirty="0"/>
              <a:t>a</a:t>
            </a:r>
            <a:r>
              <a:rPr lang="zh-CN" altLang="en-US" dirty="0"/>
              <a:t>长度，我们称为上下文有关文法，能识别这样文法的语言的自动机成为线性界限自动机</a:t>
            </a:r>
            <a:r>
              <a:rPr lang="en-AU" altLang="zh-CN" dirty="0"/>
              <a:t>(LBA)</a:t>
            </a:r>
            <a:r>
              <a:rPr lang="zh-CN" altLang="en-US" dirty="0"/>
              <a:t>。这个我们在课程中并没有介绍过，有兴趣的同学可以去进一步了解。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2</a:t>
            </a:r>
            <a:r>
              <a:rPr lang="zh-CN" altLang="en-US" dirty="0"/>
              <a:t>到</a:t>
            </a:r>
            <a:r>
              <a:rPr lang="en-AU" altLang="zh-CN" dirty="0"/>
              <a:t>3</a:t>
            </a:r>
            <a:r>
              <a:rPr lang="zh-CN" altLang="en-US" dirty="0"/>
              <a:t>型文法都是各自在</a:t>
            </a:r>
            <a:r>
              <a:rPr lang="en-AU" altLang="zh-CN" dirty="0"/>
              <a:t>0</a:t>
            </a:r>
            <a:r>
              <a:rPr lang="zh-CN" altLang="en-US" dirty="0"/>
              <a:t>型文法上增加一个限制条件得到的。</a:t>
            </a:r>
            <a:endParaRPr lang="en-AU" altLang="zh-CN" dirty="0"/>
          </a:p>
          <a:p>
            <a:endParaRPr lang="en-AU" dirty="0"/>
          </a:p>
          <a:p>
            <a:r>
              <a:rPr lang="en-AU" dirty="0"/>
              <a:t>(4)</a:t>
            </a:r>
            <a:r>
              <a:rPr lang="zh-CN" altLang="en-US" dirty="0"/>
              <a:t>正则文法，也就是正则语言。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那么到目前，和上下文无关文法，上下文无关语言有关的内容就结束了，在后续课程中我们会给出图灵机和图灵机所定义的语言的描述。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A903-3A42-486D-A3BC-854A05CABB63}" type="slidenum">
              <a:rPr lang="en-AU" smtClean="0"/>
              <a:t>31</a:t>
            </a:fld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2000" y="127733"/>
            <a:ext cx="9743263" cy="698744"/>
          </a:xfrm>
        </p:spPr>
        <p:txBody>
          <a:bodyPr/>
          <a:lstStyle>
            <a:lvl1pPr algn="l">
              <a:defRPr sz="3600" b="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7938" y="1368068"/>
            <a:ext cx="9550400" cy="4525963"/>
          </a:xfrm>
        </p:spPr>
        <p:txBody>
          <a:bodyPr/>
          <a:lstStyle>
            <a:lvl1pPr>
              <a:defRPr sz="2800" b="1">
                <a:latin typeface="KaiTi_GB2312" panose="02010609030101010101" pitchFamily="49" charset="-122"/>
                <a:ea typeface="KaiTi_GB2312" panose="02010609030101010101" pitchFamily="49" charset="-122"/>
              </a:defRPr>
            </a:lvl1pPr>
            <a:lvl2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2pPr>
            <a:lvl3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3pPr>
            <a:lvl4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4pPr>
            <a:lvl5pPr>
              <a:defRPr>
                <a:latin typeface="KaiTi_GB2312" panose="02010609030101010101" pitchFamily="49" charset="-122"/>
                <a:ea typeface="KaiTi_GB2312" panose="02010609030101010101" pitchFamily="49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E03C2985-DA0A-423A-A02E-2E38F06C445F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2000" y="149956"/>
            <a:ext cx="7406613" cy="692696"/>
          </a:xfrm>
        </p:spPr>
        <p:txBody>
          <a:bodyPr>
            <a:noAutofit/>
          </a:bodyPr>
          <a:lstStyle>
            <a:lvl1pPr algn="l">
              <a:defRPr sz="3600">
                <a:solidFill>
                  <a:srgbClr val="800080"/>
                </a:solidFill>
                <a:effectLst/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702554A5-A581-4AB9-AEA0-FA3C5F0DF619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9891A0AF-8D07-42A7-B1EB-C2BD93C0D5E5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2026/4/20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1041"/>
          <p:cNvGrpSpPr/>
          <p:nvPr userDrawn="1"/>
        </p:nvGrpSpPr>
        <p:grpSpPr bwMode="auto">
          <a:xfrm>
            <a:off x="-48684" y="0"/>
            <a:ext cx="1968501" cy="6884988"/>
            <a:chOff x="0" y="0"/>
            <a:chExt cx="2016" cy="4320"/>
          </a:xfrm>
        </p:grpSpPr>
        <p:sp>
          <p:nvSpPr>
            <p:cNvPr id="8" name="Rectangle 1042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9" name="Rectangle 1043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gradFill rotWithShape="0">
              <a:gsLst>
                <a:gs pos="0">
                  <a:srgbClr val="800080"/>
                </a:gs>
                <a:gs pos="100000">
                  <a:srgbClr val="800080">
                    <a:gamma/>
                    <a:tint val="20000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10" name="Line 1044"/>
          <p:cNvSpPr>
            <a:spLocks noChangeShapeType="1"/>
          </p:cNvSpPr>
          <p:nvPr userDrawn="1"/>
        </p:nvSpPr>
        <p:spPr bwMode="auto">
          <a:xfrm>
            <a:off x="1970618" y="1008064"/>
            <a:ext cx="10020300" cy="9525"/>
          </a:xfrm>
          <a:prstGeom prst="line">
            <a:avLst/>
          </a:prstGeom>
          <a:noFill/>
          <a:ln w="57150" cmpd="thinThick">
            <a:solidFill>
              <a:srgbClr val="8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 sz="2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36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tags" Target="../tags/tag2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2" Type="http://schemas.openxmlformats.org/officeDocument/2006/relationships/tags" Target="../tags/tag16.xml"/><Relationship Id="rId16" Type="http://schemas.openxmlformats.org/officeDocument/2006/relationships/image" Target="../media/image36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5" Type="http://schemas.openxmlformats.org/officeDocument/2006/relationships/tags" Target="../tags/tag19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24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image" Target="../media/image36.png"/><Relationship Id="rId10" Type="http://schemas.openxmlformats.org/officeDocument/2006/relationships/tags" Target="../tags/tag38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上下文无关语言的泵引理</a:t>
            </a:r>
            <a:endParaRPr lang="en-AU" altLang="zh-CN" sz="24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sz="2400" dirty="0"/>
              <a:t>上下文无关语言的封闭性</a:t>
            </a:r>
            <a:endParaRPr lang="en-AU" altLang="zh-CN" sz="2400" dirty="0"/>
          </a:p>
          <a:p>
            <a:pPr lvl="1"/>
            <a:r>
              <a:rPr lang="zh-CN" altLang="en-US" sz="2400" dirty="0"/>
              <a:t>代换的封闭性</a:t>
            </a:r>
            <a:endParaRPr lang="en-AU" altLang="zh-CN" sz="2400" dirty="0"/>
          </a:p>
          <a:p>
            <a:pPr lvl="1"/>
            <a:r>
              <a:rPr lang="zh-CN" altLang="en-US" sz="2400" dirty="0"/>
              <a:t>并</a:t>
            </a:r>
            <a:r>
              <a:rPr lang="en-AU" altLang="zh-CN" sz="2400" dirty="0"/>
              <a:t>/</a:t>
            </a:r>
            <a:r>
              <a:rPr lang="zh-CN" altLang="en-US" sz="2400" dirty="0"/>
              <a:t>连接</a:t>
            </a:r>
            <a:r>
              <a:rPr lang="en-AU" altLang="zh-CN" sz="2400" dirty="0"/>
              <a:t>/</a:t>
            </a:r>
            <a:r>
              <a:rPr lang="zh-CN" altLang="en-US" sz="2400" dirty="0"/>
              <a:t>闭包</a:t>
            </a:r>
            <a:r>
              <a:rPr lang="en-AU" altLang="zh-CN" sz="2400" dirty="0"/>
              <a:t>/</a:t>
            </a:r>
            <a:r>
              <a:rPr lang="zh-CN" altLang="en-US" sz="2400" dirty="0"/>
              <a:t>同态</a:t>
            </a:r>
            <a:r>
              <a:rPr lang="en-AU" altLang="zh-CN" sz="2400" dirty="0"/>
              <a:t>/</a:t>
            </a:r>
            <a:r>
              <a:rPr lang="zh-CN" altLang="en-US" sz="2400" dirty="0"/>
              <a:t>逆同态</a:t>
            </a:r>
            <a:r>
              <a:rPr lang="en-AU" altLang="zh-CN" sz="2400" dirty="0"/>
              <a:t>/</a:t>
            </a:r>
            <a:r>
              <a:rPr lang="zh-CN" altLang="en-US" sz="2400" dirty="0"/>
              <a:t>反转的封闭性</a:t>
            </a:r>
            <a:endParaRPr lang="en-AU" altLang="zh-CN" sz="2400" dirty="0"/>
          </a:p>
          <a:p>
            <a:pPr lvl="1"/>
            <a:r>
              <a:rPr lang="zh-CN" altLang="en-US" sz="2400" dirty="0"/>
              <a:t>交和补运算不封闭</a:t>
            </a:r>
            <a:endParaRPr lang="en-AU" altLang="zh-CN" sz="2400" dirty="0"/>
          </a:p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上下文无关语言的判定性质</a:t>
            </a:r>
            <a:endParaRPr lang="en-AU" altLang="zh-CN" sz="24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sz="2400" dirty="0">
                <a:solidFill>
                  <a:schemeClr val="bg1">
                    <a:lumMod val="65000"/>
                  </a:schemeClr>
                </a:solidFill>
              </a:rPr>
              <a:t>乔姆斯基文法体系</a:t>
            </a:r>
            <a:endParaRPr lang="en-AU" sz="2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</a:t>
            </a:fld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400" dirty="0"/>
                  <a:t>定义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两个字母表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sz="2400" dirty="0"/>
                  <a:t>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sz="2400" dirty="0"/>
                  <a:t>的函数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zh-CN" sz="2400" dirty="0"/>
                  <a:t>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l-GR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l-GR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l-GR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l-GR" altLang="zh-CN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AU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sz="2400" dirty="0"/>
                  <a:t>称为代换。</a:t>
                </a:r>
                <a:r>
                  <a:rPr lang="el-GR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sz="2400" dirty="0"/>
                  <a:t>中的一个字符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400" dirty="0"/>
                  <a:t>在</a:t>
                </a:r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/>
                  <a:t>的作用下为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sz="2400" dirty="0"/>
                  <a:t>上的一个语言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AU" altLang="zh-CN" sz="2400" dirty="0"/>
                  <a:t>,</a:t>
                </a:r>
                <a:r>
                  <a:rPr lang="zh-CN" altLang="en-US" sz="2400" dirty="0"/>
                  <a:t>即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altLang="zh-CN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AU" altLang="zh-CN" sz="2400" dirty="0"/>
              </a:p>
              <a:p>
                <a:r>
                  <a:rPr lang="zh-CN" altLang="en-US" sz="2400" dirty="0"/>
                  <a:t>扩展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/>
                  <a:t>的定义到字符串，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AU" sz="2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AU" sz="24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𝑥𝑎</m:t>
                          </m:r>
                        </m:e>
                      </m:d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altLang="zh-CN" sz="2400" dirty="0"/>
              </a:p>
              <a:p>
                <a:r>
                  <a:rPr lang="zh-CN" altLang="en-US" sz="2400" dirty="0"/>
                  <a:t>再扩展</a:t>
                </a:r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/>
                  <a:t>到语言，对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altLang="zh-CN" sz="2400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AU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AU" altLang="zh-C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5" t="-6" r="5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2</a:t>
            </a:fld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87938" y="1183011"/>
                <a:ext cx="10587325" cy="527221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定理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如果有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sz="2400" dirty="0"/>
                  <a:t>上的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sz="24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和代换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zh-CN" sz="2400" dirty="0"/>
                  <a:t>, </a:t>
                </a:r>
                <a:r>
                  <a:rPr lang="zh-CN" altLang="en-US" sz="2400" dirty="0"/>
                  <a:t>且每个 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altLang="zh-CN" sz="240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都是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sz="2400" dirty="0"/>
                  <a:t>, </a:t>
                </a:r>
                <a:r>
                  <a:rPr lang="zh-CN" altLang="en-US" sz="2400" dirty="0"/>
                  <a:t>那么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也是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r>
                  <a:rPr lang="zh-CN" altLang="en-US" sz="2400" dirty="0"/>
                  <a:t>证明：</a:t>
                </a:r>
                <a:endParaRPr lang="en-US" altLang="zh-CN" sz="2400" dirty="0"/>
              </a:p>
              <a:p>
                <a:pPr lvl="1"/>
                <a:r>
                  <a:rPr lang="zh-CN" altLang="en-US" sz="2200" dirty="0"/>
                  <a:t>设</a:t>
                </a:r>
                <a:r>
                  <a:rPr lang="en-A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sz="2200" dirty="0"/>
                  <a:t> </a:t>
                </a:r>
                <a14:m>
                  <m:oMath xmlns:m="http://schemas.openxmlformats.org/officeDocument/2006/math"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sz="2200" dirty="0"/>
                  <a:t> </a:t>
                </a:r>
                <a:r>
                  <a:rPr lang="zh-CN" altLang="en-US" sz="2200" dirty="0"/>
                  <a:t>的文法 </a:t>
                </a:r>
                <a14:m>
                  <m:oMath xmlns:m="http://schemas.openxmlformats.org/officeDocument/2006/math"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200" dirty="0"/>
                  <a:t>, </a:t>
                </a:r>
                <a:r>
                  <a:rPr lang="zh-CN" altLang="en-US" sz="2200" dirty="0"/>
                  <a:t>每个</a:t>
                </a:r>
                <a14:m>
                  <m:oMath xmlns:m="http://schemas.openxmlformats.org/officeDocument/2006/math"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200" dirty="0"/>
                  <a:t>的文法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2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AU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2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AU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2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AU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2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2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sz="2200" dirty="0"/>
                  <a:t>,</a:t>
                </a:r>
                <a:r>
                  <a:rPr lang="zh-CN" altLang="en-US" sz="2200" dirty="0"/>
                  <a:t>那么</a:t>
                </a:r>
                <a14:m>
                  <m:oMath xmlns:m="http://schemas.openxmlformats.org/officeDocument/2006/math"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/>
                  <a:t>的文法可以构造为</a:t>
                </a:r>
                <a:endParaRPr lang="en-AU" altLang="zh-CN" sz="2200" dirty="0"/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AU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AU" sz="22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AU" sz="2200" dirty="0"/>
              </a:p>
              <a:p>
                <a:pPr marL="800100" lvl="2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AU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limLoc m:val="subSup"/>
                            <m:supHide m:val="on"/>
                            <m:ctrlPr>
                              <a:rPr lang="en-A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A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A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A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AU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AU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zh-CN" alt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</m:t>
                    </m:r>
                    <m:sSup>
                      <m:sSupPr>
                        <m:ctrlPr>
                          <a:rPr lang="en-AU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AU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limLoc m:val="subSup"/>
                        <m:supHide m:val="on"/>
                        <m:ctrlPr>
                          <a:rPr lang="en-AU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AU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A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A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nary>
                    <m:r>
                      <a:rPr lang="zh-CN" alt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200" dirty="0"/>
                  <a:t>包括：</a:t>
                </a:r>
                <a:r>
                  <a:rPr lang="en-AU" altLang="zh-CN" sz="2200" dirty="0"/>
                  <a:t>(</a:t>
                </a:r>
                <a:r>
                  <a:rPr lang="en-AU" altLang="zh-CN" sz="2200" dirty="0" err="1"/>
                  <a:t>i</a:t>
                </a:r>
                <a:r>
                  <a:rPr lang="zh-CN" altLang="en-US" sz="2200" dirty="0"/>
                  <a:t>）每个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2200" dirty="0"/>
                  <a:t>中的产生式；</a:t>
                </a:r>
                <a:r>
                  <a:rPr lang="en-AU" altLang="zh-CN" sz="2200" dirty="0"/>
                  <a:t>(ii) </a:t>
                </a:r>
                <a14:m>
                  <m:oMath xmlns:m="http://schemas.openxmlformats.org/officeDocument/2006/math">
                    <m:r>
                      <a:rPr lang="en-AU" altLang="zh-CN" sz="22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200" dirty="0"/>
                  <a:t>的产生式，但是要替换产生式中的每个终结符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200" dirty="0"/>
                  <a:t>为文法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2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altLang="zh-CN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2200" dirty="0"/>
                  <a:t>的开始符号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2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2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2200" dirty="0"/>
                  <a:t>。</a:t>
                </a:r>
                <a:endParaRPr lang="en-AU" sz="2200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7938" y="1183011"/>
                <a:ext cx="10587325" cy="5272218"/>
              </a:xfrm>
              <a:blipFill rotWithShape="1">
                <a:blip r:embed="rId3"/>
                <a:stretch>
                  <a:fillRect l="-5" r="4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3</a:t>
            </a:fld>
            <a:endParaRPr lang="en-AU"/>
          </a:p>
        </p:txBody>
      </p:sp>
      <p:graphicFrame>
        <p:nvGraphicFramePr>
          <p:cNvPr id="6" name="Object 22"/>
          <p:cNvGraphicFramePr>
            <a:graphicFrameLocks noChangeAspect="1"/>
          </p:cNvGraphicFramePr>
          <p:nvPr/>
        </p:nvGraphicFramePr>
        <p:xfrm>
          <a:off x="4400550" y="4295575"/>
          <a:ext cx="3390900" cy="251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030345" imgH="2991485" progId="Visio.Drawing.11">
                  <p:embed/>
                </p:oleObj>
              </mc:Choice>
              <mc:Fallback>
                <p:oleObj name="Visio" r:id="rId4" imgW="4030345" imgH="2991485" progId="Visio.Drawing.11">
                  <p:embed/>
                  <p:pic>
                    <p:nvPicPr>
                      <p:cNvPr id="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4295575"/>
                        <a:ext cx="3390900" cy="251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09800" y="1289051"/>
                <a:ext cx="8229600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设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有相等个数的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altLang="zh-CN" sz="2400" dirty="0"/>
                  <a:t>, </a:t>
                </a:r>
                <a:r>
                  <a:rPr lang="zh-CN" altLang="en-US" sz="2400" dirty="0"/>
                  <a:t>代换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 ≥ 1}</m:t>
                      </m:r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= {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求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的文法。</a:t>
                </a:r>
                <a:endParaRPr lang="en-AU" altLang="zh-CN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09800" y="1289051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4</a:t>
            </a:fld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09800" y="1289051"/>
                <a:ext cx="8229600" cy="4525963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/>
                  <a:t>例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设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有相等个数的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altLang="zh-CN" sz="2400" dirty="0"/>
                  <a:t>, </a:t>
                </a:r>
                <a:r>
                  <a:rPr lang="zh-CN" altLang="en-US" sz="2400" dirty="0"/>
                  <a:t>代换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 ≥ 1}</m:t>
                      </m:r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= {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求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的文法。</a:t>
                </a:r>
                <a:endParaRPr lang="en-AU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解</a:t>
                </a:r>
                <a:r>
                  <a:rPr lang="en-AU" altLang="zh-CN" sz="2400" dirty="0"/>
                  <a:t>: </a:t>
                </a:r>
                <a:r>
                  <a:rPr lang="zh-CN" altLang="en-US" sz="2400" dirty="0"/>
                  <a:t>设计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的文法为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𝑎𝑆𝑏𝑆</m:t>
                    </m:r>
                    <m:d>
                      <m:dPr>
                        <m:begChr m:val="|"/>
                        <m:endChr m:val="|"/>
                        <m:ctrlPr>
                          <a:rPr lang="en-AU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𝑏𝑆𝑎𝑆</m:t>
                        </m:r>
                      </m:e>
                    </m:d>
                    <m:r>
                      <a:rPr lang="zh-CN" altLang="en-AU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AU" altLang="zh-CN" sz="24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2400" dirty="0"/>
                  <a:t>的文法为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  <m:sSub>
                      <m:sSubPr>
                        <m:ctrlPr>
                          <a:rPr lang="en-AU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1|01</m:t>
                    </m:r>
                  </m:oMath>
                </a14:m>
                <a:endParaRPr lang="en-AU" altLang="zh-CN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2400" dirty="0"/>
                  <a:t>的文法为</a:t>
                </a:r>
                <a:r>
                  <a:rPr lang="en-AU" altLang="zh-CN" sz="24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0|1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1|</m:t>
                    </m:r>
                    <m:r>
                      <a:rPr lang="zh-CN" altLang="en-AU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那么，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altLang="zh-CN" sz="2400" b="0" dirty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AU" altLang="zh-CN" sz="2400" b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的文法为</a:t>
                </a:r>
                <a:r>
                  <a:rPr lang="en-AU" altLang="zh-CN" sz="2400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d>
                        <m:dPr>
                          <m:begChr m:val="|"/>
                          <m:endChr m:val="|"/>
                          <m:ctrlP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AU" altLang="zh-CN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zh-CN" alt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AU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sz="2400" dirty="0">
                    <a:ea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1|01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en-AU" altLang="zh-CN" sz="2400" dirty="0">
                    <a:ea typeface="Cambria Math" panose="02040503050406030204" pitchFamily="18" charset="0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0|1</m:t>
                    </m:r>
                    <m:sSub>
                      <m:sSubPr>
                        <m:ctrlP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AU" altLang="zh-CN" sz="2400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1|</m:t>
                    </m:r>
                    <m:r>
                      <a:rPr lang="zh-CN" alt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09800" y="1289051"/>
                <a:ext cx="8229600" cy="4525963"/>
              </a:xfrm>
              <a:blipFill rotWithShape="1">
                <a:blip r:embed="rId3"/>
                <a:stretch>
                  <a:fillRect b="-30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5</a:t>
            </a:fld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187927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证明（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: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那么一定存在某个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· · ·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使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· · ·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可以分为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· · · 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即</a:t>
                </a:r>
                <a:endParaRPr lang="en-AU" altLang="zh-CN" dirty="0"/>
              </a:p>
              <a:p>
                <a:pPr marL="0" indent="0" algn="ctr">
                  <a:buNone/>
                </a:pPr>
                <a:r>
                  <a:rPr lang="en-AU" altLang="zh-CN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groupChr>
                      <m:groupChrPr>
                        <m:chr m:val="⇒"/>
                        <m:pos m:val="top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groupChr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由于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groupChr>
                      <m:groupChrPr>
                        <m:chr m:val="⇒"/>
                        <m:pos m:val="top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groupCh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· · ·</m:t>
                    </m:r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/>
                  <a:t>，所以</a:t>
                </a:r>
                <a:r>
                  <a:rPr lang="en-AU" altLang="zh-CN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𝑆</m:t>
                    </m:r>
                    <m:groupChr>
                      <m:groupChrPr>
                        <m:chr m:val="⇒"/>
                        <m:pos m:val="top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groupCh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altLang="zh-CN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· · ·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altLang="zh-CN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AU" altLang="zh-CN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  <m:groupChr>
                          <m:groupChrPr>
                            <m:chr m:val="⇒"/>
                            <m:pos m:val="top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groupCh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· · ·</m:t>
                    </m:r>
                  </m:oMath>
                </a14:m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所以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𝐋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187927"/>
                <a:ext cx="8229600" cy="4525963"/>
              </a:xfrm>
              <a:blipFill rotWithShape="1">
                <a:blip r:embed="rId3"/>
                <a:stretch>
                  <a:fillRect t="-1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6</a:t>
            </a:fld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26150" y="3244334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150" y="3244334"/>
                <a:ext cx="349776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32" r="150" b="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33010" y="3870764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010" y="3870764"/>
                <a:ext cx="34977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66" t="-119" r="135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98784" y="4466174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784" y="4466174"/>
                <a:ext cx="34977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63" t="-59" r="132" b="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51262" y="4427715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262" y="4427715"/>
                <a:ext cx="34977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06" t="-134" r="75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592093" y="3652641"/>
                <a:ext cx="2947715" cy="92333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包括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的产生式，但是要替换产生式中的每个终结符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为文法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的开始符号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AU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093" y="3652641"/>
                <a:ext cx="2947715" cy="923330"/>
              </a:xfrm>
              <a:prstGeom prst="rect">
                <a:avLst/>
              </a:prstGeom>
              <a:blipFill rotWithShape="1">
                <a:blip r:embed="rId5"/>
                <a:stretch>
                  <a:fillRect l="-1" t="-13" r="3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>
            <a:off x="6896768" y="3997764"/>
            <a:ext cx="695324" cy="318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代换的封闭性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1"/>
                <a:ext cx="7810500" cy="4525963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zh-CN" altLang="en-US" dirty="0"/>
                  <a:t>证明（</a:t>
                </a:r>
                <a14:m>
                  <m:oMath xmlns:m="http://schemas.openxmlformats.org/officeDocument/2006/math"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AU" altLang="zh-CN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:</a:t>
                </a:r>
              </a:p>
              <a:p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/>
                  <a:t>的终结符仅能由每个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/>
                  <a:t>派生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因此对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′) </m:t>
                    </m:r>
                  </m:oMath>
                </a14:m>
                <a:r>
                  <a:rPr lang="zh-CN" altLang="en-US" dirty="0"/>
                  <a:t>有</a:t>
                </a:r>
                <a:endParaRPr lang="en-AU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groupChr>
                        <m:groupChrPr>
                          <m:chr m:val="⇒"/>
                          <m:pos m:val="top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groupChr>
                      <m:r>
                        <a:rPr lang="zh-CN" altLang="en-AU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AU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AU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lang="en-AU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altLang="zh-CN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groupChr>
                        <m:groupChrPr>
                          <m:chr m:val="⇒"/>
                          <m:pos m:val="top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groupChr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/>
                  <a:t>中的每个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中是终结符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所以有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groupChr>
                        <m:groupChrPr>
                          <m:chr m:val="⇒"/>
                          <m:pos m:val="top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</m:groupCh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AU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AU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又因为</a:t>
                </a:r>
                <a14:m>
                  <m:oMath xmlns:m="http://schemas.openxmlformats.org/officeDocument/2006/math"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l-GR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l-G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l-GR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groupChr>
                      <m:groupChrPr>
                        <m:chr m:val="⇒"/>
                        <m:pos m:val="top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groupCh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 · · ·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所以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AU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groupChr>
                      <m:groupChrPr>
                        <m:chr m:val="⇒"/>
                        <m:pos m:val="top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groupChr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那么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∈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AU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AU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 ⊆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所以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AU" altLang="zh-CN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′) ⊆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又由前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AU" altLang="zh-CN" b="1" dirty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，因此</a:t>
                </a:r>
                <a14:m>
                  <m:oMath xmlns:m="http://schemas.openxmlformats.org/officeDocument/2006/math">
                    <m:r>
                      <a:rPr lang="en-AU" altLang="zh-CN" b="1" dirty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′) = 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AU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1"/>
                <a:ext cx="7810500" cy="4525963"/>
              </a:xfrm>
              <a:blipFill rotWithShape="1">
                <a:blip r:embed="rId3"/>
                <a:stretch>
                  <a:fillRect t="-12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7</a:t>
            </a:fld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42011" y="2141751"/>
                <a:ext cx="331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011" y="2141751"/>
                <a:ext cx="33196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57" t="-144" r="114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76558" y="2141751"/>
                <a:ext cx="331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558" y="2141751"/>
                <a:ext cx="33196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33" t="-144" r="91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57871" y="3684727"/>
                <a:ext cx="331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871" y="3684727"/>
                <a:ext cx="33196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43" t="-124" r="101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93325" y="3196486"/>
                <a:ext cx="331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325" y="3196486"/>
                <a:ext cx="33196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2" t="-144" r="161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983014" y="3659463"/>
                <a:ext cx="331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014" y="3659463"/>
                <a:ext cx="33196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29" t="-161" r="86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22">
            <a:extLst>
              <a:ext uri="{FF2B5EF4-FFF2-40B4-BE49-F238E27FC236}">
                <a16:creationId xmlns:a16="http://schemas.microsoft.com/office/drawing/2014/main" id="{C608B324-7D3C-259C-004E-9975B47905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7492066"/>
              </p:ext>
            </p:extLst>
          </p:nvPr>
        </p:nvGraphicFramePr>
        <p:xfrm>
          <a:off x="8571704" y="1252989"/>
          <a:ext cx="3390900" cy="251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030345" imgH="2991485" progId="Visio.Drawing.11">
                  <p:embed/>
                </p:oleObj>
              </mc:Choice>
              <mc:Fallback>
                <p:oleObj name="Visio" r:id="rId5" imgW="4030345" imgH="2991485" progId="Visio.Drawing.11">
                  <p:embed/>
                  <p:pic>
                    <p:nvPicPr>
                      <p:cNvPr id="8" name="Object 22">
                        <a:extLst>
                          <a:ext uri="{FF2B5EF4-FFF2-40B4-BE49-F238E27FC236}">
                            <a16:creationId xmlns:a16="http://schemas.microsoft.com/office/drawing/2014/main" id="{C608B324-7D3C-259C-004E-9975B47905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1704" y="1252989"/>
                        <a:ext cx="3390900" cy="251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CFL</a:t>
            </a:r>
            <a:r>
              <a:rPr lang="zh-CN" altLang="en-US" dirty="0"/>
              <a:t>对并</a:t>
            </a:r>
            <a:r>
              <a:rPr lang="en-US" altLang="zh-CN" dirty="0"/>
              <a:t>/</a:t>
            </a:r>
            <a:r>
              <a:rPr lang="zh-CN" altLang="en-US" dirty="0"/>
              <a:t>连接</a:t>
            </a:r>
            <a:r>
              <a:rPr lang="en-US" altLang="zh-CN" dirty="0"/>
              <a:t>/</a:t>
            </a:r>
            <a:r>
              <a:rPr lang="zh-CN" altLang="en-US" dirty="0"/>
              <a:t>闭包</a:t>
            </a:r>
            <a:r>
              <a:rPr lang="en-US" altLang="zh-CN" dirty="0"/>
              <a:t>/</a:t>
            </a:r>
            <a:r>
              <a:rPr lang="zh-CN" altLang="en-US" dirty="0"/>
              <a:t>同态封闭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187927"/>
                <a:ext cx="8229600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上下文无关语言在并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连接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闭包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正闭包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同态下封闭。</a:t>
                </a:r>
                <a:endParaRPr lang="en-US" altLang="zh-CN" dirty="0"/>
              </a:p>
              <a:p>
                <a:r>
                  <a:rPr lang="zh-CN" altLang="en-US" dirty="0"/>
                  <a:t>证明</a:t>
                </a:r>
                <a:r>
                  <a:rPr lang="en-US" altLang="zh-CN" dirty="0"/>
                  <a:t>1:</a:t>
                </a: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1, 2</m:t>
                        </m:r>
                      </m:e>
                    </m:d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是任意</a:t>
                </a:r>
                <a:r>
                  <a:rPr lang="en-US" altLang="zh-CN" dirty="0"/>
                  <a:t>CFL</a:t>
                </a:r>
                <a:r>
                  <a:rPr lang="zh-CN" altLang="en-US" dirty="0"/>
                  <a:t>。定义代换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(1) = 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(2)=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语言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{1,2}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>
                        <a:latin typeface="Cambria Math" panose="02040503050406030204" pitchFamily="18" charset="0"/>
                      </a:rPr>
                      <m:t>{12}</m:t>
                    </m:r>
                  </m:oMath>
                </a14:m>
                <a:r>
                  <a:rPr lang="en-AU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{1}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{1}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dirty="0"/>
                  <a:t>显然都是</a:t>
                </a:r>
                <a:r>
                  <a:rPr lang="en-AU" altLang="zh-CN" dirty="0"/>
                  <a:t>CFL</a:t>
                </a:r>
                <a:r>
                  <a:rPr lang="zh-CN" altLang="en-US" dirty="0"/>
                  <a:t>，那么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AU" altLang="zh-CN" dirty="0"/>
                  <a:t>1</a:t>
                </a:r>
                <a:r>
                  <a:rPr lang="zh-CN" altLang="en-US" dirty="0"/>
                  <a:t>）由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({1, 2}) =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(1) ∪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(2) 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所以并运算封闭</a:t>
                </a:r>
                <a:r>
                  <a:rPr lang="en-US" altLang="zh-CN" dirty="0"/>
                  <a:t>;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（</a:t>
                </a:r>
                <a:r>
                  <a:rPr lang="en-AU" altLang="zh-CN" dirty="0"/>
                  <a:t>2</a:t>
                </a:r>
                <a:r>
                  <a:rPr lang="zh-CN" altLang="en-US" dirty="0"/>
                  <a:t>）由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({12}) =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(12) =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(1)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(2) 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所以连接运算封闭；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187927"/>
                <a:ext cx="8229600" cy="4525963"/>
              </a:xfrm>
              <a:blipFill>
                <a:blip r:embed="rId3"/>
                <a:stretch>
                  <a:fillRect l="-1387" t="-1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8</a:t>
            </a:fld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1"/>
              <p:cNvSpPr txBox="1"/>
              <p:nvPr/>
            </p:nvSpPr>
            <p:spPr>
              <a:xfrm>
                <a:off x="1475014" y="5772115"/>
                <a:ext cx="939437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已证明定理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 如果有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上的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和代换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且每个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altLang="zh-CN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都是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, </a:t>
                </a: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也是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014" y="5772115"/>
                <a:ext cx="939437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" t="-162" r="1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CFL</a:t>
            </a:r>
            <a:r>
              <a:rPr lang="zh-CN" altLang="en-US" dirty="0"/>
              <a:t>对并</a:t>
            </a:r>
            <a:r>
              <a:rPr lang="en-US" altLang="zh-CN" dirty="0"/>
              <a:t>/</a:t>
            </a:r>
            <a:r>
              <a:rPr lang="zh-CN" altLang="en-US" dirty="0"/>
              <a:t>连接</a:t>
            </a:r>
            <a:r>
              <a:rPr lang="en-US" altLang="zh-CN" dirty="0"/>
              <a:t>/</a:t>
            </a:r>
            <a:r>
              <a:rPr lang="zh-CN" altLang="en-US" dirty="0"/>
              <a:t>闭包</a:t>
            </a:r>
            <a:r>
              <a:rPr lang="en-US" altLang="zh-CN" dirty="0"/>
              <a:t>/</a:t>
            </a:r>
            <a:r>
              <a:rPr lang="zh-CN" altLang="en-US" dirty="0"/>
              <a:t>同态封闭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51050" y="1166019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AU" dirty="0"/>
                  <a:t>(3)</a:t>
                </a:r>
                <a:r>
                  <a:rPr lang="zh-CN" altLang="en-US" dirty="0"/>
                  <a:t>闭包运算封闭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因为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b="0" dirty="0"/>
                  <a:t>           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AU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({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,1,11,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})</m:t>
                    </m:r>
                  </m:oMath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                  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A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∪⋯</m:t>
                    </m:r>
                  </m:oMath>
                </a14:m>
                <a:endParaRPr lang="en-AU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b="0" dirty="0"/>
                  <a:t>                  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A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(1)∪⋯</m:t>
                    </m:r>
                  </m:oMath>
                </a14:m>
                <a:endParaRPr lang="en-AU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b="0" dirty="0">
                    <a:ea typeface="Cambria Math" panose="02040503050406030204" pitchFamily="18" charset="0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altLang="zh-CN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A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∪⋯</m:t>
                    </m:r>
                  </m:oMath>
                </a14:m>
                <a:endParaRPr lang="en-AU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AU" altLang="zh-CN" b="0" dirty="0"/>
                  <a:t>                  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AU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AU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AU" altLang="zh-CN" dirty="0"/>
              </a:p>
              <a:p>
                <a:r>
                  <a:rPr lang="en-AU" altLang="zh-CN" dirty="0"/>
                  <a:t>(4)</a:t>
                </a:r>
                <a:r>
                  <a:rPr lang="zh-CN" altLang="en-US" dirty="0"/>
                  <a:t>正闭包运算封闭的证明类似。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51050" y="1166019"/>
                <a:ext cx="8229600" cy="4525963"/>
              </a:xfrm>
              <a:blipFill rotWithShape="1">
                <a:blip r:embed="rId2"/>
                <a:stretch>
                  <a:fillRect t="-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9</a:t>
            </a:fld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/>
              <p:cNvSpPr txBox="1"/>
              <p:nvPr/>
            </p:nvSpPr>
            <p:spPr>
              <a:xfrm>
                <a:off x="1475014" y="5772115"/>
                <a:ext cx="939437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已证明定理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 如果有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上的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和代换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且每个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altLang="zh-CN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都是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, </a:t>
                </a: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也是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014" y="5772115"/>
                <a:ext cx="939437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6" t="-162" r="1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CFL</a:t>
            </a:r>
            <a:r>
              <a:rPr lang="zh-CN" altLang="en-US" dirty="0"/>
              <a:t>对并</a:t>
            </a:r>
            <a:r>
              <a:rPr lang="en-US" altLang="zh-CN" dirty="0"/>
              <a:t>/</a:t>
            </a:r>
            <a:r>
              <a:rPr lang="zh-CN" altLang="en-US" dirty="0"/>
              <a:t>连接</a:t>
            </a:r>
            <a:r>
              <a:rPr lang="en-US" altLang="zh-CN" dirty="0"/>
              <a:t>/</a:t>
            </a:r>
            <a:r>
              <a:rPr lang="zh-CN" altLang="en-US" dirty="0"/>
              <a:t>闭包</a:t>
            </a:r>
            <a:r>
              <a:rPr lang="en-US" altLang="zh-CN" dirty="0"/>
              <a:t>/</a:t>
            </a:r>
            <a:r>
              <a:rPr lang="zh-CN" altLang="en-US" dirty="0"/>
              <a:t>同态封闭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89150" y="1117601"/>
                <a:ext cx="8229600" cy="4525963"/>
              </a:xfrm>
            </p:spPr>
            <p:txBody>
              <a:bodyPr/>
              <a:lstStyle/>
              <a:p>
                <a:r>
                  <a:rPr lang="en-AU" altLang="zh-CN" dirty="0"/>
                  <a:t>(5)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上的同态</a:t>
                </a:r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上的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, </a:t>
                </a: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altLang="zh-CN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令代换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)}, </m:t>
                    </m:r>
                  </m:oMath>
                </a14:m>
                <a:r>
                  <a:rPr lang="zh-CN" altLang="en-US" dirty="0"/>
                  <a:t>则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AU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AU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2400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AU" altLang="zh-CN" sz="2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AU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24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AU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altLang="zh-CN" sz="2400" b="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⋃"/>
                          <m:supHide m:val="on"/>
                          <m:ctrlPr>
                            <a:rPr lang="en-AU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AU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)=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所以同态运算封闭。</a:t>
                </a:r>
                <a:endParaRPr lang="en-AU" altLang="zh-CN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89150" y="1117601"/>
                <a:ext cx="8229600" cy="4525963"/>
              </a:xfrm>
              <a:blipFill>
                <a:blip r:embed="rId3"/>
                <a:stretch>
                  <a:fillRect l="-1541" t="-9497" r="-7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10</a:t>
            </a:fld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1"/>
              <p:cNvSpPr txBox="1"/>
              <p:nvPr/>
            </p:nvSpPr>
            <p:spPr>
              <a:xfrm>
                <a:off x="1475014" y="5772115"/>
                <a:ext cx="9394371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已证明定理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 如果有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上的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和代换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zh-CN" dirty="0"/>
                  <a:t>, </a:t>
                </a:r>
                <a:r>
                  <a:rPr lang="zh-CN" altLang="en-US" dirty="0"/>
                  <a:t>且每个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altLang="zh-CN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都是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, </a:t>
                </a: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也是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014" y="5772115"/>
                <a:ext cx="939437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6" t="-162" r="1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CFL</a:t>
            </a:r>
            <a:r>
              <a:rPr lang="zh-CN" altLang="en-US" dirty="0"/>
              <a:t>对并</a:t>
            </a:r>
            <a:r>
              <a:rPr lang="en-US" altLang="zh-CN" dirty="0"/>
              <a:t>/</a:t>
            </a:r>
            <a:r>
              <a:rPr lang="zh-CN" altLang="en-US" dirty="0"/>
              <a:t>连接</a:t>
            </a:r>
            <a:r>
              <a:rPr lang="en-US" altLang="zh-CN" dirty="0"/>
              <a:t>/</a:t>
            </a:r>
            <a:r>
              <a:rPr lang="zh-CN" altLang="en-US" dirty="0"/>
              <a:t>闭包</a:t>
            </a:r>
            <a:r>
              <a:rPr lang="en-US" altLang="zh-CN" dirty="0"/>
              <a:t>/</a:t>
            </a:r>
            <a:r>
              <a:rPr lang="zh-CN" altLang="en-US" dirty="0"/>
              <a:t>同态封闭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27250" y="1054101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2(</a:t>
                </a:r>
                <a:r>
                  <a:rPr lang="zh-CN" altLang="en-US" dirty="0"/>
                  <a:t>用文法证明</a:t>
                </a:r>
                <a:r>
                  <a:rPr lang="en-AU" altLang="zh-CN" dirty="0"/>
                  <a:t>):</a:t>
                </a:r>
                <a:r>
                  <a:rPr lang="zh-CN" altLang="en-US" dirty="0"/>
                  <a:t>并</a:t>
                </a:r>
                <a:r>
                  <a:rPr lang="en-AU" altLang="zh-CN" dirty="0"/>
                  <a:t>/</a:t>
                </a:r>
                <a:r>
                  <a:rPr lang="zh-CN" altLang="en-US" dirty="0"/>
                  <a:t>连接</a:t>
                </a:r>
                <a:r>
                  <a:rPr lang="en-AU" altLang="zh-CN" dirty="0"/>
                  <a:t>/</a:t>
                </a:r>
                <a:r>
                  <a:rPr lang="zh-CN" altLang="en-US" dirty="0"/>
                  <a:t>闭包的封闭性。设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的文法分别为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 (</m:t>
                      </m:r>
                      <m:sSub>
                        <m:sSub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 (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那么，分别构造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dirty="0"/>
                  <a:t>(1)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⋃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的文法为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𝑢𝑛𝑖𝑜𝑛</m:t>
                          </m:r>
                        </m:sub>
                      </m:sSub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AU" altLang="zh-CN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AU" altLang="zh-CN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AU" altLang="zh-CN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的文法为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𝑐𝑜𝑛𝑐𝑎𝑡</m:t>
                          </m:r>
                        </m:sub>
                      </m:sSub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sz="2400" b="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},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(3)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b="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AU" sz="24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AU" sz="2400" b="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/>
                  <a:t>的文法为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AU" altLang="zh-CN" sz="2400" b="0" i="1">
                              <a:latin typeface="Cambria Math" panose="02040503050406030204" pitchFamily="18" charset="0"/>
                            </a:rPr>
                            <m:t>𝑐𝑙𝑜𝑠𝑢𝑟𝑒</m:t>
                          </m:r>
                        </m:sub>
                      </m:sSub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d>
                        <m:dPr>
                          <m:begChr m:val="{"/>
                          <m:endChr m:val="}"/>
                          <m:ctrlPr>
                            <a:rPr lang="en-AU" altLang="zh-CN" sz="2400" b="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AU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AU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⋃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AU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AU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},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AU" altLang="zh-CN" sz="24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endParaRPr lang="en-AU" sz="2400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7250" y="1054101"/>
                <a:ext cx="8229600" cy="4525963"/>
              </a:xfrm>
              <a:blipFill>
                <a:blip r:embed="rId2"/>
                <a:stretch>
                  <a:fillRect l="-1541" t="-1681" b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11</a:t>
            </a:fld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CFL</a:t>
            </a:r>
            <a:r>
              <a:rPr lang="zh-CN" altLang="en-US" dirty="0"/>
              <a:t>对反转封闭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187927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, </a:t>
                </a: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也是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的文法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构造文法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′ = (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, {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AU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},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AU" dirty="0"/>
                  <a:t>L = {</a:t>
                </a:r>
                <a:r>
                  <a:rPr lang="en-AU" dirty="0" err="1"/>
                  <a:t>a</a:t>
                </a:r>
                <a:r>
                  <a:rPr lang="en-AU" baseline="30000" dirty="0" err="1"/>
                  <a:t>n</a:t>
                </a:r>
                <a:r>
                  <a:rPr lang="en-AU" dirty="0" err="1"/>
                  <a:t>b</a:t>
                </a:r>
                <a:r>
                  <a:rPr lang="en-US" altLang="zh-CN" baseline="30000" dirty="0"/>
                  <a:t>n</a:t>
                </a:r>
                <a:r>
                  <a:rPr lang="en-AU" dirty="0"/>
                  <a:t>c</a:t>
                </a:r>
                <a:r>
                  <a:rPr lang="en-AU" baseline="30000" dirty="0"/>
                  <a:t>m</a:t>
                </a:r>
                <a:r>
                  <a:rPr lang="en-AU" dirty="0"/>
                  <a:t>|n≥0,m≥0} </a:t>
                </a:r>
                <a:r>
                  <a:rPr lang="zh-CN" altLang="en-US" dirty="0"/>
                  <a:t>的文法</a:t>
                </a:r>
                <a:r>
                  <a:rPr lang="en-US" altLang="zh-CN" dirty="0"/>
                  <a:t>: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它的反转是？</a:t>
                </a: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187927"/>
                <a:ext cx="8229600" cy="4525963"/>
              </a:xfrm>
              <a:blipFill>
                <a:blip r:embed="rId3"/>
                <a:stretch>
                  <a:fillRect l="-1541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9444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CFL</a:t>
            </a:r>
            <a:r>
              <a:rPr lang="zh-CN" altLang="en-US" dirty="0"/>
              <a:t>对反转封闭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52650" y="1187927"/>
                <a:ext cx="9293116" cy="4525963"/>
              </a:xfrm>
            </p:spPr>
            <p:txBody>
              <a:bodyPr/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, </a:t>
                </a:r>
                <a:r>
                  <a:rPr lang="zh-CN" altLang="en-US" dirty="0"/>
                  <a:t>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也是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的文法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dirty="0"/>
                  <a:t>,</a:t>
                </a:r>
                <a:r>
                  <a:rPr lang="zh-CN" altLang="en-US" dirty="0"/>
                  <a:t>构造文法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′ = (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, {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AU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 }, 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AU" dirty="0"/>
                  <a:t>L = {</a:t>
                </a:r>
                <a:r>
                  <a:rPr lang="en-AU" dirty="0" err="1"/>
                  <a:t>a</a:t>
                </a:r>
                <a:r>
                  <a:rPr lang="en-AU" baseline="30000" dirty="0" err="1"/>
                  <a:t>n</a:t>
                </a:r>
                <a:r>
                  <a:rPr lang="en-AU" dirty="0" err="1"/>
                  <a:t>b</a:t>
                </a:r>
                <a:r>
                  <a:rPr lang="en-US" altLang="zh-CN" baseline="30000" dirty="0"/>
                  <a:t>n</a:t>
                </a:r>
                <a:r>
                  <a:rPr lang="en-AU" dirty="0"/>
                  <a:t>c</a:t>
                </a:r>
                <a:r>
                  <a:rPr lang="en-AU" baseline="30000" dirty="0"/>
                  <a:t>m</a:t>
                </a:r>
                <a:r>
                  <a:rPr lang="en-AU" dirty="0"/>
                  <a:t>|n≥0,m≥0} </a:t>
                </a:r>
                <a:r>
                  <a:rPr lang="zh-CN" altLang="en-US" dirty="0"/>
                  <a:t>的文法</a:t>
                </a:r>
                <a:r>
                  <a:rPr lang="en-US" altLang="zh-CN" dirty="0"/>
                  <a:t>: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S→AB</a:t>
                </a:r>
                <a:r>
                  <a:rPr lang="zh-CN" altLang="en-US" dirty="0"/>
                  <a:t>        </a:t>
                </a:r>
                <a:r>
                  <a:rPr lang="en-US" altLang="zh-CN" dirty="0" err="1"/>
                  <a:t>A→aAb</a:t>
                </a:r>
                <a:r>
                  <a:rPr lang="en-US" altLang="zh-CN" dirty="0"/>
                  <a:t>|</a:t>
                </a:r>
                <a:r>
                  <a:rPr lang="el-GR" altLang="zh-CN" dirty="0"/>
                  <a:t>ε</a:t>
                </a:r>
                <a:r>
                  <a:rPr lang="zh-CN" altLang="en-US" dirty="0"/>
                  <a:t>       </a:t>
                </a:r>
                <a:r>
                  <a:rPr lang="en-US" altLang="zh-CN" dirty="0" err="1"/>
                  <a:t>B→Bc|c</a:t>
                </a:r>
                <a:r>
                  <a:rPr lang="en-US" altLang="zh-CN" dirty="0"/>
                  <a:t>|</a:t>
                </a:r>
                <a:r>
                  <a:rPr lang="el-GR" altLang="zh-CN" dirty="0"/>
                  <a:t>ε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它的反转是？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S→BA</a:t>
                </a:r>
                <a:r>
                  <a:rPr lang="zh-CN" altLang="en-US" dirty="0"/>
                  <a:t>        </a:t>
                </a:r>
                <a:r>
                  <a:rPr lang="en-US" altLang="zh-CN" dirty="0" err="1"/>
                  <a:t>A→bAa</a:t>
                </a:r>
                <a:r>
                  <a:rPr lang="en-US" altLang="zh-CN" dirty="0"/>
                  <a:t>|</a:t>
                </a:r>
                <a:r>
                  <a:rPr lang="el-GR" altLang="zh-CN" dirty="0"/>
                  <a:t>ε</a:t>
                </a:r>
                <a:r>
                  <a:rPr lang="zh-CN" altLang="en-US" dirty="0"/>
                  <a:t>       </a:t>
                </a:r>
                <a:r>
                  <a:rPr lang="en-US" altLang="zh-CN" dirty="0" err="1"/>
                  <a:t>B→cB|c</a:t>
                </a:r>
                <a:r>
                  <a:rPr lang="en-US" altLang="zh-CN" dirty="0"/>
                  <a:t>|</a:t>
                </a:r>
                <a:r>
                  <a:rPr lang="el-GR" altLang="zh-CN" dirty="0"/>
                  <a:t>ε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2650" y="1187927"/>
                <a:ext cx="9293116" cy="4525963"/>
              </a:xfrm>
              <a:blipFill>
                <a:blip r:embed="rId3"/>
                <a:stretch>
                  <a:fillRect l="-1364" t="-1961" b="-4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13</a:t>
            </a:fld>
            <a:endParaRPr lang="en-A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对逆同态封闭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189436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定理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是字母表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zh-CN" altLang="en-US" sz="2400" dirty="0"/>
                  <a:t>上的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sz="2400" dirty="0"/>
                  <a:t>是字母表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400" dirty="0"/>
                  <a:t>的同态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AU" altLang="zh-CN" sz="2400" b="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也是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r>
                  <a:rPr lang="zh-CN" altLang="en-US" sz="2400" dirty="0"/>
                  <a:t>证明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 基本思路：设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en-AU" altLang="zh-CN" sz="24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 ∆, </m:t>
                    </m:r>
                    <m:r>
                      <m:rPr>
                        <m:sty m:val="p"/>
                      </m:rPr>
                      <a:rPr lang="el-GR" altLang="zh-CN" sz="2400" dirty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AU" altLang="zh-CN" sz="2400" dirty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)=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。构造</a:t>
                </a:r>
                <a14:m>
                  <m:oMath xmlns:m="http://schemas.openxmlformats.org/officeDocument/2006/math">
                    <m:r>
                      <a:rPr lang="en-AU" altLang="zh-CN" sz="2400" dirty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zh-CN" altLang="en-US" sz="2400" dirty="0"/>
                  <a:t>。在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/>
                  <a:t>的状态中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使用缓冲</a:t>
                </a:r>
                <a:r>
                  <a:rPr lang="en-AU" altLang="zh-CN" sz="2400" dirty="0"/>
                  <a:t>(Buffer)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暂存字符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m:rPr>
                        <m:sty m:val="p"/>
                      </m:rPr>
                      <a:rPr lang="el-GR" sz="2400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sz="2400" dirty="0"/>
                  <a:t>的同态串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189436"/>
                <a:ext cx="8229600" cy="4525963"/>
              </a:xfrm>
              <a:blipFill rotWithShape="1">
                <a:blip r:embed="rId3"/>
                <a:stretch>
                  <a:fillRect t="-2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14</a:t>
            </a:fld>
            <a:endParaRPr lang="en-AU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978832" y="3429000"/>
            <a:ext cx="2877128" cy="1447800"/>
          </a:xfrm>
          <a:prstGeom prst="rect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305657" y="3591799"/>
            <a:ext cx="1219200" cy="533400"/>
          </a:xfrm>
          <a:prstGeom prst="rect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Buffer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150984" y="4307206"/>
            <a:ext cx="1524000" cy="533400"/>
          </a:xfrm>
          <a:prstGeom prst="rect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State of P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693620" y="5178107"/>
            <a:ext cx="457200" cy="1295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dirty="0"/>
              <a:t>栈</a:t>
            </a:r>
            <a:endParaRPr lang="en-AU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454401" y="3773249"/>
            <a:ext cx="8771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/>
              <a:t>输入串</a:t>
            </a:r>
            <a:endParaRPr lang="en-US" altLang="en-US" dirty="0"/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V="1">
            <a:off x="4263446" y="3924617"/>
            <a:ext cx="877163" cy="63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0"/>
              <p:cNvSpPr txBox="1">
                <a:spLocks noChangeArrowheads="1"/>
              </p:cNvSpPr>
              <p:nvPr/>
            </p:nvSpPr>
            <p:spPr bwMode="auto">
              <a:xfrm>
                <a:off x="4384959" y="3544649"/>
                <a:ext cx="371447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en-US" i="1" dirty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2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4959" y="3544649"/>
                <a:ext cx="371447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76" t="-21" r="69" b="12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6912984" y="4903787"/>
            <a:ext cx="0" cy="2743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0"/>
              <p:cNvSpPr txBox="1">
                <a:spLocks noChangeArrowheads="1"/>
              </p:cNvSpPr>
              <p:nvPr/>
            </p:nvSpPr>
            <p:spPr bwMode="auto">
              <a:xfrm>
                <a:off x="5663304" y="3505755"/>
                <a:ext cx="696024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AU" alt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alt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alt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4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63304" y="3505755"/>
                <a:ext cx="696024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54" t="-150" r="63" b="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Line 9"/>
          <p:cNvSpPr>
            <a:spLocks noChangeShapeType="1"/>
          </p:cNvSpPr>
          <p:nvPr/>
        </p:nvSpPr>
        <p:spPr bwMode="auto">
          <a:xfrm flipV="1">
            <a:off x="5663304" y="3909217"/>
            <a:ext cx="640080" cy="635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/>
              <p:cNvSpPr/>
              <p:nvPr/>
            </p:nvSpPr>
            <p:spPr>
              <a:xfrm>
                <a:off x="5194050" y="3676807"/>
                <a:ext cx="419248" cy="477520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050" y="3676807"/>
                <a:ext cx="419248" cy="477520"/>
              </a:xfrm>
              <a:prstGeom prst="roundRect">
                <a:avLst/>
              </a:prstGeom>
              <a:blipFill rotWithShape="1">
                <a:blip r:embed="rId6"/>
                <a:stretch>
                  <a:fillRect l="-3121" t="-2692" r="-2902" b="-2627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6922220" y="4142581"/>
            <a:ext cx="0" cy="1828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对逆同态封闭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63749" y="1166019"/>
                <a:ext cx="9115879" cy="555545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证明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 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en-AU" altLang="zh-CN" sz="24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 ∆, </m:t>
                    </m:r>
                    <m:r>
                      <m:rPr>
                        <m:sty m:val="p"/>
                      </m:rPr>
                      <a:rPr lang="el-GR" altLang="zh-CN" sz="2400" dirty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l-GR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AU" altLang="zh-CN" sz="2400" dirty="0"/>
                  <a:t>, </a:t>
                </a:r>
                <a14:m>
                  <m:oMath xmlns:m="http://schemas.openxmlformats.org/officeDocument/2006/math">
                    <m:r>
                      <a:rPr lang="en-AU" altLang="zh-CN" sz="2400" dirty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)=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构造</a:t>
                </a:r>
                <a14:m>
                  <m:oMath xmlns:m="http://schemas.openxmlformats.org/officeDocument/2006/math">
                    <m:r>
                      <a:rPr lang="en-AU" altLang="zh-CN" sz="2400" dirty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AU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AU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 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altLang="zh-CN" sz="2400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4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altLang="zh-CN" sz="2400" b="0" i="1" dirty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n-AU" altLang="zh-CN" sz="2400" i="1" dirty="0">
                          <a:latin typeface="Cambria Math" panose="02040503050406030204" pitchFamily="18" charset="0"/>
                        </a:rPr>
                        <m:t>= (</m:t>
                      </m:r>
                      <m:sSup>
                        <m:sSupPr>
                          <m:ctrlP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AU" altLang="zh-CN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l-GR" altLang="zh-CN" sz="2400" dirty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AU" altLang="zh-CN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l-GR" altLang="zh-CN" sz="2400" dirty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l-GR" altLang="zh-CN" sz="2400" i="1" dirty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zh-CN" sz="2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l-GR" altLang="zh-CN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altLang="zh-CN" sz="2400" b="0" i="1" dirty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l-GR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altLang="zh-CN" sz="2400" b="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AU" sz="2400" b="0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AU" altLang="zh-CN" sz="2400" b="0" i="1" dirty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AU" altLang="zh-CN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l-GR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altLang="zh-CN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altLang="zh-CN" sz="2400" i="1" dirty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altLang="zh-CN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zh-CN" altLang="en-AU" sz="2400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AU" altLang="zh-CN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  <m:r>
                        <a:rPr lang="en-AU" altLang="zh-CN" sz="2400" i="1" dirty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en-AU" sz="2400" dirty="0"/>
                  <a:t>(1)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/>
                  <a:t>中的状态为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/>
                  <a:t>，即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</a:rPr>
                      <m:t>中</m:t>
                    </m:r>
                  </m:oMath>
                </a14:m>
                <a:r>
                  <a:rPr lang="zh-CN" altLang="en-US" sz="2400" dirty="0"/>
                  <a:t>的状态和缓冲区中还未被消耗的串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dirty="0"/>
                  <a:t>，即某个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的后缀。</a:t>
                </a:r>
                <a:endParaRPr lang="en-AU" altLang="zh-CN" sz="2400" dirty="0"/>
              </a:p>
              <a:p>
                <a:pPr marL="0" indent="0">
                  <a:buNone/>
                </a:pPr>
                <a:r>
                  <a:rPr lang="en-AU" sz="2400" dirty="0"/>
                  <a:t>(2)</a:t>
                </a:r>
                <a:r>
                  <a:rPr lang="zh-CN" altLang="en-US" sz="24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那么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/>
                  <a:t>定义如下</a:t>
                </a:r>
                <a:r>
                  <a:rPr lang="en-US" altLang="zh-CN" sz="2400" dirty="0"/>
                  <a:t>: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∀[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AU" sz="2400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] ∈ 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 × {</m:t>
                      </m:r>
                      <m:r>
                        <a:rPr lang="zh-CN" altLang="en-AU" sz="2400" i="1" dirty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}, ∀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l-GR" sz="2400" dirty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sz="2400" i="1" dirty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AU" sz="2400" i="1" dirty="0">
                          <a:latin typeface="Cambria Math" panose="02040503050406030204" pitchFamily="18" charset="0"/>
                        </a:rPr>
                        <m:t> ∈ </m:t>
                      </m:r>
                      <m:r>
                        <m:rPr>
                          <m:sty m:val="p"/>
                        </m:rPr>
                        <a:rPr lang="el-GR" sz="2400" dirty="0">
                          <a:latin typeface="Cambria Math" panose="02040503050406030204" pitchFamily="18" charset="0"/>
                        </a:rPr>
                        <m:t>Γ</m:t>
                      </m:r>
                    </m:oMath>
                  </m:oMathPara>
                </a14:m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altLang="zh-CN" sz="24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24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AU" altLang="zh-CN" sz="2400" b="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AU" sz="2400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={(</m:t>
                    </m:r>
                    <m:d>
                      <m:dPr>
                        <m:begChr m:val="["/>
                        <m:endChr m:val="]"/>
                        <m:ctrlPr>
                          <a:rPr lang="en-AU" altLang="zh-CN" sz="24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AU" altLang="zh-CN" sz="24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AU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（把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装载到缓冲中）</a:t>
                </a: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2400" dirty="0"/>
                  <a:t>   然后，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400" dirty="0"/>
                  <a:t>模拟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处理存在缓冲区中的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。</a:t>
                </a:r>
              </a:p>
              <a:p>
                <a:pPr marL="0" indent="0">
                  <a:buNone/>
                </a:pPr>
                <a:r>
                  <a:rPr lang="en-AU" altLang="zh-CN" sz="2400" dirty="0"/>
                  <a:t>(</a:t>
                </a:r>
                <a:r>
                  <a:rPr lang="en-US" altLang="zh-CN" sz="2400" dirty="0"/>
                  <a:t>3</a:t>
                </a:r>
                <a:r>
                  <a:rPr lang="en-AU" altLang="zh-CN" sz="2400" dirty="0"/>
                  <a:t>)</a:t>
                </a:r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 = {(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l-GR" altLang="zh-CN" sz="2400" i="1" dirty="0">
                        <a:latin typeface="Cambria Math" panose="02040503050406030204" pitchFamily="18" charset="0"/>
                      </a:rPr>
                      <m:t>), · · · , (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en-AU" altLang="zh-CN" sz="2400" dirty="0"/>
                  <a:t>, </a:t>
                </a:r>
                <a:r>
                  <a:rPr lang="zh-CN" altLang="en-US" sz="2400" dirty="0"/>
                  <a:t>则</a:t>
                </a:r>
                <a:endParaRPr lang="en-AU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AU" altLang="zh-CN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2400" b="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AU" altLang="zh-CN" sz="2400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sz="2400" b="0" i="1" dirty="0">
                                  <a:latin typeface="Cambria Math" panose="02040503050406030204" pitchFamily="18" charset="0"/>
                                </a:rPr>
                                <m:t>𝑏𝑥</m:t>
                              </m:r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AU" sz="2400" b="0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AU" altLang="zh-CN" sz="2400" b="0" i="1" dirty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AU" altLang="zh-CN" sz="24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AU" altLang="zh-CN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AU" altLang="zh-CN" sz="2400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sz="2400" b="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AU" altLang="zh-CN" sz="2400" b="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altLang="zh-CN" sz="2400" b="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altLang="zh-CN" sz="24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AU" altLang="zh-CN" sz="2400" b="0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sz="2400" b="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AU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altLang="zh-CN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AU" altLang="zh-CN" sz="2400" b="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AU" altLang="zh-CN" sz="2400" b="0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altLang="zh-CN" sz="2400" dirty="0"/>
              </a:p>
              <a:p>
                <a:pPr marL="0" indent="0">
                  <a:buNone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这里</a:t>
                </a:r>
                <a14:m>
                  <m:oMath xmlns:m="http://schemas.openxmlformats.org/officeDocument/2006/math"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∆ ∪ {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表示缓冲中的首个符号</a:t>
                </a:r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el-GR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是某个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h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的后缀。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3749" y="1166019"/>
                <a:ext cx="9115879" cy="5555457"/>
              </a:xfrm>
              <a:blipFill rotWithShape="1">
                <a:blip r:embed="rId3"/>
                <a:stretch>
                  <a:fillRect l="-7" t="-3" r="5" b="-54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15</a:t>
            </a:fld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 </a:t>
            </a:r>
            <a:r>
              <a:rPr lang="zh-CN" altLang="en-US" dirty="0"/>
              <a:t>对交</a:t>
            </a:r>
            <a:r>
              <a:rPr lang="en-US" altLang="zh-CN" dirty="0"/>
              <a:t>/</a:t>
            </a:r>
            <a:r>
              <a:rPr lang="zh-CN" altLang="en-US" dirty="0"/>
              <a:t>补运算不封闭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187927"/>
                <a:ext cx="8229600" cy="5038702"/>
              </a:xfrm>
            </p:spPr>
            <p:txBody>
              <a:bodyPr>
                <a:normAutofit/>
              </a:bodyPr>
              <a:lstStyle/>
              <a:p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在交运算下不封闭</a:t>
                </a:r>
                <a:endParaRPr lang="en-AU" altLang="zh-CN" dirty="0"/>
              </a:p>
              <a:p>
                <a:pPr lvl="2"/>
                <a:r>
                  <a:rPr lang="zh-CN" altLang="en-US" dirty="0"/>
                  <a:t>例如，语言</a:t>
                </a:r>
                <a:endParaRPr lang="en-AU" altLang="zh-CN" dirty="0"/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≥ 1,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≥ 1} </m:t>
                      </m:r>
                    </m:oMath>
                  </m:oMathPara>
                </a14:m>
                <a:endParaRPr lang="pt-BR" dirty="0"/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≥ 1, 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b="0" i="1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≥ 1}</m:t>
                      </m:r>
                    </m:oMath>
                  </m:oMathPara>
                </a14:m>
                <a:endParaRPr lang="pt-BR" dirty="0"/>
              </a:p>
              <a:p>
                <a:pPr marL="800100" lvl="2" indent="0">
                  <a:buNone/>
                </a:pPr>
                <a:r>
                  <a:rPr lang="zh-CN" altLang="en-US" dirty="0"/>
                  <a:t>都是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AU" altLang="zh-CN" dirty="0"/>
                  <a:t>,</a:t>
                </a:r>
                <a:r>
                  <a:rPr lang="zh-CN" altLang="en-US" dirty="0"/>
                  <a:t>而</a:t>
                </a:r>
                <a:endParaRPr lang="en-AU" altLang="zh-CN" dirty="0"/>
              </a:p>
              <a:p>
                <a:pPr marL="8001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= {</m:t>
                      </m:r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pt-BR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AU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 ≥ 1}</m:t>
                      </m:r>
                    </m:oMath>
                  </m:oMathPara>
                </a14:m>
                <a:endParaRPr lang="pt-BR" dirty="0"/>
              </a:p>
              <a:p>
                <a:pPr marL="800100" lvl="2" indent="0">
                  <a:buNone/>
                </a:pPr>
                <a:r>
                  <a:rPr lang="zh-CN" altLang="en-US" dirty="0"/>
                  <a:t>不是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在补运算下不封闭</a:t>
                </a:r>
                <a:endParaRPr lang="en-AU" altLang="zh-CN" dirty="0"/>
              </a:p>
              <a:p>
                <a:pPr marL="800100" lvl="2" indent="0">
                  <a:buNone/>
                </a:pP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 dirty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pt-BR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AU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AU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AU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AU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pt-B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acc>
                          <m:accPr>
                            <m:chr m:val="̅"/>
                            <m:ctrlPr>
                              <a:rPr lang="en-AU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AU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AU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acc>
                  </m:oMath>
                </a14:m>
                <a:r>
                  <a:rPr lang="en-AU" dirty="0"/>
                  <a:t> </a:t>
                </a:r>
                <a:r>
                  <a:rPr lang="zh-CN" altLang="en-US" dirty="0"/>
                  <a:t>（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在并运算下封闭，交运算下不封闭）。</a:t>
                </a:r>
                <a:br>
                  <a:rPr lang="pt-BR" dirty="0"/>
                </a:b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187927"/>
                <a:ext cx="8229600" cy="5038702"/>
              </a:xfrm>
              <a:blipFill rotWithShape="1">
                <a:blip r:embed="rId3"/>
                <a:stretch>
                  <a:fillRect t="-9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16</a:t>
            </a:fld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和正则语言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01850" y="1035051"/>
                <a:ext cx="8229600" cy="4525963"/>
              </a:xfrm>
            </p:spPr>
            <p:txBody>
              <a:bodyPr/>
              <a:lstStyle/>
              <a:p>
                <a:r>
                  <a:rPr lang="zh-CN" altLang="en-US" sz="2400" dirty="0"/>
                  <a:t>定理</a:t>
                </a:r>
                <a:r>
                  <a:rPr lang="en-AU" altLang="zh-CN" sz="2400" dirty="0"/>
                  <a:t>:</a:t>
                </a:r>
                <a:r>
                  <a:rPr lang="zh-CN" altLang="en-US" sz="2400" dirty="0"/>
                  <a:t>若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sz="2400" dirty="0"/>
                  <a:t>是</a:t>
                </a:r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/>
                  <a:t>是正则语言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则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/>
                  <a:t>是</a:t>
                </a:r>
                <a:r>
                  <a:rPr lang="en-A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r>
                  <a:rPr lang="zh-CN" altLang="en-US" sz="2400" dirty="0"/>
                  <a:t>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sz="24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sz="24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r>
                      <a:rPr lang="en-AU" altLang="zh-CN" sz="2400" dirty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sz="24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AU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设</a:t>
                </a:r>
                <a:r>
                  <a:rPr lang="en-AU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en-AU" altLang="zh-CN" sz="24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sz="24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且</a:t>
                </a:r>
                <a14:m>
                  <m:oMath xmlns:m="http://schemas.openxmlformats.org/officeDocument/2006/math">
                    <m:r>
                      <a:rPr lang="en-AU" altLang="zh-CN" sz="2400" dirty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sz="24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altLang="zh-C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400" dirty="0"/>
                  <a:t>表示同时被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4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接受的语言，即从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400" dirty="0"/>
                  <a:t>的开始状态经过字符串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到终止状态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altLang="zh-CN" sz="2400" dirty="0"/>
                  <a:t>,</a:t>
                </a:r>
                <a:r>
                  <a:rPr lang="zh-CN" altLang="en-US" sz="2400" dirty="0"/>
                  <a:t>且从</a:t>
                </a:r>
                <a14:m>
                  <m:oMath xmlns:m="http://schemas.openxmlformats.org/officeDocument/2006/math">
                    <m:r>
                      <a:rPr lang="en-AU" altLang="zh-CN" sz="2400" b="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sz="2400" dirty="0"/>
                  <a:t>的开始状态经过字符串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sz="2400" dirty="0"/>
                  <a:t>到终止状态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sz="24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1850" y="1035051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17</a:t>
            </a:fld>
            <a:endParaRPr lang="en-AU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141" y="3451623"/>
            <a:ext cx="4746950" cy="29535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和正则语言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13113" y="1328432"/>
                <a:ext cx="10069287" cy="4525963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设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AU" altLang="zh-CN" dirty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zh-CN" altLang="en-US" dirty="0"/>
                  <a:t>  设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AU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且</a:t>
                </a:r>
                <a14:m>
                  <m:oMath xmlns:m="http://schemas.openxmlformats.org/officeDocument/2006/math">
                    <m:r>
                      <a:rPr lang="en-AU" altLang="zh-CN" dirty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 ∩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</a:t>
                </a:r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可以构造如下：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>
                  <a:buNone/>
                </a:pPr>
                <a:r>
                  <a:rPr lang="zh-CN" altLang="en-US" dirty="0"/>
                  <a:t>构造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AU" altLang="zh-CN" b="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en-AU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AU" altLang="zh-CN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,[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],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AU" altLang="zh-CN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dirty="0"/>
              </a:p>
              <a:p>
                <a:pPr marL="400050" lvl="1" indent="0"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r>
                      <a:rPr lang="zh-CN" altLang="en-AU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zh-CN" altLang="en-US" dirty="0"/>
                  <a:t>为</a:t>
                </a:r>
                <a:r>
                  <a:rPr lang="en-AU" altLang="zh-CN" dirty="0"/>
                  <a:t>:</a:t>
                </a:r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r>
                      <a:rPr lang="zh-CN" altLang="en-AU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2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AU" altLang="zh-CN" sz="2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AU" altLang="zh-CN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{(</m:t>
                    </m:r>
                    <m:d>
                      <m:dPr>
                        <m:begChr m:val="["/>
                        <m:endChr m:val="]"/>
                        <m:ctrlP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zh-CN" altLang="en-US" sz="2400" dirty="0"/>
                  <a:t>，若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AU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r>
                      <a:rPr lang="zh-CN" altLang="en-AU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2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AU" altLang="zh-CN" sz="2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AU" altLang="zh-CN" sz="24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AU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AU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zh-CN" alt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)∧(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sSub>
                      <m:sSubPr>
                        <m:ctrlPr>
                          <a:rPr lang="en-AU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AU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AU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altLang="zh-CN" sz="2400" b="0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</a:rPr>
                      <m:t>)}}</m:t>
                    </m:r>
                  </m:oMath>
                </a14:m>
                <a:r>
                  <a:rPr lang="zh-CN" altLang="en-US" sz="2400" dirty="0"/>
                  <a:t>，若</a:t>
                </a:r>
                <a14:m>
                  <m:oMath xmlns:m="http://schemas.openxmlformats.org/officeDocument/2006/math"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zh-CN" alt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AU" altLang="zh-CN" sz="2400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13113" y="1328432"/>
                <a:ext cx="10069287" cy="4525963"/>
              </a:xfrm>
              <a:blipFill rotWithShape="1">
                <a:blip r:embed="rId3"/>
                <a:stretch>
                  <a:fillRect l="-5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18</a:t>
            </a:fld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封闭性的应用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01850" y="1270001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证明语言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不是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AU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  <m:sup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AU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AU" altLang="zh-C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zh-CN" altLang="en-US" dirty="0"/>
                  <a:t>表示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中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的个数。</a:t>
                </a:r>
                <a:endParaRPr lang="en-AU" altLang="zh-CN" dirty="0"/>
              </a:p>
              <a:p>
                <a:r>
                  <a:rPr lang="zh-CN" altLang="en-US" dirty="0"/>
                  <a:t>证明</a:t>
                </a:r>
                <a:r>
                  <a:rPr lang="en-AU" altLang="zh-CN" dirty="0"/>
                  <a:t>:</a:t>
                </a:r>
              </a:p>
              <a:p>
                <a:pPr marL="400050" lvl="1" indent="0">
                  <a:buNone/>
                </a:pPr>
                <a:r>
                  <a:rPr lang="en-AU" altLang="zh-CN" dirty="0"/>
                  <a:t>(1)</a:t>
                </a:r>
                <a:r>
                  <a:rPr lang="zh-CN" altLang="en-US" dirty="0"/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是正则语言</a:t>
                </a:r>
                <a:r>
                  <a:rPr lang="en-US" altLang="zh-CN" dirty="0"/>
                  <a:t>,</a:t>
                </a:r>
              </a:p>
              <a:p>
                <a:pPr marL="400050" lvl="1" indent="0">
                  <a:buNone/>
                </a:pPr>
                <a:r>
                  <a:rPr lang="en-US" altLang="zh-CN" dirty="0"/>
                  <a:t>(2)</a:t>
                </a:r>
                <a:r>
                  <a:rPr lang="zh-CN" altLang="en-US" dirty="0"/>
                  <a:t>而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∩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AU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不是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400050" lvl="1" indent="0">
                  <a:buNone/>
                </a:pPr>
                <a:r>
                  <a:rPr lang="en-AU" altLang="zh-CN" dirty="0"/>
                  <a:t>(3)</a:t>
                </a:r>
                <a:r>
                  <a:rPr lang="zh-CN" altLang="en-US" dirty="0"/>
                  <a:t>由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与正则语言的交还是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所以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不可能是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CFL</a:t>
                </a:r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1850" y="1270001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19</a:t>
            </a:fld>
            <a:endParaRPr lang="en-A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上下文无关语言的泵引理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上下文无关语言的封闭性</a:t>
            </a:r>
            <a:endParaRPr lang="en-AU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/>
              <a:t>上下文无关语言的判定性质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乔姆斯基文法体系</a:t>
            </a:r>
            <a:endParaRPr lang="en-AU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20</a:t>
            </a:fld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可判定的</a:t>
            </a:r>
            <a:r>
              <a:rPr lang="en-AU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问题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空性</a:t>
                </a:r>
                <a:r>
                  <a:rPr lang="en-US" altLang="zh-CN" dirty="0"/>
                  <a:t>: </a:t>
                </a:r>
                <a:r>
                  <a:rPr lang="zh-CN" altLang="en-US" dirty="0"/>
                  <a:t>只需判断文法的开始符号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dirty="0"/>
                  <a:t>是否为非产生的。</a:t>
                </a:r>
                <a:endParaRPr lang="en-US" altLang="zh-CN" dirty="0"/>
              </a:p>
              <a:p>
                <a:r>
                  <a:rPr lang="zh-CN" altLang="en-US" dirty="0"/>
                  <a:t>有穷性和无穷性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用不带无用符号的 </a:t>
                </a:r>
                <a:r>
                  <a:rPr lang="en-GB" altLang="zh-CN" dirty="0"/>
                  <a:t>CNF </a:t>
                </a:r>
                <a:r>
                  <a:rPr lang="zh-CN" altLang="en-US" dirty="0"/>
                  <a:t>的产生式画有向图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变元为顶点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若有 </a:t>
                </a:r>
                <a:r>
                  <a:rPr lang="en-GB" altLang="zh-CN" dirty="0"/>
                  <a:t>A → BC, </a:t>
                </a:r>
                <a:r>
                  <a:rPr lang="zh-CN" altLang="en-US" dirty="0"/>
                  <a:t>则 </a:t>
                </a:r>
                <a:r>
                  <a:rPr lang="en-GB" altLang="zh-CN" dirty="0"/>
                  <a:t>A </a:t>
                </a:r>
                <a:r>
                  <a:rPr lang="zh-CN" altLang="en-US" dirty="0"/>
                  <a:t>到 </a:t>
                </a:r>
                <a:r>
                  <a:rPr lang="en-GB" altLang="zh-CN" dirty="0"/>
                  <a:t>B </a:t>
                </a:r>
                <a:r>
                  <a:rPr lang="zh-CN" altLang="en-US" dirty="0"/>
                  <a:t>和 </a:t>
                </a:r>
                <a:r>
                  <a:rPr lang="en-GB" altLang="zh-CN" dirty="0"/>
                  <a:t>C </a:t>
                </a:r>
                <a:r>
                  <a:rPr lang="zh-CN" altLang="en-US" dirty="0"/>
                  <a:t>各画一条有向边</a:t>
                </a:r>
                <a:r>
                  <a:rPr lang="en-US" altLang="zh-CN" dirty="0"/>
                  <a:t>;</a:t>
                </a:r>
              </a:p>
              <a:p>
                <a:pPr lvl="1"/>
                <a:r>
                  <a:rPr lang="zh-CN" altLang="en-US" dirty="0"/>
                  <a:t>检查图中是否有循环</a:t>
                </a:r>
                <a:r>
                  <a:rPr lang="en-US" altLang="zh-CN" dirty="0"/>
                  <a:t>.</a:t>
                </a:r>
              </a:p>
              <a:p>
                <a:r>
                  <a:rPr lang="zh-CN" altLang="en-US" dirty="0"/>
                  <a:t>成员性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利用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CNF</a:t>
                </a:r>
                <a:r>
                  <a:rPr lang="zh-CN" altLang="en-US" dirty="0"/>
                  <a:t>范式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有</a:t>
                </a:r>
                <a:r>
                  <a:rPr lang="en-US" altLang="zh-CN" i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CYK</a:t>
                </a:r>
                <a:r>
                  <a:rPr lang="zh-CN" altLang="en-US" dirty="0"/>
                  <a:t>算法检查串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是否属于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95" t="-1676" r="-6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21</a:t>
            </a:fld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CYK</a:t>
            </a:r>
            <a:r>
              <a:rPr lang="zh-CN" altLang="en-US" dirty="0"/>
              <a:t>算法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22</a:t>
            </a:fld>
            <a:endParaRPr lang="en-AU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06791"/>
            <a:ext cx="899160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820" y="1265755"/>
            <a:ext cx="8726059" cy="415983"/>
          </a:xfrm>
          <a:prstGeom prst="rect">
            <a:avLst/>
          </a:prstGeom>
        </p:spPr>
        <p:txBody>
          <a:bodyPr vert="horz" wrap="square" lIns="0" tIns="25499" rIns="0" bIns="0" rtlCol="0" anchor="ctr" anchorCtr="0">
            <a:spAutoFit/>
          </a:bodyPr>
          <a:lstStyle/>
          <a:p>
            <a:pPr marL="26670">
              <a:spcBef>
                <a:spcPts val="200"/>
              </a:spcBef>
            </a:pPr>
            <a:r>
              <a:rPr sz="2535" spc="402" dirty="0" err="1">
                <a:solidFill>
                  <a:schemeClr val="tx1"/>
                </a:solidFill>
                <a:ea typeface="KaiTi_GB2312" panose="02010609030101010101" pitchFamily="49" charset="-122"/>
              </a:rPr>
              <a:t>例</a:t>
            </a:r>
            <a:r>
              <a:rPr lang="zh-CN" altLang="en-US" sz="2535" spc="40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CNF</a:t>
            </a:r>
            <a:r>
              <a:rPr sz="2535" spc="-4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11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i="1" spc="285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如下,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用</a:t>
            </a:r>
            <a:r>
              <a:rPr sz="2535" spc="254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CYK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算法判断</a:t>
            </a:r>
            <a:r>
              <a:rPr sz="2535" spc="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85" dirty="0">
                <a:solidFill>
                  <a:schemeClr val="tx1"/>
                </a:solidFill>
                <a:ea typeface="KaiTi_GB2312" panose="02010609030101010101" pitchFamily="49" charset="-122"/>
              </a:rPr>
              <a:t>bbabaa</a:t>
            </a:r>
            <a:r>
              <a:rPr sz="2325" i="1" spc="-20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-349" dirty="0">
                <a:solidFill>
                  <a:schemeClr val="tx1"/>
                </a:solidFill>
                <a:ea typeface="KaiTi_GB2312" panose="02010609030101010101" pitchFamily="49" charset="-122"/>
              </a:rPr>
              <a:t>∈</a:t>
            </a:r>
            <a:r>
              <a:rPr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lang="zh-CN" altLang="en-US"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  </a:t>
            </a:r>
            <a:r>
              <a:rPr sz="2325" b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L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(</a:t>
            </a:r>
            <a:r>
              <a:rPr sz="2325" i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)?</a:t>
            </a:r>
            <a:endParaRPr sz="2325" dirty="0">
              <a:solidFill>
                <a:schemeClr val="tx1"/>
              </a:solidFill>
              <a:ea typeface="KaiTi_GB2312" panose="02010609030101010101" pitchFamily="49" charset="-12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2032000" y="127733"/>
            <a:ext cx="9743263" cy="698744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CYK</a:t>
            </a:r>
            <a:r>
              <a:rPr lang="zh-CN" altLang="en-US" dirty="0"/>
              <a:t>应用</a:t>
            </a:r>
            <a:endParaRPr lang="en-AU" dirty="0"/>
          </a:p>
        </p:txBody>
      </p:sp>
      <p:sp>
        <p:nvSpPr>
          <p:cNvPr id="11" name="object 3"/>
          <p:cNvSpPr txBox="1"/>
          <p:nvPr/>
        </p:nvSpPr>
        <p:spPr>
          <a:xfrm>
            <a:off x="1249820" y="1934707"/>
            <a:ext cx="1754638" cy="1876351"/>
          </a:xfrm>
          <a:prstGeom prst="rect">
            <a:avLst/>
          </a:prstGeom>
        </p:spPr>
        <p:txBody>
          <a:bodyPr vert="horz" wrap="square" lIns="0" tIns="139576" rIns="0" bIns="0" rtlCol="0">
            <a:spAutoFit/>
          </a:bodyPr>
          <a:lstStyle/>
          <a:p>
            <a:pPr marL="43180" algn="just">
              <a:spcBef>
                <a:spcPts val="1100"/>
              </a:spcBef>
            </a:pPr>
            <a:r>
              <a:rPr sz="2325" i="1" spc="11" dirty="0">
                <a:latin typeface="Schoolbook Uralic"/>
                <a:cs typeface="Schoolbook Uralic"/>
              </a:rPr>
              <a:t>S</a:t>
            </a:r>
            <a:r>
              <a:rPr sz="2325" i="1" spc="-15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5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17" dirty="0">
                <a:latin typeface="DejaVu Serif"/>
                <a:cs typeface="DejaVu Serif"/>
              </a:rPr>
              <a:t> </a:t>
            </a:r>
            <a:r>
              <a:rPr sz="2325" i="1" spc="42" dirty="0">
                <a:latin typeface="Schoolbook Uralic"/>
                <a:cs typeface="Schoolbook Uralic"/>
              </a:rPr>
              <a:t>BC</a:t>
            </a:r>
            <a:endParaRPr sz="2325" dirty="0">
              <a:latin typeface="Schoolbook Uralic"/>
              <a:cs typeface="Schoolbook Uralic"/>
            </a:endParaRPr>
          </a:p>
          <a:p>
            <a:pPr marL="26670" marR="274955" indent="3810" algn="just">
              <a:lnSpc>
                <a:spcPct val="132000"/>
              </a:lnSpc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328" dirty="0">
                <a:latin typeface="DejaVu Serif"/>
                <a:cs typeface="DejaVu Serif"/>
              </a:rPr>
              <a:t> </a:t>
            </a:r>
            <a:r>
              <a:rPr sz="2325" i="1" spc="127" dirty="0">
                <a:latin typeface="Schoolbook Uralic"/>
                <a:cs typeface="Schoolbook Uralic"/>
              </a:rPr>
              <a:t>BA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  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lang="zh-CN" altLang="en-US" sz="2325" i="1" spc="-328" dirty="0">
                <a:latin typeface="DejaVu Serif"/>
                <a:cs typeface="DejaVu Serif"/>
              </a:rPr>
              <a:t> </a:t>
            </a:r>
            <a:r>
              <a:rPr sz="2325" i="1" spc="74" dirty="0">
                <a:latin typeface="Schoolbook Uralic"/>
                <a:cs typeface="Schoolbook Uralic"/>
              </a:rPr>
              <a:t>CC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275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b  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820" y="1265755"/>
            <a:ext cx="8726059" cy="415983"/>
          </a:xfrm>
          <a:prstGeom prst="rect">
            <a:avLst/>
          </a:prstGeom>
        </p:spPr>
        <p:txBody>
          <a:bodyPr vert="horz" wrap="square" lIns="0" tIns="25499" rIns="0" bIns="0" rtlCol="0" anchor="ctr" anchorCtr="0">
            <a:spAutoFit/>
          </a:bodyPr>
          <a:lstStyle/>
          <a:p>
            <a:pPr marL="26670">
              <a:spcBef>
                <a:spcPts val="200"/>
              </a:spcBef>
            </a:pPr>
            <a:r>
              <a:rPr sz="2535" spc="402" dirty="0" err="1">
                <a:solidFill>
                  <a:schemeClr val="tx1"/>
                </a:solidFill>
                <a:ea typeface="KaiTi_GB2312" panose="02010609030101010101" pitchFamily="49" charset="-122"/>
              </a:rPr>
              <a:t>例</a:t>
            </a:r>
            <a:r>
              <a:rPr lang="zh-CN" altLang="en-US" sz="2535" spc="40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CNF</a:t>
            </a:r>
            <a:r>
              <a:rPr sz="2535" spc="-4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11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i="1" spc="285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如下,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用</a:t>
            </a:r>
            <a:r>
              <a:rPr sz="2535" spc="254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CYK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算法判断</a:t>
            </a:r>
            <a:r>
              <a:rPr sz="2535" spc="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85" dirty="0">
                <a:solidFill>
                  <a:schemeClr val="tx1"/>
                </a:solidFill>
                <a:ea typeface="KaiTi_GB2312" panose="02010609030101010101" pitchFamily="49" charset="-122"/>
              </a:rPr>
              <a:t>bbabaa</a:t>
            </a:r>
            <a:r>
              <a:rPr sz="2325" i="1" spc="-20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-349" dirty="0">
                <a:solidFill>
                  <a:schemeClr val="tx1"/>
                </a:solidFill>
                <a:ea typeface="KaiTi_GB2312" panose="02010609030101010101" pitchFamily="49" charset="-122"/>
              </a:rPr>
              <a:t>∈</a:t>
            </a:r>
            <a:r>
              <a:rPr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lang="zh-CN" altLang="en-US"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  </a:t>
            </a:r>
            <a:r>
              <a:rPr sz="2325" b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L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(</a:t>
            </a:r>
            <a:r>
              <a:rPr sz="2325" i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)?</a:t>
            </a:r>
            <a:endParaRPr sz="2325" dirty="0">
              <a:solidFill>
                <a:schemeClr val="tx1"/>
              </a:solidFill>
              <a:ea typeface="KaiTi_GB2312" panose="0201060903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9820" y="1934707"/>
            <a:ext cx="1754638" cy="1876351"/>
          </a:xfrm>
          <a:prstGeom prst="rect">
            <a:avLst/>
          </a:prstGeom>
        </p:spPr>
        <p:txBody>
          <a:bodyPr vert="horz" wrap="square" lIns="0" tIns="139576" rIns="0" bIns="0" rtlCol="0">
            <a:spAutoFit/>
          </a:bodyPr>
          <a:lstStyle/>
          <a:p>
            <a:pPr marL="43180" algn="just">
              <a:spcBef>
                <a:spcPts val="1100"/>
              </a:spcBef>
            </a:pPr>
            <a:r>
              <a:rPr sz="2325" i="1" spc="11" dirty="0">
                <a:latin typeface="Schoolbook Uralic"/>
                <a:cs typeface="Schoolbook Uralic"/>
              </a:rPr>
              <a:t>S</a:t>
            </a:r>
            <a:r>
              <a:rPr sz="2325" i="1" spc="-15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5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17" dirty="0">
                <a:latin typeface="DejaVu Serif"/>
                <a:cs typeface="DejaVu Serif"/>
              </a:rPr>
              <a:t> </a:t>
            </a:r>
            <a:r>
              <a:rPr sz="2325" i="1" spc="42" dirty="0">
                <a:latin typeface="Schoolbook Uralic"/>
                <a:cs typeface="Schoolbook Uralic"/>
              </a:rPr>
              <a:t>BC</a:t>
            </a:r>
            <a:endParaRPr sz="2325" dirty="0">
              <a:latin typeface="Schoolbook Uralic"/>
              <a:cs typeface="Schoolbook Uralic"/>
            </a:endParaRPr>
          </a:p>
          <a:p>
            <a:pPr marL="26670" marR="274955" indent="3810" algn="just">
              <a:lnSpc>
                <a:spcPct val="132000"/>
              </a:lnSpc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328" dirty="0">
                <a:latin typeface="DejaVu Serif"/>
                <a:cs typeface="DejaVu Serif"/>
              </a:rPr>
              <a:t> </a:t>
            </a:r>
            <a:r>
              <a:rPr sz="2325" i="1" spc="127" dirty="0">
                <a:latin typeface="Schoolbook Uralic"/>
                <a:cs typeface="Schoolbook Uralic"/>
              </a:rPr>
              <a:t>BA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  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lang="zh-CN" altLang="en-US" sz="2325" i="1" spc="-328" dirty="0">
                <a:latin typeface="DejaVu Serif"/>
                <a:cs typeface="DejaVu Serif"/>
              </a:rPr>
              <a:t> </a:t>
            </a:r>
            <a:r>
              <a:rPr sz="2325" i="1" spc="74" dirty="0">
                <a:latin typeface="Schoolbook Uralic"/>
                <a:cs typeface="Schoolbook Uralic"/>
              </a:rPr>
              <a:t>CC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275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b  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4140" y="5557275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9591" y="5557274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4127" y="5539886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>
              <a:latin typeface="Schoolbook Uralic"/>
              <a:cs typeface="Schoolbook Ural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64174" y="5557274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86081" y="1831353"/>
          <a:ext cx="7311608" cy="3652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08716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7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731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7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100656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714"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itle 1"/>
          <p:cNvSpPr txBox="1"/>
          <p:nvPr/>
        </p:nvSpPr>
        <p:spPr>
          <a:xfrm>
            <a:off x="2032000" y="127733"/>
            <a:ext cx="9743263" cy="698744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CYK</a:t>
            </a:r>
            <a:r>
              <a:rPr lang="zh-CN" altLang="en-US" dirty="0"/>
              <a:t>应用</a:t>
            </a:r>
            <a:endParaRPr lang="en-AU" dirty="0"/>
          </a:p>
        </p:txBody>
      </p:sp>
      <p:sp>
        <p:nvSpPr>
          <p:cNvPr id="11" name="object 5"/>
          <p:cNvSpPr txBox="1"/>
          <p:nvPr/>
        </p:nvSpPr>
        <p:spPr>
          <a:xfrm>
            <a:off x="5780554" y="5592245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4647066" y="5539885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820" y="1265755"/>
            <a:ext cx="8726059" cy="415983"/>
          </a:xfrm>
          <a:prstGeom prst="rect">
            <a:avLst/>
          </a:prstGeom>
        </p:spPr>
        <p:txBody>
          <a:bodyPr vert="horz" wrap="square" lIns="0" tIns="25499" rIns="0" bIns="0" rtlCol="0" anchor="ctr" anchorCtr="0">
            <a:spAutoFit/>
          </a:bodyPr>
          <a:lstStyle/>
          <a:p>
            <a:pPr marL="26670">
              <a:spcBef>
                <a:spcPts val="200"/>
              </a:spcBef>
            </a:pPr>
            <a:r>
              <a:rPr sz="2535" spc="402" dirty="0" err="1">
                <a:solidFill>
                  <a:schemeClr val="tx1"/>
                </a:solidFill>
                <a:ea typeface="KaiTi_GB2312" panose="02010609030101010101" pitchFamily="49" charset="-122"/>
              </a:rPr>
              <a:t>例</a:t>
            </a:r>
            <a:r>
              <a:rPr lang="zh-CN" altLang="en-US" sz="2535" spc="40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CNF</a:t>
            </a:r>
            <a:r>
              <a:rPr sz="2535" spc="-4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11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i="1" spc="285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如下,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用</a:t>
            </a:r>
            <a:r>
              <a:rPr sz="2535" spc="254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CYK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算法判断</a:t>
            </a:r>
            <a:r>
              <a:rPr sz="2535" spc="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85" dirty="0">
                <a:solidFill>
                  <a:schemeClr val="tx1"/>
                </a:solidFill>
                <a:ea typeface="KaiTi_GB2312" panose="02010609030101010101" pitchFamily="49" charset="-122"/>
              </a:rPr>
              <a:t>bbabaa</a:t>
            </a:r>
            <a:r>
              <a:rPr sz="2325" i="1" spc="-20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-349" dirty="0">
                <a:solidFill>
                  <a:schemeClr val="tx1"/>
                </a:solidFill>
                <a:ea typeface="KaiTi_GB2312" panose="02010609030101010101" pitchFamily="49" charset="-122"/>
              </a:rPr>
              <a:t>∈</a:t>
            </a:r>
            <a:r>
              <a:rPr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lang="zh-CN" altLang="en-US"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  </a:t>
            </a:r>
            <a:r>
              <a:rPr sz="2325" b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L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(</a:t>
            </a:r>
            <a:r>
              <a:rPr sz="2325" i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)?</a:t>
            </a:r>
            <a:endParaRPr sz="2325" dirty="0">
              <a:solidFill>
                <a:schemeClr val="tx1"/>
              </a:solidFill>
              <a:ea typeface="KaiTi_GB2312" panose="0201060903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9820" y="1934707"/>
            <a:ext cx="1754638" cy="1876351"/>
          </a:xfrm>
          <a:prstGeom prst="rect">
            <a:avLst/>
          </a:prstGeom>
        </p:spPr>
        <p:txBody>
          <a:bodyPr vert="horz" wrap="square" lIns="0" tIns="139576" rIns="0" bIns="0" rtlCol="0">
            <a:spAutoFit/>
          </a:bodyPr>
          <a:lstStyle/>
          <a:p>
            <a:pPr marL="43180" algn="just">
              <a:spcBef>
                <a:spcPts val="1100"/>
              </a:spcBef>
            </a:pPr>
            <a:r>
              <a:rPr sz="2325" i="1" spc="11" dirty="0">
                <a:latin typeface="Schoolbook Uralic"/>
                <a:cs typeface="Schoolbook Uralic"/>
              </a:rPr>
              <a:t>S</a:t>
            </a:r>
            <a:r>
              <a:rPr sz="2325" i="1" spc="-15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5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17" dirty="0">
                <a:latin typeface="DejaVu Serif"/>
                <a:cs typeface="DejaVu Serif"/>
              </a:rPr>
              <a:t> </a:t>
            </a:r>
            <a:r>
              <a:rPr sz="2325" i="1" spc="42" dirty="0">
                <a:latin typeface="Schoolbook Uralic"/>
                <a:cs typeface="Schoolbook Uralic"/>
              </a:rPr>
              <a:t>BC</a:t>
            </a:r>
            <a:endParaRPr sz="2325" dirty="0">
              <a:latin typeface="Schoolbook Uralic"/>
              <a:cs typeface="Schoolbook Uralic"/>
            </a:endParaRPr>
          </a:p>
          <a:p>
            <a:pPr marL="26670" marR="274955" indent="3810" algn="just">
              <a:lnSpc>
                <a:spcPct val="132000"/>
              </a:lnSpc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328" dirty="0">
                <a:latin typeface="DejaVu Serif"/>
                <a:cs typeface="DejaVu Serif"/>
              </a:rPr>
              <a:t> </a:t>
            </a:r>
            <a:r>
              <a:rPr sz="2325" i="1" spc="127" dirty="0">
                <a:latin typeface="Schoolbook Uralic"/>
                <a:cs typeface="Schoolbook Uralic"/>
              </a:rPr>
              <a:t>BA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  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lang="zh-CN" altLang="en-US" sz="2325" i="1" spc="-328" dirty="0">
                <a:latin typeface="DejaVu Serif"/>
                <a:cs typeface="DejaVu Serif"/>
              </a:rPr>
              <a:t> </a:t>
            </a:r>
            <a:r>
              <a:rPr sz="2325" i="1" spc="74" dirty="0">
                <a:latin typeface="Schoolbook Uralic"/>
                <a:cs typeface="Schoolbook Uralic"/>
              </a:rPr>
              <a:t>CC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275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b  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4140" y="5557275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9591" y="5557274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4127" y="5539886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>
              <a:latin typeface="Schoolbook Uralic"/>
              <a:cs typeface="Schoolbook Ural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64174" y="5557274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86081" y="1831353"/>
          <a:ext cx="7311608" cy="3652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08716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7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731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7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100656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dirty="0">
                          <a:latin typeface="Schoolbook Uralic"/>
                          <a:cs typeface="Schoolbook Uralic"/>
                        </a:rPr>
                        <a:t>{}</a:t>
                      </a: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714"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itle 1"/>
          <p:cNvSpPr txBox="1"/>
          <p:nvPr/>
        </p:nvSpPr>
        <p:spPr>
          <a:xfrm>
            <a:off x="2032000" y="127733"/>
            <a:ext cx="9743263" cy="698744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CYK</a:t>
            </a:r>
            <a:r>
              <a:rPr lang="zh-CN" altLang="en-US" dirty="0"/>
              <a:t>应用</a:t>
            </a:r>
            <a:endParaRPr lang="en-AU" dirty="0"/>
          </a:p>
        </p:txBody>
      </p:sp>
      <p:sp>
        <p:nvSpPr>
          <p:cNvPr id="11" name="object 5"/>
          <p:cNvSpPr txBox="1"/>
          <p:nvPr/>
        </p:nvSpPr>
        <p:spPr>
          <a:xfrm>
            <a:off x="5780554" y="5592245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4647066" y="5539885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820" y="1265755"/>
            <a:ext cx="8726059" cy="415983"/>
          </a:xfrm>
          <a:prstGeom prst="rect">
            <a:avLst/>
          </a:prstGeom>
        </p:spPr>
        <p:txBody>
          <a:bodyPr vert="horz" wrap="square" lIns="0" tIns="25499" rIns="0" bIns="0" rtlCol="0" anchor="ctr" anchorCtr="0">
            <a:spAutoFit/>
          </a:bodyPr>
          <a:lstStyle/>
          <a:p>
            <a:pPr marL="26670">
              <a:spcBef>
                <a:spcPts val="200"/>
              </a:spcBef>
            </a:pPr>
            <a:r>
              <a:rPr sz="2535" spc="402" dirty="0" err="1">
                <a:solidFill>
                  <a:schemeClr val="tx1"/>
                </a:solidFill>
                <a:ea typeface="KaiTi_GB2312" panose="02010609030101010101" pitchFamily="49" charset="-122"/>
              </a:rPr>
              <a:t>例</a:t>
            </a:r>
            <a:r>
              <a:rPr lang="zh-CN" altLang="en-US" sz="2535" spc="40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CNF</a:t>
            </a:r>
            <a:r>
              <a:rPr sz="2535" spc="-4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11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i="1" spc="285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如下,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用</a:t>
            </a:r>
            <a:r>
              <a:rPr sz="2535" spc="254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CYK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算法判断</a:t>
            </a:r>
            <a:r>
              <a:rPr sz="2535" spc="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85" dirty="0">
                <a:solidFill>
                  <a:schemeClr val="tx1"/>
                </a:solidFill>
                <a:ea typeface="KaiTi_GB2312" panose="02010609030101010101" pitchFamily="49" charset="-122"/>
              </a:rPr>
              <a:t>bbabaa</a:t>
            </a:r>
            <a:r>
              <a:rPr sz="2325" i="1" spc="-20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-349" dirty="0">
                <a:solidFill>
                  <a:schemeClr val="tx1"/>
                </a:solidFill>
                <a:ea typeface="KaiTi_GB2312" panose="02010609030101010101" pitchFamily="49" charset="-122"/>
              </a:rPr>
              <a:t>∈</a:t>
            </a:r>
            <a:r>
              <a:rPr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lang="zh-CN" altLang="en-US"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  </a:t>
            </a:r>
            <a:r>
              <a:rPr sz="2325" b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L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(</a:t>
            </a:r>
            <a:r>
              <a:rPr sz="2325" i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)?</a:t>
            </a:r>
            <a:endParaRPr sz="2325" dirty="0">
              <a:solidFill>
                <a:schemeClr val="tx1"/>
              </a:solidFill>
              <a:ea typeface="KaiTi_GB2312" panose="0201060903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9820" y="1934707"/>
            <a:ext cx="1754638" cy="1876351"/>
          </a:xfrm>
          <a:prstGeom prst="rect">
            <a:avLst/>
          </a:prstGeom>
        </p:spPr>
        <p:txBody>
          <a:bodyPr vert="horz" wrap="square" lIns="0" tIns="139576" rIns="0" bIns="0" rtlCol="0">
            <a:spAutoFit/>
          </a:bodyPr>
          <a:lstStyle/>
          <a:p>
            <a:pPr marL="43180" algn="just">
              <a:spcBef>
                <a:spcPts val="1100"/>
              </a:spcBef>
            </a:pPr>
            <a:r>
              <a:rPr sz="2325" i="1" spc="11" dirty="0">
                <a:latin typeface="Schoolbook Uralic"/>
                <a:cs typeface="Schoolbook Uralic"/>
              </a:rPr>
              <a:t>S</a:t>
            </a:r>
            <a:r>
              <a:rPr sz="2325" i="1" spc="-15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5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17" dirty="0">
                <a:latin typeface="DejaVu Serif"/>
                <a:cs typeface="DejaVu Serif"/>
              </a:rPr>
              <a:t> </a:t>
            </a:r>
            <a:r>
              <a:rPr sz="2325" i="1" spc="42" dirty="0">
                <a:latin typeface="Schoolbook Uralic"/>
                <a:cs typeface="Schoolbook Uralic"/>
              </a:rPr>
              <a:t>BC</a:t>
            </a:r>
            <a:endParaRPr sz="2325" dirty="0">
              <a:latin typeface="Schoolbook Uralic"/>
              <a:cs typeface="Schoolbook Uralic"/>
            </a:endParaRPr>
          </a:p>
          <a:p>
            <a:pPr marL="26670" marR="274955" indent="3810" algn="just">
              <a:lnSpc>
                <a:spcPct val="132000"/>
              </a:lnSpc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328" dirty="0">
                <a:latin typeface="DejaVu Serif"/>
                <a:cs typeface="DejaVu Serif"/>
              </a:rPr>
              <a:t> </a:t>
            </a:r>
            <a:r>
              <a:rPr sz="2325" i="1" spc="127" dirty="0">
                <a:latin typeface="Schoolbook Uralic"/>
                <a:cs typeface="Schoolbook Uralic"/>
              </a:rPr>
              <a:t>BA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  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lang="zh-CN" altLang="en-US" sz="2325" i="1" spc="-328" dirty="0">
                <a:latin typeface="DejaVu Serif"/>
                <a:cs typeface="DejaVu Serif"/>
              </a:rPr>
              <a:t> </a:t>
            </a:r>
            <a:r>
              <a:rPr sz="2325" i="1" spc="74" dirty="0">
                <a:latin typeface="Schoolbook Uralic"/>
                <a:cs typeface="Schoolbook Uralic"/>
              </a:rPr>
              <a:t>CC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275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b  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4140" y="5557275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9591" y="5557274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4127" y="5539886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>
              <a:latin typeface="Schoolbook Uralic"/>
              <a:cs typeface="Schoolbook Ural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64174" y="5557274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86081" y="1831353"/>
          <a:ext cx="7311608" cy="3652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08716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7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731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7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300" spc="4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0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100656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dirty="0">
                          <a:latin typeface="Schoolbook Uralic"/>
                          <a:cs typeface="Schoolbook Uralic"/>
                        </a:rPr>
                        <a:t>{}</a:t>
                      </a: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dirty="0">
                          <a:latin typeface="Schoolbook Uralic"/>
                          <a:cs typeface="Schoolbook Uralic"/>
                        </a:rPr>
                        <a:t>{}</a:t>
                      </a: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714"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itle 1"/>
          <p:cNvSpPr txBox="1"/>
          <p:nvPr/>
        </p:nvSpPr>
        <p:spPr>
          <a:xfrm>
            <a:off x="2032000" y="127733"/>
            <a:ext cx="9743263" cy="698744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CYK</a:t>
            </a:r>
            <a:r>
              <a:rPr lang="zh-CN" altLang="en-US" dirty="0"/>
              <a:t>应用</a:t>
            </a:r>
            <a:endParaRPr lang="en-AU" dirty="0"/>
          </a:p>
        </p:txBody>
      </p:sp>
      <p:sp>
        <p:nvSpPr>
          <p:cNvPr id="11" name="object 5"/>
          <p:cNvSpPr txBox="1"/>
          <p:nvPr/>
        </p:nvSpPr>
        <p:spPr>
          <a:xfrm>
            <a:off x="5780554" y="5592245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4647066" y="5539885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820" y="1265755"/>
            <a:ext cx="8726059" cy="415983"/>
          </a:xfrm>
          <a:prstGeom prst="rect">
            <a:avLst/>
          </a:prstGeom>
        </p:spPr>
        <p:txBody>
          <a:bodyPr vert="horz" wrap="square" lIns="0" tIns="25499" rIns="0" bIns="0" rtlCol="0" anchor="ctr" anchorCtr="0">
            <a:spAutoFit/>
          </a:bodyPr>
          <a:lstStyle/>
          <a:p>
            <a:pPr marL="26670">
              <a:spcBef>
                <a:spcPts val="200"/>
              </a:spcBef>
            </a:pPr>
            <a:r>
              <a:rPr sz="2535" spc="402" dirty="0" err="1">
                <a:solidFill>
                  <a:schemeClr val="tx1"/>
                </a:solidFill>
                <a:ea typeface="KaiTi_GB2312" panose="02010609030101010101" pitchFamily="49" charset="-122"/>
              </a:rPr>
              <a:t>例</a:t>
            </a:r>
            <a:r>
              <a:rPr lang="zh-CN" altLang="en-US" sz="2535" spc="40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CNF</a:t>
            </a:r>
            <a:r>
              <a:rPr sz="2535" spc="-4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11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i="1" spc="285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如下,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用</a:t>
            </a:r>
            <a:r>
              <a:rPr sz="2535" spc="254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CYK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算法判断</a:t>
            </a:r>
            <a:r>
              <a:rPr sz="2535" spc="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85" dirty="0">
                <a:solidFill>
                  <a:schemeClr val="tx1"/>
                </a:solidFill>
                <a:ea typeface="KaiTi_GB2312" panose="02010609030101010101" pitchFamily="49" charset="-122"/>
              </a:rPr>
              <a:t>bbabaa</a:t>
            </a:r>
            <a:r>
              <a:rPr sz="2325" i="1" spc="-20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-349" dirty="0">
                <a:solidFill>
                  <a:schemeClr val="tx1"/>
                </a:solidFill>
                <a:ea typeface="KaiTi_GB2312" panose="02010609030101010101" pitchFamily="49" charset="-122"/>
              </a:rPr>
              <a:t>∈</a:t>
            </a:r>
            <a:r>
              <a:rPr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lang="zh-CN" altLang="en-US"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  </a:t>
            </a:r>
            <a:r>
              <a:rPr sz="2325" b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L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(</a:t>
            </a:r>
            <a:r>
              <a:rPr sz="2325" i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)?</a:t>
            </a:r>
            <a:endParaRPr sz="2325" dirty="0">
              <a:solidFill>
                <a:schemeClr val="tx1"/>
              </a:solidFill>
              <a:ea typeface="KaiTi_GB2312" panose="0201060903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9820" y="1934707"/>
            <a:ext cx="1754638" cy="1876351"/>
          </a:xfrm>
          <a:prstGeom prst="rect">
            <a:avLst/>
          </a:prstGeom>
        </p:spPr>
        <p:txBody>
          <a:bodyPr vert="horz" wrap="square" lIns="0" tIns="139576" rIns="0" bIns="0" rtlCol="0">
            <a:spAutoFit/>
          </a:bodyPr>
          <a:lstStyle/>
          <a:p>
            <a:pPr marL="43180" algn="just">
              <a:spcBef>
                <a:spcPts val="1100"/>
              </a:spcBef>
            </a:pPr>
            <a:r>
              <a:rPr sz="2325" i="1" spc="11" dirty="0">
                <a:latin typeface="Schoolbook Uralic"/>
                <a:cs typeface="Schoolbook Uralic"/>
              </a:rPr>
              <a:t>S</a:t>
            </a:r>
            <a:r>
              <a:rPr sz="2325" i="1" spc="-15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5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17" dirty="0">
                <a:latin typeface="DejaVu Serif"/>
                <a:cs typeface="DejaVu Serif"/>
              </a:rPr>
              <a:t> </a:t>
            </a:r>
            <a:r>
              <a:rPr sz="2325" i="1" spc="42" dirty="0">
                <a:latin typeface="Schoolbook Uralic"/>
                <a:cs typeface="Schoolbook Uralic"/>
              </a:rPr>
              <a:t>BC</a:t>
            </a:r>
            <a:endParaRPr sz="2325" dirty="0">
              <a:latin typeface="Schoolbook Uralic"/>
              <a:cs typeface="Schoolbook Uralic"/>
            </a:endParaRPr>
          </a:p>
          <a:p>
            <a:pPr marL="26670" marR="274955" indent="3810" algn="just">
              <a:lnSpc>
                <a:spcPct val="132000"/>
              </a:lnSpc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328" dirty="0">
                <a:latin typeface="DejaVu Serif"/>
                <a:cs typeface="DejaVu Serif"/>
              </a:rPr>
              <a:t> </a:t>
            </a:r>
            <a:r>
              <a:rPr sz="2325" i="1" spc="127" dirty="0">
                <a:latin typeface="Schoolbook Uralic"/>
                <a:cs typeface="Schoolbook Uralic"/>
              </a:rPr>
              <a:t>BA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  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lang="zh-CN" altLang="en-US" sz="2325" i="1" spc="-328" dirty="0">
                <a:latin typeface="DejaVu Serif"/>
                <a:cs typeface="DejaVu Serif"/>
              </a:rPr>
              <a:t> </a:t>
            </a:r>
            <a:r>
              <a:rPr sz="2325" i="1" spc="74" dirty="0">
                <a:latin typeface="Schoolbook Uralic"/>
                <a:cs typeface="Schoolbook Uralic"/>
              </a:rPr>
              <a:t>CC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275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b  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4140" y="5557275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9591" y="5557274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4127" y="5539886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>
              <a:latin typeface="Schoolbook Uralic"/>
              <a:cs typeface="Schoolbook Ural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64174" y="5557274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86081" y="1831353"/>
          <a:ext cx="7311608" cy="3652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08716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7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731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7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300" spc="4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0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100656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highlight>
                            <a:srgbClr val="FFFF00"/>
                          </a:highlight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r>
                        <a:rPr lang="zh-CN" altLang="en-US" sz="2300" spc="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lang="en-US" altLang="zh-CN" sz="2300" spc="10" dirty="0">
                          <a:latin typeface="Schoolbook Uralic"/>
                          <a:cs typeface="Schoolbook Uralic"/>
                        </a:rPr>
                        <a:t>X</a:t>
                      </a:r>
                      <a:r>
                        <a:rPr lang="en-US" altLang="zh-CN" sz="2300" spc="10" baseline="-25000" dirty="0">
                          <a:latin typeface="Schoolbook Uralic"/>
                          <a:cs typeface="Schoolbook Uralic"/>
                        </a:rPr>
                        <a:t>24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dirty="0">
                          <a:latin typeface="Schoolbook Uralic"/>
                          <a:cs typeface="Schoolbook Uralic"/>
                        </a:rPr>
                        <a:t>{}</a:t>
                      </a: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dirty="0">
                          <a:latin typeface="Schoolbook Uralic"/>
                          <a:cs typeface="Schoolbook Uralic"/>
                        </a:rPr>
                        <a:t>{}</a:t>
                      </a: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highlight>
                            <a:srgbClr val="FFFF00"/>
                          </a:highlight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r>
                        <a:rPr lang="zh-CN" altLang="en-US" sz="2300" spc="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lang="en-US" altLang="zh-CN" sz="2300" spc="10" dirty="0">
                          <a:latin typeface="Schoolbook Uralic"/>
                          <a:cs typeface="Schoolbook Uralic"/>
                        </a:rPr>
                        <a:t>X</a:t>
                      </a:r>
                      <a:r>
                        <a:rPr lang="en-US" altLang="zh-CN" sz="2300" spc="10" baseline="-25000" dirty="0">
                          <a:latin typeface="Schoolbook Uralic"/>
                          <a:cs typeface="Schoolbook Uralic"/>
                        </a:rPr>
                        <a:t>34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714"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highlight>
                            <a:srgbClr val="FFFF00"/>
                          </a:highlight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r>
                        <a:rPr lang="zh-CN" altLang="en-US" sz="2300" spc="10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lang="en-US" altLang="zh-CN" sz="2300" spc="10" dirty="0">
                          <a:latin typeface="Schoolbook Uralic"/>
                          <a:cs typeface="Schoolbook Uralic"/>
                        </a:rPr>
                        <a:t>X</a:t>
                      </a:r>
                      <a:r>
                        <a:rPr lang="en-US" altLang="zh-CN" sz="2300" spc="10" baseline="-25000" dirty="0">
                          <a:latin typeface="Schoolbook Uralic"/>
                          <a:cs typeface="Schoolbook Uralic"/>
                        </a:rPr>
                        <a:t>22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itle 1"/>
          <p:cNvSpPr txBox="1"/>
          <p:nvPr/>
        </p:nvSpPr>
        <p:spPr>
          <a:xfrm>
            <a:off x="2032000" y="127733"/>
            <a:ext cx="9743263" cy="698744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CYK</a:t>
            </a:r>
            <a:r>
              <a:rPr lang="zh-CN" altLang="en-US" dirty="0"/>
              <a:t>应用</a:t>
            </a:r>
            <a:endParaRPr lang="en-AU" dirty="0"/>
          </a:p>
        </p:txBody>
      </p:sp>
      <p:sp>
        <p:nvSpPr>
          <p:cNvPr id="11" name="object 5"/>
          <p:cNvSpPr txBox="1"/>
          <p:nvPr/>
        </p:nvSpPr>
        <p:spPr>
          <a:xfrm>
            <a:off x="5780554" y="5592245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4647066" y="5539885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820" y="1265755"/>
            <a:ext cx="8726059" cy="415983"/>
          </a:xfrm>
          <a:prstGeom prst="rect">
            <a:avLst/>
          </a:prstGeom>
        </p:spPr>
        <p:txBody>
          <a:bodyPr vert="horz" wrap="square" lIns="0" tIns="25499" rIns="0" bIns="0" rtlCol="0" anchor="ctr" anchorCtr="0">
            <a:spAutoFit/>
          </a:bodyPr>
          <a:lstStyle/>
          <a:p>
            <a:pPr marL="26670">
              <a:spcBef>
                <a:spcPts val="200"/>
              </a:spcBef>
            </a:pPr>
            <a:r>
              <a:rPr sz="2535" spc="402" dirty="0" err="1">
                <a:solidFill>
                  <a:schemeClr val="tx1"/>
                </a:solidFill>
                <a:ea typeface="KaiTi_GB2312" panose="02010609030101010101" pitchFamily="49" charset="-122"/>
              </a:rPr>
              <a:t>例</a:t>
            </a:r>
            <a:r>
              <a:rPr lang="zh-CN" altLang="en-US" sz="2535" spc="40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CNF</a:t>
            </a:r>
            <a:r>
              <a:rPr sz="2535" spc="-4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11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i="1" spc="285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如下,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用</a:t>
            </a:r>
            <a:r>
              <a:rPr sz="2535" spc="254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CYK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算法判断</a:t>
            </a:r>
            <a:r>
              <a:rPr sz="2535" spc="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85" dirty="0">
                <a:solidFill>
                  <a:schemeClr val="tx1"/>
                </a:solidFill>
                <a:ea typeface="KaiTi_GB2312" panose="02010609030101010101" pitchFamily="49" charset="-122"/>
              </a:rPr>
              <a:t>bbabaa</a:t>
            </a:r>
            <a:r>
              <a:rPr sz="2325" i="1" spc="-20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-349" dirty="0">
                <a:solidFill>
                  <a:schemeClr val="tx1"/>
                </a:solidFill>
                <a:ea typeface="KaiTi_GB2312" panose="02010609030101010101" pitchFamily="49" charset="-122"/>
              </a:rPr>
              <a:t>∈</a:t>
            </a:r>
            <a:r>
              <a:rPr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lang="zh-CN" altLang="en-US"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  </a:t>
            </a:r>
            <a:r>
              <a:rPr sz="2325" b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L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(</a:t>
            </a:r>
            <a:r>
              <a:rPr sz="2325" i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)?</a:t>
            </a:r>
            <a:endParaRPr sz="2325" dirty="0">
              <a:solidFill>
                <a:schemeClr val="tx1"/>
              </a:solidFill>
              <a:ea typeface="KaiTi_GB2312" panose="02010609030101010101" pitchFamily="49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9820" y="1934707"/>
            <a:ext cx="1754638" cy="1876351"/>
          </a:xfrm>
          <a:prstGeom prst="rect">
            <a:avLst/>
          </a:prstGeom>
        </p:spPr>
        <p:txBody>
          <a:bodyPr vert="horz" wrap="square" lIns="0" tIns="139576" rIns="0" bIns="0" rtlCol="0">
            <a:spAutoFit/>
          </a:bodyPr>
          <a:lstStyle/>
          <a:p>
            <a:pPr marL="43180" algn="just">
              <a:spcBef>
                <a:spcPts val="1100"/>
              </a:spcBef>
            </a:pPr>
            <a:r>
              <a:rPr sz="2325" i="1" spc="11" dirty="0">
                <a:latin typeface="Schoolbook Uralic"/>
                <a:cs typeface="Schoolbook Uralic"/>
              </a:rPr>
              <a:t>S</a:t>
            </a:r>
            <a:r>
              <a:rPr sz="2325" i="1" spc="-15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5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17" dirty="0">
                <a:latin typeface="DejaVu Serif"/>
                <a:cs typeface="DejaVu Serif"/>
              </a:rPr>
              <a:t> </a:t>
            </a:r>
            <a:r>
              <a:rPr sz="2325" i="1" spc="42" dirty="0">
                <a:latin typeface="Schoolbook Uralic"/>
                <a:cs typeface="Schoolbook Uralic"/>
              </a:rPr>
              <a:t>BC</a:t>
            </a:r>
            <a:endParaRPr sz="2325" dirty="0">
              <a:latin typeface="Schoolbook Uralic"/>
              <a:cs typeface="Schoolbook Uralic"/>
            </a:endParaRPr>
          </a:p>
          <a:p>
            <a:pPr marL="26670" marR="274955" indent="3810" algn="just">
              <a:lnSpc>
                <a:spcPct val="132000"/>
              </a:lnSpc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328" dirty="0">
                <a:latin typeface="DejaVu Serif"/>
                <a:cs typeface="DejaVu Serif"/>
              </a:rPr>
              <a:t> </a:t>
            </a:r>
            <a:r>
              <a:rPr sz="2325" i="1" spc="127" dirty="0">
                <a:latin typeface="Schoolbook Uralic"/>
                <a:cs typeface="Schoolbook Uralic"/>
              </a:rPr>
              <a:t>BA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  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lang="zh-CN" altLang="en-US" sz="2325" i="1" spc="-328" dirty="0">
                <a:latin typeface="DejaVu Serif"/>
                <a:cs typeface="DejaVu Serif"/>
              </a:rPr>
              <a:t> </a:t>
            </a:r>
            <a:r>
              <a:rPr sz="2325" i="1" spc="74" dirty="0">
                <a:latin typeface="Schoolbook Uralic"/>
                <a:cs typeface="Schoolbook Uralic"/>
              </a:rPr>
              <a:t>CC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275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b  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4140" y="5557275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9591" y="5557274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4127" y="5539886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>
              <a:latin typeface="Schoolbook Uralic"/>
              <a:cs typeface="Schoolbook Ural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64174" y="5557274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86081" y="1831353"/>
          <a:ext cx="7311608" cy="3652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08716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7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731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7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300" spc="4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0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100656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highlight>
                            <a:srgbClr val="FFFF00"/>
                          </a:highlight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highlight>
                            <a:srgbClr val="FFFF00"/>
                          </a:highlight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highlight>
                            <a:srgbClr val="FFFF00"/>
                          </a:highlight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highlight>
                            <a:srgbClr val="FFFF00"/>
                          </a:highlight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r>
                        <a:rPr lang="zh-CN" altLang="en-US" sz="2300" spc="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lang="en-US" altLang="zh-CN" sz="2300" spc="10" dirty="0">
                          <a:latin typeface="Schoolbook Uralic"/>
                          <a:cs typeface="Schoolbook Uralic"/>
                        </a:rPr>
                        <a:t>X</a:t>
                      </a:r>
                      <a:r>
                        <a:rPr lang="en-US" altLang="zh-CN" sz="2300" spc="10" baseline="-25000" dirty="0">
                          <a:latin typeface="Schoolbook Uralic"/>
                          <a:cs typeface="Schoolbook Uralic"/>
                        </a:rPr>
                        <a:t>24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dirty="0">
                          <a:latin typeface="Schoolbook Uralic"/>
                          <a:cs typeface="Schoolbook Uralic"/>
                        </a:rPr>
                        <a:t>{}</a:t>
                      </a: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dirty="0">
                          <a:latin typeface="Schoolbook Uralic"/>
                          <a:cs typeface="Schoolbook Uralic"/>
                        </a:rPr>
                        <a:t>{}</a:t>
                      </a: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highlight>
                            <a:srgbClr val="FFFF00"/>
                          </a:highlight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r>
                        <a:rPr lang="zh-CN" altLang="en-US" sz="2300" spc="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lang="en-US" altLang="zh-CN" sz="2300" spc="10" dirty="0">
                          <a:latin typeface="Schoolbook Uralic"/>
                          <a:cs typeface="Schoolbook Uralic"/>
                        </a:rPr>
                        <a:t>X</a:t>
                      </a:r>
                      <a:r>
                        <a:rPr lang="en-US" altLang="zh-CN" sz="2300" spc="10" baseline="-25000" dirty="0">
                          <a:latin typeface="Schoolbook Uralic"/>
                          <a:cs typeface="Schoolbook Uralic"/>
                        </a:rPr>
                        <a:t>23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714"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highlight>
                            <a:srgbClr val="FFFF00"/>
                          </a:highlight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r>
                        <a:rPr lang="zh-CN" altLang="en-US" sz="2300" spc="10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lang="en-US" altLang="zh-CN" sz="2300" spc="10" dirty="0">
                          <a:latin typeface="Schoolbook Uralic"/>
                          <a:cs typeface="Schoolbook Uralic"/>
                        </a:rPr>
                        <a:t>X</a:t>
                      </a:r>
                      <a:r>
                        <a:rPr lang="en-US" altLang="zh-CN" sz="2300" spc="10" baseline="-25000" dirty="0">
                          <a:latin typeface="Schoolbook Uralic"/>
                          <a:cs typeface="Schoolbook Uralic"/>
                        </a:rPr>
                        <a:t>44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itle 1"/>
          <p:cNvSpPr txBox="1"/>
          <p:nvPr/>
        </p:nvSpPr>
        <p:spPr>
          <a:xfrm>
            <a:off x="2032000" y="127733"/>
            <a:ext cx="9743263" cy="698744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CYK</a:t>
            </a:r>
            <a:r>
              <a:rPr lang="zh-CN" altLang="en-US" dirty="0"/>
              <a:t>应用</a:t>
            </a:r>
            <a:endParaRPr lang="en-AU" dirty="0"/>
          </a:p>
        </p:txBody>
      </p:sp>
      <p:sp>
        <p:nvSpPr>
          <p:cNvPr id="11" name="object 5"/>
          <p:cNvSpPr txBox="1"/>
          <p:nvPr/>
        </p:nvSpPr>
        <p:spPr>
          <a:xfrm>
            <a:off x="5780554" y="5592245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4647066" y="5539885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9820" y="1265755"/>
            <a:ext cx="8726059" cy="415983"/>
          </a:xfrm>
          <a:prstGeom prst="rect">
            <a:avLst/>
          </a:prstGeom>
        </p:spPr>
        <p:txBody>
          <a:bodyPr vert="horz" wrap="square" lIns="0" tIns="25499" rIns="0" bIns="0" rtlCol="0" anchor="ctr" anchorCtr="0">
            <a:spAutoFit/>
          </a:bodyPr>
          <a:lstStyle/>
          <a:p>
            <a:pPr marL="26670">
              <a:spcBef>
                <a:spcPts val="200"/>
              </a:spcBef>
            </a:pPr>
            <a:r>
              <a:rPr sz="2535" spc="402" dirty="0" err="1">
                <a:solidFill>
                  <a:schemeClr val="tx1"/>
                </a:solidFill>
                <a:ea typeface="KaiTi_GB2312" panose="02010609030101010101" pitchFamily="49" charset="-122"/>
              </a:rPr>
              <a:t>例</a:t>
            </a:r>
            <a:r>
              <a:rPr lang="zh-CN" altLang="en-US" sz="2535" spc="40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CNF</a:t>
            </a:r>
            <a:r>
              <a:rPr sz="2535" spc="-42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11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i="1" spc="285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如下,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用</a:t>
            </a:r>
            <a:r>
              <a:rPr sz="2535" spc="254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535" spc="-21" dirty="0">
                <a:solidFill>
                  <a:schemeClr val="tx1"/>
                </a:solidFill>
                <a:ea typeface="KaiTi_GB2312" panose="02010609030101010101" pitchFamily="49" charset="-122"/>
              </a:rPr>
              <a:t>CYK </a:t>
            </a:r>
            <a:r>
              <a:rPr sz="2535" spc="-11" dirty="0">
                <a:solidFill>
                  <a:schemeClr val="tx1"/>
                </a:solidFill>
                <a:ea typeface="KaiTi_GB2312" panose="02010609030101010101" pitchFamily="49" charset="-122"/>
              </a:rPr>
              <a:t>算法判断</a:t>
            </a:r>
            <a:r>
              <a:rPr sz="2535" spc="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85" dirty="0">
                <a:solidFill>
                  <a:schemeClr val="tx1"/>
                </a:solidFill>
                <a:ea typeface="KaiTi_GB2312" panose="02010609030101010101" pitchFamily="49" charset="-122"/>
              </a:rPr>
              <a:t>bbabaa</a:t>
            </a:r>
            <a:r>
              <a:rPr sz="2325" i="1" spc="-201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sz="2325" i="1" spc="-349" dirty="0">
                <a:solidFill>
                  <a:schemeClr val="tx1"/>
                </a:solidFill>
                <a:ea typeface="KaiTi_GB2312" panose="02010609030101010101" pitchFamily="49" charset="-122"/>
              </a:rPr>
              <a:t>∈</a:t>
            </a:r>
            <a:r>
              <a:rPr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</a:t>
            </a:r>
            <a:r>
              <a:rPr lang="zh-CN" altLang="en-US" sz="2325" i="1" spc="-317" dirty="0">
                <a:solidFill>
                  <a:schemeClr val="tx1"/>
                </a:solidFill>
                <a:ea typeface="KaiTi_GB2312" panose="02010609030101010101" pitchFamily="49" charset="-122"/>
              </a:rPr>
              <a:t>   </a:t>
            </a:r>
            <a:r>
              <a:rPr sz="2325" b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L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(</a:t>
            </a:r>
            <a:r>
              <a:rPr sz="2325" i="1" spc="32" dirty="0">
                <a:solidFill>
                  <a:schemeClr val="tx1"/>
                </a:solidFill>
                <a:ea typeface="KaiTi_GB2312" panose="02010609030101010101" pitchFamily="49" charset="-122"/>
              </a:rPr>
              <a:t>G</a:t>
            </a:r>
            <a:r>
              <a:rPr sz="2325" spc="32" dirty="0">
                <a:solidFill>
                  <a:schemeClr val="tx1"/>
                </a:solidFill>
                <a:ea typeface="KaiTi_GB2312" panose="02010609030101010101" pitchFamily="49" charset="-122"/>
              </a:rPr>
              <a:t>)?</a:t>
            </a:r>
            <a:endParaRPr sz="2325" dirty="0">
              <a:solidFill>
                <a:schemeClr val="tx1"/>
              </a:solidFill>
              <a:ea typeface="KaiTi_GB2312" panose="02010609030101010101" pitchFamily="49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34140" y="5557275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9591" y="5557274"/>
            <a:ext cx="22009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b</a:t>
            </a:r>
            <a:endParaRPr sz="2325" dirty="0">
              <a:latin typeface="Schoolbook Uralic"/>
              <a:cs typeface="Schoolbook Ural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44127" y="5539886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>
              <a:latin typeface="Schoolbook Uralic"/>
              <a:cs typeface="Schoolbook Ural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64174" y="5557274"/>
            <a:ext cx="225468" cy="387605"/>
          </a:xfrm>
          <a:prstGeom prst="rect">
            <a:avLst/>
          </a:prstGeom>
        </p:spPr>
        <p:txBody>
          <a:bodyPr vert="horz" wrap="square" lIns="0" tIns="29526" rIns="0" bIns="0" rtlCol="0">
            <a:spAutoFit/>
          </a:bodyPr>
          <a:lstStyle/>
          <a:p>
            <a:pPr marL="26670">
              <a:spcBef>
                <a:spcPts val="230"/>
              </a:spcBef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86081" y="1831353"/>
          <a:ext cx="7311608" cy="3652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3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08716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735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731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72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2300" spc="4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0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100656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dirty="0">
                          <a:latin typeface="Schoolbook Uralic"/>
                          <a:cs typeface="Schoolbook Uralic"/>
                        </a:rPr>
                        <a:t>{}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7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6350">
                      <a:solidFill>
                        <a:srgbClr val="B2B2B2"/>
                      </a:solidFill>
                      <a:prstDash val="solid"/>
                    </a:lnR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dirty="0">
                          <a:latin typeface="Schoolbook Uralic"/>
                          <a:cs typeface="Schoolbook Uralic"/>
                        </a:rPr>
                        <a:t>{}</a:t>
                      </a: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S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2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7971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6350">
                      <a:solidFill>
                        <a:srgbClr val="B2B2B2"/>
                      </a:solidFill>
                      <a:prstDash val="solid"/>
                    </a:lnL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714"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96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10" dirty="0">
                          <a:latin typeface="Schoolbook Uralic"/>
                          <a:cs typeface="Schoolbook Uralic"/>
                        </a:rPr>
                        <a:t>B</a:t>
                      </a:r>
                      <a:r>
                        <a:rPr sz="2300" spc="10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99314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{</a:t>
                      </a:r>
                      <a:r>
                        <a:rPr sz="2300" i="1" spc="45" dirty="0">
                          <a:latin typeface="Schoolbook Uralic"/>
                          <a:cs typeface="Schoolbook Uralic"/>
                        </a:rPr>
                        <a:t>A</a:t>
                      </a:r>
                      <a:r>
                        <a:rPr sz="2300" spc="45" dirty="0">
                          <a:latin typeface="Schoolbook Uralic"/>
                          <a:cs typeface="Schoolbook Uralic"/>
                        </a:rPr>
                        <a:t>,</a:t>
                      </a:r>
                      <a:r>
                        <a:rPr sz="2300" spc="-195" dirty="0">
                          <a:latin typeface="Schoolbook Uralic"/>
                          <a:cs typeface="Schoolbook Uralic"/>
                        </a:rPr>
                        <a:t> </a:t>
                      </a:r>
                      <a:r>
                        <a:rPr sz="2300" i="1" spc="25" dirty="0">
                          <a:latin typeface="Schoolbook Uralic"/>
                          <a:cs typeface="Schoolbook Uralic"/>
                        </a:rPr>
                        <a:t>C</a:t>
                      </a:r>
                      <a:r>
                        <a:rPr sz="2300" spc="25" dirty="0">
                          <a:latin typeface="Schoolbook Uralic"/>
                          <a:cs typeface="Schoolbook Uralic"/>
                        </a:rPr>
                        <a:t>}</a:t>
                      </a:r>
                      <a:endParaRPr sz="2300" dirty="0">
                        <a:latin typeface="Schoolbook Uralic"/>
                        <a:cs typeface="Schoolbook Uralic"/>
                      </a:endParaRPr>
                    </a:p>
                  </a:txBody>
                  <a:tcPr marL="0" marR="0" marT="89919" marB="0">
                    <a:lnL w="6350">
                      <a:solidFill>
                        <a:srgbClr val="B2B2B2"/>
                      </a:solidFill>
                      <a:prstDash val="solid"/>
                    </a:lnL>
                    <a:lnR w="6350">
                      <a:solidFill>
                        <a:srgbClr val="B2B2B2"/>
                      </a:solidFill>
                      <a:prstDash val="solid"/>
                    </a:lnR>
                    <a:lnT w="6350">
                      <a:solidFill>
                        <a:srgbClr val="B2B2B2"/>
                      </a:solidFill>
                      <a:prstDash val="solid"/>
                    </a:lnT>
                    <a:lnB w="6350">
                      <a:solidFill>
                        <a:srgbClr val="B2B2B2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31706" y="5478465"/>
            <a:ext cx="6131938" cy="997604"/>
          </a:xfrm>
          <a:prstGeom prst="rect">
            <a:avLst/>
          </a:prstGeom>
        </p:spPr>
        <p:txBody>
          <a:bodyPr vert="horz" wrap="square" lIns="0" tIns="132865" rIns="0" bIns="0" rtlCol="0">
            <a:spAutoFit/>
          </a:bodyPr>
          <a:lstStyle/>
          <a:p>
            <a:pPr marL="3834130">
              <a:spcBef>
                <a:spcPts val="1045"/>
              </a:spcBef>
              <a:tabLst>
                <a:tab pos="5051425" algn="l"/>
              </a:tabLst>
            </a:pPr>
            <a:r>
              <a:rPr sz="2325" i="1" spc="11" dirty="0">
                <a:latin typeface="Schoolbook Uralic"/>
                <a:cs typeface="Schoolbook Uralic"/>
              </a:rPr>
              <a:t>b	b</a:t>
            </a:r>
            <a:endParaRPr sz="2325" dirty="0">
              <a:latin typeface="Schoolbook Uralic"/>
              <a:cs typeface="Schoolbook Uralic"/>
            </a:endParaRPr>
          </a:p>
          <a:p>
            <a:pPr marL="107315">
              <a:spcBef>
                <a:spcPts val="875"/>
              </a:spcBef>
            </a:pPr>
            <a:r>
              <a:rPr sz="2535" spc="-11" dirty="0">
                <a:latin typeface="Noto Sans CJK SC Regular"/>
                <a:cs typeface="Noto Sans CJK SC Regular"/>
              </a:rPr>
              <a:t>因为</a:t>
            </a:r>
            <a:r>
              <a:rPr sz="2535" spc="296" dirty="0">
                <a:latin typeface="Noto Sans CJK SC Regular"/>
                <a:cs typeface="Noto Sans CJK SC Regular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S</a:t>
            </a:r>
            <a:r>
              <a:rPr sz="2325" i="1" spc="-127" dirty="0">
                <a:latin typeface="Schoolbook Uralic"/>
                <a:cs typeface="Schoolbook Uralic"/>
              </a:rPr>
              <a:t> </a:t>
            </a:r>
            <a:r>
              <a:rPr sz="2325" i="1" spc="-349" dirty="0">
                <a:latin typeface="DejaVu Serif"/>
                <a:cs typeface="DejaVu Serif"/>
              </a:rPr>
              <a:t>∈</a:t>
            </a:r>
            <a:r>
              <a:rPr sz="2325" i="1" spc="-159" dirty="0">
                <a:latin typeface="DejaVu Serif"/>
                <a:cs typeface="DejaVu Serif"/>
              </a:rPr>
              <a:t> </a:t>
            </a:r>
            <a:r>
              <a:rPr lang="zh-CN" altLang="en-US" sz="2325" i="1" spc="-159" dirty="0">
                <a:latin typeface="DejaVu Serif"/>
                <a:cs typeface="DejaVu Serif"/>
              </a:rPr>
              <a:t> </a:t>
            </a:r>
            <a:r>
              <a:rPr sz="2325" i="1" spc="74" dirty="0">
                <a:latin typeface="Schoolbook Uralic"/>
                <a:cs typeface="Schoolbook Uralic"/>
              </a:rPr>
              <a:t>X</a:t>
            </a:r>
            <a:r>
              <a:rPr sz="2535" spc="110" baseline="-14000" dirty="0">
                <a:latin typeface="Schoolbook Uralic"/>
                <a:cs typeface="Schoolbook Uralic"/>
              </a:rPr>
              <a:t>16</a:t>
            </a:r>
            <a:r>
              <a:rPr sz="2535" spc="78" baseline="-14000" dirty="0">
                <a:latin typeface="Schoolbook Uralic"/>
                <a:cs typeface="Schoolbook Uralic"/>
              </a:rPr>
              <a:t> </a:t>
            </a:r>
            <a:r>
              <a:rPr sz="2325" i="1" spc="-275" dirty="0">
                <a:latin typeface="DejaVu Serif"/>
                <a:cs typeface="DejaVu Serif"/>
              </a:rPr>
              <a:t>=</a:t>
            </a:r>
            <a:r>
              <a:rPr sz="2325" i="1" spc="-317" dirty="0">
                <a:latin typeface="DejaVu Serif"/>
                <a:cs typeface="DejaVu Serif"/>
              </a:rPr>
              <a:t> </a:t>
            </a:r>
            <a:r>
              <a:rPr sz="2325" spc="53" dirty="0">
                <a:latin typeface="Schoolbook Uralic"/>
                <a:cs typeface="Schoolbook Uralic"/>
              </a:rPr>
              <a:t>{</a:t>
            </a:r>
            <a:r>
              <a:rPr sz="2325" i="1" spc="53" dirty="0">
                <a:latin typeface="Schoolbook Uralic"/>
                <a:cs typeface="Schoolbook Uralic"/>
              </a:rPr>
              <a:t>S</a:t>
            </a:r>
            <a:r>
              <a:rPr sz="2325" spc="53" dirty="0">
                <a:latin typeface="Schoolbook Uralic"/>
                <a:cs typeface="Schoolbook Uralic"/>
              </a:rPr>
              <a:t>,</a:t>
            </a:r>
            <a:r>
              <a:rPr sz="2325" spc="-222" dirty="0">
                <a:latin typeface="Schoolbook Uralic"/>
                <a:cs typeface="Schoolbook Uralic"/>
              </a:rPr>
              <a:t> </a:t>
            </a:r>
            <a:r>
              <a:rPr sz="2325" i="1" spc="32" dirty="0">
                <a:latin typeface="Schoolbook Uralic"/>
                <a:cs typeface="Schoolbook Uralic"/>
              </a:rPr>
              <a:t>A</a:t>
            </a:r>
            <a:r>
              <a:rPr sz="2325" spc="32" dirty="0">
                <a:latin typeface="Schoolbook Uralic"/>
                <a:cs typeface="Schoolbook Uralic"/>
              </a:rPr>
              <a:t>}</a:t>
            </a:r>
            <a:r>
              <a:rPr sz="2535" spc="32" dirty="0">
                <a:latin typeface="LM Sans 12"/>
                <a:cs typeface="LM Sans 12"/>
              </a:rPr>
              <a:t>,</a:t>
            </a:r>
            <a:r>
              <a:rPr sz="2535" spc="-21" dirty="0">
                <a:latin typeface="LM Sans 12"/>
                <a:cs typeface="LM Sans 12"/>
              </a:rPr>
              <a:t> </a:t>
            </a:r>
            <a:r>
              <a:rPr sz="2535" spc="-11" dirty="0">
                <a:latin typeface="Noto Sans CJK SC Regular"/>
                <a:cs typeface="Noto Sans CJK SC Regular"/>
              </a:rPr>
              <a:t>所以</a:t>
            </a:r>
            <a:r>
              <a:rPr sz="2535" spc="317" dirty="0">
                <a:latin typeface="Noto Sans CJK SC Regular"/>
                <a:cs typeface="Noto Sans CJK SC Regular"/>
              </a:rPr>
              <a:t> </a:t>
            </a:r>
            <a:r>
              <a:rPr sz="2325" i="1" spc="85" dirty="0">
                <a:latin typeface="Schoolbook Uralic"/>
                <a:cs typeface="Schoolbook Uralic"/>
              </a:rPr>
              <a:t>bbabaa</a:t>
            </a:r>
            <a:r>
              <a:rPr sz="2325" i="1" spc="-190" dirty="0">
                <a:latin typeface="Schoolbook Uralic"/>
                <a:cs typeface="Schoolbook Uralic"/>
              </a:rPr>
              <a:t> </a:t>
            </a:r>
            <a:r>
              <a:rPr sz="2325" i="1" spc="-349" dirty="0">
                <a:latin typeface="DejaVu Serif"/>
                <a:cs typeface="DejaVu Serif"/>
              </a:rPr>
              <a:t>∈</a:t>
            </a:r>
            <a:r>
              <a:rPr sz="2325" i="1" spc="-328" dirty="0">
                <a:latin typeface="DejaVu Serif"/>
                <a:cs typeface="DejaVu Serif"/>
              </a:rPr>
              <a:t> </a:t>
            </a:r>
            <a:r>
              <a:rPr lang="zh-CN" altLang="en-US" sz="2325" i="1" spc="-328" dirty="0">
                <a:latin typeface="DejaVu Serif"/>
                <a:cs typeface="DejaVu Serif"/>
              </a:rPr>
              <a:t>     </a:t>
            </a:r>
            <a:r>
              <a:rPr sz="2325" b="1" spc="21" dirty="0">
                <a:latin typeface="Schoolbook Uralic"/>
                <a:cs typeface="Schoolbook Uralic"/>
              </a:rPr>
              <a:t>L</a:t>
            </a:r>
            <a:r>
              <a:rPr sz="2325" spc="21" dirty="0">
                <a:latin typeface="Schoolbook Uralic"/>
                <a:cs typeface="Schoolbook Uralic"/>
              </a:rPr>
              <a:t>(</a:t>
            </a:r>
            <a:r>
              <a:rPr sz="2325" i="1" spc="21" dirty="0">
                <a:latin typeface="Schoolbook Uralic"/>
                <a:cs typeface="Schoolbook Uralic"/>
              </a:rPr>
              <a:t>G</a:t>
            </a:r>
            <a:r>
              <a:rPr sz="2325" spc="21" dirty="0">
                <a:latin typeface="Schoolbook Uralic"/>
                <a:cs typeface="Schoolbook Uralic"/>
              </a:rPr>
              <a:t>)</a:t>
            </a:r>
            <a:r>
              <a:rPr sz="2535" spc="21" dirty="0">
                <a:latin typeface="LM Sans 12"/>
                <a:cs typeface="LM Sans 12"/>
              </a:rPr>
              <a:t>.</a:t>
            </a:r>
            <a:endParaRPr sz="2535" dirty="0">
              <a:latin typeface="LM Sans 12"/>
              <a:cs typeface="LM Sans 12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2032000" y="127733"/>
            <a:ext cx="9743263" cy="698744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80008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CYK</a:t>
            </a:r>
            <a:r>
              <a:rPr lang="zh-CN" altLang="en-US" dirty="0"/>
              <a:t>应用</a:t>
            </a:r>
            <a:endParaRPr lang="en-AU" dirty="0"/>
          </a:p>
        </p:txBody>
      </p:sp>
      <p:sp>
        <p:nvSpPr>
          <p:cNvPr id="11" name="object 3"/>
          <p:cNvSpPr txBox="1"/>
          <p:nvPr/>
        </p:nvSpPr>
        <p:spPr>
          <a:xfrm>
            <a:off x="1249820" y="1934707"/>
            <a:ext cx="1754638" cy="1876351"/>
          </a:xfrm>
          <a:prstGeom prst="rect">
            <a:avLst/>
          </a:prstGeom>
        </p:spPr>
        <p:txBody>
          <a:bodyPr vert="horz" wrap="square" lIns="0" tIns="139576" rIns="0" bIns="0" rtlCol="0">
            <a:spAutoFit/>
          </a:bodyPr>
          <a:lstStyle/>
          <a:p>
            <a:pPr marL="43180" algn="just">
              <a:spcBef>
                <a:spcPts val="1100"/>
              </a:spcBef>
            </a:pPr>
            <a:r>
              <a:rPr sz="2325" i="1" spc="11" dirty="0">
                <a:latin typeface="Schoolbook Uralic"/>
                <a:cs typeface="Schoolbook Uralic"/>
              </a:rPr>
              <a:t>S</a:t>
            </a:r>
            <a:r>
              <a:rPr sz="2325" i="1" spc="-15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5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17" dirty="0">
                <a:latin typeface="DejaVu Serif"/>
                <a:cs typeface="DejaVu Serif"/>
              </a:rPr>
              <a:t> </a:t>
            </a:r>
            <a:r>
              <a:rPr sz="2325" i="1" spc="42" dirty="0">
                <a:latin typeface="Schoolbook Uralic"/>
                <a:cs typeface="Schoolbook Uralic"/>
              </a:rPr>
              <a:t>BC</a:t>
            </a:r>
            <a:endParaRPr sz="2325" dirty="0">
              <a:latin typeface="Schoolbook Uralic"/>
              <a:cs typeface="Schoolbook Uralic"/>
            </a:endParaRPr>
          </a:p>
          <a:p>
            <a:pPr marL="26670" marR="274955" indent="3810" algn="just">
              <a:lnSpc>
                <a:spcPct val="132000"/>
              </a:lnSpc>
            </a:pPr>
            <a:r>
              <a:rPr sz="2325" i="1" spc="11" dirty="0">
                <a:latin typeface="Schoolbook Uralic"/>
                <a:cs typeface="Schoolbook Uralic"/>
              </a:rPr>
              <a:t>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328" dirty="0">
                <a:latin typeface="DejaVu Serif"/>
                <a:cs typeface="DejaVu Serif"/>
              </a:rPr>
              <a:t> </a:t>
            </a:r>
            <a:r>
              <a:rPr sz="2325" i="1" spc="127" dirty="0">
                <a:latin typeface="Schoolbook Uralic"/>
                <a:cs typeface="Schoolbook Uralic"/>
              </a:rPr>
              <a:t>BA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  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lang="zh-CN" altLang="en-US" sz="2325" i="1" spc="-328" dirty="0">
                <a:latin typeface="DejaVu Serif"/>
                <a:cs typeface="DejaVu Serif"/>
              </a:rPr>
              <a:t> </a:t>
            </a:r>
            <a:r>
              <a:rPr sz="2325" i="1" spc="74" dirty="0">
                <a:latin typeface="Schoolbook Uralic"/>
                <a:cs typeface="Schoolbook Uralic"/>
              </a:rPr>
              <a:t>CC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275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b  C</a:t>
            </a:r>
            <a:r>
              <a:rPr sz="2325" i="1" spc="-169" dirty="0">
                <a:latin typeface="Schoolbook Uralic"/>
                <a:cs typeface="Schoolbook Uralic"/>
              </a:rPr>
              <a:t> </a:t>
            </a:r>
            <a:r>
              <a:rPr lang="zh-CN" altLang="en-US" sz="2325" i="1" spc="-169" dirty="0">
                <a:latin typeface="Schoolbook Uralic"/>
                <a:cs typeface="Schoolbook Uralic"/>
              </a:rPr>
              <a:t> </a:t>
            </a:r>
            <a:r>
              <a:rPr sz="2325" i="1" spc="370" dirty="0">
                <a:latin typeface="DejaVu Serif"/>
                <a:cs typeface="DejaVu Serif"/>
              </a:rPr>
              <a:t>→</a:t>
            </a:r>
            <a:r>
              <a:rPr sz="2325" i="1" spc="-180" dirty="0">
                <a:latin typeface="DejaVu Serif"/>
                <a:cs typeface="DejaVu Serif"/>
              </a:rPr>
              <a:t> </a:t>
            </a:r>
            <a:r>
              <a:rPr lang="zh-CN" altLang="en-US" sz="2325" i="1" spc="-180" dirty="0">
                <a:latin typeface="DejaVu Serif"/>
                <a:cs typeface="DejaVu Serif"/>
              </a:rPr>
              <a:t>  </a:t>
            </a:r>
            <a:r>
              <a:rPr sz="2325" i="1" spc="74" dirty="0">
                <a:latin typeface="Schoolbook Uralic"/>
                <a:cs typeface="Schoolbook Uralic"/>
              </a:rPr>
              <a:t>AB</a:t>
            </a:r>
            <a:r>
              <a:rPr sz="2325" i="1" spc="-211" dirty="0">
                <a:latin typeface="Schoolbook Uralic"/>
                <a:cs typeface="Schoolbook Uralic"/>
              </a:rPr>
              <a:t> </a:t>
            </a:r>
            <a:r>
              <a:rPr sz="2325" i="1" spc="-137" dirty="0">
                <a:latin typeface="DejaVu Serif"/>
                <a:cs typeface="DejaVu Serif"/>
              </a:rPr>
              <a:t>|</a:t>
            </a:r>
            <a:r>
              <a:rPr sz="2325" i="1" spc="-306" dirty="0">
                <a:latin typeface="DejaVu Serif"/>
                <a:cs typeface="DejaVu Serif"/>
              </a:rPr>
              <a:t> </a:t>
            </a:r>
            <a:r>
              <a:rPr sz="2325" i="1" spc="11" dirty="0">
                <a:latin typeface="Schoolbook Uralic"/>
                <a:cs typeface="Schoolbook Uralic"/>
              </a:rPr>
              <a:t>a</a:t>
            </a:r>
            <a:endParaRPr sz="2325" dirty="0">
              <a:latin typeface="Schoolbook Uralic"/>
              <a:cs typeface="Schoolbook Uralic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不可判定的</a:t>
            </a:r>
            <a:r>
              <a:rPr lang="en-AU" altLang="zh-CN" dirty="0"/>
              <a:t>CFL</a:t>
            </a:r>
            <a:r>
              <a:rPr lang="zh-CN" altLang="en-US" dirty="0"/>
              <a:t>问题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120900" y="1166019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判断 </a:t>
                </a:r>
                <a:r>
                  <a:rPr lang="en-US" altLang="zh-CN" dirty="0"/>
                  <a:t>CFG G </a:t>
                </a:r>
                <a:r>
                  <a:rPr lang="zh-CN" altLang="en-US" dirty="0"/>
                  <a:t>是否歧义的</a:t>
                </a:r>
                <a:r>
                  <a:rPr lang="en-US" altLang="zh-CN" dirty="0"/>
                  <a:t>?</a:t>
                </a:r>
              </a:p>
              <a:p>
                <a:r>
                  <a:rPr lang="zh-CN" altLang="en-US" dirty="0"/>
                  <a:t>判断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是否固有歧义的</a:t>
                </a:r>
                <a:r>
                  <a:rPr lang="en-US" altLang="zh-CN" dirty="0"/>
                  <a:t>?</a:t>
                </a:r>
              </a:p>
              <a:p>
                <a:r>
                  <a:rPr lang="zh-CN" altLang="en-US" dirty="0"/>
                  <a:t>两个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的交是否为空</a:t>
                </a:r>
                <a:r>
                  <a:rPr lang="en-US" altLang="zh-CN" dirty="0"/>
                  <a:t>?</a:t>
                </a:r>
              </a:p>
              <a:p>
                <a:r>
                  <a:rPr lang="zh-CN" altLang="en-US" dirty="0"/>
                  <a:t>两个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是否相同</a:t>
                </a:r>
                <a:r>
                  <a:rPr lang="en-US" altLang="zh-CN" dirty="0"/>
                  <a:t>?</a:t>
                </a:r>
              </a:p>
              <a:p>
                <a:r>
                  <a:rPr lang="zh-CN" altLang="en-US" dirty="0"/>
                  <a:t>判断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的补是否为空</a:t>
                </a:r>
                <a:r>
                  <a:rPr lang="en-US" altLang="zh-CN" dirty="0"/>
                  <a:t>? </a:t>
                </a:r>
                <a:r>
                  <a:rPr lang="zh-CN" altLang="en-US" dirty="0"/>
                  <a:t>（尽管有算法判断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是否为空）</a:t>
                </a:r>
              </a:p>
              <a:p>
                <a:r>
                  <a:rPr lang="zh-CN" altLang="en-US" dirty="0"/>
                  <a:t>判断 </a:t>
                </a:r>
                <a:r>
                  <a:rPr lang="en-US" altLang="zh-CN" dirty="0"/>
                  <a:t>CFL </a:t>
                </a:r>
                <a:r>
                  <a:rPr lang="zh-CN" altLang="en-US" dirty="0"/>
                  <a:t>是否等于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/>
                  <a:t>?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0900" y="1166019"/>
                <a:ext cx="8229600" cy="4525963"/>
              </a:xfrm>
              <a:blipFill rotWithShape="1">
                <a:blip r:embed="rId3"/>
                <a:stretch>
                  <a:fillRect t="-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30</a:t>
            </a:fld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乔姆斯基文法体系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996951"/>
                <a:ext cx="8387714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如果文法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zh-CN" altLang="en-US" sz="2400" dirty="0"/>
                  <a:t>符号串 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l-G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∪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𝑉</m:t>
                    </m:r>
                    <m:sSup>
                      <m:sSupPr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∪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sz="2400" dirty="0"/>
                  <a:t>,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el-GR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 ∪ 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sz="2400" dirty="0"/>
                  <a:t>, </a:t>
                </a:r>
                <a:r>
                  <a:rPr lang="zh-CN" altLang="en-US" sz="2400" dirty="0"/>
                  <a:t>产生式都形如</a:t>
                </a:r>
                <a:endParaRPr lang="en-AU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AU" sz="2400" dirty="0"/>
                  <a:t>,</a:t>
                </a:r>
              </a:p>
              <a:p>
                <a:pPr marL="0" indent="0">
                  <a:buNone/>
                </a:pPr>
                <a:r>
                  <a:rPr lang="zh-CN" altLang="en-US" sz="2400" dirty="0"/>
                  <a:t>即每个产生式的左部</a:t>
                </a:r>
                <a14:m>
                  <m:oMath xmlns:m="http://schemas.openxmlformats.org/officeDocument/2006/math"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400" dirty="0"/>
                  <a:t>中至少要有一个变元</a:t>
                </a:r>
                <a:r>
                  <a:rPr lang="en-US" altLang="zh-CN" sz="2400" dirty="0"/>
                  <a:t>, </a:t>
                </a:r>
                <a:r>
                  <a:rPr lang="zh-CN" altLang="en-US" sz="2400" dirty="0"/>
                  <a:t>那么</a:t>
                </a:r>
                <a:r>
                  <a:rPr lang="en-US" altLang="zh-CN" sz="2400" dirty="0"/>
                  <a:t>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996951"/>
                <a:ext cx="8387714" cy="4525963"/>
              </a:xfrm>
              <a:blipFill rotWithShape="1">
                <a:blip r:embed="rId3"/>
                <a:stretch>
                  <a:fillRect r="8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31</a:t>
            </a:fld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21375" y="2934183"/>
                <a:ext cx="8147539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型文法或短语结构文法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(2)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| ≥ |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型文法或上下文有关文法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	</a:t>
                </a:r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en-AU" altLang="zh-CN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Context-Sensitive Grammar</a:t>
                </a:r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(3)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型文法或上下文无关文法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US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(4)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l-GR" sz="24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都形如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𝑎𝐵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𝐺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en-US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型文法或正则文法。</a:t>
                </a: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375" y="2934183"/>
                <a:ext cx="8147539" cy="2308324"/>
              </a:xfrm>
              <a:prstGeom prst="rect">
                <a:avLst/>
              </a:prstGeom>
              <a:blipFill rotWithShape="1">
                <a:blip r:embed="rId4"/>
                <a:stretch>
                  <a:fillRect l="-2" t="-21" r="8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乔姆斯基文法体系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32</a:t>
            </a:fld>
            <a:endParaRPr lang="en-AU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766" y="1975814"/>
            <a:ext cx="5755585" cy="396715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339851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的泵引理及其应用：证明不是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的封闭性</a:t>
            </a:r>
          </a:p>
          <a:p>
            <a:pPr lvl="1"/>
            <a:r>
              <a:rPr lang="zh-CN" altLang="en-US" dirty="0"/>
              <a:t>封闭运算：并、乘、闭包、代换、同态映射、逆同态映射</a:t>
            </a:r>
          </a:p>
          <a:p>
            <a:pPr lvl="1"/>
            <a:r>
              <a:rPr lang="zh-CN" altLang="en-US" dirty="0"/>
              <a:t>不封闭运算：交、补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CFL</a:t>
            </a:r>
            <a:r>
              <a:rPr lang="zh-CN" altLang="en-US" dirty="0"/>
              <a:t>的判定性质</a:t>
            </a:r>
          </a:p>
          <a:p>
            <a:pPr lvl="1"/>
            <a:r>
              <a:rPr lang="zh-CN" altLang="en-US" dirty="0"/>
              <a:t>可判定性：空性，有穷性、无穷性、成员性</a:t>
            </a:r>
          </a:p>
          <a:p>
            <a:pPr lvl="1"/>
            <a:r>
              <a:rPr lang="zh-CN" altLang="en-US" dirty="0"/>
              <a:t>不可判定性</a:t>
            </a:r>
          </a:p>
          <a:p>
            <a:r>
              <a:rPr lang="zh-CN" altLang="en-US" dirty="0"/>
              <a:t>乔姆斯基文法体系</a:t>
            </a:r>
          </a:p>
          <a:p>
            <a:endParaRPr lang="zh-CN" alt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2E1F6-9BD6-474C-A82E-E07C3DB67AAE}" type="slidenum">
              <a:rPr lang="en-AU" smtClean="0"/>
              <a:t>33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34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960755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请判断此文法的有穷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无穷性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S-&gt;AB/BC</a:t>
            </a:r>
          </a:p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                   A-&gt;BA/a</a:t>
            </a:r>
          </a:p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                   B-&gt;CC/b</a:t>
            </a:r>
          </a:p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                                     C-&gt;AB/a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10356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有穷</a:t>
            </a: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055428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无穷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167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en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119721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en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114"/>
            <a:chExt cx="19200" cy="1000"/>
          </a:xfrm>
        </p:grpSpPr>
        <p:sp>
          <p:nvSpPr>
            <p:cNvPr id="14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114"/>
              <a:ext cx="192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114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400" y="114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2403" y="286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33分</a:t>
              </a:r>
            </a:p>
          </p:txBody>
        </p:sp>
      </p:grpSp>
      <p:pic>
        <p:nvPicPr>
          <p:cNvPr id="3" name="图片 2" descr="tmp304F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35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1221105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请判断此文法的有穷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无穷性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S-&gt;BC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   A-&gt;BA/a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   B-&gt;CD/b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   C-&gt;a</a:t>
            </a:r>
          </a:p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   D-&gt;b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4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4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33分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D82F5C2-FEB4-CDED-FB86-0FD6E6894A8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310356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有穷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C327AF6-481E-F727-0EDD-DB4D6269624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055428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无穷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5588785-0390-6E95-7AB5-397B20F0114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167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en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B461217-A371-43FA-619D-96B9FC62F91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119721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en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tmp304F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36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219200" y="111887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S-&gt;a S-&gt;aA A-&gt;b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满足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型文法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</a:p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S-&gt;a S-&gt;aA A-&gt;b S-&gt;Sd 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不满足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型文法。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202180" y="36810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正确</a:t>
            </a: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202180" y="45383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错误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335405" y="37452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en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335405" y="460248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en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4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2403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33分</a:t>
              </a:r>
            </a:p>
          </p:txBody>
        </p:sp>
      </p:grpSp>
      <p:pic>
        <p:nvPicPr>
          <p:cNvPr id="3" name="图片 2" descr="tmp304F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4c95d03-8f5a-4800-a8ad-961218280b6e"/>
  <p:tag name="COMMONDATA" val="eyJoZGlkIjoiYjRhMmQyMDU0YzNiOTI4MTUyNzM1M2YyYmNkNTg2N2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3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33.0"/>
  <p:tag name="PROBLEMHASREMARK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33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5576</Words>
  <Application>Microsoft Macintosh PowerPoint</Application>
  <PresentationFormat>宽屏</PresentationFormat>
  <Paragraphs>582</Paragraphs>
  <Slides>36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2" baseType="lpstr">
      <vt:lpstr>楷体</vt:lpstr>
      <vt:lpstr>KaiTi_GB2312</vt:lpstr>
      <vt:lpstr>微软雅黑</vt:lpstr>
      <vt:lpstr>DejaVu Serif</vt:lpstr>
      <vt:lpstr>LM Sans 12</vt:lpstr>
      <vt:lpstr>Noto Sans CJK SC Regular</vt:lpstr>
      <vt:lpstr>Schoolbook Uralic</vt:lpstr>
      <vt:lpstr>T11</vt:lpstr>
      <vt:lpstr>T19</vt:lpstr>
      <vt:lpstr>T3</vt:lpstr>
      <vt:lpstr>Arial</vt:lpstr>
      <vt:lpstr>Calibri</vt:lpstr>
      <vt:lpstr>Cambria Math</vt:lpstr>
      <vt:lpstr>Times New Roman</vt:lpstr>
      <vt:lpstr>1_Office 主题</vt:lpstr>
      <vt:lpstr>Visio</vt:lpstr>
      <vt:lpstr>主要内容</vt:lpstr>
      <vt:lpstr>代换的封闭性</vt:lpstr>
      <vt:lpstr>代换的封闭性</vt:lpstr>
      <vt:lpstr>代换的封闭性</vt:lpstr>
      <vt:lpstr>代换的封闭性</vt:lpstr>
      <vt:lpstr>代换的封闭性</vt:lpstr>
      <vt:lpstr>代换的封闭性</vt:lpstr>
      <vt:lpstr>CFL对并/连接/闭包/同态封闭</vt:lpstr>
      <vt:lpstr>CFL对并/连接/闭包/同态封闭</vt:lpstr>
      <vt:lpstr>CFL对并/连接/闭包/同态封闭</vt:lpstr>
      <vt:lpstr>CFL对并/连接/闭包/同态封闭</vt:lpstr>
      <vt:lpstr>CFL对反转封闭</vt:lpstr>
      <vt:lpstr>CFL对反转封闭</vt:lpstr>
      <vt:lpstr>CFL对逆同态封闭</vt:lpstr>
      <vt:lpstr>CFL对逆同态封闭</vt:lpstr>
      <vt:lpstr>CFL 对交/补运算不封闭</vt:lpstr>
      <vt:lpstr>CFL和正则语言</vt:lpstr>
      <vt:lpstr>CFL和正则语言</vt:lpstr>
      <vt:lpstr>封闭性的应用</vt:lpstr>
      <vt:lpstr>主要内容</vt:lpstr>
      <vt:lpstr>可判定的CFL问题</vt:lpstr>
      <vt:lpstr>CYK算法</vt:lpstr>
      <vt:lpstr>例 CNF G 如下, 用 CYK 算法判断 bbabaa ∈    L(G)?</vt:lpstr>
      <vt:lpstr>例 CNF G 如下, 用 CYK 算法判断 bbabaa ∈    L(G)?</vt:lpstr>
      <vt:lpstr>例 CNF G 如下, 用 CYK 算法判断 bbabaa ∈    L(G)?</vt:lpstr>
      <vt:lpstr>例 CNF G 如下, 用 CYK 算法判断 bbabaa ∈    L(G)?</vt:lpstr>
      <vt:lpstr>例 CNF G 如下, 用 CYK 算法判断 bbabaa ∈    L(G)?</vt:lpstr>
      <vt:lpstr>例 CNF G 如下, 用 CYK 算法判断 bbabaa ∈    L(G)?</vt:lpstr>
      <vt:lpstr>例 CNF G 如下, 用 CYK 算法判断 bbabaa ∈    L(G)?</vt:lpstr>
      <vt:lpstr>不可判定的CFL问题</vt:lpstr>
      <vt:lpstr>乔姆斯基文法体系</vt:lpstr>
      <vt:lpstr>乔姆斯基文法体系</vt:lpstr>
      <vt:lpstr>小结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Yifeng</dc:creator>
  <cp:lastModifiedBy>Xuebo Liu</cp:lastModifiedBy>
  <cp:revision>748</cp:revision>
  <dcterms:created xsi:type="dcterms:W3CDTF">2021-06-01T10:46:00Z</dcterms:created>
  <dcterms:modified xsi:type="dcterms:W3CDTF">2026-04-20T07:27:53Z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B461908281EF4E5EA388C02DD386BB6E</vt:lpwstr>
  </property>
  <property fmtid="{D5CDD505-2E9C-101B-9397-08002B2CF9AE}" pid="3" name="KSOProductBuildVer">
    <vt:lpwstr>2052-11.1.0.13703</vt:lpwstr>
  </property>
</Properties>
</file>