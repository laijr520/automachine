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671" r:id="rId2"/>
  </p:sldMasterIdLst>
  <p:notesMasterIdLst>
    <p:notesMasterId r:id="rId41"/>
  </p:notesMasterIdLst>
  <p:sldIdLst>
    <p:sldId id="325" r:id="rId3"/>
    <p:sldId id="265" r:id="rId4"/>
    <p:sldId id="320" r:id="rId5"/>
    <p:sldId id="387" r:id="rId6"/>
    <p:sldId id="321" r:id="rId7"/>
    <p:sldId id="352" r:id="rId8"/>
    <p:sldId id="353" r:id="rId9"/>
    <p:sldId id="1347" r:id="rId10"/>
    <p:sldId id="359" r:id="rId11"/>
    <p:sldId id="360" r:id="rId12"/>
    <p:sldId id="326" r:id="rId13"/>
    <p:sldId id="327" r:id="rId14"/>
    <p:sldId id="510" r:id="rId15"/>
    <p:sldId id="1345" r:id="rId16"/>
    <p:sldId id="1344" r:id="rId17"/>
    <p:sldId id="1351" r:id="rId18"/>
    <p:sldId id="328" r:id="rId19"/>
    <p:sldId id="335" r:id="rId20"/>
    <p:sldId id="331" r:id="rId21"/>
    <p:sldId id="340" r:id="rId22"/>
    <p:sldId id="341" r:id="rId23"/>
    <p:sldId id="342" r:id="rId24"/>
    <p:sldId id="343" r:id="rId25"/>
    <p:sldId id="344" r:id="rId26"/>
    <p:sldId id="271" r:id="rId27"/>
    <p:sldId id="272" r:id="rId28"/>
    <p:sldId id="275" r:id="rId29"/>
    <p:sldId id="276" r:id="rId30"/>
    <p:sldId id="345" r:id="rId31"/>
    <p:sldId id="329" r:id="rId32"/>
    <p:sldId id="354" r:id="rId33"/>
    <p:sldId id="346" r:id="rId34"/>
    <p:sldId id="348" r:id="rId35"/>
    <p:sldId id="358" r:id="rId36"/>
    <p:sldId id="1305" r:id="rId37"/>
    <p:sldId id="1348" r:id="rId38"/>
    <p:sldId id="292" r:id="rId39"/>
    <p:sldId id="1349"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eng Yifeng" initials="Z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80"/>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BDEC0F-51BE-4D4D-87E7-97294EC10F4F}" v="60" dt="2026-04-28T06:30:31.42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603" autoAdjust="0"/>
    <p:restoredTop sz="66690" autoAdjust="0"/>
  </p:normalViewPr>
  <p:slideViewPr>
    <p:cSldViewPr snapToGrid="0">
      <p:cViewPr varScale="1">
        <p:scale>
          <a:sx n="79" d="100"/>
          <a:sy n="79" d="100"/>
        </p:scale>
        <p:origin x="2640" y="192"/>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uebo Liu" userId="03ca8e3e-ef5d-4c2c-a759-93b02397f0c8" providerId="ADAL" clId="{5469A19A-8731-5071-ACFB-69940F350C15}"/>
    <pc:docChg chg="custSel modSld">
      <pc:chgData name="Xuebo Liu" userId="03ca8e3e-ef5d-4c2c-a759-93b02397f0c8" providerId="ADAL" clId="{5469A19A-8731-5071-ACFB-69940F350C15}" dt="2026-04-28T06:30:31.426" v="203"/>
      <pc:docMkLst>
        <pc:docMk/>
      </pc:docMkLst>
      <pc:sldChg chg="modSp mod">
        <pc:chgData name="Xuebo Liu" userId="03ca8e3e-ef5d-4c2c-a759-93b02397f0c8" providerId="ADAL" clId="{5469A19A-8731-5071-ACFB-69940F350C15}" dt="2026-04-28T06:29:51.990" v="194"/>
        <pc:sldMkLst>
          <pc:docMk/>
          <pc:sldMk cId="1969037828" sldId="1347"/>
        </pc:sldMkLst>
        <pc:spChg chg="mod">
          <ac:chgData name="Xuebo Liu" userId="03ca8e3e-ef5d-4c2c-a759-93b02397f0c8" providerId="ADAL" clId="{5469A19A-8731-5071-ACFB-69940F350C15}" dt="2026-04-28T06:29:51.986" v="189" actId="20577"/>
          <ac:spMkLst>
            <pc:docMk/>
            <pc:sldMk cId="1969037828" sldId="1347"/>
            <ac:spMk id="12" creationId="{1A6EBA5D-E817-48ED-9003-CBB4255E4780}"/>
          </ac:spMkLst>
        </pc:spChg>
        <pc:spChg chg="mod">
          <ac:chgData name="Xuebo Liu" userId="03ca8e3e-ef5d-4c2c-a759-93b02397f0c8" providerId="ADAL" clId="{5469A19A-8731-5071-ACFB-69940F350C15}" dt="2026-04-28T06:29:51.987" v="190" actId="20577"/>
          <ac:spMkLst>
            <pc:docMk/>
            <pc:sldMk cId="1969037828" sldId="1347"/>
            <ac:spMk id="13" creationId="{9CA913E6-0245-4A67-8DFD-9E75FFE220D5}"/>
          </ac:spMkLst>
        </pc:spChg>
        <pc:spChg chg="mod">
          <ac:chgData name="Xuebo Liu" userId="03ca8e3e-ef5d-4c2c-a759-93b02397f0c8" providerId="ADAL" clId="{5469A19A-8731-5071-ACFB-69940F350C15}" dt="2026-04-28T06:29:51.988" v="191" actId="20577"/>
          <ac:spMkLst>
            <pc:docMk/>
            <pc:sldMk cId="1969037828" sldId="1347"/>
            <ac:spMk id="14" creationId="{1DAB8823-441A-424E-A744-90BC1A84AF31}"/>
          </ac:spMkLst>
        </pc:spChg>
        <pc:spChg chg="mod">
          <ac:chgData name="Xuebo Liu" userId="03ca8e3e-ef5d-4c2c-a759-93b02397f0c8" providerId="ADAL" clId="{5469A19A-8731-5071-ACFB-69940F350C15}" dt="2026-04-28T06:29:51.989" v="192" actId="20577"/>
          <ac:spMkLst>
            <pc:docMk/>
            <pc:sldMk cId="1969037828" sldId="1347"/>
            <ac:spMk id="15" creationId="{DAD02E34-6067-4591-9212-690A69C9E730}"/>
          </ac:spMkLst>
        </pc:spChg>
        <pc:spChg chg="mod">
          <ac:chgData name="Xuebo Liu" userId="03ca8e3e-ef5d-4c2c-a759-93b02397f0c8" providerId="ADAL" clId="{5469A19A-8731-5071-ACFB-69940F350C15}" dt="2026-04-28T06:29:51.990" v="193"/>
          <ac:spMkLst>
            <pc:docMk/>
            <pc:sldMk cId="1969037828" sldId="1347"/>
            <ac:spMk id="17" creationId="{70A029CD-21C5-49A5-8A6E-827EC3730D8C}"/>
          </ac:spMkLst>
        </pc:spChg>
        <pc:picChg chg="mod">
          <ac:chgData name="Xuebo Liu" userId="03ca8e3e-ef5d-4c2c-a759-93b02397f0c8" providerId="ADAL" clId="{5469A19A-8731-5071-ACFB-69940F350C15}" dt="2026-04-28T06:29:51.990" v="194"/>
          <ac:picMkLst>
            <pc:docMk/>
            <pc:sldMk cId="1969037828" sldId="1347"/>
            <ac:picMk id="6" creationId="{942E50D5-4EDB-417A-AB48-CF3EDDE84E87}"/>
          </ac:picMkLst>
        </pc:picChg>
      </pc:sldChg>
      <pc:sldChg chg="modSp mod">
        <pc:chgData name="Xuebo Liu" userId="03ca8e3e-ef5d-4c2c-a759-93b02397f0c8" providerId="ADAL" clId="{5469A19A-8731-5071-ACFB-69940F350C15}" dt="2026-04-28T06:30:31.426" v="203"/>
        <pc:sldMkLst>
          <pc:docMk/>
          <pc:sldMk cId="1888372498" sldId="1348"/>
        </pc:sldMkLst>
        <pc:spChg chg="mod">
          <ac:chgData name="Xuebo Liu" userId="03ca8e3e-ef5d-4c2c-a759-93b02397f0c8" providerId="ADAL" clId="{5469A19A-8731-5071-ACFB-69940F350C15}" dt="2026-04-28T06:30:31.420" v="195" actId="20577"/>
          <ac:spMkLst>
            <pc:docMk/>
            <pc:sldMk cId="1888372498" sldId="1348"/>
            <ac:spMk id="12" creationId="{09263DE5-E89E-42FD-9C46-9C95019200D6}"/>
          </ac:spMkLst>
        </pc:spChg>
        <pc:spChg chg="mod">
          <ac:chgData name="Xuebo Liu" userId="03ca8e3e-ef5d-4c2c-a759-93b02397f0c8" providerId="ADAL" clId="{5469A19A-8731-5071-ACFB-69940F350C15}" dt="2026-04-28T06:30:31.421" v="196" actId="20577"/>
          <ac:spMkLst>
            <pc:docMk/>
            <pc:sldMk cId="1888372498" sldId="1348"/>
            <ac:spMk id="13" creationId="{D067C267-5B5E-4432-B128-D6F5679B5011}"/>
          </ac:spMkLst>
        </pc:spChg>
        <pc:spChg chg="mod">
          <ac:chgData name="Xuebo Liu" userId="03ca8e3e-ef5d-4c2c-a759-93b02397f0c8" providerId="ADAL" clId="{5469A19A-8731-5071-ACFB-69940F350C15}" dt="2026-04-28T06:30:31.422" v="197" actId="20577"/>
          <ac:spMkLst>
            <pc:docMk/>
            <pc:sldMk cId="1888372498" sldId="1348"/>
            <ac:spMk id="14" creationId="{5D9FE821-B3AF-4633-9682-20E64AAFABDE}"/>
          </ac:spMkLst>
        </pc:spChg>
        <pc:spChg chg="mod">
          <ac:chgData name="Xuebo Liu" userId="03ca8e3e-ef5d-4c2c-a759-93b02397f0c8" providerId="ADAL" clId="{5469A19A-8731-5071-ACFB-69940F350C15}" dt="2026-04-28T06:30:31.423" v="198" actId="20577"/>
          <ac:spMkLst>
            <pc:docMk/>
            <pc:sldMk cId="1888372498" sldId="1348"/>
            <ac:spMk id="15" creationId="{54DC656C-1FF6-4256-B6EC-C5084BC13F50}"/>
          </ac:spMkLst>
        </pc:spChg>
        <pc:spChg chg="mod">
          <ac:chgData name="Xuebo Liu" userId="03ca8e3e-ef5d-4c2c-a759-93b02397f0c8" providerId="ADAL" clId="{5469A19A-8731-5071-ACFB-69940F350C15}" dt="2026-04-28T06:30:31.426" v="202"/>
          <ac:spMkLst>
            <pc:docMk/>
            <pc:sldMk cId="1888372498" sldId="1348"/>
            <ac:spMk id="17" creationId="{E5C9106E-4ACA-4D3E-82D1-5AF9CD21CD27}"/>
          </ac:spMkLst>
        </pc:spChg>
        <pc:spChg chg="mod">
          <ac:chgData name="Xuebo Liu" userId="03ca8e3e-ef5d-4c2c-a759-93b02397f0c8" providerId="ADAL" clId="{5469A19A-8731-5071-ACFB-69940F350C15}" dt="2026-04-28T06:30:31.423" v="199" actId="20577"/>
          <ac:spMkLst>
            <pc:docMk/>
            <pc:sldMk cId="1888372498" sldId="1348"/>
            <ac:spMk id="24" creationId="{F32F3B57-1BDB-47AC-B9FC-E5E84323AEF5}"/>
          </ac:spMkLst>
        </pc:spChg>
        <pc:spChg chg="mod">
          <ac:chgData name="Xuebo Liu" userId="03ca8e3e-ef5d-4c2c-a759-93b02397f0c8" providerId="ADAL" clId="{5469A19A-8731-5071-ACFB-69940F350C15}" dt="2026-04-28T06:30:31.424" v="200" actId="20577"/>
          <ac:spMkLst>
            <pc:docMk/>
            <pc:sldMk cId="1888372498" sldId="1348"/>
            <ac:spMk id="26" creationId="{B9BF7485-57A9-4BD4-8E68-14D2AD1FECA5}"/>
          </ac:spMkLst>
        </pc:spChg>
        <pc:spChg chg="mod">
          <ac:chgData name="Xuebo Liu" userId="03ca8e3e-ef5d-4c2c-a759-93b02397f0c8" providerId="ADAL" clId="{5469A19A-8731-5071-ACFB-69940F350C15}" dt="2026-04-28T06:30:31.425" v="201" actId="20577"/>
          <ac:spMkLst>
            <pc:docMk/>
            <pc:sldMk cId="1888372498" sldId="1348"/>
            <ac:spMk id="28" creationId="{3E70099C-A267-4A17-8971-22B6EA786FFB}"/>
          </ac:spMkLst>
        </pc:spChg>
        <pc:picChg chg="mod">
          <ac:chgData name="Xuebo Liu" userId="03ca8e3e-ef5d-4c2c-a759-93b02397f0c8" providerId="ADAL" clId="{5469A19A-8731-5071-ACFB-69940F350C15}" dt="2026-04-28T06:30:31.426" v="203"/>
          <ac:picMkLst>
            <pc:docMk/>
            <pc:sldMk cId="1888372498" sldId="1348"/>
            <ac:picMk id="6" creationId="{175BA1CD-34B2-4CE3-9AD9-CB4128B3F46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C3DEA-197C-4542-87C0-981212C4EFB2}" type="datetimeFigureOut">
              <a:rPr lang="en-AU" smtClean="0"/>
              <a:t>28/4/2026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67A903-3A42-486D-A3BC-854A05CABB63}" type="slidenum">
              <a:rPr lang="en-AU" smtClean="0"/>
              <a:t>‹#›</a:t>
            </a:fld>
            <a:endParaRPr lang="en-AU"/>
          </a:p>
        </p:txBody>
      </p:sp>
    </p:spTree>
    <p:extLst>
      <p:ext uri="{BB962C8B-B14F-4D97-AF65-F5344CB8AC3E}">
        <p14:creationId xmlns:p14="http://schemas.microsoft.com/office/powerpoint/2010/main" val="1423398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需要注意的时，</a:t>
            </a:r>
            <a:r>
              <a:rPr lang="zh-CN" altLang="en-US" b="0" i="0" dirty="0">
                <a:solidFill>
                  <a:srgbClr val="000000"/>
                </a:solidFill>
                <a:effectLst/>
                <a:latin typeface="楷体" panose="02010609060101010101" pitchFamily="49" charset="-122"/>
                <a:ea typeface="楷体" panose="02010609060101010101" pitchFamily="49" charset="-122"/>
              </a:rPr>
              <a:t>对于不接受的输入</a:t>
            </a:r>
            <a:r>
              <a:rPr lang="en-US" altLang="zh-CN" b="0" i="0" dirty="0">
                <a:solidFill>
                  <a:srgbClr val="000000"/>
                </a:solidFill>
                <a:effectLst/>
                <a:latin typeface="LMRoman12-Regular-Identity-H"/>
              </a:rPr>
              <a:t>, </a:t>
            </a:r>
            <a:r>
              <a:rPr lang="zh-CN" altLang="en-US" b="0" i="0" dirty="0">
                <a:solidFill>
                  <a:srgbClr val="000000"/>
                </a:solidFill>
                <a:effectLst/>
                <a:latin typeface="楷体" panose="02010609060101010101" pitchFamily="49" charset="-122"/>
                <a:ea typeface="楷体" panose="02010609060101010101" pitchFamily="49" charset="-122"/>
              </a:rPr>
              <a:t>图灵机可能永远不停止</a:t>
            </a:r>
            <a:r>
              <a:rPr lang="zh-CN" altLang="en-US" dirty="0">
                <a:solidFill>
                  <a:srgbClr val="000000"/>
                </a:solidFill>
                <a:latin typeface="LMRoman12-Regular-Identity-H"/>
                <a:ea typeface="楷体" panose="02010609060101010101" pitchFamily="49" charset="-122"/>
              </a:rPr>
              <a:t>。我们没有办法判断到底是因为运行的时间不够长而没有接受呢，还是根本就不会停机。这也是图灵机这样的装置和其他装置不一样的地方。</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a:t>
            </a:fld>
            <a:endParaRPr lang="en-AU"/>
          </a:p>
        </p:txBody>
      </p:sp>
    </p:spTree>
    <p:extLst>
      <p:ext uri="{BB962C8B-B14F-4D97-AF65-F5344CB8AC3E}">
        <p14:creationId xmlns:p14="http://schemas.microsoft.com/office/powerpoint/2010/main" val="3084109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一般假定当输入串 </a:t>
            </a:r>
            <a:r>
              <a:rPr lang="en" altLang="zh-CN" dirty="0"/>
              <a:t>w </a:t>
            </a:r>
            <a:r>
              <a:rPr lang="zh-CN" altLang="en-US" dirty="0"/>
              <a:t>被接受时图灵机 </a:t>
            </a:r>
            <a:r>
              <a:rPr lang="en" altLang="zh-CN" dirty="0"/>
              <a:t>M </a:t>
            </a:r>
            <a:r>
              <a:rPr lang="zh-CN" altLang="en-US" dirty="0"/>
              <a:t>总会停机 </a:t>
            </a:r>
            <a:r>
              <a:rPr lang="en-US" altLang="zh-CN" dirty="0"/>
              <a:t>(</a:t>
            </a:r>
            <a:r>
              <a:rPr lang="en" altLang="zh-CN" dirty="0"/>
              <a:t>halt), </a:t>
            </a:r>
            <a:r>
              <a:rPr lang="zh-CN" altLang="en-US" dirty="0"/>
              <a:t>即没有下一个动作 </a:t>
            </a:r>
            <a:r>
              <a:rPr lang="en-US" altLang="zh-CN" dirty="0"/>
              <a:t>(</a:t>
            </a:r>
            <a:r>
              <a:rPr lang="zh-CN" altLang="en-US" dirty="0"/>
              <a:t>的定义</a:t>
            </a:r>
            <a:r>
              <a:rPr lang="en-US" altLang="zh-CN" dirty="0"/>
              <a:t>). </a:t>
            </a:r>
            <a:r>
              <a:rPr lang="zh-CN" altLang="en-US" dirty="0"/>
              <a:t>而对于不接受的输入</a:t>
            </a:r>
            <a:r>
              <a:rPr lang="en-US" altLang="zh-CN" dirty="0"/>
              <a:t>, </a:t>
            </a:r>
            <a:r>
              <a:rPr lang="zh-CN" altLang="en-US" dirty="0"/>
              <a:t>图灵机可能永不停止</a:t>
            </a:r>
            <a:r>
              <a:rPr lang="en-US" altLang="zh-CN" dirty="0"/>
              <a:t>. </a:t>
            </a:r>
            <a:r>
              <a:rPr lang="zh-CN" altLang="en-US" dirty="0"/>
              <a:t>能够被图灵机接受的语言类</a:t>
            </a:r>
            <a:r>
              <a:rPr lang="en-US" altLang="zh-CN" dirty="0"/>
              <a:t>, </a:t>
            </a:r>
            <a:r>
              <a:rPr lang="zh-CN" altLang="en-US" dirty="0"/>
              <a:t>称为递归可枚举的 </a:t>
            </a:r>
            <a:r>
              <a:rPr lang="en-US" altLang="zh-CN" dirty="0"/>
              <a:t>(</a:t>
            </a:r>
            <a:r>
              <a:rPr lang="en" altLang="zh-CN" dirty="0"/>
              <a:t>recursively enumerable, RE). </a:t>
            </a:r>
            <a:r>
              <a:rPr lang="zh-CN" altLang="en-US" dirty="0"/>
              <a:t>术语“可枚举”是指</a:t>
            </a:r>
            <a:r>
              <a:rPr lang="en-US" altLang="zh-CN" dirty="0"/>
              <a:t>, </a:t>
            </a:r>
            <a:r>
              <a:rPr lang="zh-CN" altLang="en-US" dirty="0"/>
              <a:t>这些语言中的串可以被某个图灵机枚举出 来</a:t>
            </a:r>
            <a:r>
              <a:rPr lang="en-US" altLang="zh-CN" dirty="0"/>
              <a:t>.“</a:t>
            </a:r>
            <a:r>
              <a:rPr lang="zh-CN" altLang="en-US" dirty="0"/>
              <a:t>递归”是一个在计算机出现之前的数学名词</a:t>
            </a:r>
            <a:r>
              <a:rPr lang="en-US" altLang="zh-CN" dirty="0"/>
              <a:t>, </a:t>
            </a:r>
            <a:r>
              <a:rPr lang="zh-CN" altLang="en-US" dirty="0"/>
              <a:t>其意义与计算机科学家所说的“递归式”相近</a:t>
            </a:r>
            <a:r>
              <a:rPr lang="en-US" altLang="zh-CN" dirty="0"/>
              <a:t>. </a:t>
            </a:r>
          </a:p>
          <a:p>
            <a:r>
              <a:rPr lang="zh-CN" altLang="en-US" dirty="0"/>
              <a:t>递归可枚举语言类非常广</a:t>
            </a:r>
            <a:r>
              <a:rPr lang="en-US" altLang="zh-CN" dirty="0"/>
              <a:t>, </a:t>
            </a:r>
            <a:r>
              <a:rPr lang="zh-CN" altLang="en-US" dirty="0"/>
              <a:t>它真包含上下文无关语言</a:t>
            </a:r>
            <a:r>
              <a:rPr lang="en-US" altLang="zh-CN" dirty="0"/>
              <a:t>. </a:t>
            </a:r>
            <a:r>
              <a:rPr lang="zh-CN" altLang="en-US" dirty="0"/>
              <a:t>有些包含在这个语言类中的语言</a:t>
            </a:r>
            <a:r>
              <a:rPr lang="en-US" altLang="zh-CN" dirty="0"/>
              <a:t>, </a:t>
            </a:r>
            <a:r>
              <a:rPr lang="zh-CN" altLang="en-US" dirty="0"/>
              <a:t>无法机械地确定其成员资格</a:t>
            </a:r>
            <a:r>
              <a:rPr lang="en-US" altLang="zh-CN" dirty="0"/>
              <a:t>. </a:t>
            </a:r>
            <a:r>
              <a:rPr lang="zh-CN" altLang="en-US" dirty="0"/>
              <a:t>若 </a:t>
            </a:r>
            <a:r>
              <a:rPr lang="en" altLang="zh-CN" dirty="0"/>
              <a:t>L(M) </a:t>
            </a:r>
            <a:r>
              <a:rPr lang="zh-CN" altLang="en-US" dirty="0"/>
              <a:t>是这样的语言</a:t>
            </a:r>
            <a:r>
              <a:rPr lang="en-US" altLang="zh-CN" dirty="0"/>
              <a:t>, </a:t>
            </a:r>
            <a:r>
              <a:rPr lang="zh-CN" altLang="en-US" dirty="0"/>
              <a:t>识别 </a:t>
            </a:r>
            <a:r>
              <a:rPr lang="en" altLang="zh-CN" dirty="0"/>
              <a:t>L(M) </a:t>
            </a:r>
            <a:r>
              <a:rPr lang="zh-CN" altLang="en-US" dirty="0"/>
              <a:t>的任何图灵机</a:t>
            </a:r>
            <a:r>
              <a:rPr lang="en-US" altLang="zh-CN" dirty="0"/>
              <a:t>, </a:t>
            </a:r>
            <a:r>
              <a:rPr lang="zh-CN" altLang="en-US" dirty="0"/>
              <a:t>在不属于 </a:t>
            </a:r>
            <a:r>
              <a:rPr lang="en" altLang="zh-CN" dirty="0"/>
              <a:t>L(M) </a:t>
            </a:r>
            <a:r>
              <a:rPr lang="zh-CN" altLang="en-US" dirty="0"/>
              <a:t>的某些输入上 </a:t>
            </a:r>
            <a:r>
              <a:rPr lang="en" altLang="zh-CN" dirty="0"/>
              <a:t>M </a:t>
            </a:r>
            <a:r>
              <a:rPr lang="zh-CN" altLang="en-US" dirty="0"/>
              <a:t>停不下来</a:t>
            </a:r>
            <a:r>
              <a:rPr lang="en-US" altLang="zh-CN" dirty="0"/>
              <a:t>. </a:t>
            </a:r>
            <a:r>
              <a:rPr lang="zh-CN" altLang="en-US" dirty="0"/>
              <a:t>若 </a:t>
            </a:r>
            <a:r>
              <a:rPr lang="en" altLang="zh-CN" dirty="0"/>
              <a:t>w ∈ L(M), </a:t>
            </a:r>
            <a:r>
              <a:rPr lang="zh-CN" altLang="en-US" dirty="0"/>
              <a:t>那么在 </a:t>
            </a:r>
            <a:r>
              <a:rPr lang="en" altLang="zh-CN" dirty="0"/>
              <a:t>w </a:t>
            </a:r>
            <a:r>
              <a:rPr lang="zh-CN" altLang="en-US" dirty="0"/>
              <a:t>上</a:t>
            </a:r>
            <a:r>
              <a:rPr lang="en-US" altLang="zh-CN" dirty="0"/>
              <a:t>, </a:t>
            </a:r>
            <a:r>
              <a:rPr lang="en" altLang="zh-CN" dirty="0"/>
              <a:t>M </a:t>
            </a:r>
            <a:r>
              <a:rPr lang="zh-CN" altLang="en-US" dirty="0"/>
              <a:t>最终是会停下来的</a:t>
            </a:r>
            <a:r>
              <a:rPr lang="en-US" altLang="zh-CN" dirty="0"/>
              <a:t>. </a:t>
            </a:r>
            <a:r>
              <a:rPr lang="zh-CN" altLang="en-US" dirty="0"/>
              <a:t>然而</a:t>
            </a:r>
            <a:r>
              <a:rPr lang="en-US" altLang="zh-CN" dirty="0"/>
              <a:t>, </a:t>
            </a:r>
            <a:r>
              <a:rPr lang="zh-CN" altLang="en-US" dirty="0"/>
              <a:t>只要 </a:t>
            </a:r>
            <a:r>
              <a:rPr lang="en" altLang="zh-CN" dirty="0"/>
              <a:t>M </a:t>
            </a:r>
            <a:r>
              <a:rPr lang="zh-CN" altLang="en-US" dirty="0"/>
              <a:t>还 在某个输入上运行</a:t>
            </a:r>
            <a:r>
              <a:rPr lang="en-US" altLang="zh-CN" dirty="0"/>
              <a:t>, </a:t>
            </a:r>
            <a:r>
              <a:rPr lang="zh-CN" altLang="en-US" dirty="0"/>
              <a:t>我们就永远也不会知道</a:t>
            </a:r>
            <a:r>
              <a:rPr lang="en-US" altLang="zh-CN" dirty="0"/>
              <a:t>, </a:t>
            </a:r>
            <a:r>
              <a:rPr lang="zh-CN" altLang="en-US" dirty="0"/>
              <a:t>到底是因为运行的时间不够长而没有接受呢</a:t>
            </a:r>
            <a:r>
              <a:rPr lang="en-US" altLang="zh-CN" dirty="0"/>
              <a:t>, </a:t>
            </a:r>
            <a:r>
              <a:rPr lang="zh-CN" altLang="en-US" dirty="0"/>
              <a:t>还是根本就不会停机</a:t>
            </a:r>
            <a:r>
              <a:rPr lang="en-US" altLang="zh-CN"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3</a:t>
            </a:fld>
            <a:endParaRPr lang="en-AU"/>
          </a:p>
        </p:txBody>
      </p:sp>
    </p:spTree>
    <p:extLst>
      <p:ext uri="{BB962C8B-B14F-4D97-AF65-F5344CB8AC3E}">
        <p14:creationId xmlns:p14="http://schemas.microsoft.com/office/powerpoint/2010/main" val="405770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6D0076-11CE-4A57-A326-34C0D3498557}" type="slidenum">
              <a:rPr lang="en-US" altLang="zh-CN"/>
              <a:pPr/>
              <a:t>4</a:t>
            </a:fld>
            <a:endParaRPr lang="en-US" altLang="zh-CN"/>
          </a:p>
        </p:txBody>
      </p:sp>
      <p:sp>
        <p:nvSpPr>
          <p:cNvPr id="231426" name="Rectangle 2"/>
          <p:cNvSpPr>
            <a:spLocks noGrp="1" noRot="1" noChangeAspect="1" noChangeArrowheads="1" noTextEdit="1"/>
          </p:cNvSpPr>
          <p:nvPr>
            <p:ph type="sldImg"/>
          </p:nvPr>
        </p:nvSpPr>
        <p:spPr>
          <a:ln/>
        </p:spPr>
      </p:sp>
      <p:sp>
        <p:nvSpPr>
          <p:cNvPr id="231427" name="Rectangle 3"/>
          <p:cNvSpPr>
            <a:spLocks noGrp="1" noChangeArrowheads="1"/>
          </p:cNvSpPr>
          <p:nvPr>
            <p:ph type="body" idx="1"/>
          </p:nvPr>
        </p:nvSpPr>
        <p:spPr/>
        <p:txBody>
          <a:bodyPr/>
          <a:lstStyle/>
          <a:p>
            <a:r>
              <a:rPr lang="zh-CN" altLang="en-US" dirty="0"/>
              <a:t>递归语言一定是递归可枚举语言，反之不成立。</a:t>
            </a:r>
          </a:p>
          <a:p>
            <a:endParaRPr lang="zh-CN" altLang="en-US" dirty="0"/>
          </a:p>
          <a:p>
            <a:r>
              <a:rPr lang="zh-CN" altLang="en-US" dirty="0"/>
              <a:t>本讲介绍递归语言和递归可枚举语言的概念，是出于体现“形式语言与自动机”课程中形式语言和自动机不可分割的因素，对于“图灵机”这种类型的自动机，其对应的语言是什么呢？在语言理论中，递归语言和递归可枚举语言是起重要作用的两个概念。</a:t>
            </a:r>
          </a:p>
          <a:p>
            <a:endParaRPr lang="en-US" altLang="zh-CN" dirty="0"/>
          </a:p>
        </p:txBody>
      </p:sp>
    </p:spTree>
    <p:extLst>
      <p:ext uri="{BB962C8B-B14F-4D97-AF65-F5344CB8AC3E}">
        <p14:creationId xmlns:p14="http://schemas.microsoft.com/office/powerpoint/2010/main" val="2113079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A67A903-3A42-486D-A3BC-854A05CABB63}" type="slidenum">
              <a:rPr lang="en-AU" smtClean="0"/>
              <a:t>5</a:t>
            </a:fld>
            <a:endParaRPr lang="en-AU"/>
          </a:p>
        </p:txBody>
      </p:sp>
    </p:spTree>
    <p:extLst>
      <p:ext uri="{BB962C8B-B14F-4D97-AF65-F5344CB8AC3E}">
        <p14:creationId xmlns:p14="http://schemas.microsoft.com/office/powerpoint/2010/main" val="892525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重复以下流程：</a:t>
            </a:r>
            <a:endParaRPr lang="en-AU" altLang="zh-CN" dirty="0"/>
          </a:p>
          <a:p>
            <a:endParaRPr lang="en-AU" dirty="0"/>
          </a:p>
          <a:p>
            <a:r>
              <a:rPr lang="zh-CN" altLang="en-US" dirty="0"/>
              <a:t>对于最左边的</a:t>
            </a:r>
            <a:r>
              <a:rPr lang="en-AU" altLang="zh-CN" dirty="0"/>
              <a:t>0</a:t>
            </a:r>
            <a:r>
              <a:rPr lang="zh-CN" altLang="en-US" dirty="0"/>
              <a:t>，把它替换为空格符号。</a:t>
            </a:r>
            <a:endParaRPr lang="en-AU" altLang="zh-CN" dirty="0"/>
          </a:p>
          <a:p>
            <a:r>
              <a:rPr lang="zh-CN" altLang="en-US" dirty="0"/>
              <a:t>然后向右，找到</a:t>
            </a:r>
            <a:r>
              <a:rPr lang="en-AU" altLang="zh-CN" dirty="0"/>
              <a:t>1</a:t>
            </a:r>
            <a:r>
              <a:rPr lang="zh-CN" altLang="en-US" dirty="0"/>
              <a:t>之后，继续向右，把遇到的第一个</a:t>
            </a:r>
            <a:r>
              <a:rPr lang="en-AU" altLang="zh-CN" dirty="0"/>
              <a:t>0</a:t>
            </a:r>
            <a:r>
              <a:rPr lang="zh-CN" altLang="en-US" dirty="0"/>
              <a:t>变为</a:t>
            </a:r>
            <a:r>
              <a:rPr lang="en-AU" altLang="zh-CN" dirty="0"/>
              <a:t>1</a:t>
            </a:r>
            <a:r>
              <a:rPr lang="zh-CN" altLang="en-US" dirty="0"/>
              <a:t>。</a:t>
            </a:r>
            <a:endParaRPr lang="en-AU" altLang="zh-CN" dirty="0"/>
          </a:p>
          <a:p>
            <a:endParaRPr lang="en-AU" dirty="0"/>
          </a:p>
          <a:p>
            <a:r>
              <a:rPr lang="zh-CN" altLang="en-US" dirty="0"/>
              <a:t>然后再回头，找到最左边的</a:t>
            </a:r>
            <a:r>
              <a:rPr lang="en-AU" altLang="zh-CN" dirty="0"/>
              <a:t>0</a:t>
            </a:r>
            <a:r>
              <a:rPr lang="zh-CN" altLang="en-US" dirty="0"/>
              <a:t>（和前面的例子类似，先找到空格符，然后向右移动一个单元格，找到</a:t>
            </a:r>
            <a:r>
              <a:rPr lang="en-AU" altLang="zh-CN" dirty="0"/>
              <a:t>0</a:t>
            </a:r>
            <a:r>
              <a:rPr lang="zh-CN" altLang="en-US" dirty="0"/>
              <a:t>）</a:t>
            </a:r>
            <a:endParaRPr lang="en-AU" altLang="zh-CN" dirty="0"/>
          </a:p>
          <a:p>
            <a:endParaRPr lang="en-AU" dirty="0"/>
          </a:p>
          <a:p>
            <a:r>
              <a:rPr lang="zh-CN" altLang="en-US" dirty="0"/>
              <a:t>如果发生以下情况，则该循环结束：</a:t>
            </a:r>
            <a:endParaRPr lang="en-AU" altLang="zh-CN" dirty="0"/>
          </a:p>
          <a:p>
            <a:endParaRPr lang="en-AU" dirty="0"/>
          </a:p>
          <a:p>
            <a:r>
              <a:rPr lang="en-AU" dirty="0"/>
              <a:t>1.</a:t>
            </a:r>
            <a:r>
              <a:rPr lang="zh-CN" altLang="en-US" dirty="0"/>
              <a:t>向右移动的时候，遇到一个空格符号，此时说明</a:t>
            </a:r>
            <a:r>
              <a:rPr lang="en-AU" altLang="zh-CN" dirty="0"/>
              <a:t>1</a:t>
            </a:r>
            <a:r>
              <a:rPr lang="zh-CN" altLang="en-US" dirty="0"/>
              <a:t>右边的</a:t>
            </a:r>
            <a:r>
              <a:rPr lang="en-AU" altLang="zh-CN" dirty="0"/>
              <a:t>n</a:t>
            </a:r>
            <a:r>
              <a:rPr lang="zh-CN" altLang="en-US" dirty="0"/>
              <a:t>个</a:t>
            </a:r>
            <a:r>
              <a:rPr lang="en-AU" altLang="zh-CN" dirty="0"/>
              <a:t>0</a:t>
            </a:r>
            <a:r>
              <a:rPr lang="zh-CN" altLang="en-US" dirty="0"/>
              <a:t>全部改为了</a:t>
            </a:r>
            <a:r>
              <a:rPr lang="en-AU" altLang="zh-CN" dirty="0"/>
              <a:t>1</a:t>
            </a:r>
            <a:r>
              <a:rPr lang="zh-CN" altLang="en-US" dirty="0"/>
              <a:t>（此时左边已经改了</a:t>
            </a:r>
            <a:r>
              <a:rPr lang="en-AU" altLang="zh-CN" dirty="0"/>
              <a:t>n+1</a:t>
            </a:r>
            <a:r>
              <a:rPr lang="zh-CN" altLang="en-US" dirty="0"/>
              <a:t>个</a:t>
            </a:r>
            <a:r>
              <a:rPr lang="en-AU" altLang="zh-CN" dirty="0"/>
              <a:t>0</a:t>
            </a:r>
            <a:r>
              <a:rPr lang="zh-CN" altLang="en-US" dirty="0"/>
              <a:t>，注意每次是先改左边才改右边，所以这里是</a:t>
            </a:r>
            <a:r>
              <a:rPr lang="en-AU" altLang="zh-CN" dirty="0"/>
              <a:t>n+1</a:t>
            </a:r>
            <a:r>
              <a:rPr lang="zh-CN" altLang="en-US" dirty="0"/>
              <a:t>）。这个时候，图灵机把</a:t>
            </a:r>
            <a:r>
              <a:rPr lang="en-AU" altLang="zh-CN" dirty="0"/>
              <a:t>n+1</a:t>
            </a:r>
            <a:r>
              <a:rPr lang="zh-CN" altLang="en-US" dirty="0"/>
              <a:t>个</a:t>
            </a:r>
            <a:r>
              <a:rPr lang="en-AU" altLang="zh-CN" dirty="0"/>
              <a:t>1</a:t>
            </a:r>
            <a:r>
              <a:rPr lang="zh-CN" altLang="en-US" dirty="0"/>
              <a:t>改为一个</a:t>
            </a:r>
            <a:r>
              <a:rPr lang="en-AU" altLang="zh-CN" dirty="0"/>
              <a:t>0</a:t>
            </a:r>
            <a:r>
              <a:rPr lang="zh-CN" altLang="en-US" dirty="0"/>
              <a:t>和</a:t>
            </a:r>
            <a:r>
              <a:rPr lang="en-AU" altLang="zh-CN" dirty="0"/>
              <a:t>n</a:t>
            </a:r>
            <a:r>
              <a:rPr lang="zh-CN" altLang="en-US" dirty="0"/>
              <a:t>个</a:t>
            </a:r>
            <a:r>
              <a:rPr lang="en-US" altLang="zh-CN" dirty="0"/>
              <a:t>B</a:t>
            </a:r>
            <a:r>
              <a:rPr lang="zh-CN" altLang="en-US" dirty="0"/>
              <a:t>，这样带上剩下</a:t>
            </a:r>
            <a:r>
              <a:rPr lang="en-AU" altLang="zh-CN" dirty="0"/>
              <a:t>m-n</a:t>
            </a:r>
            <a:r>
              <a:rPr lang="zh-CN" altLang="en-US" dirty="0"/>
              <a:t>个</a:t>
            </a:r>
            <a:r>
              <a:rPr lang="en-AU" altLang="zh-CN" dirty="0"/>
              <a:t>0</a:t>
            </a:r>
            <a:r>
              <a:rPr lang="zh-CN" altLang="en-US" dirty="0"/>
              <a:t>。（这种情况对应</a:t>
            </a:r>
            <a:r>
              <a:rPr lang="en-AU" altLang="zh-CN" dirty="0"/>
              <a:t>m&gt;=n</a:t>
            </a:r>
            <a:r>
              <a:rPr lang="zh-CN" altLang="en-US" dirty="0"/>
              <a:t>）</a:t>
            </a:r>
            <a:endParaRPr lang="en-AU" altLang="zh-CN" dirty="0"/>
          </a:p>
          <a:p>
            <a:endParaRPr lang="en-AU" altLang="zh-CN" dirty="0"/>
          </a:p>
          <a:p>
            <a:endParaRPr lang="en-AU" altLang="zh-CN" dirty="0"/>
          </a:p>
          <a:p>
            <a:r>
              <a:rPr lang="en-AU" altLang="zh-CN" dirty="0"/>
              <a:t>2.  </a:t>
            </a:r>
            <a:r>
              <a:rPr lang="zh-CN" altLang="en-US" dirty="0"/>
              <a:t>在循环一开始，图灵机在左边找不到可以变为空格符号的</a:t>
            </a:r>
            <a:r>
              <a:rPr lang="en-AU" altLang="zh-CN" dirty="0"/>
              <a:t>0</a:t>
            </a:r>
            <a:r>
              <a:rPr lang="zh-CN" altLang="en-US" dirty="0"/>
              <a:t>（即左边的</a:t>
            </a:r>
            <a:r>
              <a:rPr lang="en-AU" altLang="zh-CN" dirty="0"/>
              <a:t>0</a:t>
            </a:r>
            <a:r>
              <a:rPr lang="zh-CN" altLang="en-US" dirty="0"/>
              <a:t>已经全部被变为空格符号，此时对应</a:t>
            </a:r>
            <a:r>
              <a:rPr lang="en-US" altLang="zh-CN" dirty="0"/>
              <a:t>m</a:t>
            </a:r>
            <a:r>
              <a:rPr lang="en-AU" altLang="zh-CN" dirty="0"/>
              <a:t>&lt;n</a:t>
            </a:r>
            <a:r>
              <a:rPr lang="zh-CN" altLang="en-US" dirty="0"/>
              <a:t>）</a:t>
            </a:r>
            <a:r>
              <a:rPr lang="en-AU" altLang="zh-CN" dirty="0"/>
              <a:t>,</a:t>
            </a:r>
            <a:r>
              <a:rPr lang="zh-CN" altLang="en-US" dirty="0"/>
              <a:t>这个时候图灵机把带上剩下的</a:t>
            </a:r>
            <a:r>
              <a:rPr lang="en-AU" altLang="zh-CN" dirty="0"/>
              <a:t>1</a:t>
            </a:r>
            <a:r>
              <a:rPr lang="zh-CN" altLang="en-US" dirty="0"/>
              <a:t>和</a:t>
            </a:r>
            <a:r>
              <a:rPr lang="en-AU" altLang="zh-CN" dirty="0"/>
              <a:t>0 </a:t>
            </a:r>
            <a:r>
              <a:rPr lang="zh-CN" altLang="en-US" dirty="0"/>
              <a:t>全部变为空格符号，留下一个只有空格符号的带（即表示结果为</a:t>
            </a:r>
            <a:r>
              <a:rPr lang="en-AU" altLang="zh-CN" dirty="0"/>
              <a:t>0</a:t>
            </a:r>
            <a:r>
              <a:rPr lang="zh-CN" altLang="en-US" dirty="0"/>
              <a:t>，注意如果带上有</a:t>
            </a:r>
            <a:r>
              <a:rPr lang="en-AU" altLang="zh-CN" dirty="0"/>
              <a:t>1</a:t>
            </a:r>
            <a:r>
              <a:rPr lang="zh-CN" altLang="en-US" dirty="0"/>
              <a:t>个</a:t>
            </a:r>
            <a:r>
              <a:rPr lang="en-AU" altLang="zh-CN" dirty="0"/>
              <a:t>0</a:t>
            </a:r>
            <a:r>
              <a:rPr lang="zh-CN" altLang="en-US" dirty="0"/>
              <a:t>的话就表示结果为</a:t>
            </a:r>
            <a:r>
              <a:rPr lang="en-AU" altLang="zh-CN" dirty="0"/>
              <a:t>1</a:t>
            </a:r>
            <a:r>
              <a:rPr lang="zh-CN" altLang="en-US" dirty="0"/>
              <a:t>了）</a:t>
            </a:r>
            <a:endParaRPr lang="en-AU" altLang="zh-CN"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6</a:t>
            </a:fld>
            <a:endParaRPr lang="en-AU"/>
          </a:p>
        </p:txBody>
      </p:sp>
    </p:spTree>
    <p:extLst>
      <p:ext uri="{BB962C8B-B14F-4D97-AF65-F5344CB8AC3E}">
        <p14:creationId xmlns:p14="http://schemas.microsoft.com/office/powerpoint/2010/main" val="1109398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A67A903-3A42-486D-A3BC-854A05CABB63}" type="slidenum">
              <a:rPr lang="en-AU" smtClean="0"/>
              <a:t>8</a:t>
            </a:fld>
            <a:endParaRPr lang="en-AU"/>
          </a:p>
        </p:txBody>
      </p:sp>
    </p:spTree>
    <p:extLst>
      <p:ext uri="{BB962C8B-B14F-4D97-AF65-F5344CB8AC3E}">
        <p14:creationId xmlns:p14="http://schemas.microsoft.com/office/powerpoint/2010/main" val="3894400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下面我们来看几种图灵机的变形。</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11</a:t>
            </a:fld>
            <a:endParaRPr lang="en-AU"/>
          </a:p>
        </p:txBody>
      </p:sp>
    </p:spTree>
    <p:extLst>
      <p:ext uri="{BB962C8B-B14F-4D97-AF65-F5344CB8AC3E}">
        <p14:creationId xmlns:p14="http://schemas.microsoft.com/office/powerpoint/2010/main" val="1178607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我们来看第一种，在状态中存储符号。如果我们在设计图灵机的时候，想要利用有穷控制器去记住一些输入带上的内容的话，可以通过这样的一种设计的方法。就是将有穷控制器中，除了状态之外，我们存储一个有穷长的缓冲，去存储输入带上的一些符号。</a:t>
            </a:r>
            <a:endParaRPr lang="en-AU" altLang="zh-CN" dirty="0"/>
          </a:p>
          <a:p>
            <a:endParaRPr lang="en-AU" altLang="zh-CN" dirty="0"/>
          </a:p>
          <a:p>
            <a:r>
              <a:rPr lang="zh-CN" altLang="en-US" dirty="0"/>
              <a:t>对图灵机的这种修改，只需要将有穷控制器的状态由原来的状态</a:t>
            </a:r>
            <a:r>
              <a:rPr lang="en-AU" altLang="zh-CN" dirty="0"/>
              <a:t>q,</a:t>
            </a:r>
            <a:r>
              <a:rPr lang="zh-CN" altLang="en-US" dirty="0"/>
              <a:t>变为一个元组就可以了，也就是状态和存储中的符号串。而初始状态可以定义为</a:t>
            </a:r>
            <a:r>
              <a:rPr lang="en-US" altLang="zh-CN" dirty="0"/>
              <a:t>q0</a:t>
            </a:r>
            <a:r>
              <a:rPr lang="zh-CN" altLang="en-US" dirty="0"/>
              <a:t>和它的缓冲，全是空格符。</a:t>
            </a:r>
            <a:endParaRPr lang="en-AU" altLang="zh-CN" dirty="0"/>
          </a:p>
          <a:p>
            <a:endParaRPr lang="en-AU" altLang="zh-CN" dirty="0"/>
          </a:p>
          <a:p>
            <a:r>
              <a:rPr lang="zh-CN" altLang="en-US" dirty="0"/>
              <a:t>因为图灵机的七元组的形式没有改变，这种修改其实和基本的图灵机是完全一样的，显然是等价的。</a:t>
            </a:r>
            <a:endParaRPr lang="en-AU" altLang="zh-CN" dirty="0"/>
          </a:p>
          <a:p>
            <a:endParaRPr lang="en-AU" altLang="zh-CN" dirty="0"/>
          </a:p>
          <a:p>
            <a:r>
              <a:rPr lang="en-AU" sz="1800" b="0" i="0" dirty="0">
                <a:solidFill>
                  <a:srgbClr val="404040"/>
                </a:solidFill>
                <a:effectLst/>
                <a:latin typeface="BookAntiqua"/>
              </a:rPr>
              <a:t>This doesn’t change the fact that the TM has a finite number of states!</a:t>
            </a:r>
            <a:r>
              <a:rPr lang="en-AU" dirty="0"/>
              <a:t> </a:t>
            </a:r>
            <a:br>
              <a:rPr lang="en-AU" dirty="0"/>
            </a:br>
            <a:endParaRPr lang="en-AU" altLang="zh-CN" dirty="0"/>
          </a:p>
          <a:p>
            <a:endParaRPr lang="en-AU" altLang="zh-CN" dirty="0"/>
          </a:p>
        </p:txBody>
      </p:sp>
      <p:sp>
        <p:nvSpPr>
          <p:cNvPr id="4" name="Slide Number Placeholder 3"/>
          <p:cNvSpPr>
            <a:spLocks noGrp="1"/>
          </p:cNvSpPr>
          <p:nvPr>
            <p:ph type="sldNum" sz="quarter" idx="5"/>
          </p:nvPr>
        </p:nvSpPr>
        <p:spPr/>
        <p:txBody>
          <a:bodyPr/>
          <a:lstStyle/>
          <a:p>
            <a:fld id="{FA67A903-3A42-486D-A3BC-854A05CABB63}" type="slidenum">
              <a:rPr lang="en-AU" smtClean="0"/>
              <a:t>12</a:t>
            </a:fld>
            <a:endParaRPr lang="en-AU"/>
          </a:p>
        </p:txBody>
      </p:sp>
    </p:spTree>
    <p:extLst>
      <p:ext uri="{BB962C8B-B14F-4D97-AF65-F5344CB8AC3E}">
        <p14:creationId xmlns:p14="http://schemas.microsoft.com/office/powerpoint/2010/main" val="2499961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E61A1A3-5D70-4F4B-9AFB-4E8020527647}" type="slidenum">
              <a:rPr kumimoji="1" lang="en-US" altLang="zh-CN" sz="1200" b="1" i="1" u="none" strike="noStrike" kern="1200" cap="none" spc="0" normalizeH="0" baseline="0" noProof="0">
                <a:ln>
                  <a:noFill/>
                </a:ln>
                <a:solidFill>
                  <a:srgbClr val="800080"/>
                </a:solidFill>
                <a:effectLst/>
                <a:uLnTx/>
                <a:uFillTx/>
                <a:latin typeface="Times New Roman" pitchFamily="18"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1" lang="en-US" altLang="zh-CN" sz="1200" b="1" i="1" u="none" strike="noStrike" kern="1200" cap="none" spc="0" normalizeH="0" baseline="0" noProof="0">
              <a:ln>
                <a:noFill/>
              </a:ln>
              <a:solidFill>
                <a:srgbClr val="800080"/>
              </a:solidFill>
              <a:effectLst/>
              <a:uLnTx/>
              <a:uFillTx/>
              <a:latin typeface="Times New Roman" pitchFamily="18" charset="0"/>
              <a:ea typeface="宋体" pitchFamily="2" charset="-122"/>
              <a:cs typeface="+mn-cs"/>
            </a:endParaRPr>
          </a:p>
        </p:txBody>
      </p:sp>
      <p:sp>
        <p:nvSpPr>
          <p:cNvPr id="232450" name="Rectangle 2"/>
          <p:cNvSpPr>
            <a:spLocks noGrp="1" noRot="1" noChangeAspect="1" noChangeArrowheads="1" noTextEdit="1"/>
          </p:cNvSpPr>
          <p:nvPr>
            <p:ph type="sldImg"/>
          </p:nvPr>
        </p:nvSpPr>
        <p:spPr>
          <a:ln/>
        </p:spPr>
      </p:sp>
      <p:sp>
        <p:nvSpPr>
          <p:cNvPr id="232451" name="Rectangle 3"/>
          <p:cNvSpPr>
            <a:spLocks noGrp="1" noChangeArrowheads="1"/>
          </p:cNvSpPr>
          <p:nvPr>
            <p:ph type="body" idx="1"/>
          </p:nvPr>
        </p:nvSpPr>
        <p:spPr/>
        <p:txBody>
          <a:bodyPr/>
          <a:lstStyle/>
          <a:p>
            <a:r>
              <a:rPr lang="zh-CN" altLang="en-US"/>
              <a:t>还是一种基本图灵机。只不过每个状态是一个二元组。</a:t>
            </a:r>
          </a:p>
        </p:txBody>
      </p:sp>
    </p:spTree>
    <p:extLst>
      <p:ext uri="{BB962C8B-B14F-4D97-AF65-F5344CB8AC3E}">
        <p14:creationId xmlns:p14="http://schemas.microsoft.com/office/powerpoint/2010/main" val="2196883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E61A1A3-5D70-4F4B-9AFB-4E8020527647}" type="slidenum">
              <a:rPr kumimoji="1" lang="en-US" altLang="zh-CN" sz="1200" b="1" i="1" u="none" strike="noStrike" kern="1200" cap="none" spc="0" normalizeH="0" baseline="0" noProof="0">
                <a:ln>
                  <a:noFill/>
                </a:ln>
                <a:solidFill>
                  <a:srgbClr val="800080"/>
                </a:solidFill>
                <a:effectLst/>
                <a:uLnTx/>
                <a:uFillTx/>
                <a:latin typeface="Times New Roman" pitchFamily="18"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1" lang="en-US" altLang="zh-CN" sz="1200" b="1" i="1" u="none" strike="noStrike" kern="1200" cap="none" spc="0" normalizeH="0" baseline="0" noProof="0">
              <a:ln>
                <a:noFill/>
              </a:ln>
              <a:solidFill>
                <a:srgbClr val="800080"/>
              </a:solidFill>
              <a:effectLst/>
              <a:uLnTx/>
              <a:uFillTx/>
              <a:latin typeface="Times New Roman" pitchFamily="18" charset="0"/>
              <a:ea typeface="宋体" pitchFamily="2" charset="-122"/>
              <a:cs typeface="+mn-cs"/>
            </a:endParaRPr>
          </a:p>
        </p:txBody>
      </p:sp>
      <p:sp>
        <p:nvSpPr>
          <p:cNvPr id="232450" name="Rectangle 2"/>
          <p:cNvSpPr>
            <a:spLocks noGrp="1" noRot="1" noChangeAspect="1" noChangeArrowheads="1" noTextEdit="1"/>
          </p:cNvSpPr>
          <p:nvPr>
            <p:ph type="sldImg"/>
          </p:nvPr>
        </p:nvSpPr>
        <p:spPr>
          <a:ln/>
        </p:spPr>
      </p:sp>
      <p:sp>
        <p:nvSpPr>
          <p:cNvPr id="232451" name="Rectangle 3"/>
          <p:cNvSpPr>
            <a:spLocks noGrp="1" noChangeArrowheads="1"/>
          </p:cNvSpPr>
          <p:nvPr>
            <p:ph type="body" idx="1"/>
          </p:nvPr>
        </p:nvSpPr>
        <p:spPr/>
        <p:txBody>
          <a:bodyPr/>
          <a:lstStyle/>
          <a:p>
            <a:r>
              <a:rPr lang="zh-CN" altLang="en-US"/>
              <a:t>还是一种基本图灵机。只不过每个状态是一个二元组。</a:t>
            </a:r>
          </a:p>
        </p:txBody>
      </p:sp>
    </p:spTree>
    <p:extLst>
      <p:ext uri="{BB962C8B-B14F-4D97-AF65-F5344CB8AC3E}">
        <p14:creationId xmlns:p14="http://schemas.microsoft.com/office/powerpoint/2010/main" val="3996367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E61A1A3-5D70-4F4B-9AFB-4E8020527647}" type="slidenum">
              <a:rPr kumimoji="1" lang="en-US" altLang="zh-CN" sz="1200" b="1" i="1" u="none" strike="noStrike" kern="1200" cap="none" spc="0" normalizeH="0" baseline="0" noProof="0">
                <a:ln>
                  <a:noFill/>
                </a:ln>
                <a:solidFill>
                  <a:srgbClr val="800080"/>
                </a:solidFill>
                <a:effectLst/>
                <a:uLnTx/>
                <a:uFillTx/>
                <a:latin typeface="Times New Roman" pitchFamily="18"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1" lang="en-US" altLang="zh-CN" sz="1200" b="1" i="1" u="none" strike="noStrike" kern="1200" cap="none" spc="0" normalizeH="0" baseline="0" noProof="0">
              <a:ln>
                <a:noFill/>
              </a:ln>
              <a:solidFill>
                <a:srgbClr val="800080"/>
              </a:solidFill>
              <a:effectLst/>
              <a:uLnTx/>
              <a:uFillTx/>
              <a:latin typeface="Times New Roman" pitchFamily="18" charset="0"/>
              <a:ea typeface="宋体" pitchFamily="2" charset="-122"/>
              <a:cs typeface="+mn-cs"/>
            </a:endParaRPr>
          </a:p>
        </p:txBody>
      </p:sp>
      <p:sp>
        <p:nvSpPr>
          <p:cNvPr id="232450" name="Rectangle 2"/>
          <p:cNvSpPr>
            <a:spLocks noGrp="1" noRot="1" noChangeAspect="1" noChangeArrowheads="1" noTextEdit="1"/>
          </p:cNvSpPr>
          <p:nvPr>
            <p:ph type="sldImg"/>
          </p:nvPr>
        </p:nvSpPr>
        <p:spPr>
          <a:ln/>
        </p:spPr>
      </p:sp>
      <p:sp>
        <p:nvSpPr>
          <p:cNvPr id="232451" name="Rectangle 3"/>
          <p:cNvSpPr>
            <a:spLocks noGrp="1" noChangeArrowheads="1"/>
          </p:cNvSpPr>
          <p:nvPr>
            <p:ph type="body" idx="1"/>
          </p:nvPr>
        </p:nvSpPr>
        <p:spPr/>
        <p:txBody>
          <a:bodyPr/>
          <a:lstStyle/>
          <a:p>
            <a:r>
              <a:rPr lang="zh-CN" altLang="en-US"/>
              <a:t>还是一种基本图灵机。只不过每个状态是一个二元组。</a:t>
            </a:r>
          </a:p>
        </p:txBody>
      </p:sp>
    </p:spTree>
    <p:extLst>
      <p:ext uri="{BB962C8B-B14F-4D97-AF65-F5344CB8AC3E}">
        <p14:creationId xmlns:p14="http://schemas.microsoft.com/office/powerpoint/2010/main" val="980890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9BF3B8A-0B7C-428D-8483-BED3A7292AC4}" type="slidenum">
              <a:rPr kumimoji="1" lang="en-US" altLang="zh-CN" sz="1200" b="1" i="1" u="none" strike="noStrike" kern="1200" cap="none" spc="0" normalizeH="0" baseline="0" noProof="0">
                <a:ln>
                  <a:noFill/>
                </a:ln>
                <a:solidFill>
                  <a:srgbClr val="800080"/>
                </a:solidFill>
                <a:effectLst/>
                <a:uLnTx/>
                <a:uFillTx/>
                <a:latin typeface="Times New Roman" pitchFamily="18"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1" lang="en-US" altLang="zh-CN" sz="1200" b="1" i="1" u="none" strike="noStrike" kern="1200" cap="none" spc="0" normalizeH="0" baseline="0" noProof="0">
              <a:ln>
                <a:noFill/>
              </a:ln>
              <a:solidFill>
                <a:srgbClr val="800080"/>
              </a:solidFill>
              <a:effectLst/>
              <a:uLnTx/>
              <a:uFillTx/>
              <a:latin typeface="Times New Roman" pitchFamily="18" charset="0"/>
              <a:ea typeface="宋体" pitchFamily="2" charset="-122"/>
              <a:cs typeface="+mn-cs"/>
            </a:endParaRPr>
          </a:p>
        </p:txBody>
      </p:sp>
      <p:sp>
        <p:nvSpPr>
          <p:cNvPr id="228354" name="Rectangle 2"/>
          <p:cNvSpPr>
            <a:spLocks noGrp="1" noRot="1" noChangeAspect="1" noChangeArrowheads="1" noTextEdit="1"/>
          </p:cNvSpPr>
          <p:nvPr>
            <p:ph type="sldImg"/>
          </p:nvPr>
        </p:nvSpPr>
        <p:spPr>
          <a:ln/>
        </p:spPr>
      </p:sp>
      <p:sp>
        <p:nvSpPr>
          <p:cNvPr id="228355" name="Rectangle 3"/>
          <p:cNvSpPr>
            <a:spLocks noGrp="1" noChangeArrowheads="1"/>
          </p:cNvSpPr>
          <p:nvPr>
            <p:ph type="body" idx="1"/>
          </p:nvPr>
        </p:nvSpPr>
        <p:spPr/>
        <p:txBody>
          <a:bodyPr/>
          <a:lstStyle/>
          <a:p>
            <a:endParaRPr lang="en-US" altLang="zh-CN" dirty="0"/>
          </a:p>
          <a:p>
            <a:r>
              <a:rPr lang="en-US" altLang="zh-CN" dirty="0"/>
              <a:t>ID</a:t>
            </a:r>
            <a:r>
              <a:rPr lang="zh-CN" altLang="en-US" dirty="0"/>
              <a:t>之间的转移关系举例。</a:t>
            </a:r>
          </a:p>
          <a:p>
            <a:endParaRPr lang="zh-CN" altLang="en-US" dirty="0"/>
          </a:p>
          <a:p>
            <a:endParaRPr lang="zh-CN" altLang="en-US" dirty="0"/>
          </a:p>
          <a:p>
            <a:r>
              <a:rPr lang="zh-CN" altLang="en-US" dirty="0"/>
              <a:t>点击鼠标左键，演示</a:t>
            </a:r>
            <a:r>
              <a:rPr lang="en-US" altLang="zh-CN" dirty="0"/>
              <a:t>ID</a:t>
            </a:r>
            <a:r>
              <a:rPr lang="zh-CN" altLang="en-US" dirty="0"/>
              <a:t>之间的转移过程：有一步转移，</a:t>
            </a:r>
          </a:p>
          <a:p>
            <a:r>
              <a:rPr lang="zh-CN" altLang="en-US" dirty="0"/>
              <a:t>也有多步转移。</a:t>
            </a:r>
          </a:p>
        </p:txBody>
      </p:sp>
    </p:spTree>
    <p:extLst>
      <p:ext uri="{BB962C8B-B14F-4D97-AF65-F5344CB8AC3E}">
        <p14:creationId xmlns:p14="http://schemas.microsoft.com/office/powerpoint/2010/main" val="1643774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我们再来看多道技术。</a:t>
            </a:r>
            <a:endParaRPr lang="en-AU" altLang="zh-CN" dirty="0"/>
          </a:p>
          <a:p>
            <a:endParaRPr lang="en-AU" dirty="0"/>
          </a:p>
          <a:p>
            <a:r>
              <a:rPr lang="zh-CN" altLang="en-US" dirty="0"/>
              <a:t>如果我们希望输入带的单元格能多存储一些字符，我们可以使用多道的技术。</a:t>
            </a:r>
            <a:endParaRPr lang="en-AU" altLang="zh-CN" dirty="0"/>
          </a:p>
          <a:p>
            <a:endParaRPr lang="en-AU" dirty="0"/>
          </a:p>
          <a:p>
            <a:endParaRPr lang="en-AU" dirty="0"/>
          </a:p>
          <a:p>
            <a:r>
              <a:rPr lang="zh-CN" altLang="en-US" dirty="0"/>
              <a:t>也就是，我们可以把输入带划分为多条道，每条道都可以放置一个字符，那么这样的话，输入带上一个单元格就变成了一个单元格的元组。那么，每一个单元格的符号，就变成了一个</a:t>
            </a:r>
            <a:r>
              <a:rPr lang="en-US" altLang="zh-CN" dirty="0"/>
              <a:t>n</a:t>
            </a:r>
            <a:r>
              <a:rPr lang="zh-CN" altLang="en-US" dirty="0"/>
              <a:t>元的元组。如果有</a:t>
            </a:r>
            <a:r>
              <a:rPr lang="en-US" altLang="zh-CN" dirty="0"/>
              <a:t>k</a:t>
            </a:r>
            <a:r>
              <a:rPr lang="zh-CN" altLang="en-US" dirty="0"/>
              <a:t>条道的话，那么每个单元格就可以放置</a:t>
            </a:r>
            <a:r>
              <a:rPr lang="en-US" altLang="zh-CN" dirty="0"/>
              <a:t>k</a:t>
            </a:r>
            <a:r>
              <a:rPr lang="zh-CN" altLang="en-US" dirty="0"/>
              <a:t>个符号，而有穷控制器和读头都没有变化。因为七元组的形式显然和基本图灵机还是一样的，因此这种多道图灵机和基本图灵机还是等价的。</a:t>
            </a:r>
            <a:endParaRPr lang="en-AU" altLang="zh-CN" dirty="0"/>
          </a:p>
          <a:p>
            <a:endParaRPr lang="en-AU"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en-AU" sz="1200" b="0" i="0" dirty="0">
                <a:solidFill>
                  <a:srgbClr val="404040"/>
                </a:solidFill>
                <a:effectLst/>
                <a:latin typeface="BookAntiqua"/>
              </a:rPr>
              <a:t>This doesn’t change the fact that there are a </a:t>
            </a:r>
            <a:r>
              <a:rPr lang="en-AU" sz="1200" b="0" i="1" dirty="0">
                <a:solidFill>
                  <a:srgbClr val="404040"/>
                </a:solidFill>
                <a:effectLst/>
                <a:latin typeface="BookAntiqua-Italic"/>
              </a:rPr>
              <a:t>finite </a:t>
            </a:r>
            <a:r>
              <a:rPr lang="en-AU" sz="1200" b="0" i="0" dirty="0">
                <a:solidFill>
                  <a:srgbClr val="404040"/>
                </a:solidFill>
                <a:effectLst/>
                <a:latin typeface="BookAntiqua"/>
              </a:rPr>
              <a:t>number of possible tape symbols!</a:t>
            </a:r>
            <a:r>
              <a:rPr lang="en-AU" dirty="0"/>
              <a:t> </a:t>
            </a:r>
            <a:br>
              <a:rPr lang="en-AU" dirty="0"/>
            </a:br>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17</a:t>
            </a:fld>
            <a:endParaRPr lang="en-AU"/>
          </a:p>
        </p:txBody>
      </p:sp>
    </p:spTree>
    <p:extLst>
      <p:ext uri="{BB962C8B-B14F-4D97-AF65-F5344CB8AC3E}">
        <p14:creationId xmlns:p14="http://schemas.microsoft.com/office/powerpoint/2010/main" val="1255349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那么利用状态中存储和多道技术，我们可以更方便的设计识别一些语言。比方说，我们想识别</a:t>
            </a:r>
            <a:r>
              <a:rPr lang="en-AU" altLang="zh-CN" dirty="0" err="1"/>
              <a:t>wcw</a:t>
            </a:r>
            <a:r>
              <a:rPr lang="zh-CN" altLang="en-US" dirty="0"/>
              <a:t>这样的语言。这样的语言，它的字母表是</a:t>
            </a:r>
            <a:r>
              <a:rPr lang="en-AU" altLang="zh-CN" dirty="0"/>
              <a:t>a, b</a:t>
            </a:r>
            <a:r>
              <a:rPr lang="zh-CN" altLang="en-US" dirty="0"/>
              <a:t>和</a:t>
            </a:r>
            <a:r>
              <a:rPr lang="en-AU" altLang="zh-CN" dirty="0"/>
              <a:t>c</a:t>
            </a:r>
            <a:r>
              <a:rPr lang="zh-CN" altLang="en-US" dirty="0"/>
              <a:t>。</a:t>
            </a:r>
            <a:r>
              <a:rPr lang="en-US" altLang="zh-CN" dirty="0"/>
              <a:t>W</a:t>
            </a:r>
            <a:r>
              <a:rPr lang="zh-CN" altLang="en-US" dirty="0"/>
              <a:t>由</a:t>
            </a:r>
            <a:r>
              <a:rPr lang="en-AU" altLang="zh-CN" dirty="0" err="1"/>
              <a:t>a,b</a:t>
            </a:r>
            <a:r>
              <a:rPr lang="zh-CN" altLang="en-US" dirty="0"/>
              <a:t>组成，</a:t>
            </a:r>
            <a:r>
              <a:rPr lang="en-AU" altLang="zh-CN" dirty="0"/>
              <a:t>c</a:t>
            </a:r>
            <a:r>
              <a:rPr lang="zh-CN" altLang="en-US" dirty="0"/>
              <a:t>是一个特殊符号，表示中间位置的符号。我们可以利用这样的方式，利用两条道的图灵机，在状态存储中可以存储一个符号。最初状态</a:t>
            </a:r>
            <a:r>
              <a:rPr lang="en-AU" altLang="zh-CN" dirty="0"/>
              <a:t>q0,</a:t>
            </a:r>
            <a:r>
              <a:rPr lang="zh-CN" altLang="en-US" dirty="0"/>
              <a:t>读头在第一个符号之下，我们可以这样的方式识别这个语言。我们读入读头下的一个字符，读入到有穷控制器中，然后标记被读入的这个符号，然后跳过所有的符号，直到我们找到</a:t>
            </a:r>
            <a:r>
              <a:rPr lang="en-AU" altLang="zh-CN" dirty="0"/>
              <a:t>c</a:t>
            </a:r>
            <a:r>
              <a:rPr lang="zh-CN" altLang="en-US" dirty="0"/>
              <a:t>，表示我们去寻找下一个</a:t>
            </a:r>
            <a:r>
              <a:rPr lang="en-AU" altLang="zh-CN" dirty="0"/>
              <a:t>w</a:t>
            </a:r>
            <a:r>
              <a:rPr lang="zh-CN" altLang="en-US" dirty="0"/>
              <a:t>对应的符号。然后我们跳过</a:t>
            </a:r>
            <a:r>
              <a:rPr lang="en-US" altLang="zh-CN" dirty="0"/>
              <a:t>c</a:t>
            </a:r>
            <a:r>
              <a:rPr lang="zh-CN" altLang="en-US" dirty="0"/>
              <a:t>去寻找没有标记的第一个符号，那么发现是字符</a:t>
            </a:r>
            <a:r>
              <a:rPr lang="en-US" altLang="zh-CN" dirty="0"/>
              <a:t>a</a:t>
            </a:r>
            <a:r>
              <a:rPr lang="zh-CN" altLang="en-US" dirty="0"/>
              <a:t>，与有穷控制器中的符号是一样的，说明我们完成了一次配对的寻找，我们标记寻找到了。然后我们回头去寻找下一个字符，把下一个字符</a:t>
            </a:r>
            <a:r>
              <a:rPr lang="en-AU" altLang="zh-CN" dirty="0"/>
              <a:t>b</a:t>
            </a:r>
            <a:r>
              <a:rPr lang="zh-CN" altLang="en-US" dirty="0"/>
              <a:t>放入有穷控制器，同样的方式去循环，不停的标记，当所有的符号被配对的标记后，则说明该符号串符合</a:t>
            </a:r>
            <a:r>
              <a:rPr lang="en-AU" altLang="zh-CN" dirty="0" err="1"/>
              <a:t>wcw</a:t>
            </a:r>
            <a:r>
              <a:rPr lang="zh-CN" altLang="en-US" dirty="0"/>
              <a:t>的形式。</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18</a:t>
            </a:fld>
            <a:endParaRPr lang="en-AU"/>
          </a:p>
        </p:txBody>
      </p:sp>
    </p:spTree>
    <p:extLst>
      <p:ext uri="{BB962C8B-B14F-4D97-AF65-F5344CB8AC3E}">
        <p14:creationId xmlns:p14="http://schemas.microsoft.com/office/powerpoint/2010/main" val="310692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那么利用状态中存储和多道技术，我们可以更方便的设计识别一些语言。比方说，我们想识别</a:t>
            </a:r>
            <a:r>
              <a:rPr lang="en-AU" altLang="zh-CN" dirty="0" err="1"/>
              <a:t>wcw</a:t>
            </a:r>
            <a:r>
              <a:rPr lang="zh-CN" altLang="en-US" dirty="0"/>
              <a:t>这样的语言。这样的语言，它的字母表是</a:t>
            </a:r>
            <a:r>
              <a:rPr lang="en-AU" altLang="zh-CN" dirty="0"/>
              <a:t>a, b</a:t>
            </a:r>
            <a:r>
              <a:rPr lang="zh-CN" altLang="en-US" dirty="0"/>
              <a:t>和</a:t>
            </a:r>
            <a:r>
              <a:rPr lang="en-AU" altLang="zh-CN" dirty="0"/>
              <a:t>c</a:t>
            </a:r>
            <a:r>
              <a:rPr lang="zh-CN" altLang="en-US" dirty="0"/>
              <a:t>。</a:t>
            </a:r>
            <a:r>
              <a:rPr lang="en-US" altLang="zh-CN" dirty="0"/>
              <a:t>W</a:t>
            </a:r>
            <a:r>
              <a:rPr lang="zh-CN" altLang="en-US" dirty="0"/>
              <a:t>由</a:t>
            </a:r>
            <a:r>
              <a:rPr lang="en-AU" altLang="zh-CN" dirty="0" err="1"/>
              <a:t>a,b</a:t>
            </a:r>
            <a:r>
              <a:rPr lang="zh-CN" altLang="en-US" dirty="0"/>
              <a:t>组成，</a:t>
            </a:r>
            <a:r>
              <a:rPr lang="en-AU" altLang="zh-CN" dirty="0"/>
              <a:t>c</a:t>
            </a:r>
            <a:r>
              <a:rPr lang="zh-CN" altLang="en-US" dirty="0"/>
              <a:t>是一个特殊符号，表示中间位置的符号。我们可以利用这样的方式，利用两条道的图灵机，在状态存储中可以存储一个符号。最初状态</a:t>
            </a:r>
            <a:r>
              <a:rPr lang="en-AU" altLang="zh-CN" dirty="0"/>
              <a:t>q0,</a:t>
            </a:r>
            <a:r>
              <a:rPr lang="zh-CN" altLang="en-US" dirty="0"/>
              <a:t>读头在第一个符号之下，我们可以这样的方式识别这个语言。我们读入读头下的一个字符，读入到有穷控制器中，然后标记被读入的这个符号，然后跳过所有的符号，直到我们找到</a:t>
            </a:r>
            <a:r>
              <a:rPr lang="en-AU" altLang="zh-CN" dirty="0"/>
              <a:t>c</a:t>
            </a:r>
            <a:r>
              <a:rPr lang="zh-CN" altLang="en-US" dirty="0"/>
              <a:t>，表示我们去寻找下一个</a:t>
            </a:r>
            <a:r>
              <a:rPr lang="en-AU" altLang="zh-CN" dirty="0"/>
              <a:t>w</a:t>
            </a:r>
            <a:r>
              <a:rPr lang="zh-CN" altLang="en-US" dirty="0"/>
              <a:t>对应的符号。然后我们跳过</a:t>
            </a:r>
            <a:r>
              <a:rPr lang="en-US" altLang="zh-CN" dirty="0"/>
              <a:t>c</a:t>
            </a:r>
            <a:r>
              <a:rPr lang="zh-CN" altLang="en-US" dirty="0"/>
              <a:t>去寻找没有标记的第一个符号，那么发现是字符</a:t>
            </a:r>
            <a:r>
              <a:rPr lang="en-US" altLang="zh-CN" dirty="0"/>
              <a:t>a</a:t>
            </a:r>
            <a:r>
              <a:rPr lang="zh-CN" altLang="en-US" dirty="0"/>
              <a:t>，与有穷控制器中的符号是一样的，说明我们完成了一次配对的寻找，我们标记寻找到了。然后我们回头去寻找下一个字符，把下一个字符</a:t>
            </a:r>
            <a:r>
              <a:rPr lang="en-AU" altLang="zh-CN" dirty="0"/>
              <a:t>b</a:t>
            </a:r>
            <a:r>
              <a:rPr lang="zh-CN" altLang="en-US" dirty="0"/>
              <a:t>放入有穷控制器，同样的方式去循环，不停的标记，当所有的符号被配对的标记后，则说明该符号串符合</a:t>
            </a:r>
            <a:r>
              <a:rPr lang="en-AU" altLang="zh-CN" dirty="0" err="1"/>
              <a:t>wcw</a:t>
            </a:r>
            <a:r>
              <a:rPr lang="zh-CN" altLang="en-US" dirty="0"/>
              <a:t>的形式。</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19</a:t>
            </a:fld>
            <a:endParaRPr lang="en-AU"/>
          </a:p>
        </p:txBody>
      </p:sp>
    </p:spTree>
    <p:extLst>
      <p:ext uri="{BB962C8B-B14F-4D97-AF65-F5344CB8AC3E}">
        <p14:creationId xmlns:p14="http://schemas.microsoft.com/office/powerpoint/2010/main" val="22070931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那么利用状态中存储和多道技术，我们可以更方便的设计识别一些语言。比方说，我们想识别</a:t>
            </a:r>
            <a:r>
              <a:rPr lang="en-AU" altLang="zh-CN" dirty="0" err="1"/>
              <a:t>wcw</a:t>
            </a:r>
            <a:r>
              <a:rPr lang="zh-CN" altLang="en-US" dirty="0"/>
              <a:t>这样的语言。这样的语言，它的字母表是</a:t>
            </a:r>
            <a:r>
              <a:rPr lang="en-AU" altLang="zh-CN" dirty="0"/>
              <a:t>a, b</a:t>
            </a:r>
            <a:r>
              <a:rPr lang="zh-CN" altLang="en-US" dirty="0"/>
              <a:t>和</a:t>
            </a:r>
            <a:r>
              <a:rPr lang="en-AU" altLang="zh-CN" dirty="0"/>
              <a:t>c</a:t>
            </a:r>
            <a:r>
              <a:rPr lang="zh-CN" altLang="en-US" dirty="0"/>
              <a:t>。</a:t>
            </a:r>
            <a:r>
              <a:rPr lang="en-US" altLang="zh-CN" dirty="0"/>
              <a:t>W</a:t>
            </a:r>
            <a:r>
              <a:rPr lang="zh-CN" altLang="en-US" dirty="0"/>
              <a:t>由</a:t>
            </a:r>
            <a:r>
              <a:rPr lang="en-AU" altLang="zh-CN" dirty="0" err="1"/>
              <a:t>a,b</a:t>
            </a:r>
            <a:r>
              <a:rPr lang="zh-CN" altLang="en-US" dirty="0"/>
              <a:t>组成，</a:t>
            </a:r>
            <a:r>
              <a:rPr lang="en-AU" altLang="zh-CN" dirty="0"/>
              <a:t>c</a:t>
            </a:r>
            <a:r>
              <a:rPr lang="zh-CN" altLang="en-US" dirty="0"/>
              <a:t>是一个特殊符号，表示中间位置的符号。我们可以利用这样的方式，利用两条道的图灵机，在状态存储中可以存储一个符号。最初状态</a:t>
            </a:r>
            <a:r>
              <a:rPr lang="en-AU" altLang="zh-CN" dirty="0"/>
              <a:t>q0,</a:t>
            </a:r>
            <a:r>
              <a:rPr lang="zh-CN" altLang="en-US" dirty="0"/>
              <a:t>读头在第一个符号之下，我们可以这样的方式识别这个语言。我们读入读头下的一个字符，读入到有穷控制器中，然后标记被读入的这个符号，然后跳过所有的符号，直到我们找到</a:t>
            </a:r>
            <a:r>
              <a:rPr lang="en-AU" altLang="zh-CN" dirty="0"/>
              <a:t>c</a:t>
            </a:r>
            <a:r>
              <a:rPr lang="zh-CN" altLang="en-US" dirty="0"/>
              <a:t>，表示我们去寻找下一个</a:t>
            </a:r>
            <a:r>
              <a:rPr lang="en-AU" altLang="zh-CN" dirty="0"/>
              <a:t>w</a:t>
            </a:r>
            <a:r>
              <a:rPr lang="zh-CN" altLang="en-US" dirty="0"/>
              <a:t>对应的符号。然后我们跳过</a:t>
            </a:r>
            <a:r>
              <a:rPr lang="en-US" altLang="zh-CN" dirty="0"/>
              <a:t>c</a:t>
            </a:r>
            <a:r>
              <a:rPr lang="zh-CN" altLang="en-US" dirty="0"/>
              <a:t>去寻找没有标记的第一个符号，那么发现是字符</a:t>
            </a:r>
            <a:r>
              <a:rPr lang="en-US" altLang="zh-CN" dirty="0"/>
              <a:t>a</a:t>
            </a:r>
            <a:r>
              <a:rPr lang="zh-CN" altLang="en-US" dirty="0"/>
              <a:t>，与有穷控制器中的符号是一样的，说明我们完成了一次配对的寻找，我们标记寻找到了。然后我们回头去寻找下一个字符，把下一个字符</a:t>
            </a:r>
            <a:r>
              <a:rPr lang="en-AU" altLang="zh-CN" dirty="0"/>
              <a:t>b</a:t>
            </a:r>
            <a:r>
              <a:rPr lang="zh-CN" altLang="en-US" dirty="0"/>
              <a:t>放入有穷控制器，同样的方式去循环，不停的标记，当所有的符号被配对的标记后，则说明该符号串符合</a:t>
            </a:r>
            <a:r>
              <a:rPr lang="en-AU" altLang="zh-CN" dirty="0" err="1"/>
              <a:t>wcw</a:t>
            </a:r>
            <a:r>
              <a:rPr lang="zh-CN" altLang="en-US" dirty="0"/>
              <a:t>的形式。</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20</a:t>
            </a:fld>
            <a:endParaRPr lang="en-AU"/>
          </a:p>
        </p:txBody>
      </p:sp>
    </p:spTree>
    <p:extLst>
      <p:ext uri="{BB962C8B-B14F-4D97-AF65-F5344CB8AC3E}">
        <p14:creationId xmlns:p14="http://schemas.microsoft.com/office/powerpoint/2010/main" val="4256191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那么利用状态中存储和多道技术，我们可以更方便的设计识别一些语言。比方说，我们想识别</a:t>
            </a:r>
            <a:r>
              <a:rPr lang="en-AU" altLang="zh-CN" dirty="0" err="1"/>
              <a:t>wcw</a:t>
            </a:r>
            <a:r>
              <a:rPr lang="zh-CN" altLang="en-US" dirty="0"/>
              <a:t>这样的语言。这样的语言，它的字母表是</a:t>
            </a:r>
            <a:r>
              <a:rPr lang="en-AU" altLang="zh-CN" dirty="0"/>
              <a:t>a, b</a:t>
            </a:r>
            <a:r>
              <a:rPr lang="zh-CN" altLang="en-US" dirty="0"/>
              <a:t>和</a:t>
            </a:r>
            <a:r>
              <a:rPr lang="en-AU" altLang="zh-CN" dirty="0"/>
              <a:t>c</a:t>
            </a:r>
            <a:r>
              <a:rPr lang="zh-CN" altLang="en-US" dirty="0"/>
              <a:t>。</a:t>
            </a:r>
            <a:r>
              <a:rPr lang="en-US" altLang="zh-CN" dirty="0"/>
              <a:t>W</a:t>
            </a:r>
            <a:r>
              <a:rPr lang="zh-CN" altLang="en-US" dirty="0"/>
              <a:t>由</a:t>
            </a:r>
            <a:r>
              <a:rPr lang="en-AU" altLang="zh-CN" dirty="0" err="1"/>
              <a:t>a,b</a:t>
            </a:r>
            <a:r>
              <a:rPr lang="zh-CN" altLang="en-US" dirty="0"/>
              <a:t>组成，</a:t>
            </a:r>
            <a:r>
              <a:rPr lang="en-AU" altLang="zh-CN" dirty="0"/>
              <a:t>c</a:t>
            </a:r>
            <a:r>
              <a:rPr lang="zh-CN" altLang="en-US" dirty="0"/>
              <a:t>是一个特殊符号，表示中间位置的符号。我们可以利用这样的方式，利用两条道的图灵机，在状态存储中可以存储一个符号。最初状态</a:t>
            </a:r>
            <a:r>
              <a:rPr lang="en-AU" altLang="zh-CN" dirty="0"/>
              <a:t>q0,</a:t>
            </a:r>
            <a:r>
              <a:rPr lang="zh-CN" altLang="en-US" dirty="0"/>
              <a:t>读头在第一个符号之下，我们可以这样的方式识别这个语言。我们读入读头下的一个字符，读入到有穷控制器中，然后标记被读入的这个符号，然后跳过所有的符号，直到我们找到</a:t>
            </a:r>
            <a:r>
              <a:rPr lang="en-AU" altLang="zh-CN" dirty="0"/>
              <a:t>c</a:t>
            </a:r>
            <a:r>
              <a:rPr lang="zh-CN" altLang="en-US" dirty="0"/>
              <a:t>，表示我们去寻找下一个</a:t>
            </a:r>
            <a:r>
              <a:rPr lang="en-AU" altLang="zh-CN" dirty="0"/>
              <a:t>w</a:t>
            </a:r>
            <a:r>
              <a:rPr lang="zh-CN" altLang="en-US" dirty="0"/>
              <a:t>对应的符号。然后我们跳过</a:t>
            </a:r>
            <a:r>
              <a:rPr lang="en-US" altLang="zh-CN" dirty="0"/>
              <a:t>c</a:t>
            </a:r>
            <a:r>
              <a:rPr lang="zh-CN" altLang="en-US" dirty="0"/>
              <a:t>去寻找没有标记的第一个符号，那么发现是字符</a:t>
            </a:r>
            <a:r>
              <a:rPr lang="en-US" altLang="zh-CN" dirty="0"/>
              <a:t>a</a:t>
            </a:r>
            <a:r>
              <a:rPr lang="zh-CN" altLang="en-US" dirty="0"/>
              <a:t>，与有穷控制器中的符号是一样的，说明我们完成了一次配对的寻找，我们标记寻找到了。然后我们回头去寻找下一个字符，把下一个字符</a:t>
            </a:r>
            <a:r>
              <a:rPr lang="en-AU" altLang="zh-CN" dirty="0"/>
              <a:t>b</a:t>
            </a:r>
            <a:r>
              <a:rPr lang="zh-CN" altLang="en-US" dirty="0"/>
              <a:t>放入有穷控制器，同样的方式去循环，不停的标记，当所有的符号被配对的标记后，则说明该符号串符合</a:t>
            </a:r>
            <a:r>
              <a:rPr lang="en-AU" altLang="zh-CN" dirty="0" err="1"/>
              <a:t>wcw</a:t>
            </a:r>
            <a:r>
              <a:rPr lang="zh-CN" altLang="en-US" dirty="0"/>
              <a:t>的形式。</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21</a:t>
            </a:fld>
            <a:endParaRPr lang="en-AU"/>
          </a:p>
        </p:txBody>
      </p:sp>
    </p:spTree>
    <p:extLst>
      <p:ext uri="{BB962C8B-B14F-4D97-AF65-F5344CB8AC3E}">
        <p14:creationId xmlns:p14="http://schemas.microsoft.com/office/powerpoint/2010/main" val="27519601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那么利用状态中存储和多道技术，我们可以更方便的设计识别一些语言。比方说，我们想识别</a:t>
            </a:r>
            <a:r>
              <a:rPr lang="en-AU" altLang="zh-CN" dirty="0" err="1"/>
              <a:t>wcw</a:t>
            </a:r>
            <a:r>
              <a:rPr lang="zh-CN" altLang="en-US" dirty="0"/>
              <a:t>这样的语言。这样的语言，它的字母表是</a:t>
            </a:r>
            <a:r>
              <a:rPr lang="en-AU" altLang="zh-CN" dirty="0"/>
              <a:t>a, b</a:t>
            </a:r>
            <a:r>
              <a:rPr lang="zh-CN" altLang="en-US" dirty="0"/>
              <a:t>和</a:t>
            </a:r>
            <a:r>
              <a:rPr lang="en-AU" altLang="zh-CN" dirty="0"/>
              <a:t>c</a:t>
            </a:r>
            <a:r>
              <a:rPr lang="zh-CN" altLang="en-US" dirty="0"/>
              <a:t>。</a:t>
            </a:r>
            <a:r>
              <a:rPr lang="en-US" altLang="zh-CN" dirty="0"/>
              <a:t>W</a:t>
            </a:r>
            <a:r>
              <a:rPr lang="zh-CN" altLang="en-US" dirty="0"/>
              <a:t>由</a:t>
            </a:r>
            <a:r>
              <a:rPr lang="en-AU" altLang="zh-CN" dirty="0" err="1"/>
              <a:t>a,b</a:t>
            </a:r>
            <a:r>
              <a:rPr lang="zh-CN" altLang="en-US" dirty="0"/>
              <a:t>组成，</a:t>
            </a:r>
            <a:r>
              <a:rPr lang="en-AU" altLang="zh-CN" dirty="0"/>
              <a:t>c</a:t>
            </a:r>
            <a:r>
              <a:rPr lang="zh-CN" altLang="en-US" dirty="0"/>
              <a:t>是一个特殊符号，表示中间位置的符号。我们可以利用这样的方式，利用两条道的图灵机，在状态存储中可以存储一个符号。最初状态</a:t>
            </a:r>
            <a:r>
              <a:rPr lang="en-AU" altLang="zh-CN" dirty="0"/>
              <a:t>q0,</a:t>
            </a:r>
            <a:r>
              <a:rPr lang="zh-CN" altLang="en-US" dirty="0"/>
              <a:t>读头在第一个符号之下，我们可以这样的方式识别这个语言。我们读入读头下的一个字符，读入到有穷控制器中，然后标记被读入的这个符号，然后跳过所有的符号，直到我们找到</a:t>
            </a:r>
            <a:r>
              <a:rPr lang="en-AU" altLang="zh-CN" dirty="0"/>
              <a:t>c</a:t>
            </a:r>
            <a:r>
              <a:rPr lang="zh-CN" altLang="en-US" dirty="0"/>
              <a:t>，表示我们去寻找下一个</a:t>
            </a:r>
            <a:r>
              <a:rPr lang="en-AU" altLang="zh-CN" dirty="0"/>
              <a:t>w</a:t>
            </a:r>
            <a:r>
              <a:rPr lang="zh-CN" altLang="en-US" dirty="0"/>
              <a:t>对应的符号。然后我们跳过</a:t>
            </a:r>
            <a:r>
              <a:rPr lang="en-US" altLang="zh-CN" dirty="0"/>
              <a:t>c</a:t>
            </a:r>
            <a:r>
              <a:rPr lang="zh-CN" altLang="en-US" dirty="0"/>
              <a:t>去寻找没有标记的第一个符号，那么发现是字符</a:t>
            </a:r>
            <a:r>
              <a:rPr lang="en-US" altLang="zh-CN" dirty="0"/>
              <a:t>a</a:t>
            </a:r>
            <a:r>
              <a:rPr lang="zh-CN" altLang="en-US" dirty="0"/>
              <a:t>，与有穷控制器中的符号是一样的，说明我们完成了一次配对的寻找，我们标记寻找到了。然后我们回头去寻找下一个字符，把下一个字符</a:t>
            </a:r>
            <a:r>
              <a:rPr lang="en-AU" altLang="zh-CN" dirty="0"/>
              <a:t>b</a:t>
            </a:r>
            <a:r>
              <a:rPr lang="zh-CN" altLang="en-US" dirty="0"/>
              <a:t>放入有穷控制器，同样的方式去循环，不停的标记，当所有的符号被配对的标记后，则说明该符号串符合</a:t>
            </a:r>
            <a:r>
              <a:rPr lang="en-AU" altLang="zh-CN" dirty="0" err="1"/>
              <a:t>wcw</a:t>
            </a:r>
            <a:r>
              <a:rPr lang="zh-CN" altLang="en-US" dirty="0"/>
              <a:t>的形式。</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22</a:t>
            </a:fld>
            <a:endParaRPr lang="en-AU"/>
          </a:p>
        </p:txBody>
      </p:sp>
    </p:spTree>
    <p:extLst>
      <p:ext uri="{BB962C8B-B14F-4D97-AF65-F5344CB8AC3E}">
        <p14:creationId xmlns:p14="http://schemas.microsoft.com/office/powerpoint/2010/main" val="37109068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那么利用状态中存储和多道技术，我们可以更方便的设计识别一些语言。比方说，我们想识别</a:t>
            </a:r>
            <a:r>
              <a:rPr lang="en-AU" altLang="zh-CN" dirty="0" err="1"/>
              <a:t>wcw</a:t>
            </a:r>
            <a:r>
              <a:rPr lang="zh-CN" altLang="en-US" dirty="0"/>
              <a:t>这样的语言。这样的语言，它的字母表是</a:t>
            </a:r>
            <a:r>
              <a:rPr lang="en-AU" altLang="zh-CN" dirty="0"/>
              <a:t>a, b</a:t>
            </a:r>
            <a:r>
              <a:rPr lang="zh-CN" altLang="en-US" dirty="0"/>
              <a:t>和</a:t>
            </a:r>
            <a:r>
              <a:rPr lang="en-AU" altLang="zh-CN" dirty="0"/>
              <a:t>c</a:t>
            </a:r>
            <a:r>
              <a:rPr lang="zh-CN" altLang="en-US" dirty="0"/>
              <a:t>。</a:t>
            </a:r>
            <a:r>
              <a:rPr lang="en-US" altLang="zh-CN" dirty="0"/>
              <a:t>W</a:t>
            </a:r>
            <a:r>
              <a:rPr lang="zh-CN" altLang="en-US" dirty="0"/>
              <a:t>由</a:t>
            </a:r>
            <a:r>
              <a:rPr lang="en-AU" altLang="zh-CN" dirty="0" err="1"/>
              <a:t>a,b</a:t>
            </a:r>
            <a:r>
              <a:rPr lang="zh-CN" altLang="en-US" dirty="0"/>
              <a:t>组成，</a:t>
            </a:r>
            <a:r>
              <a:rPr lang="en-AU" altLang="zh-CN" dirty="0"/>
              <a:t>c</a:t>
            </a:r>
            <a:r>
              <a:rPr lang="zh-CN" altLang="en-US" dirty="0"/>
              <a:t>是一个特殊符号，表示中间位置的符号。我们可以利用这样的方式，利用两条道的图灵机，在状态存储中可以存储一个符号。最初状态</a:t>
            </a:r>
            <a:r>
              <a:rPr lang="en-AU" altLang="zh-CN" dirty="0"/>
              <a:t>q0,</a:t>
            </a:r>
            <a:r>
              <a:rPr lang="zh-CN" altLang="en-US" dirty="0"/>
              <a:t>读头在第一个符号之下，我们可以这样的方式识别这个语言。我们读入读头下的一个字符，读入到有穷控制器中，然后标记被读入的这个符号，然后跳过所有的符号，直到我们找到</a:t>
            </a:r>
            <a:r>
              <a:rPr lang="en-AU" altLang="zh-CN" dirty="0"/>
              <a:t>c</a:t>
            </a:r>
            <a:r>
              <a:rPr lang="zh-CN" altLang="en-US" dirty="0"/>
              <a:t>，表示我们去寻找下一个</a:t>
            </a:r>
            <a:r>
              <a:rPr lang="en-AU" altLang="zh-CN" dirty="0"/>
              <a:t>w</a:t>
            </a:r>
            <a:r>
              <a:rPr lang="zh-CN" altLang="en-US" dirty="0"/>
              <a:t>对应的符号。然后我们跳过</a:t>
            </a:r>
            <a:r>
              <a:rPr lang="en-US" altLang="zh-CN" dirty="0"/>
              <a:t>c</a:t>
            </a:r>
            <a:r>
              <a:rPr lang="zh-CN" altLang="en-US" dirty="0"/>
              <a:t>去寻找没有标记的第一个符号，那么发现是字符</a:t>
            </a:r>
            <a:r>
              <a:rPr lang="en-US" altLang="zh-CN" dirty="0"/>
              <a:t>a</a:t>
            </a:r>
            <a:r>
              <a:rPr lang="zh-CN" altLang="en-US" dirty="0"/>
              <a:t>，与有穷控制器中的符号是一样的，说明我们完成了一次配对的寻找，我们标记寻找到了。然后我们回头去寻找下一个字符，把下一个字符</a:t>
            </a:r>
            <a:r>
              <a:rPr lang="en-AU" altLang="zh-CN" dirty="0"/>
              <a:t>b</a:t>
            </a:r>
            <a:r>
              <a:rPr lang="zh-CN" altLang="en-US" dirty="0"/>
              <a:t>放入有穷控制器，同样的方式去循环，不停的标记，当所有的符号被配对的标记后，则说明该符号串符合</a:t>
            </a:r>
            <a:r>
              <a:rPr lang="en-AU" altLang="zh-CN" dirty="0" err="1"/>
              <a:t>wcw</a:t>
            </a:r>
            <a:r>
              <a:rPr lang="zh-CN" altLang="en-US" dirty="0"/>
              <a:t>的形式。</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23</a:t>
            </a:fld>
            <a:endParaRPr lang="en-AU"/>
          </a:p>
        </p:txBody>
      </p:sp>
    </p:spTree>
    <p:extLst>
      <p:ext uri="{BB962C8B-B14F-4D97-AF65-F5344CB8AC3E}">
        <p14:creationId xmlns:p14="http://schemas.microsoft.com/office/powerpoint/2010/main" val="25090984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那么利用状态中存储和多道技术，我们可以更方便的设计识别一些语言。比方说，我们想识别</a:t>
            </a:r>
            <a:r>
              <a:rPr lang="en-AU" altLang="zh-CN" dirty="0" err="1"/>
              <a:t>wcw</a:t>
            </a:r>
            <a:r>
              <a:rPr lang="zh-CN" altLang="en-US" dirty="0"/>
              <a:t>这样的语言。这样的语言，它的字母表是</a:t>
            </a:r>
            <a:r>
              <a:rPr lang="en-AU" altLang="zh-CN" dirty="0"/>
              <a:t>a, b</a:t>
            </a:r>
            <a:r>
              <a:rPr lang="zh-CN" altLang="en-US" dirty="0"/>
              <a:t>和</a:t>
            </a:r>
            <a:r>
              <a:rPr lang="en-AU" altLang="zh-CN" dirty="0"/>
              <a:t>c</a:t>
            </a:r>
            <a:r>
              <a:rPr lang="zh-CN" altLang="en-US" dirty="0"/>
              <a:t>。</a:t>
            </a:r>
            <a:r>
              <a:rPr lang="en-US" altLang="zh-CN" dirty="0"/>
              <a:t>W</a:t>
            </a:r>
            <a:r>
              <a:rPr lang="zh-CN" altLang="en-US" dirty="0"/>
              <a:t>由</a:t>
            </a:r>
            <a:r>
              <a:rPr lang="en-AU" altLang="zh-CN" dirty="0" err="1"/>
              <a:t>a,b</a:t>
            </a:r>
            <a:r>
              <a:rPr lang="zh-CN" altLang="en-US" dirty="0"/>
              <a:t>组成，</a:t>
            </a:r>
            <a:r>
              <a:rPr lang="en-AU" altLang="zh-CN" dirty="0"/>
              <a:t>c</a:t>
            </a:r>
            <a:r>
              <a:rPr lang="zh-CN" altLang="en-US" dirty="0"/>
              <a:t>是一个特殊符号，表示中间位置的符号。我们可以利用这样的方式，利用两条道的图灵机，在状态存储中可以存储一个符号。最初状态</a:t>
            </a:r>
            <a:r>
              <a:rPr lang="en-AU" altLang="zh-CN" dirty="0"/>
              <a:t>q0,</a:t>
            </a:r>
            <a:r>
              <a:rPr lang="zh-CN" altLang="en-US" dirty="0"/>
              <a:t>读头在第一个符号之下，我们可以这样的方式识别这个语言。我们读入读头下的一个字符，读入到有穷控制器中，然后标记被读入的这个符号，然后跳过所有的符号，直到我们找到</a:t>
            </a:r>
            <a:r>
              <a:rPr lang="en-AU" altLang="zh-CN" dirty="0"/>
              <a:t>c</a:t>
            </a:r>
            <a:r>
              <a:rPr lang="zh-CN" altLang="en-US" dirty="0"/>
              <a:t>，表示我们去寻找下一个</a:t>
            </a:r>
            <a:r>
              <a:rPr lang="en-AU" altLang="zh-CN" dirty="0"/>
              <a:t>w</a:t>
            </a:r>
            <a:r>
              <a:rPr lang="zh-CN" altLang="en-US" dirty="0"/>
              <a:t>对应的符号。然后我们跳过</a:t>
            </a:r>
            <a:r>
              <a:rPr lang="en-US" altLang="zh-CN" dirty="0"/>
              <a:t>c</a:t>
            </a:r>
            <a:r>
              <a:rPr lang="zh-CN" altLang="en-US" dirty="0"/>
              <a:t>去寻找没有标记的第一个符号，那么发现是字符</a:t>
            </a:r>
            <a:r>
              <a:rPr lang="en-US" altLang="zh-CN" dirty="0"/>
              <a:t>a</a:t>
            </a:r>
            <a:r>
              <a:rPr lang="zh-CN" altLang="en-US" dirty="0"/>
              <a:t>，与有穷控制器中的符号是一样的，说明我们完成了一次配对的寻找，我们标记寻找到了。然后我们回头去寻找下一个字符，把下一个字符</a:t>
            </a:r>
            <a:r>
              <a:rPr lang="en-AU" altLang="zh-CN" dirty="0"/>
              <a:t>b</a:t>
            </a:r>
            <a:r>
              <a:rPr lang="zh-CN" altLang="en-US" dirty="0"/>
              <a:t>放入有穷控制器，同样的方式去循环，不停的标记，当所有的符号被配对的标记后，则说明该符号串符合</a:t>
            </a:r>
            <a:r>
              <a:rPr lang="en-AU" altLang="zh-CN" dirty="0" err="1"/>
              <a:t>wcw</a:t>
            </a:r>
            <a:r>
              <a:rPr lang="zh-CN" altLang="en-US" dirty="0"/>
              <a:t>的形式。</a:t>
            </a:r>
            <a:endParaRPr lang="en-AU" altLang="zh-CN" dirty="0"/>
          </a:p>
          <a:p>
            <a:endParaRPr lang="en-AU" dirty="0"/>
          </a:p>
          <a:p>
            <a:endParaRPr lang="en-AU" dirty="0"/>
          </a:p>
          <a:p>
            <a:r>
              <a:rPr lang="zh-CN" altLang="en-US" dirty="0"/>
              <a:t>那么，利用这样的方式，我们可以更加方便的去识别一些语言。</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24</a:t>
            </a:fld>
            <a:endParaRPr lang="en-AU"/>
          </a:p>
        </p:txBody>
      </p:sp>
    </p:spTree>
    <p:extLst>
      <p:ext uri="{BB962C8B-B14F-4D97-AF65-F5344CB8AC3E}">
        <p14:creationId xmlns:p14="http://schemas.microsoft.com/office/powerpoint/2010/main" val="24337455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多带图灵机是这样的一种装置。它有一个有穷控制器，</a:t>
            </a:r>
            <a:r>
              <a:rPr lang="en-US" altLang="zh-CN" dirty="0"/>
              <a:t>k</a:t>
            </a:r>
            <a:r>
              <a:rPr lang="zh-CN" altLang="en-US" dirty="0"/>
              <a:t>个带，</a:t>
            </a:r>
            <a:r>
              <a:rPr lang="en-US" altLang="zh-CN" dirty="0"/>
              <a:t>k</a:t>
            </a:r>
            <a:r>
              <a:rPr lang="zh-CN" altLang="en-US" dirty="0"/>
              <a:t>个读头，每个读头可以向左向右移动，也可以保持不动。每个动作，根据当前的状态以及每一个读头下的符号，去进行状态的改变。</a:t>
            </a:r>
            <a:endParaRPr lang="en-AU" altLang="zh-CN" dirty="0"/>
          </a:p>
          <a:p>
            <a:endParaRPr lang="en-AU" altLang="zh-CN" dirty="0"/>
          </a:p>
          <a:p>
            <a:r>
              <a:rPr lang="zh-CN" altLang="en-US" dirty="0"/>
              <a:t>因为它的形式定义非常繁琐，我们这里省略。</a:t>
            </a:r>
            <a:endParaRPr lang="en-AU" altLang="zh-CN" dirty="0"/>
          </a:p>
          <a:p>
            <a:endParaRPr lang="en-AU" altLang="zh-CN" dirty="0"/>
          </a:p>
          <a:p>
            <a:r>
              <a:rPr lang="zh-CN" altLang="en-US" dirty="0"/>
              <a:t>开始时，</a:t>
            </a:r>
            <a:r>
              <a:rPr lang="en-US" sz="1200" dirty="0"/>
              <a:t>The input is in tape #1 surrounded by blanks</a:t>
            </a:r>
          </a:p>
          <a:p>
            <a:pPr lvl="1" eaLnBrk="1" hangingPunct="1">
              <a:lnSpc>
                <a:spcPct val="90000"/>
              </a:lnSpc>
            </a:pPr>
            <a:r>
              <a:rPr lang="en-US" sz="1200" dirty="0"/>
              <a:t>All other tapes contain only blanks</a:t>
            </a:r>
          </a:p>
          <a:p>
            <a:pPr lvl="1" eaLnBrk="1" hangingPunct="1">
              <a:lnSpc>
                <a:spcPct val="90000"/>
              </a:lnSpc>
            </a:pPr>
            <a:r>
              <a:rPr lang="en-US" sz="1200" dirty="0"/>
              <a:t>The tape head for tape #1 points to the 1</a:t>
            </a:r>
            <a:r>
              <a:rPr lang="en-US" sz="1200" baseline="30000" dirty="0"/>
              <a:t>st</a:t>
            </a:r>
            <a:r>
              <a:rPr lang="en-US" sz="1200" dirty="0"/>
              <a:t> symbol of the input</a:t>
            </a:r>
          </a:p>
          <a:p>
            <a:pPr lvl="1" eaLnBrk="1" hangingPunct="1">
              <a:lnSpc>
                <a:spcPct val="90000"/>
              </a:lnSpc>
            </a:pPr>
            <a:r>
              <a:rPr lang="en-US" sz="1200" dirty="0"/>
              <a:t>The heads for all other tapes point at an arbitrary cell (doesn’t matter because they are all blanks anyway)</a:t>
            </a:r>
            <a:endParaRPr lang="en-AU" altLang="zh-CN" dirty="0"/>
          </a:p>
        </p:txBody>
      </p:sp>
      <p:sp>
        <p:nvSpPr>
          <p:cNvPr id="4" name="Slide Number Placeholder 3"/>
          <p:cNvSpPr>
            <a:spLocks noGrp="1"/>
          </p:cNvSpPr>
          <p:nvPr>
            <p:ph type="sldNum" sz="quarter" idx="5"/>
          </p:nvPr>
        </p:nvSpPr>
        <p:spPr/>
        <p:txBody>
          <a:bodyPr/>
          <a:lstStyle/>
          <a:p>
            <a:fld id="{FA67A903-3A42-486D-A3BC-854A05CABB63}" type="slidenum">
              <a:rPr lang="en-AU" smtClean="0"/>
              <a:t>25</a:t>
            </a:fld>
            <a:endParaRPr lang="en-AU"/>
          </a:p>
        </p:txBody>
      </p:sp>
    </p:spTree>
    <p:extLst>
      <p:ext uri="{BB962C8B-B14F-4D97-AF65-F5344CB8AC3E}">
        <p14:creationId xmlns:p14="http://schemas.microsoft.com/office/powerpoint/2010/main" val="39774997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多道图灵机为了模拟多带图灵机的一个动作，它需要从左到右扫描一次全部的读头，并且收集读头上的全部的符号，根据模拟的多带图灵机的状态转移函数去判断它的跳转。然后再从右到左扫描一次所有的读头去更新所有的符号并且修改读头位置就可以。</a:t>
            </a:r>
            <a:endParaRPr lang="en-AU" altLang="zh-CN" dirty="0"/>
          </a:p>
          <a:p>
            <a:endParaRPr lang="en-AU" dirty="0"/>
          </a:p>
          <a:p>
            <a:r>
              <a:rPr lang="en-US" dirty="0"/>
              <a:t>Track 1</a:t>
            </a:r>
            <a:r>
              <a:rPr lang="zh-CN" altLang="en-US" dirty="0"/>
              <a:t>中的</a:t>
            </a:r>
            <a:r>
              <a:rPr lang="en-US" altLang="zh-CN" dirty="0"/>
              <a:t>x</a:t>
            </a:r>
            <a:r>
              <a:rPr lang="zh-CN" altLang="en-US" dirty="0"/>
              <a:t>是标记读头的</a:t>
            </a:r>
            <a:r>
              <a:rPr lang="en-AU" altLang="zh-CN" dirty="0"/>
              <a:t>marker</a:t>
            </a:r>
            <a:r>
              <a:rPr lang="zh-CN" altLang="en-US" dirty="0"/>
              <a:t>， </a:t>
            </a:r>
            <a:r>
              <a:rPr lang="en-US" altLang="zh-CN" dirty="0"/>
              <a:t>Track 2</a:t>
            </a:r>
            <a:r>
              <a:rPr lang="zh-CN" altLang="en-US" dirty="0"/>
              <a:t>是</a:t>
            </a:r>
            <a:r>
              <a:rPr lang="en-AU" altLang="zh-CN" dirty="0"/>
              <a:t>tape 1</a:t>
            </a:r>
            <a:r>
              <a:rPr lang="zh-CN" altLang="en-US" dirty="0"/>
              <a:t>的内容。</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26</a:t>
            </a:fld>
            <a:endParaRPr lang="en-AU"/>
          </a:p>
        </p:txBody>
      </p:sp>
    </p:spTree>
    <p:extLst>
      <p:ext uri="{BB962C8B-B14F-4D97-AF65-F5344CB8AC3E}">
        <p14:creationId xmlns:p14="http://schemas.microsoft.com/office/powerpoint/2010/main" val="29504594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下面我们来看另外一个图灵机的变形。非确定图灵机。非确定性在图灵机的使用上有非常重要的意义。</a:t>
            </a:r>
            <a:endParaRPr lang="en-AU" altLang="zh-CN" dirty="0"/>
          </a:p>
          <a:p>
            <a:endParaRPr lang="en-AU" altLang="zh-CN" dirty="0"/>
          </a:p>
          <a:p>
            <a:r>
              <a:rPr lang="zh-CN" altLang="en-US" dirty="0"/>
              <a:t>那么我们来看下什么是非确定图灵机。</a:t>
            </a:r>
            <a:endParaRPr lang="en-AU" altLang="zh-CN" dirty="0"/>
          </a:p>
          <a:p>
            <a:endParaRPr lang="en-AU" altLang="zh-CN" dirty="0"/>
          </a:p>
          <a:p>
            <a:r>
              <a:rPr lang="zh-CN" altLang="en-US" dirty="0"/>
              <a:t>如果图灵机在每个状态</a:t>
            </a:r>
            <a:r>
              <a:rPr lang="en-AU" altLang="zh-CN" dirty="0"/>
              <a:t>q,</a:t>
            </a:r>
            <a:r>
              <a:rPr lang="zh-CN" altLang="en-US" dirty="0"/>
              <a:t>输入带的符号</a:t>
            </a:r>
            <a:r>
              <a:rPr lang="en-AU" altLang="zh-CN" dirty="0"/>
              <a:t>X</a:t>
            </a:r>
            <a:r>
              <a:rPr lang="zh-CN" altLang="en-US" dirty="0"/>
              <a:t>的时候，它的动作的定义有超过一个可能。就是它可以由</a:t>
            </a:r>
            <a:r>
              <a:rPr lang="en-AU" altLang="zh-CN" dirty="0"/>
              <a:t>q</a:t>
            </a:r>
            <a:r>
              <a:rPr lang="zh-CN" altLang="en-US" dirty="0"/>
              <a:t>变为</a:t>
            </a:r>
            <a:r>
              <a:rPr lang="en-AU" altLang="zh-CN" dirty="0"/>
              <a:t>q1,</a:t>
            </a:r>
            <a:r>
              <a:rPr lang="zh-CN" altLang="en-US" dirty="0"/>
              <a:t>把</a:t>
            </a:r>
            <a:r>
              <a:rPr lang="en-AU" altLang="zh-CN" dirty="0"/>
              <a:t>X</a:t>
            </a:r>
            <a:r>
              <a:rPr lang="zh-CN" altLang="en-US" dirty="0"/>
              <a:t>修改为</a:t>
            </a:r>
            <a:r>
              <a:rPr lang="en-AU" altLang="zh-CN" dirty="0"/>
              <a:t>Y1, </a:t>
            </a:r>
            <a:r>
              <a:rPr lang="zh-CN" altLang="en-US" dirty="0"/>
              <a:t>向</a:t>
            </a:r>
            <a:r>
              <a:rPr lang="en-AU" altLang="zh-CN" dirty="0"/>
              <a:t>D1</a:t>
            </a:r>
            <a:r>
              <a:rPr lang="zh-CN" altLang="en-US" dirty="0"/>
              <a:t>方向移动，左或右。有</a:t>
            </a:r>
            <a:r>
              <a:rPr lang="en-AU" altLang="zh-CN" dirty="0"/>
              <a:t>k</a:t>
            </a:r>
            <a:r>
              <a:rPr lang="zh-CN" altLang="en-US" dirty="0"/>
              <a:t>个可能的移动。</a:t>
            </a:r>
            <a:endParaRPr lang="en-AU" altLang="zh-CN" dirty="0"/>
          </a:p>
          <a:p>
            <a:endParaRPr lang="en-AU" altLang="zh-CN" dirty="0"/>
          </a:p>
          <a:p>
            <a:r>
              <a:rPr lang="en-US" altLang="zh-CN" dirty="0">
                <a:latin typeface="Times New Roman" panose="02020603050405020304" pitchFamily="18" charset="0"/>
                <a:cs typeface="Times New Roman" panose="02020603050405020304" pitchFamily="18" charset="0"/>
              </a:rPr>
              <a:t>NTM</a:t>
            </a:r>
            <a:r>
              <a:rPr lang="zh-CN" altLang="en-US" dirty="0"/>
              <a:t>接受语言的方式</a:t>
            </a:r>
            <a:r>
              <a:rPr lang="en-US" altLang="zh-CN" dirty="0"/>
              <a:t>, </a:t>
            </a:r>
            <a:r>
              <a:rPr lang="zh-CN" altLang="en-US" dirty="0"/>
              <a:t>与</a:t>
            </a:r>
            <a:r>
              <a:rPr lang="en-US" altLang="zh-CN" dirty="0">
                <a:latin typeface="Times New Roman" panose="02020603050405020304" pitchFamily="18" charset="0"/>
                <a:cs typeface="Times New Roman" panose="02020603050405020304" pitchFamily="18" charset="0"/>
              </a:rPr>
              <a:t>NFA</a:t>
            </a:r>
            <a:r>
              <a:rPr lang="zh-CN" altLang="en-US" dirty="0"/>
              <a:t>和</a:t>
            </a:r>
            <a:r>
              <a:rPr lang="en-US" altLang="zh-CN" dirty="0">
                <a:latin typeface="Times New Roman" panose="02020603050405020304" pitchFamily="18" charset="0"/>
                <a:cs typeface="Times New Roman" panose="02020603050405020304" pitchFamily="18" charset="0"/>
              </a:rPr>
              <a:t>PDA</a:t>
            </a:r>
            <a:r>
              <a:rPr lang="zh-CN" altLang="en-US" dirty="0"/>
              <a:t>是类似的。</a:t>
            </a:r>
            <a:endParaRPr lang="en-AU" altLang="zh-CN" dirty="0"/>
          </a:p>
          <a:p>
            <a:endParaRPr lang="en-AU" altLang="zh-CN" dirty="0"/>
          </a:p>
          <a:p>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图灵机增加非确定性并未使这个装置接受新的语言。</a:t>
            </a:r>
            <a:endParaRPr lang="en-AU" altLang="zh-CN" dirty="0"/>
          </a:p>
          <a:p>
            <a:endParaRPr lang="en-AU" altLang="zh-CN"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27</a:t>
            </a:fld>
            <a:endParaRPr lang="en-AU"/>
          </a:p>
        </p:txBody>
      </p:sp>
    </p:spTree>
    <p:extLst>
      <p:ext uri="{BB962C8B-B14F-4D97-AF65-F5344CB8AC3E}">
        <p14:creationId xmlns:p14="http://schemas.microsoft.com/office/powerpoint/2010/main" val="38106220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我们用确定的图灵机的多带技术去模拟一个单带的非确定的图灵机。</a:t>
            </a:r>
            <a:endParaRPr lang="en-AU" altLang="zh-CN"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28</a:t>
            </a:fld>
            <a:endParaRPr lang="en-AU"/>
          </a:p>
        </p:txBody>
      </p:sp>
    </p:spTree>
    <p:extLst>
      <p:ext uri="{BB962C8B-B14F-4D97-AF65-F5344CB8AC3E}">
        <p14:creationId xmlns:p14="http://schemas.microsoft.com/office/powerpoint/2010/main" val="27222989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b="0" i="0" dirty="0">
                <a:solidFill>
                  <a:srgbClr val="000000"/>
                </a:solidFill>
                <a:effectLst/>
                <a:latin typeface="T3"/>
              </a:rPr>
              <a:t>Now we shall consider some examples of apparent</a:t>
            </a:r>
            <a:br>
              <a:rPr lang="en-AU" sz="1800" b="0" i="0" dirty="0">
                <a:solidFill>
                  <a:srgbClr val="000000"/>
                </a:solidFill>
                <a:effectLst/>
                <a:latin typeface="T3"/>
              </a:rPr>
            </a:br>
            <a:r>
              <a:rPr lang="en-AU" sz="1800" b="0" i="0" dirty="0">
                <a:solidFill>
                  <a:srgbClr val="000000"/>
                </a:solidFill>
                <a:effectLst/>
                <a:latin typeface="T3"/>
              </a:rPr>
              <a:t>restrictions on the TM that also give exactly the same language recognizing</a:t>
            </a:r>
            <a:br>
              <a:rPr lang="en-AU" sz="1800" b="0" i="0" dirty="0">
                <a:solidFill>
                  <a:srgbClr val="000000"/>
                </a:solidFill>
                <a:effectLst/>
                <a:latin typeface="T3"/>
              </a:rPr>
            </a:br>
            <a:r>
              <a:rPr lang="en-AU" sz="1800" b="0" i="0" dirty="0">
                <a:solidFill>
                  <a:srgbClr val="000000"/>
                </a:solidFill>
                <a:effectLst/>
                <a:latin typeface="T3"/>
              </a:rPr>
              <a:t>power</a:t>
            </a:r>
            <a:r>
              <a:rPr lang="en-AU" dirty="0"/>
              <a:t> </a:t>
            </a:r>
            <a:br>
              <a:rPr lang="en-AU" dirty="0"/>
            </a:b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29</a:t>
            </a:fld>
            <a:endParaRPr lang="en-AU"/>
          </a:p>
        </p:txBody>
      </p:sp>
    </p:spTree>
    <p:extLst>
      <p:ext uri="{BB962C8B-B14F-4D97-AF65-F5344CB8AC3E}">
        <p14:creationId xmlns:p14="http://schemas.microsoft.com/office/powerpoint/2010/main" val="29483913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那么，前面的两种修改都没有改变基本的图灵机的定义。我们再来看下这一种图灵机的变形</a:t>
            </a:r>
            <a:r>
              <a:rPr lang="en-AU" altLang="zh-CN" dirty="0"/>
              <a:t>: </a:t>
            </a:r>
            <a:r>
              <a:rPr lang="zh-CN" altLang="en-US" dirty="0"/>
              <a:t>就是我们限制它的输入带只有一端是无穷的。一边是无穷的，一边是有穷的。那么这样的图灵机实际上和基本图灵机也是等价的。</a:t>
            </a:r>
            <a:endParaRPr lang="en-AU" altLang="zh-CN" dirty="0"/>
          </a:p>
          <a:p>
            <a:endParaRPr lang="en-AU" dirty="0"/>
          </a:p>
          <a:p>
            <a:endParaRPr lang="en-AU" dirty="0"/>
          </a:p>
          <a:p>
            <a:r>
              <a:rPr lang="zh-CN" altLang="en-US" dirty="0"/>
              <a:t>可以利用前面的多道技术，让半无穷带图灵机去模拟双侧无穷的图灵机。</a:t>
            </a:r>
            <a:endParaRPr lang="en-AU" altLang="zh-CN" dirty="0"/>
          </a:p>
          <a:p>
            <a:endParaRPr lang="en-AU" altLang="zh-CN" dirty="0"/>
          </a:p>
          <a:p>
            <a:r>
              <a:rPr lang="zh-CN" altLang="en-US" dirty="0"/>
              <a:t>模拟的方式就是，半无穷带图灵机当越过边界的时候，通过一个特定的符号，去使用另外一条带就好了。</a:t>
            </a:r>
            <a:endParaRPr lang="en-AU" altLang="zh-CN" dirty="0"/>
          </a:p>
          <a:p>
            <a:endParaRPr lang="en-AU" altLang="zh-CN" dirty="0"/>
          </a:p>
          <a:p>
            <a:r>
              <a:rPr lang="zh-CN" altLang="en-US" dirty="0"/>
              <a:t>当双侧无穷图灵机向右移动的时候，半无穷带图灵机也正常向右移动。</a:t>
            </a:r>
            <a:endParaRPr lang="en-AU" altLang="zh-CN" dirty="0"/>
          </a:p>
          <a:p>
            <a:endParaRPr lang="en-AU" dirty="0"/>
          </a:p>
          <a:p>
            <a:r>
              <a:rPr lang="zh-CN" altLang="en-US" dirty="0"/>
              <a:t>当双侧无穷图灵机向左移动的时候，半无穷带图灵机正常也向左移动，而需要越过左边边界位置的时候，我们通过特定的符号，让半无穷带图灵机进行跳转，向右移动，且使用另一条道即可。那么因为半边图灵机可以模拟基本图灵机，而基本图灵机显然可以模拟半边图灵机，因此半边图灵机和基本图灵机是等价的。</a:t>
            </a:r>
            <a:endParaRPr lang="en-AU" dirty="0"/>
          </a:p>
          <a:p>
            <a:endParaRPr lang="en-AU" dirty="0"/>
          </a:p>
          <a:p>
            <a:endParaRPr lang="en-AU" dirty="0"/>
          </a:p>
          <a:p>
            <a:r>
              <a:rPr lang="en-AU" sz="1800" b="0" i="0" dirty="0">
                <a:solidFill>
                  <a:srgbClr val="404040"/>
                </a:solidFill>
                <a:effectLst/>
                <a:latin typeface="BookAntiqua"/>
              </a:rPr>
              <a:t>Assume that trying to move left from the</a:t>
            </a:r>
            <a:br>
              <a:rPr lang="en-AU" sz="1800" b="0" i="0" dirty="0">
                <a:solidFill>
                  <a:srgbClr val="404040"/>
                </a:solidFill>
                <a:effectLst/>
                <a:latin typeface="BookAntiqua"/>
              </a:rPr>
            </a:br>
            <a:r>
              <a:rPr lang="en-AU" sz="1800" b="0" i="0" dirty="0">
                <a:solidFill>
                  <a:srgbClr val="404040"/>
                </a:solidFill>
                <a:effectLst/>
                <a:latin typeface="BookAntiqua"/>
              </a:rPr>
              <a:t>leftmost cell causes execution to die.</a:t>
            </a:r>
            <a:r>
              <a:rPr lang="en-AU" dirty="0"/>
              <a:t> </a:t>
            </a:r>
            <a:br>
              <a:rPr lang="en-AU" dirty="0"/>
            </a:b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30</a:t>
            </a:fld>
            <a:endParaRPr lang="en-AU"/>
          </a:p>
        </p:txBody>
      </p:sp>
    </p:spTree>
    <p:extLst>
      <p:ext uri="{BB962C8B-B14F-4D97-AF65-F5344CB8AC3E}">
        <p14:creationId xmlns:p14="http://schemas.microsoft.com/office/powerpoint/2010/main" val="14737131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D1D5DB"/>
                </a:solidFill>
                <a:effectLst/>
                <a:latin typeface="Söhne"/>
              </a:rPr>
              <a:t>半无穷带图灵机（</a:t>
            </a:r>
            <a:r>
              <a:rPr lang="en" altLang="zh-CN" b="0" i="0" dirty="0">
                <a:solidFill>
                  <a:srgbClr val="D1D5DB"/>
                </a:solidFill>
                <a:effectLst/>
                <a:latin typeface="Söhne"/>
              </a:rPr>
              <a:t>Semi-infinite Tape Turing Machine</a:t>
            </a:r>
            <a:r>
              <a:rPr lang="zh-CN" altLang="en" b="0" i="0" dirty="0">
                <a:solidFill>
                  <a:srgbClr val="D1D5DB"/>
                </a:solidFill>
                <a:effectLst/>
                <a:latin typeface="Söhne"/>
              </a:rPr>
              <a:t>）</a:t>
            </a:r>
            <a:r>
              <a:rPr lang="zh-CN" altLang="en-US" b="0" i="0" dirty="0">
                <a:solidFill>
                  <a:srgbClr val="D1D5DB"/>
                </a:solidFill>
                <a:effectLst/>
                <a:latin typeface="Söhne"/>
              </a:rPr>
              <a:t>是一种图灵机模型，它的磁带在一个方向上无限延伸，而在另一个方向上有限。它与标准图灵机的主要区别在于磁带的结构。标准图灵机的磁带在两个方向上都是无限延伸的。</a:t>
            </a:r>
          </a:p>
          <a:p>
            <a:pPr algn="l"/>
            <a:r>
              <a:rPr lang="zh-CN" altLang="en-US" b="0" i="0" dirty="0">
                <a:solidFill>
                  <a:srgbClr val="D1D5DB"/>
                </a:solidFill>
                <a:effectLst/>
                <a:latin typeface="Söhne"/>
              </a:rPr>
              <a:t>半无穷带图灵机的设计目的主要是为了研究计算理论的一些特殊方面，包括：</a:t>
            </a:r>
          </a:p>
          <a:p>
            <a:pPr algn="l">
              <a:buFont typeface="+mj-lt"/>
              <a:buAutoNum type="arabicPeriod"/>
            </a:pPr>
            <a:r>
              <a:rPr lang="zh-CN" altLang="en-US" b="0" i="0" dirty="0">
                <a:solidFill>
                  <a:srgbClr val="D1D5DB"/>
                </a:solidFill>
                <a:effectLst/>
                <a:latin typeface="Söhne"/>
              </a:rPr>
              <a:t>简化模型：在某些情况下，半无穷带图灵机可以简化问题建模和算法设计。例如，对于只需要在一个方向上进行计算的问题，半无穷带图灵机可以更直观地表示计算过程。</a:t>
            </a:r>
          </a:p>
          <a:p>
            <a:pPr algn="l">
              <a:buFont typeface="+mj-lt"/>
              <a:buAutoNum type="arabicPeriod"/>
            </a:pPr>
            <a:r>
              <a:rPr lang="zh-CN" altLang="en-US" b="0" i="0" dirty="0">
                <a:solidFill>
                  <a:srgbClr val="D1D5DB"/>
                </a:solidFill>
                <a:effectLst/>
                <a:latin typeface="Söhne"/>
              </a:rPr>
              <a:t>研究计算资源限制：半无穷带图灵机可以帮助研究计算资源（如磁带空间）限制对计算过程和可计算性的影响。通过将磁带的一个方向限制为有限长度，可以更容易地分析算法的空间复杂度和计算能力。</a:t>
            </a:r>
          </a:p>
          <a:p>
            <a:pPr algn="l">
              <a:buFont typeface="+mj-lt"/>
              <a:buAutoNum type="arabicPeriod"/>
            </a:pPr>
            <a:r>
              <a:rPr lang="zh-CN" altLang="en-US" b="0" i="0" dirty="0">
                <a:solidFill>
                  <a:srgbClr val="D1D5DB"/>
                </a:solidFill>
                <a:effectLst/>
                <a:latin typeface="Söhne"/>
              </a:rPr>
              <a:t>更接近现实计算模型：实际上，计算机的内存是有限的，因此半无穷带图灵机在某种程度上可以被认为是对现实计算机硬件的一个简化抽象。</a:t>
            </a:r>
          </a:p>
          <a:p>
            <a:pPr algn="l"/>
            <a:r>
              <a:rPr lang="zh-CN" altLang="en-US" b="0" i="0" dirty="0">
                <a:solidFill>
                  <a:srgbClr val="D1D5DB"/>
                </a:solidFill>
                <a:effectLst/>
                <a:latin typeface="Söhne"/>
              </a:rPr>
              <a:t>总的来说，半无穷带图灵机是计算理论中的一个有趣和有用的概念，它可以帮助我们更好地理解计算过程、资源限制和计算模型之间的关系。然而，需要注意的是，尽管半无穷带图灵机在某些方面有其独特之处，但它仍然具有与标准图灵机相同的计算能力。</a:t>
            </a:r>
          </a:p>
          <a:p>
            <a:endParaRPr kumimoji="1" lang="zh-CN" altLang="en-US" dirty="0"/>
          </a:p>
        </p:txBody>
      </p:sp>
      <p:sp>
        <p:nvSpPr>
          <p:cNvPr id="4" name="灯片编号占位符 3"/>
          <p:cNvSpPr>
            <a:spLocks noGrp="1"/>
          </p:cNvSpPr>
          <p:nvPr>
            <p:ph type="sldNum" sz="quarter" idx="5"/>
          </p:nvPr>
        </p:nvSpPr>
        <p:spPr/>
        <p:txBody>
          <a:bodyPr/>
          <a:lstStyle/>
          <a:p>
            <a:fld id="{FA67A903-3A42-486D-A3BC-854A05CABB63}" type="slidenum">
              <a:rPr lang="en-AU" smtClean="0"/>
              <a:t>31</a:t>
            </a:fld>
            <a:endParaRPr lang="en-AU"/>
          </a:p>
        </p:txBody>
      </p:sp>
    </p:spTree>
    <p:extLst>
      <p:ext uri="{BB962C8B-B14F-4D97-AF65-F5344CB8AC3E}">
        <p14:creationId xmlns:p14="http://schemas.microsoft.com/office/powerpoint/2010/main" val="40920368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sz="1200" dirty="0"/>
              <a:t>Actually, a PDA with two stacks has the same computation power as a </a:t>
            </a:r>
            <a:r>
              <a:rPr lang="en-US" sz="1200" dirty="0"/>
              <a:t>Turing Machine</a:t>
            </a:r>
            <a:r>
              <a:rPr lang="en-US" altLang="zh-TW" sz="1200" dirty="0"/>
              <a:t>.</a:t>
            </a:r>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t>32</a:t>
            </a:fld>
            <a:endParaRPr lang="en-AU"/>
          </a:p>
        </p:txBody>
      </p:sp>
    </p:spTree>
    <p:extLst>
      <p:ext uri="{BB962C8B-B14F-4D97-AF65-F5344CB8AC3E}">
        <p14:creationId xmlns:p14="http://schemas.microsoft.com/office/powerpoint/2010/main" val="13129560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sz="1200" dirty="0"/>
                  <a:t>Actually, a PDA with two stacks has the same computation power as a </a:t>
                </a:r>
                <a:r>
                  <a:rPr lang="en-US" sz="1200" dirty="0"/>
                  <a:t>Turing Machine</a:t>
                </a:r>
                <a:r>
                  <a:rPr lang="en-US" altLang="zh-TW" sz="1200" dirty="0"/>
                  <a:t>.</a:t>
                </a:r>
              </a:p>
              <a:p>
                <a:endParaRPr lang="en-AU" dirty="0"/>
              </a:p>
              <a:p>
                <a:endParaRPr lang="en-AU" dirty="0"/>
              </a:p>
              <a:p>
                <a:r>
                  <a:rPr lang="zh-CN" altLang="en-US" dirty="0"/>
                  <a:t>初始的时候，先扫描整个输入符号串并压入一个栈，然后再依次弹出，压入另外一个栈。这样之后，一个栈为空，一个栈为整个输入串（最左边的符号在栈顶），这样也就表示了一开始图灵机的带头指向第一个符号，且左边全是空格符号</a:t>
                </a:r>
                <a:r>
                  <a:rPr lang="en-AU" altLang="zh-CN" dirty="0"/>
                  <a:t>(</a:t>
                </a:r>
                <a:r>
                  <a:rPr lang="zh-CN" altLang="en-US" dirty="0"/>
                  <a:t>第一个栈为空</a:t>
                </a:r>
                <a:r>
                  <a:rPr lang="en-AU" altLang="zh-CN" dirty="0"/>
                  <a:t>)</a:t>
                </a:r>
                <a:r>
                  <a:rPr lang="zh-CN" altLang="en-US" dirty="0"/>
                  <a:t>。</a:t>
                </a:r>
                <a:endParaRPr lang="en-AU" altLang="zh-CN"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带头的移动用两个栈分别弹栈和压栈模拟。若带头修改字符</a:t>
                </a:r>
                <a14:m>
                  <m:oMath xmlns:m="http://schemas.openxmlformats.org/officeDocument/2006/math">
                    <m:r>
                      <a:rPr lang="en-US" altLang="zh-CN" i="1" dirty="0" smtClean="0">
                        <a:latin typeface="Cambria Math" panose="02040503050406030204" pitchFamily="18" charset="0"/>
                      </a:rPr>
                      <m:t>𝐴</m:t>
                    </m:r>
                  </m:oMath>
                </a14:m>
                <a:r>
                  <a:rPr lang="zh-CN" altLang="en-US" dirty="0"/>
                  <a:t>为</a:t>
                </a:r>
                <a14:m>
                  <m:oMath xmlns:m="http://schemas.openxmlformats.org/officeDocument/2006/math">
                    <m:r>
                      <a:rPr lang="en-US" altLang="zh-CN" i="1" dirty="0" smtClean="0">
                        <a:latin typeface="Cambria Math" panose="02040503050406030204" pitchFamily="18" charset="0"/>
                      </a:rPr>
                      <m:t>𝐵</m:t>
                    </m:r>
                  </m:oMath>
                </a14:m>
                <a:r>
                  <a:rPr lang="zh-CN" altLang="en-US" dirty="0"/>
                  <a:t>，用一个栈弹出的字符</a:t>
                </a:r>
                <a14:m>
                  <m:oMath xmlns:m="http://schemas.openxmlformats.org/officeDocument/2006/math">
                    <m:r>
                      <a:rPr lang="en-US" altLang="zh-CN" i="1" dirty="0" smtClean="0">
                        <a:latin typeface="Cambria Math" panose="02040503050406030204" pitchFamily="18" charset="0"/>
                      </a:rPr>
                      <m:t>𝐴</m:t>
                    </m:r>
                  </m:oMath>
                </a14:m>
                <a:r>
                  <a:rPr lang="zh-CN" altLang="en-US" dirty="0"/>
                  <a:t>而另一个栈压入</a:t>
                </a:r>
                <a14:m>
                  <m:oMath xmlns:m="http://schemas.openxmlformats.org/officeDocument/2006/math">
                    <m:r>
                      <a:rPr lang="en-US" altLang="zh-CN" i="1" dirty="0" smtClean="0">
                        <a:latin typeface="Cambria Math" panose="02040503050406030204" pitchFamily="18" charset="0"/>
                      </a:rPr>
                      <m:t>𝐵</m:t>
                    </m:r>
                  </m:oMath>
                </a14:m>
                <a:r>
                  <a:rPr lang="zh-CN" altLang="en-US" dirty="0"/>
                  <a:t>来模拟。</a:t>
                </a:r>
                <a:endParaRPr lang="en-AU" altLang="zh-CN" dirty="0"/>
              </a:p>
              <a:p>
                <a:endParaRPr lang="en-AU" dirty="0"/>
              </a:p>
              <a:p>
                <a:r>
                  <a:rPr lang="zh-CN" altLang="en-US" dirty="0"/>
                  <a:t>带头修改符号</a:t>
                </a:r>
                <a:r>
                  <a:rPr lang="en-AU" altLang="zh-CN" dirty="0"/>
                  <a:t>A</a:t>
                </a:r>
                <a:r>
                  <a:rPr lang="zh-CN" altLang="en-US" dirty="0"/>
                  <a:t>为</a:t>
                </a:r>
                <a:r>
                  <a:rPr lang="en-US" altLang="zh-CN" dirty="0"/>
                  <a:t>B</a:t>
                </a:r>
                <a:r>
                  <a:rPr lang="zh-CN" altLang="en-US" dirty="0"/>
                  <a:t>，这个时候要考虑带头向哪个方向移动。如果向右移动，则要把</a:t>
                </a:r>
                <a:r>
                  <a:rPr lang="en-AU" altLang="zh-CN" dirty="0"/>
                  <a:t>B</a:t>
                </a:r>
                <a:r>
                  <a:rPr lang="zh-CN" altLang="en-US" dirty="0"/>
                  <a:t>压入存储读头左边内容的栈，然后把</a:t>
                </a:r>
                <a:r>
                  <a:rPr lang="en-AU" altLang="zh-CN" dirty="0"/>
                  <a:t>A</a:t>
                </a:r>
                <a:r>
                  <a:rPr lang="zh-CN" altLang="en-US" dirty="0"/>
                  <a:t>从另外一个存储右边内容的栈弹出。</a:t>
                </a:r>
                <a:endParaRPr lang="en-AU" altLang="zh-CN" dirty="0"/>
              </a:p>
              <a:p>
                <a:endParaRPr lang="en-AU" dirty="0"/>
              </a:p>
              <a:p>
                <a:r>
                  <a:rPr lang="zh-CN" altLang="en-US" dirty="0"/>
                  <a:t>有穷控制器就还是存储着和图灵机一样的状态。</a:t>
                </a:r>
                <a:endParaRPr lang="en-AU" dirty="0"/>
              </a:p>
            </p:txBody>
          </p:sp>
        </mc:Choice>
        <mc:Fallback xmlns="">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t>33</a:t>
            </a:fld>
            <a:endParaRPr lang="en-AU"/>
          </a:p>
        </p:txBody>
      </p:sp>
    </p:spTree>
    <p:extLst>
      <p:ext uri="{BB962C8B-B14F-4D97-AF65-F5344CB8AC3E}">
        <p14:creationId xmlns:p14="http://schemas.microsoft.com/office/powerpoint/2010/main" val="4177187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sz="1200" dirty="0"/>
                  <a:t>Actually, a PDA with two stacks has the same computation power as a </a:t>
                </a:r>
                <a:r>
                  <a:rPr lang="en-US" sz="1200" dirty="0"/>
                  <a:t>Turing Machine</a:t>
                </a:r>
                <a:r>
                  <a:rPr lang="en-US" altLang="zh-TW" sz="1200" dirty="0"/>
                  <a:t>.</a:t>
                </a:r>
              </a:p>
              <a:p>
                <a:endParaRPr lang="en-AU" dirty="0"/>
              </a:p>
              <a:p>
                <a:endParaRPr lang="en-AU" dirty="0"/>
              </a:p>
              <a:p>
                <a:r>
                  <a:rPr lang="zh-CN" altLang="en-US" dirty="0"/>
                  <a:t>初始的时候，先扫描整个输入符号串并压入一个栈，然后再依次弹出，压入另外一个栈。这样之后，一个栈为空，一个栈为整个输入串（最左边的符号在栈顶），这样也就表示了一开始图灵机的带头指向第一个符号，且左边全是空格符号</a:t>
                </a:r>
                <a:r>
                  <a:rPr lang="en-AU" altLang="zh-CN" dirty="0"/>
                  <a:t>(</a:t>
                </a:r>
                <a:r>
                  <a:rPr lang="zh-CN" altLang="en-US" dirty="0"/>
                  <a:t>第一个栈为空</a:t>
                </a:r>
                <a:r>
                  <a:rPr lang="en-AU" altLang="zh-CN" dirty="0"/>
                  <a:t>)</a:t>
                </a:r>
                <a:r>
                  <a:rPr lang="zh-CN" altLang="en-US" dirty="0"/>
                  <a:t>。</a:t>
                </a:r>
                <a:endParaRPr lang="en-AU" altLang="zh-CN"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带头的移动用两个栈分别弹栈和压栈模拟。若带头修改字符</a:t>
                </a:r>
                <a14:m>
                  <m:oMath xmlns:m="http://schemas.openxmlformats.org/officeDocument/2006/math">
                    <m:r>
                      <a:rPr lang="en-US" altLang="zh-CN" i="1" dirty="0" smtClean="0">
                        <a:latin typeface="Cambria Math" panose="02040503050406030204" pitchFamily="18" charset="0"/>
                      </a:rPr>
                      <m:t>𝐴</m:t>
                    </m:r>
                  </m:oMath>
                </a14:m>
                <a:r>
                  <a:rPr lang="zh-CN" altLang="en-US" dirty="0"/>
                  <a:t>为</a:t>
                </a:r>
                <a14:m>
                  <m:oMath xmlns:m="http://schemas.openxmlformats.org/officeDocument/2006/math">
                    <m:r>
                      <a:rPr lang="en-US" altLang="zh-CN" i="1" dirty="0" smtClean="0">
                        <a:latin typeface="Cambria Math" panose="02040503050406030204" pitchFamily="18" charset="0"/>
                      </a:rPr>
                      <m:t>𝐵</m:t>
                    </m:r>
                  </m:oMath>
                </a14:m>
                <a:r>
                  <a:rPr lang="zh-CN" altLang="en-US" dirty="0"/>
                  <a:t>，用一个栈弹出的字符</a:t>
                </a:r>
                <a14:m>
                  <m:oMath xmlns:m="http://schemas.openxmlformats.org/officeDocument/2006/math">
                    <m:r>
                      <a:rPr lang="en-US" altLang="zh-CN" i="1" dirty="0" smtClean="0">
                        <a:latin typeface="Cambria Math" panose="02040503050406030204" pitchFamily="18" charset="0"/>
                      </a:rPr>
                      <m:t>𝐴</m:t>
                    </m:r>
                  </m:oMath>
                </a14:m>
                <a:r>
                  <a:rPr lang="zh-CN" altLang="en-US" dirty="0"/>
                  <a:t>而另一个栈压入</a:t>
                </a:r>
                <a14:m>
                  <m:oMath xmlns:m="http://schemas.openxmlformats.org/officeDocument/2006/math">
                    <m:r>
                      <a:rPr lang="en-US" altLang="zh-CN" i="1" dirty="0" smtClean="0">
                        <a:latin typeface="Cambria Math" panose="02040503050406030204" pitchFamily="18" charset="0"/>
                      </a:rPr>
                      <m:t>𝐵</m:t>
                    </m:r>
                  </m:oMath>
                </a14:m>
                <a:r>
                  <a:rPr lang="zh-CN" altLang="en-US" dirty="0"/>
                  <a:t>来模拟。</a:t>
                </a:r>
                <a:endParaRPr lang="en-AU" altLang="zh-CN" dirty="0"/>
              </a:p>
              <a:p>
                <a:endParaRPr lang="en-AU" dirty="0"/>
              </a:p>
              <a:p>
                <a:r>
                  <a:rPr lang="zh-CN" altLang="en-US" dirty="0"/>
                  <a:t>带头修改符号</a:t>
                </a:r>
                <a:r>
                  <a:rPr lang="en-AU" altLang="zh-CN" dirty="0"/>
                  <a:t>A</a:t>
                </a:r>
                <a:r>
                  <a:rPr lang="zh-CN" altLang="en-US" dirty="0"/>
                  <a:t>为</a:t>
                </a:r>
                <a:r>
                  <a:rPr lang="en-US" altLang="zh-CN" dirty="0"/>
                  <a:t>B</a:t>
                </a:r>
                <a:r>
                  <a:rPr lang="zh-CN" altLang="en-US" dirty="0"/>
                  <a:t>，这个时候要考虑带头向哪个方向移动。如果向右移动，则要把</a:t>
                </a:r>
                <a:r>
                  <a:rPr lang="en-AU" altLang="zh-CN" dirty="0"/>
                  <a:t>B</a:t>
                </a:r>
                <a:r>
                  <a:rPr lang="zh-CN" altLang="en-US" dirty="0"/>
                  <a:t>压入存储读头左边内容的栈，然后把</a:t>
                </a:r>
                <a:r>
                  <a:rPr lang="en-AU" altLang="zh-CN" dirty="0"/>
                  <a:t>A</a:t>
                </a:r>
                <a:r>
                  <a:rPr lang="zh-CN" altLang="en-US" dirty="0"/>
                  <a:t>从另外一个存储右边内容的栈弹出。</a:t>
                </a:r>
                <a:endParaRPr lang="en-AU" altLang="zh-CN" dirty="0"/>
              </a:p>
              <a:p>
                <a:endParaRPr lang="en-AU" dirty="0"/>
              </a:p>
              <a:p>
                <a:r>
                  <a:rPr lang="zh-CN" altLang="en-US" dirty="0"/>
                  <a:t>有穷控制器就还是存储着和图灵机一样的状态。</a:t>
                </a:r>
                <a:endParaRPr lang="en-AU"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sz="1200" dirty="0"/>
                  <a:t>Actually, a PDA with two stacks has the same computation power as a </a:t>
                </a:r>
                <a:r>
                  <a:rPr lang="en-US" sz="1200" dirty="0"/>
                  <a:t>Turing Machine</a:t>
                </a:r>
                <a:r>
                  <a:rPr lang="en-US" altLang="zh-TW" sz="1200" dirty="0"/>
                  <a:t>.</a:t>
                </a:r>
              </a:p>
              <a:p>
                <a:endParaRPr lang="en-AU" dirty="0"/>
              </a:p>
              <a:p>
                <a:endParaRPr lang="en-AU" dirty="0"/>
              </a:p>
              <a:p>
                <a:r>
                  <a:rPr lang="zh-CN" altLang="en-US" dirty="0"/>
                  <a:t>初始的时候，先扫描整个输入符号串并压入一个栈，然后再依次弹出，压入另外一个栈。这样之后，一个栈为空，一个栈为整个输入串（最左边的符号在栈顶），这样也就表示了一开始图灵机的带头指向第一个符号，且左边全是空格符号</a:t>
                </a:r>
                <a:r>
                  <a:rPr lang="en-AU" altLang="zh-CN" dirty="0"/>
                  <a:t>(</a:t>
                </a:r>
                <a:r>
                  <a:rPr lang="zh-CN" altLang="en-US" dirty="0"/>
                  <a:t>第一个栈为空</a:t>
                </a:r>
                <a:r>
                  <a:rPr lang="en-AU" altLang="zh-CN" dirty="0"/>
                  <a:t>)</a:t>
                </a:r>
                <a:r>
                  <a:rPr lang="zh-CN" altLang="en-US" dirty="0"/>
                  <a:t>。</a:t>
                </a:r>
                <a:endParaRPr lang="en-AU" altLang="zh-CN"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带头的移动用两个栈分别弹栈和压栈模拟。若带头修改字符</a:t>
                </a:r>
                <a:r>
                  <a:rPr lang="en-US" altLang="zh-CN" i="0" dirty="0" smtClean="0">
                    <a:latin typeface="Cambria Math" panose="02040503050406030204" pitchFamily="18" charset="0"/>
                  </a:rPr>
                  <a:t>𝐴</a:t>
                </a:r>
                <a:r>
                  <a:rPr lang="zh-CN" altLang="en-US" dirty="0"/>
                  <a:t>为</a:t>
                </a:r>
                <a:r>
                  <a:rPr lang="en-US" altLang="zh-CN" i="0" dirty="0" smtClean="0">
                    <a:latin typeface="Cambria Math" panose="02040503050406030204" pitchFamily="18" charset="0"/>
                  </a:rPr>
                  <a:t>𝐵</a:t>
                </a:r>
                <a:r>
                  <a:rPr lang="zh-CN" altLang="en-US" dirty="0"/>
                  <a:t>，用一个栈弹出的字符</a:t>
                </a:r>
                <a:r>
                  <a:rPr lang="en-US" altLang="zh-CN" i="0" dirty="0" smtClean="0">
                    <a:latin typeface="Cambria Math" panose="02040503050406030204" pitchFamily="18" charset="0"/>
                  </a:rPr>
                  <a:t>𝐴</a:t>
                </a:r>
                <a:r>
                  <a:rPr lang="zh-CN" altLang="en-US" dirty="0"/>
                  <a:t>而另一个栈压入</a:t>
                </a:r>
                <a:r>
                  <a:rPr lang="en-US" altLang="zh-CN" i="0" dirty="0" smtClean="0">
                    <a:latin typeface="Cambria Math" panose="02040503050406030204" pitchFamily="18" charset="0"/>
                  </a:rPr>
                  <a:t>𝐵</a:t>
                </a:r>
                <a:r>
                  <a:rPr lang="zh-CN" altLang="en-US" dirty="0"/>
                  <a:t>来模拟。</a:t>
                </a:r>
                <a:endParaRPr lang="en-AU" altLang="zh-CN" dirty="0"/>
              </a:p>
              <a:p>
                <a:endParaRPr lang="en-AU" dirty="0"/>
              </a:p>
              <a:p>
                <a:r>
                  <a:rPr lang="zh-CN" altLang="en-US" dirty="0"/>
                  <a:t>带头修改符号</a:t>
                </a:r>
                <a:r>
                  <a:rPr lang="en-AU" altLang="zh-CN" dirty="0"/>
                  <a:t>A</a:t>
                </a:r>
                <a:r>
                  <a:rPr lang="zh-CN" altLang="en-US" dirty="0"/>
                  <a:t>为</a:t>
                </a:r>
                <a:r>
                  <a:rPr lang="en-US" altLang="zh-CN" dirty="0"/>
                  <a:t>B</a:t>
                </a:r>
                <a:r>
                  <a:rPr lang="zh-CN" altLang="en-US" dirty="0"/>
                  <a:t>，这个时候要考虑带头向哪个方向移动。如果向右移动，则要把</a:t>
                </a:r>
                <a:r>
                  <a:rPr lang="en-AU" altLang="zh-CN" dirty="0"/>
                  <a:t>B</a:t>
                </a:r>
                <a:r>
                  <a:rPr lang="zh-CN" altLang="en-US" dirty="0"/>
                  <a:t>压入存储读头左边内容的栈，然后把</a:t>
                </a:r>
                <a:r>
                  <a:rPr lang="en-AU" altLang="zh-CN" dirty="0"/>
                  <a:t>A</a:t>
                </a:r>
                <a:r>
                  <a:rPr lang="zh-CN" altLang="en-US" dirty="0"/>
                  <a:t>从另外一个存储右边内容的栈弹出。</a:t>
                </a:r>
                <a:endParaRPr lang="en-AU" altLang="zh-CN" dirty="0"/>
              </a:p>
              <a:p>
                <a:endParaRPr lang="en-AU" dirty="0"/>
              </a:p>
              <a:p>
                <a:r>
                  <a:rPr lang="zh-CN" altLang="en-US" dirty="0"/>
                  <a:t>有穷控制器就还是存储着和图灵机一样的状态。</a:t>
                </a:r>
                <a:endParaRPr lang="en-AU" dirty="0"/>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t>34</a:t>
            </a:fld>
            <a:endParaRPr lang="en-AU"/>
          </a:p>
        </p:txBody>
      </p:sp>
    </p:spTree>
    <p:extLst>
      <p:ext uri="{BB962C8B-B14F-4D97-AF65-F5344CB8AC3E}">
        <p14:creationId xmlns:p14="http://schemas.microsoft.com/office/powerpoint/2010/main" val="14660890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sz="1200" dirty="0"/>
                  <a:t>Actually, a PDA with two stacks has the same computation power as a </a:t>
                </a:r>
                <a:r>
                  <a:rPr lang="en-US" sz="1200" dirty="0"/>
                  <a:t>Turing Machine</a:t>
                </a:r>
                <a:r>
                  <a:rPr lang="en-US" altLang="zh-TW" sz="1200" dirty="0"/>
                  <a:t>.</a:t>
                </a:r>
              </a:p>
              <a:p>
                <a:endParaRPr lang="en-AU" dirty="0"/>
              </a:p>
              <a:p>
                <a:endParaRPr lang="en-AU" dirty="0"/>
              </a:p>
              <a:p>
                <a:r>
                  <a:rPr lang="zh-CN" altLang="en-US" dirty="0"/>
                  <a:t>初始的时候，先扫描整个输入符号串并压入一个栈，然后再依次弹出，压入另外一个栈。这样之后，一个栈为空，一个栈为整个输入串（最左边的符号在栈顶），这样也就表示了一开始图灵机的带头指向第一个符号，且左边全是空格符号</a:t>
                </a:r>
                <a:r>
                  <a:rPr lang="en-AU" altLang="zh-CN" dirty="0"/>
                  <a:t>(</a:t>
                </a:r>
                <a:r>
                  <a:rPr lang="zh-CN" altLang="en-US" dirty="0"/>
                  <a:t>第一个栈为空</a:t>
                </a:r>
                <a:r>
                  <a:rPr lang="en-AU" altLang="zh-CN" dirty="0"/>
                  <a:t>)</a:t>
                </a:r>
                <a:r>
                  <a:rPr lang="zh-CN" altLang="en-US" dirty="0"/>
                  <a:t>。</a:t>
                </a:r>
                <a:endParaRPr lang="en-AU" altLang="zh-CN"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带头的移动用两个栈分别弹栈和压栈模拟。若带头修改字符</a:t>
                </a:r>
                <a14:m>
                  <m:oMath xmlns:m="http://schemas.openxmlformats.org/officeDocument/2006/math">
                    <m:r>
                      <a:rPr lang="en-US" altLang="zh-CN" i="1" dirty="0" smtClean="0">
                        <a:latin typeface="Cambria Math" panose="02040503050406030204" pitchFamily="18" charset="0"/>
                      </a:rPr>
                      <m:t>𝐴</m:t>
                    </m:r>
                  </m:oMath>
                </a14:m>
                <a:r>
                  <a:rPr lang="zh-CN" altLang="en-US" dirty="0"/>
                  <a:t>为</a:t>
                </a:r>
                <a14:m>
                  <m:oMath xmlns:m="http://schemas.openxmlformats.org/officeDocument/2006/math">
                    <m:r>
                      <a:rPr lang="en-US" altLang="zh-CN" i="1" dirty="0" smtClean="0">
                        <a:latin typeface="Cambria Math" panose="02040503050406030204" pitchFamily="18" charset="0"/>
                      </a:rPr>
                      <m:t>𝐵</m:t>
                    </m:r>
                  </m:oMath>
                </a14:m>
                <a:r>
                  <a:rPr lang="zh-CN" altLang="en-US" dirty="0"/>
                  <a:t>，用一个栈弹出的字符</a:t>
                </a:r>
                <a14:m>
                  <m:oMath xmlns:m="http://schemas.openxmlformats.org/officeDocument/2006/math">
                    <m:r>
                      <a:rPr lang="en-US" altLang="zh-CN" i="1" dirty="0" smtClean="0">
                        <a:latin typeface="Cambria Math" panose="02040503050406030204" pitchFamily="18" charset="0"/>
                      </a:rPr>
                      <m:t>𝐴</m:t>
                    </m:r>
                  </m:oMath>
                </a14:m>
                <a:r>
                  <a:rPr lang="zh-CN" altLang="en-US" dirty="0"/>
                  <a:t>而另一个栈压入</a:t>
                </a:r>
                <a14:m>
                  <m:oMath xmlns:m="http://schemas.openxmlformats.org/officeDocument/2006/math">
                    <m:r>
                      <a:rPr lang="en-US" altLang="zh-CN" i="1" dirty="0" smtClean="0">
                        <a:latin typeface="Cambria Math" panose="02040503050406030204" pitchFamily="18" charset="0"/>
                      </a:rPr>
                      <m:t>𝐵</m:t>
                    </m:r>
                  </m:oMath>
                </a14:m>
                <a:r>
                  <a:rPr lang="zh-CN" altLang="en-US" dirty="0"/>
                  <a:t>来模拟。</a:t>
                </a:r>
                <a:endParaRPr lang="en-AU" altLang="zh-CN" dirty="0"/>
              </a:p>
              <a:p>
                <a:endParaRPr lang="en-AU" dirty="0"/>
              </a:p>
              <a:p>
                <a:r>
                  <a:rPr lang="zh-CN" altLang="en-US" dirty="0"/>
                  <a:t>带头修改符号</a:t>
                </a:r>
                <a:r>
                  <a:rPr lang="en-AU" altLang="zh-CN" dirty="0"/>
                  <a:t>A</a:t>
                </a:r>
                <a:r>
                  <a:rPr lang="zh-CN" altLang="en-US" dirty="0"/>
                  <a:t>为</a:t>
                </a:r>
                <a:r>
                  <a:rPr lang="en-US" altLang="zh-CN" dirty="0"/>
                  <a:t>B</a:t>
                </a:r>
                <a:r>
                  <a:rPr lang="zh-CN" altLang="en-US" dirty="0"/>
                  <a:t>，这个时候要考虑带头向哪个方向移动。如果向右移动，则要把</a:t>
                </a:r>
                <a:r>
                  <a:rPr lang="en-AU" altLang="zh-CN" dirty="0"/>
                  <a:t>B</a:t>
                </a:r>
                <a:r>
                  <a:rPr lang="zh-CN" altLang="en-US" dirty="0"/>
                  <a:t>压入存储读头左边内容的栈，然后把</a:t>
                </a:r>
                <a:r>
                  <a:rPr lang="en-AU" altLang="zh-CN" dirty="0"/>
                  <a:t>A</a:t>
                </a:r>
                <a:r>
                  <a:rPr lang="zh-CN" altLang="en-US" dirty="0"/>
                  <a:t>从另外一个存储右边内容的栈弹出。</a:t>
                </a:r>
                <a:endParaRPr lang="en-AU" altLang="zh-CN" dirty="0"/>
              </a:p>
              <a:p>
                <a:endParaRPr lang="en-AU" dirty="0"/>
              </a:p>
              <a:p>
                <a:r>
                  <a:rPr lang="zh-CN" altLang="en-US" dirty="0"/>
                  <a:t>有穷控制器就还是存储着和图灵机一样的状态。</a:t>
                </a:r>
                <a:endParaRPr lang="en-AU"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sz="1200" dirty="0"/>
                  <a:t>Actually, a PDA with two stacks has the same computation power as a </a:t>
                </a:r>
                <a:r>
                  <a:rPr lang="en-US" sz="1200" dirty="0"/>
                  <a:t>Turing Machine</a:t>
                </a:r>
                <a:r>
                  <a:rPr lang="en-US" altLang="zh-TW" sz="1200" dirty="0"/>
                  <a:t>.</a:t>
                </a:r>
              </a:p>
              <a:p>
                <a:endParaRPr lang="en-AU" dirty="0"/>
              </a:p>
              <a:p>
                <a:endParaRPr lang="en-AU" dirty="0"/>
              </a:p>
              <a:p>
                <a:r>
                  <a:rPr lang="zh-CN" altLang="en-US" dirty="0"/>
                  <a:t>初始的时候，先扫描整个输入符号串并压入一个栈，然后再依次弹出，压入另外一个栈。这样之后，一个栈为空，一个栈为整个输入串（最左边的符号在栈顶），这样也就表示了一开始图灵机的带头指向第一个符号，且左边全是空格符号</a:t>
                </a:r>
                <a:r>
                  <a:rPr lang="en-AU" altLang="zh-CN" dirty="0"/>
                  <a:t>(</a:t>
                </a:r>
                <a:r>
                  <a:rPr lang="zh-CN" altLang="en-US" dirty="0"/>
                  <a:t>第一个栈为空</a:t>
                </a:r>
                <a:r>
                  <a:rPr lang="en-AU" altLang="zh-CN" dirty="0"/>
                  <a:t>)</a:t>
                </a:r>
                <a:r>
                  <a:rPr lang="zh-CN" altLang="en-US" dirty="0"/>
                  <a:t>。</a:t>
                </a:r>
                <a:endParaRPr lang="en-AU" altLang="zh-CN"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带头的移动用两个栈分别弹栈和压栈模拟。若带头修改字符</a:t>
                </a:r>
                <a:r>
                  <a:rPr lang="en-US" altLang="zh-CN" i="0" dirty="0" smtClean="0">
                    <a:latin typeface="Cambria Math" panose="02040503050406030204" pitchFamily="18" charset="0"/>
                  </a:rPr>
                  <a:t>𝐴</a:t>
                </a:r>
                <a:r>
                  <a:rPr lang="zh-CN" altLang="en-US" dirty="0"/>
                  <a:t>为</a:t>
                </a:r>
                <a:r>
                  <a:rPr lang="en-US" altLang="zh-CN" i="0" dirty="0" smtClean="0">
                    <a:latin typeface="Cambria Math" panose="02040503050406030204" pitchFamily="18" charset="0"/>
                  </a:rPr>
                  <a:t>𝐵</a:t>
                </a:r>
                <a:r>
                  <a:rPr lang="zh-CN" altLang="en-US" dirty="0"/>
                  <a:t>，用一个栈弹出的字符</a:t>
                </a:r>
                <a:r>
                  <a:rPr lang="en-US" altLang="zh-CN" i="0" dirty="0" smtClean="0">
                    <a:latin typeface="Cambria Math" panose="02040503050406030204" pitchFamily="18" charset="0"/>
                  </a:rPr>
                  <a:t>𝐴</a:t>
                </a:r>
                <a:r>
                  <a:rPr lang="zh-CN" altLang="en-US" dirty="0"/>
                  <a:t>而另一个栈压入</a:t>
                </a:r>
                <a:r>
                  <a:rPr lang="en-US" altLang="zh-CN" i="0" dirty="0" smtClean="0">
                    <a:latin typeface="Cambria Math" panose="02040503050406030204" pitchFamily="18" charset="0"/>
                  </a:rPr>
                  <a:t>𝐵</a:t>
                </a:r>
                <a:r>
                  <a:rPr lang="zh-CN" altLang="en-US" dirty="0"/>
                  <a:t>来模拟。</a:t>
                </a:r>
                <a:endParaRPr lang="en-AU" altLang="zh-CN" dirty="0"/>
              </a:p>
              <a:p>
                <a:endParaRPr lang="en-AU" dirty="0"/>
              </a:p>
              <a:p>
                <a:r>
                  <a:rPr lang="zh-CN" altLang="en-US" dirty="0"/>
                  <a:t>带头修改符号</a:t>
                </a:r>
                <a:r>
                  <a:rPr lang="en-AU" altLang="zh-CN" dirty="0"/>
                  <a:t>A</a:t>
                </a:r>
                <a:r>
                  <a:rPr lang="zh-CN" altLang="en-US" dirty="0"/>
                  <a:t>为</a:t>
                </a:r>
                <a:r>
                  <a:rPr lang="en-US" altLang="zh-CN" dirty="0"/>
                  <a:t>B</a:t>
                </a:r>
                <a:r>
                  <a:rPr lang="zh-CN" altLang="en-US" dirty="0"/>
                  <a:t>，这个时候要考虑带头向哪个方向移动。如果向右移动，则要把</a:t>
                </a:r>
                <a:r>
                  <a:rPr lang="en-AU" altLang="zh-CN" dirty="0"/>
                  <a:t>B</a:t>
                </a:r>
                <a:r>
                  <a:rPr lang="zh-CN" altLang="en-US" dirty="0"/>
                  <a:t>压入存储读头左边内容的栈，然后把</a:t>
                </a:r>
                <a:r>
                  <a:rPr lang="en-AU" altLang="zh-CN" dirty="0"/>
                  <a:t>A</a:t>
                </a:r>
                <a:r>
                  <a:rPr lang="zh-CN" altLang="en-US" dirty="0"/>
                  <a:t>从另外一个存储右边内容的栈弹出。</a:t>
                </a:r>
                <a:endParaRPr lang="en-AU" altLang="zh-CN" dirty="0"/>
              </a:p>
              <a:p>
                <a:endParaRPr lang="en-AU" dirty="0"/>
              </a:p>
              <a:p>
                <a:r>
                  <a:rPr lang="zh-CN" altLang="en-US" dirty="0"/>
                  <a:t>有穷控制器就还是存储着和图灵机一样的状态。</a:t>
                </a:r>
                <a:endParaRPr lang="en-AU" dirty="0"/>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t>35</a:t>
            </a:fld>
            <a:endParaRPr lang="en-AU"/>
          </a:p>
        </p:txBody>
      </p:sp>
    </p:spTree>
    <p:extLst>
      <p:ext uri="{BB962C8B-B14F-4D97-AF65-F5344CB8AC3E}">
        <p14:creationId xmlns:p14="http://schemas.microsoft.com/office/powerpoint/2010/main" val="18173396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思考一下，为什么我们要介绍那么多变种？</a:t>
            </a:r>
          </a:p>
        </p:txBody>
      </p:sp>
      <p:sp>
        <p:nvSpPr>
          <p:cNvPr id="4" name="灯片编号占位符 3"/>
          <p:cNvSpPr>
            <a:spLocks noGrp="1"/>
          </p:cNvSpPr>
          <p:nvPr>
            <p:ph type="sldNum" sz="quarter" idx="5"/>
          </p:nvPr>
        </p:nvSpPr>
        <p:spPr/>
        <p:txBody>
          <a:bodyPr/>
          <a:lstStyle/>
          <a:p>
            <a:fld id="{FA67A903-3A42-486D-A3BC-854A05CABB63}" type="slidenum">
              <a:rPr lang="en-AU" smtClean="0"/>
              <a:t>36</a:t>
            </a:fld>
            <a:endParaRPr lang="en-AU"/>
          </a:p>
        </p:txBody>
      </p:sp>
    </p:spTree>
    <p:extLst>
      <p:ext uri="{BB962C8B-B14F-4D97-AF65-F5344CB8AC3E}">
        <p14:creationId xmlns:p14="http://schemas.microsoft.com/office/powerpoint/2010/main" val="2446366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032000" y="127733"/>
            <a:ext cx="9743263" cy="698744"/>
          </a:xfrm>
        </p:spPr>
        <p:txBody>
          <a:bodyPr/>
          <a:lstStyle>
            <a:lvl1pPr algn="l">
              <a:defRPr sz="3600" b="0">
                <a:solidFill>
                  <a:srgbClr val="800080"/>
                </a:solidFill>
                <a:latin typeface="Times New Roman" panose="02020603050405020304" pitchFamily="18" charset="0"/>
                <a:ea typeface="STXingkai" panose="02010800040101010101" pitchFamily="2" charset="-122"/>
                <a:cs typeface="Times New Roman" panose="02020603050405020304" pitchFamily="18" charset="0"/>
              </a:defRPr>
            </a:lvl1pPr>
          </a:lstStyle>
          <a:p>
            <a:pPr fontAlgn="auto"/>
            <a:r>
              <a:rPr lang="zh-CN" altLang="en-US" strike="noStrike" noProof="1"/>
              <a:t>单击此处编辑母版标题样式</a:t>
            </a:r>
          </a:p>
        </p:txBody>
      </p:sp>
      <p:sp>
        <p:nvSpPr>
          <p:cNvPr id="3" name="内容占位符 2"/>
          <p:cNvSpPr>
            <a:spLocks noGrp="1"/>
          </p:cNvSpPr>
          <p:nvPr>
            <p:ph idx="1"/>
          </p:nvPr>
        </p:nvSpPr>
        <p:spPr>
          <a:xfrm>
            <a:off x="1187938" y="1368068"/>
            <a:ext cx="9550400" cy="4525963"/>
          </a:xfrm>
        </p:spPr>
        <p:txBody>
          <a:bodyPr/>
          <a:lstStyle>
            <a:lvl1pPr>
              <a:defRPr sz="2800" b="1">
                <a:latin typeface="KaiTi_GB2312" panose="02010609030101010101" pitchFamily="49" charset="-122"/>
                <a:ea typeface="KaiTi_GB2312" panose="02010609030101010101" pitchFamily="49" charset="-122"/>
              </a:defRPr>
            </a:lvl1pPr>
            <a:lvl2pPr>
              <a:defRPr>
                <a:latin typeface="KaiTi_GB2312" panose="02010609030101010101" pitchFamily="49" charset="-122"/>
                <a:ea typeface="KaiTi_GB2312" panose="02010609030101010101" pitchFamily="49" charset="-122"/>
              </a:defRPr>
            </a:lvl2pPr>
            <a:lvl3pPr>
              <a:defRPr>
                <a:latin typeface="KaiTi_GB2312" panose="02010609030101010101" pitchFamily="49" charset="-122"/>
                <a:ea typeface="KaiTi_GB2312" panose="02010609030101010101" pitchFamily="49" charset="-122"/>
              </a:defRPr>
            </a:lvl3pPr>
            <a:lvl4pPr>
              <a:defRPr>
                <a:latin typeface="KaiTi_GB2312" panose="02010609030101010101" pitchFamily="49" charset="-122"/>
                <a:ea typeface="KaiTi_GB2312" panose="02010609030101010101" pitchFamily="49" charset="-122"/>
              </a:defRPr>
            </a:lvl4pPr>
            <a:lvl5pPr>
              <a:defRPr>
                <a:latin typeface="KaiTi_GB2312" panose="02010609030101010101" pitchFamily="49" charset="-122"/>
                <a:ea typeface="KaiTi_GB2312" panose="02010609030101010101" pitchFamily="49" charset="-122"/>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a:xfrm>
            <a:off x="609600" y="6356351"/>
            <a:ext cx="2844800" cy="365125"/>
          </a:xfrm>
          <a:prstGeom prst="rect">
            <a:avLst/>
          </a:prstGeom>
        </p:spPr>
        <p:txBody>
          <a:bodyPr vert="horz" lIns="91440" tIns="45720" rIns="91440" bIns="45720" rtlCol="0" anchor="ctr"/>
          <a:lstStyle/>
          <a:p>
            <a:pPr fontAlgn="auto">
              <a:defRPr/>
            </a:pPr>
            <a:fld id="{E03C2985-DA0A-423A-A02E-2E38F06C445F}" type="datetime1">
              <a:rPr lang="zh-CN" altLang="en-US" strike="noStrike" noProof="1" smtClean="0">
                <a:solidFill>
                  <a:prstClr val="black">
                    <a:tint val="75000"/>
                  </a:prstClr>
                </a:solidFill>
                <a:latin typeface="+mn-lt"/>
                <a:ea typeface="+mn-ea"/>
                <a:cs typeface="+mn-cs"/>
              </a:rPr>
              <a:t>2026/4/28</a:t>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vert="horz" lIns="91440" tIns="45720" rIns="91440" bIns="45720" rtlCol="0" anchor="ct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vert="horz" lIns="91440" tIns="45720" rIns="91440" bIns="45720" rtlCol="0" anchor="ct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auto"/>
            <a:r>
              <a:rPr lang="zh-CN" altLang="en-US" strike="noStrike" noProof="1"/>
              <a:t>单击此处编辑母版文本样式</a:t>
            </a:r>
          </a:p>
        </p:txBody>
      </p:sp>
      <p:sp>
        <p:nvSpPr>
          <p:cNvPr id="4" name="日期占位符 3"/>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2026/4/28</a:t>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2026/4/28</a:t>
            </a:fld>
            <a:endParaRPr lang="en-US" altLang="zh-CN" strike="noStrike" noProof="1">
              <a:solidFill>
                <a:prstClr val="black">
                  <a:tint val="75000"/>
                </a:prstClr>
              </a:solidFill>
            </a:endParaRPr>
          </a:p>
        </p:txBody>
      </p:sp>
      <p:sp>
        <p:nvSpPr>
          <p:cNvPr id="6" name="页脚占位符 5"/>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7" name="灯片编号占位符 6"/>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2026/4/28</a:t>
            </a:fld>
            <a:endParaRPr lang="en-US" altLang="zh-CN" strike="noStrike" noProof="1">
              <a:solidFill>
                <a:prstClr val="black">
                  <a:tint val="75000"/>
                </a:prstClr>
              </a:solidFill>
            </a:endParaRPr>
          </a:p>
        </p:txBody>
      </p:sp>
      <p:sp>
        <p:nvSpPr>
          <p:cNvPr id="8" name="页脚占位符 7"/>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9" name="灯片编号占位符 8"/>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2032000" y="149956"/>
            <a:ext cx="7406613" cy="692696"/>
          </a:xfrm>
        </p:spPr>
        <p:txBody>
          <a:bodyPr>
            <a:noAutofit/>
          </a:bodyPr>
          <a:lstStyle>
            <a:lvl1pPr algn="l">
              <a:defRPr sz="3600">
                <a:solidFill>
                  <a:srgbClr val="800080"/>
                </a:solidFill>
                <a:effectLst/>
                <a:latin typeface="Times New Roman" panose="02020603050405020304" pitchFamily="18" charset="0"/>
                <a:ea typeface="STXingkai" panose="02010800040101010101" pitchFamily="2" charset="-122"/>
                <a:cs typeface="Times New Roman" panose="02020603050405020304" pitchFamily="18" charset="0"/>
              </a:defRPr>
            </a:lvl1pPr>
          </a:lstStyle>
          <a:p>
            <a:pPr fontAlgn="auto"/>
            <a:r>
              <a:rPr lang="zh-CN" altLang="en-US" strike="noStrike" noProof="1"/>
              <a:t>单击此处编辑母版标题样式</a:t>
            </a:r>
          </a:p>
        </p:txBody>
      </p:sp>
      <p:sp>
        <p:nvSpPr>
          <p:cNvPr id="3" name="日期占位符 2"/>
          <p:cNvSpPr>
            <a:spLocks noGrp="1"/>
          </p:cNvSpPr>
          <p:nvPr>
            <p:ph type="dt" sz="half" idx="10"/>
          </p:nvPr>
        </p:nvSpPr>
        <p:spPr>
          <a:xfrm>
            <a:off x="609600" y="6356351"/>
            <a:ext cx="2844800" cy="365125"/>
          </a:xfrm>
          <a:prstGeom prst="rect">
            <a:avLst/>
          </a:prstGeom>
        </p:spPr>
        <p:txBody>
          <a:bodyPr vert="horz" lIns="91440" tIns="45720" rIns="91440" bIns="45720" rtlCol="0" anchor="ctr"/>
          <a:lstStyle/>
          <a:p>
            <a:pPr fontAlgn="auto">
              <a:defRPr/>
            </a:pPr>
            <a:fld id="{702554A5-A581-4AB9-AEA0-FA3C5F0DF619}" type="datetime1">
              <a:rPr lang="zh-CN" altLang="en-US" strike="noStrike" noProof="1" smtClean="0">
                <a:solidFill>
                  <a:prstClr val="black">
                    <a:tint val="75000"/>
                  </a:prstClr>
                </a:solidFill>
                <a:latin typeface="+mn-lt"/>
                <a:ea typeface="+mn-ea"/>
                <a:cs typeface="+mn-cs"/>
              </a:rPr>
              <a:t>2026/4/28</a:t>
            </a:fld>
            <a:endParaRPr lang="en-US" altLang="zh-CN" strike="noStrike" noProof="1">
              <a:solidFill>
                <a:prstClr val="black">
                  <a:tint val="75000"/>
                </a:prstClr>
              </a:solidFill>
            </a:endParaRPr>
          </a:p>
        </p:txBody>
      </p:sp>
      <p:sp>
        <p:nvSpPr>
          <p:cNvPr id="4" name="页脚占位符 3"/>
          <p:cNvSpPr>
            <a:spLocks noGrp="1"/>
          </p:cNvSpPr>
          <p:nvPr>
            <p:ph type="ftr" sz="quarter" idx="11"/>
          </p:nvPr>
        </p:nvSpPr>
        <p:spPr>
          <a:xfrm>
            <a:off x="4165600" y="6356351"/>
            <a:ext cx="3860800" cy="365125"/>
          </a:xfrm>
          <a:prstGeom prst="rect">
            <a:avLst/>
          </a:prstGeom>
        </p:spPr>
        <p:txBody>
          <a:bodyPr vert="horz" lIns="91440" tIns="45720" rIns="91440" bIns="45720" rtlCol="0" anchor="ctr"/>
          <a:lstStyle/>
          <a:p>
            <a:pPr fontAlgn="auto">
              <a:defRPr/>
            </a:pPr>
            <a:endParaRPr lang="en-US" altLang="zh-CN" strike="noStrike" noProof="1">
              <a:solidFill>
                <a:prstClr val="black">
                  <a:tint val="75000"/>
                </a:prstClr>
              </a:solidFill>
            </a:endParaRPr>
          </a:p>
        </p:txBody>
      </p:sp>
      <p:sp>
        <p:nvSpPr>
          <p:cNvPr id="5" name="灯片编号占位符 4"/>
          <p:cNvSpPr>
            <a:spLocks noGrp="1"/>
          </p:cNvSpPr>
          <p:nvPr>
            <p:ph type="sldNum" sz="quarter" idx="12"/>
          </p:nvPr>
        </p:nvSpPr>
        <p:spPr>
          <a:xfrm>
            <a:off x="8737600" y="6356351"/>
            <a:ext cx="2844800" cy="365125"/>
          </a:xfrm>
          <a:prstGeom prst="rect">
            <a:avLst/>
          </a:prstGeom>
        </p:spPr>
        <p:txBody>
          <a:bodyPr vert="horz" lIns="91440" tIns="45720" rIns="91440" bIns="45720" rtlCol="0" anchor="ct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vert="horz" lIns="91440" tIns="45720" rIns="91440" bIns="45720" rtlCol="0" anchor="ctr"/>
          <a:lstStyle/>
          <a:p>
            <a:pPr fontAlgn="auto">
              <a:defRPr/>
            </a:pPr>
            <a:fld id="{9891A0AF-8D07-42A7-B1EB-C2BD93C0D5E5}" type="datetime1">
              <a:rPr lang="zh-CN" altLang="en-US" strike="noStrike" noProof="1" smtClean="0">
                <a:solidFill>
                  <a:prstClr val="black">
                    <a:tint val="75000"/>
                  </a:prstClr>
                </a:solidFill>
                <a:latin typeface="+mn-lt"/>
                <a:ea typeface="+mn-ea"/>
                <a:cs typeface="+mn-cs"/>
              </a:rPr>
              <a:t>2026/4/28</a:t>
            </a:fld>
            <a:endParaRPr lang="en-US" altLang="zh-CN" strike="noStrike" noProof="1">
              <a:solidFill>
                <a:prstClr val="black">
                  <a:tint val="75000"/>
                </a:prstClr>
              </a:solidFill>
            </a:endParaRPr>
          </a:p>
        </p:txBody>
      </p:sp>
      <p:sp>
        <p:nvSpPr>
          <p:cNvPr id="3" name="页脚占位符 2"/>
          <p:cNvSpPr>
            <a:spLocks noGrp="1"/>
          </p:cNvSpPr>
          <p:nvPr>
            <p:ph type="ftr" sz="quarter" idx="11"/>
          </p:nvPr>
        </p:nvSpPr>
        <p:spPr>
          <a:xfrm>
            <a:off x="4165600" y="6356351"/>
            <a:ext cx="3860800" cy="365125"/>
          </a:xfrm>
          <a:prstGeom prst="rect">
            <a:avLst/>
          </a:prstGeom>
        </p:spPr>
        <p:txBody>
          <a:bodyPr vert="horz" lIns="91440" tIns="45720" rIns="91440" bIns="45720" rtlCol="0" anchor="ctr"/>
          <a:lstStyle/>
          <a:p>
            <a:pPr fontAlgn="auto">
              <a:defRPr/>
            </a:pPr>
            <a:endParaRPr lang="en-US" altLang="zh-CN" strike="noStrike" noProof="1">
              <a:solidFill>
                <a:prstClr val="black">
                  <a:tint val="75000"/>
                </a:prstClr>
              </a:solidFill>
            </a:endParaRPr>
          </a:p>
        </p:txBody>
      </p:sp>
      <p:sp>
        <p:nvSpPr>
          <p:cNvPr id="4" name="灯片编号占位符 3"/>
          <p:cNvSpPr>
            <a:spLocks noGrp="1"/>
          </p:cNvSpPr>
          <p:nvPr>
            <p:ph type="sldNum" sz="quarter" idx="12"/>
          </p:nvPr>
        </p:nvSpPr>
        <p:spPr>
          <a:xfrm>
            <a:off x="8737600" y="6356351"/>
            <a:ext cx="2844800" cy="365125"/>
          </a:xfrm>
          <a:prstGeom prst="rect">
            <a:avLst/>
          </a:prstGeom>
        </p:spPr>
        <p:txBody>
          <a:bodyPr vert="horz" lIns="91440" tIns="45720" rIns="91440" bIns="45720" rtlCol="0" anchor="ct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pPr fontAlgn="auto"/>
            <a:r>
              <a:rPr lang="zh-CN" altLang="en-US" strike="noStrike" noProof="1"/>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2026/4/28</a:t>
            </a:fld>
            <a:endParaRPr lang="en-US" altLang="zh-CN" strike="noStrike" noProof="1">
              <a:solidFill>
                <a:prstClr val="black">
                  <a:tint val="75000"/>
                </a:prstClr>
              </a:solidFill>
            </a:endParaRPr>
          </a:p>
        </p:txBody>
      </p:sp>
      <p:sp>
        <p:nvSpPr>
          <p:cNvPr id="6" name="页脚占位符 5"/>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7" name="灯片编号占位符 6"/>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pPr fontAlgn="auto"/>
            <a:r>
              <a:rPr lang="zh-CN" altLang="en-US" strike="noStrike" noProof="1"/>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zh-CN" altLang="en-US" strike="noStrike" noProof="1"/>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2026/4/28</a:t>
            </a:fld>
            <a:endParaRPr lang="en-US" altLang="zh-CN" strike="noStrike" noProof="1">
              <a:solidFill>
                <a:prstClr val="black">
                  <a:tint val="75000"/>
                </a:prstClr>
              </a:solidFill>
            </a:endParaRPr>
          </a:p>
        </p:txBody>
      </p:sp>
      <p:sp>
        <p:nvSpPr>
          <p:cNvPr id="6" name="页脚占位符 5"/>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7" name="灯片编号占位符 6"/>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2026/4/28</a:t>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2026/4/28</a:t>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6146" name="Rectangle 1026"/>
          <p:cNvSpPr>
            <a:spLocks noChangeArrowheads="1"/>
          </p:cNvSpPr>
          <p:nvPr/>
        </p:nvSpPr>
        <p:spPr bwMode="auto">
          <a:xfrm>
            <a:off x="0" y="0"/>
            <a:ext cx="6096000" cy="6858000"/>
          </a:xfrm>
          <a:prstGeom prst="rect">
            <a:avLst/>
          </a:prstGeom>
          <a:solidFill>
            <a:schemeClr val="accent1"/>
          </a:solidFill>
          <a:ln w="9525">
            <a:noFill/>
            <a:miter lim="800000"/>
            <a:headEnd/>
            <a:tailEnd/>
          </a:ln>
          <a:effectLst/>
        </p:spPr>
        <p:txBody>
          <a:bodyPr wrap="none" anchor="ctr"/>
          <a:lstStyle/>
          <a:p>
            <a:pPr algn="ctr"/>
            <a:endParaRPr lang="zh-CN" altLang="zh-CN" sz="2400" b="0" i="0">
              <a:solidFill>
                <a:schemeClr val="tx1"/>
              </a:solidFill>
              <a:ea typeface="宋体" pitchFamily="2" charset="-122"/>
            </a:endParaRPr>
          </a:p>
        </p:txBody>
      </p:sp>
      <p:sp>
        <p:nvSpPr>
          <p:cNvPr id="6147" name="AutoShape 1027"/>
          <p:cNvSpPr>
            <a:spLocks noChangeArrowheads="1"/>
          </p:cNvSpPr>
          <p:nvPr/>
        </p:nvSpPr>
        <p:spPr bwMode="auto">
          <a:xfrm>
            <a:off x="914400" y="990600"/>
            <a:ext cx="6908800" cy="1905000"/>
          </a:xfrm>
          <a:prstGeom prst="roundRect">
            <a:avLst>
              <a:gd name="adj" fmla="val 50000"/>
            </a:avLst>
          </a:prstGeom>
          <a:solidFill>
            <a:schemeClr val="bg1"/>
          </a:solidFill>
          <a:ln w="9525">
            <a:noFill/>
            <a:round/>
            <a:headEnd/>
            <a:tailEnd/>
          </a:ln>
          <a:effectLst/>
        </p:spPr>
        <p:txBody>
          <a:bodyPr wrap="none" anchor="ctr"/>
          <a:lstStyle/>
          <a:p>
            <a:pPr algn="ctr"/>
            <a:endParaRPr lang="zh-CN" altLang="zh-CN" sz="2400" b="0" i="0">
              <a:solidFill>
                <a:schemeClr val="tx1"/>
              </a:solidFill>
              <a:ea typeface="宋体" pitchFamily="2" charset="-122"/>
            </a:endParaRPr>
          </a:p>
        </p:txBody>
      </p:sp>
      <p:sp>
        <p:nvSpPr>
          <p:cNvPr id="6148" name="Rectangle 1028"/>
          <p:cNvSpPr>
            <a:spLocks noGrp="1" noChangeArrowheads="1"/>
          </p:cNvSpPr>
          <p:nvPr>
            <p:ph type="subTitle" idx="1"/>
          </p:nvPr>
        </p:nvSpPr>
        <p:spPr bwMode="auto">
          <a:xfrm>
            <a:off x="6231467" y="2927350"/>
            <a:ext cx="4876800" cy="182245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marL="0" indent="0">
              <a:buFont typeface="Wingdings" pitchFamily="2" charset="2"/>
              <a:buNone/>
              <a:defRPr>
                <a:solidFill>
                  <a:schemeClr val="tx2"/>
                </a:solidFill>
              </a:defRPr>
            </a:lvl1pPr>
          </a:lstStyle>
          <a:p>
            <a:r>
              <a:rPr lang="zh-CN" altLang="en-US"/>
              <a:t>单击此处编辑母版副标题样式</a:t>
            </a:r>
          </a:p>
        </p:txBody>
      </p:sp>
      <p:grpSp>
        <p:nvGrpSpPr>
          <p:cNvPr id="6149" name="Group 1029"/>
          <p:cNvGrpSpPr>
            <a:grpSpLocks/>
          </p:cNvGrpSpPr>
          <p:nvPr/>
        </p:nvGrpSpPr>
        <p:grpSpPr bwMode="auto">
          <a:xfrm>
            <a:off x="4842933" y="4889500"/>
            <a:ext cx="6502400" cy="319088"/>
            <a:chOff x="2288" y="3080"/>
            <a:chExt cx="3072" cy="201"/>
          </a:xfrm>
        </p:grpSpPr>
        <p:sp>
          <p:nvSpPr>
            <p:cNvPr id="6150" name="AutoShape 1030"/>
            <p:cNvSpPr>
              <a:spLocks noChangeArrowheads="1"/>
            </p:cNvSpPr>
            <p:nvPr/>
          </p:nvSpPr>
          <p:spPr bwMode="auto">
            <a:xfrm flipH="1">
              <a:off x="2288" y="3080"/>
              <a:ext cx="2914" cy="200"/>
            </a:xfrm>
            <a:prstGeom prst="roundRect">
              <a:avLst>
                <a:gd name="adj" fmla="val 0"/>
              </a:avLst>
            </a:prstGeom>
            <a:solidFill>
              <a:schemeClr val="bg2"/>
            </a:solidFill>
            <a:ln w="9525">
              <a:noFill/>
              <a:round/>
              <a:headEnd/>
              <a:tailEnd/>
            </a:ln>
            <a:effectLst/>
          </p:spPr>
          <p:txBody>
            <a:bodyPr wrap="none" anchor="ctr"/>
            <a:lstStyle/>
            <a:p>
              <a:endParaRPr lang="zh-CN" altLang="en-US" sz="1800"/>
            </a:p>
          </p:txBody>
        </p:sp>
        <p:sp>
          <p:nvSpPr>
            <p:cNvPr id="6151" name="AutoShape 1031"/>
            <p:cNvSpPr>
              <a:spLocks noChangeArrowheads="1"/>
            </p:cNvSpPr>
            <p:nvPr/>
          </p:nvSpPr>
          <p:spPr bwMode="auto">
            <a:xfrm>
              <a:off x="5196" y="3080"/>
              <a:ext cx="164" cy="201"/>
            </a:xfrm>
            <a:prstGeom prst="flowChartDelay">
              <a:avLst/>
            </a:prstGeom>
            <a:solidFill>
              <a:schemeClr val="bg2"/>
            </a:solidFill>
            <a:ln w="9525">
              <a:noFill/>
              <a:miter lim="800000"/>
              <a:headEnd/>
              <a:tailEnd/>
            </a:ln>
            <a:effectLst/>
          </p:spPr>
          <p:txBody>
            <a:bodyPr wrap="none" anchor="ctr"/>
            <a:lstStyle/>
            <a:p>
              <a:endParaRPr lang="zh-CN" altLang="en-US" sz="1800"/>
            </a:p>
          </p:txBody>
        </p:sp>
      </p:grpSp>
      <p:sp>
        <p:nvSpPr>
          <p:cNvPr id="6152" name="Rectangle 1032"/>
          <p:cNvSpPr>
            <a:spLocks noGrp="1" noChangeArrowheads="1"/>
          </p:cNvSpPr>
          <p:nvPr>
            <p:ph type="dt" sz="quarter" idx="2"/>
          </p:nvPr>
        </p:nvSpPr>
        <p:spPr bwMode="auto">
          <a:xfrm>
            <a:off x="3556000" y="6553200"/>
            <a:ext cx="2540000" cy="304800"/>
          </a:xfrm>
          <a:prstGeom prst="rect">
            <a:avLst/>
          </a:prstGeom>
          <a:noFill/>
          <a:ln>
            <a:miter lim="800000"/>
            <a:headEnd/>
            <a:tailEnd/>
          </a:ln>
        </p:spPr>
        <p:txBody>
          <a:bodyPr vert="horz" wrap="square" lIns="91440" tIns="45720" rIns="91440" bIns="45720" numCol="1" anchor="b" anchorCtr="0" compatLnSpc="1">
            <a:prstTxWarp prst="textNoShape">
              <a:avLst/>
            </a:prstTxWarp>
            <a:spAutoFit/>
          </a:bodyPr>
          <a:lstStyle>
            <a:lvl1pPr algn="r">
              <a:defRPr kumimoji="0" sz="1400" b="0" i="0">
                <a:solidFill>
                  <a:schemeClr val="bg1"/>
                </a:solidFill>
                <a:latin typeface="+mn-lt"/>
                <a:ea typeface="+mn-ea"/>
              </a:defRPr>
            </a:lvl1pPr>
          </a:lstStyle>
          <a:p>
            <a:endParaRPr lang="en-US" altLang="zh-CN"/>
          </a:p>
        </p:txBody>
      </p:sp>
      <p:sp>
        <p:nvSpPr>
          <p:cNvPr id="6153" name="Rectangle 1033"/>
          <p:cNvSpPr>
            <a:spLocks noGrp="1" noChangeArrowheads="1"/>
          </p:cNvSpPr>
          <p:nvPr>
            <p:ph type="ftr" sz="quarter" idx="3"/>
          </p:nvPr>
        </p:nvSpPr>
        <p:spPr bwMode="auto">
          <a:xfrm>
            <a:off x="6927852" y="6553200"/>
            <a:ext cx="4373033" cy="304800"/>
          </a:xfrm>
          <a:prstGeom prst="rect">
            <a:avLst/>
          </a:prstGeom>
          <a:noFill/>
          <a:ln>
            <a:miter lim="800000"/>
            <a:headEnd/>
            <a:tailEnd/>
          </a:ln>
        </p:spPr>
        <p:txBody>
          <a:bodyPr vert="horz" wrap="square" lIns="91440" tIns="45720" rIns="91440" bIns="45720" numCol="1" anchor="b" anchorCtr="0" compatLnSpc="1">
            <a:prstTxWarp prst="textNoShape">
              <a:avLst/>
            </a:prstTxWarp>
            <a:spAutoFit/>
          </a:bodyPr>
          <a:lstStyle>
            <a:lvl1pPr algn="r">
              <a:defRPr kumimoji="0" sz="1400" b="0" i="0">
                <a:solidFill>
                  <a:schemeClr val="tx1"/>
                </a:solidFill>
                <a:latin typeface="+mn-lt"/>
                <a:ea typeface="+mn-ea"/>
              </a:defRPr>
            </a:lvl1pPr>
          </a:lstStyle>
          <a:p>
            <a:endParaRPr lang="en-US" altLang="zh-CN"/>
          </a:p>
        </p:txBody>
      </p:sp>
      <p:sp>
        <p:nvSpPr>
          <p:cNvPr id="6154" name="Rectangle 1034"/>
          <p:cNvSpPr>
            <a:spLocks noGrp="1" noChangeArrowheads="1"/>
          </p:cNvSpPr>
          <p:nvPr>
            <p:ph type="sldNum" sz="quarter" idx="4"/>
          </p:nvPr>
        </p:nvSpPr>
        <p:spPr bwMode="auto">
          <a:xfrm>
            <a:off x="12701" y="6359525"/>
            <a:ext cx="783167" cy="488950"/>
          </a:xfrm>
          <a:prstGeom prst="rect">
            <a:avLst/>
          </a:prstGeom>
          <a:noFill/>
          <a:ln>
            <a:miter lim="800000"/>
            <a:headEnd/>
            <a:tailEnd/>
          </a:ln>
        </p:spPr>
        <p:txBody>
          <a:bodyPr vert="horz" wrap="square" lIns="91440" tIns="45720" rIns="91440" bIns="45720" numCol="1" anchor="b" anchorCtr="0" compatLnSpc="1">
            <a:prstTxWarp prst="textNoShape">
              <a:avLst/>
            </a:prstTxWarp>
            <a:spAutoFit/>
          </a:bodyPr>
          <a:lstStyle>
            <a:lvl1pPr>
              <a:defRPr kumimoji="0" sz="2600" i="0">
                <a:solidFill>
                  <a:schemeClr val="bg1"/>
                </a:solidFill>
                <a:latin typeface="+mn-lt"/>
                <a:ea typeface="+mn-ea"/>
              </a:defRPr>
            </a:lvl1pPr>
          </a:lstStyle>
          <a:p>
            <a:fld id="{6C4A03AC-C537-4A86-AFC1-CAEB2CFF1769}" type="slidenum">
              <a:rPr lang="en-US" altLang="zh-CN"/>
              <a:pPr/>
              <a:t>‹#›</a:t>
            </a:fld>
            <a:endParaRPr lang="en-US" altLang="zh-CN"/>
          </a:p>
        </p:txBody>
      </p:sp>
      <p:sp>
        <p:nvSpPr>
          <p:cNvPr id="6155" name="Rectangle 1035"/>
          <p:cNvSpPr>
            <a:spLocks noGrp="1" noChangeArrowheads="1"/>
          </p:cNvSpPr>
          <p:nvPr>
            <p:ph type="ctrTitle" sz="quarter"/>
          </p:nvPr>
        </p:nvSpPr>
        <p:spPr bwMode="auto">
          <a:xfrm>
            <a:off x="812800" y="1371601"/>
            <a:ext cx="10363200" cy="631825"/>
          </a:xfrm>
          <a:prstGeom prst="rect">
            <a:avLst/>
          </a:prstGeom>
          <a:noFill/>
          <a:ln>
            <a:miter lim="800000"/>
            <a:headEnd/>
            <a:tailEnd/>
          </a:ln>
        </p:spPr>
        <p:txBody>
          <a:bodyPr vert="horz" wrap="square" lIns="91440" tIns="45720" rIns="91440" bIns="45720" numCol="1" anchor="ctr" anchorCtr="0" compatLnSpc="1">
            <a:prstTxWarp prst="textNoShape">
              <a:avLst/>
            </a:prstTxWarp>
          </a:bodyPr>
          <a:lstStyle>
            <a:lvl1pPr algn="ctr">
              <a:defRPr>
                <a:solidFill>
                  <a:schemeClr val="tx1"/>
                </a:solidFill>
              </a:defRPr>
            </a:lvl1pPr>
          </a:lstStyle>
          <a:p>
            <a:r>
              <a:rPr lang="zh-CN" altLang="en-US"/>
              <a:t>单击此处编辑母版标题样式</a:t>
            </a:r>
          </a:p>
        </p:txBody>
      </p:sp>
      <p:sp>
        <p:nvSpPr>
          <p:cNvPr id="6156" name="Line 1036"/>
          <p:cNvSpPr>
            <a:spLocks noChangeShapeType="1"/>
          </p:cNvSpPr>
          <p:nvPr userDrawn="1"/>
        </p:nvSpPr>
        <p:spPr bwMode="auto">
          <a:xfrm>
            <a:off x="914400" y="1219200"/>
            <a:ext cx="10202333" cy="0"/>
          </a:xfrm>
          <a:prstGeom prst="line">
            <a:avLst/>
          </a:prstGeom>
          <a:noFill/>
          <a:ln w="47625" cmpd="thinThick">
            <a:solidFill>
              <a:srgbClr val="800080"/>
            </a:solidFill>
            <a:round/>
            <a:headEnd type="none" w="sm" len="sm"/>
            <a:tailEnd type="none" w="sm" len="sm"/>
          </a:ln>
          <a:effectLst/>
        </p:spPr>
        <p:txBody>
          <a:bodyPr wrap="none" anchor="ctr"/>
          <a:lstStyle/>
          <a:p>
            <a:endParaRPr lang="zh-CN" altLang="en-US" sz="1800"/>
          </a:p>
        </p:txBody>
      </p:sp>
      <p:sp>
        <p:nvSpPr>
          <p:cNvPr id="6158" name="Text Box 1038"/>
          <p:cNvSpPr txBox="1">
            <a:spLocks noChangeArrowheads="1"/>
          </p:cNvSpPr>
          <p:nvPr userDrawn="1"/>
        </p:nvSpPr>
        <p:spPr bwMode="auto">
          <a:xfrm>
            <a:off x="1219201" y="395288"/>
            <a:ext cx="8039100" cy="519112"/>
          </a:xfrm>
          <a:prstGeom prst="rect">
            <a:avLst/>
          </a:prstGeom>
          <a:noFill/>
          <a:ln w="9525">
            <a:noFill/>
            <a:miter lim="800000"/>
            <a:headEnd/>
            <a:tailEnd/>
          </a:ln>
          <a:effectLst/>
        </p:spPr>
        <p:txBody>
          <a:bodyPr>
            <a:spAutoFit/>
          </a:bodyPr>
          <a:lstStyle/>
          <a:p>
            <a:pPr algn="ctr"/>
            <a:r>
              <a:rPr lang="en-US" altLang="zh-CN" sz="2800" i="0">
                <a:latin typeface="Arial" pitchFamily="34" charset="0"/>
                <a:ea typeface="宋体" pitchFamily="2" charset="-122"/>
                <a:cs typeface="Times New Roman" pitchFamily="18" charset="0"/>
              </a:rPr>
              <a:t>Formal Languages and Automata</a:t>
            </a:r>
          </a:p>
        </p:txBody>
      </p:sp>
    </p:spTree>
    <p:extLst>
      <p:ext uri="{BB962C8B-B14F-4D97-AF65-F5344CB8AC3E}">
        <p14:creationId xmlns:p14="http://schemas.microsoft.com/office/powerpoint/2010/main" val="1096281695"/>
      </p:ext>
    </p:extLst>
  </p:cSld>
  <p:clrMapOvr>
    <a:masterClrMapping/>
  </p:clrMapOvr>
  <p:transition spd="med" advClick="0">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09152008"/>
      </p:ext>
    </p:extLst>
  </p:cSld>
  <p:clrMapOvr>
    <a:masterClrMapping/>
  </p:clrMapOvr>
  <p:transition spd="med" advClick="0">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499429925"/>
      </p:ext>
    </p:extLst>
  </p:cSld>
  <p:clrMapOvr>
    <a:masterClrMapping/>
  </p:clrMapOvr>
  <p:transition spd="med" advClick="0">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98682502"/>
      </p:ext>
    </p:extLst>
  </p:cSld>
  <p:clrMapOvr>
    <a:masterClrMapping/>
  </p:clrMapOvr>
  <p:transition spd="med" advClick="0">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40022220"/>
      </p:ext>
    </p:extLst>
  </p:cSld>
  <p:clrMapOvr>
    <a:masterClrMapping/>
  </p:clrMapOvr>
  <p:transition spd="med" advClick="0">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57341210"/>
      </p:ext>
    </p:extLst>
  </p:cSld>
  <p:clrMapOvr>
    <a:masterClrMapping/>
  </p:clrMapOvr>
  <p:transition spd="med" advClick="0">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297371"/>
      </p:ext>
    </p:extLst>
  </p:cSld>
  <p:clrMapOvr>
    <a:masterClrMapping/>
  </p:clrMapOvr>
  <p:transition spd="med" advClick="0">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09509920"/>
      </p:ext>
    </p:extLst>
  </p:cSld>
  <p:clrMapOvr>
    <a:masterClrMapping/>
  </p:clrMapOvr>
  <p:transition spd="med" advClick="0">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277388212"/>
      </p:ext>
    </p:extLst>
  </p:cSld>
  <p:clrMapOvr>
    <a:masterClrMapping/>
  </p:clrMapOvr>
  <p:transition spd="med" advClick="0">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07017189"/>
      </p:ext>
    </p:extLst>
  </p:cSld>
  <p:clrMapOvr>
    <a:masterClrMapping/>
  </p:clrMapOvr>
  <p:transition spd="med" advClick="0">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46104401"/>
      </p:ext>
    </p:extLst>
  </p:cSld>
  <p:clrMapOvr>
    <a:masterClrMapping/>
  </p:clrMapOvr>
  <p:transition spd="med" advClick="0">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609600" y="274638"/>
            <a:ext cx="10972800" cy="1143000"/>
          </a:xfrm>
          <a:prstGeom prst="rect">
            <a:avLst/>
          </a:prstGeom>
          <a:noFill/>
          <a:ln w="9525">
            <a:noFill/>
          </a:ln>
        </p:spPr>
        <p:txBody>
          <a:bodyPr vert="horz" lIns="91440" tIns="45720" rIns="91440" bIns="45720" anchor="ctr" anchorCtr="0"/>
          <a:lstStyle/>
          <a:p>
            <a:pPr lvl="0"/>
            <a:r>
              <a:rPr lang="zh-CN" altLang="en-US" dirty="0"/>
              <a:t>单击此处编辑母版标题样式</a:t>
            </a:r>
          </a:p>
        </p:txBody>
      </p:sp>
      <p:sp>
        <p:nvSpPr>
          <p:cNvPr id="2051" name="文本占位符 2"/>
          <p:cNvSpPr>
            <a:spLocks noGrp="1"/>
          </p:cNvSpPr>
          <p:nvPr>
            <p:ph type="body"/>
          </p:nvPr>
        </p:nvSpPr>
        <p:spPr>
          <a:xfrm>
            <a:off x="609600" y="1600201"/>
            <a:ext cx="10972800" cy="4525963"/>
          </a:xfrm>
          <a:prstGeom prst="rect">
            <a:avLst/>
          </a:prstGeom>
          <a:noFill/>
          <a:ln w="9525">
            <a:noFill/>
          </a:ln>
        </p:spPr>
        <p:txBody>
          <a:bodyPr vert="horz" lIns="91440" tIns="45720" rIns="91440" bIns="45720"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t>2026/4/28</a:t>
            </a:fld>
            <a:endParaRPr lang="en-US" altLang="zh-CN" strike="noStrike" noProof="1">
              <a:solidFill>
                <a:prstClr val="black">
                  <a:tint val="75000"/>
                </a:prstClr>
              </a:solidFill>
            </a:endParaRPr>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a:t>
            </a:fld>
            <a:endParaRPr lang="en-US" altLang="zh-CN" strike="noStrike" noProof="1">
              <a:solidFill>
                <a:prstClr val="black">
                  <a:tint val="75000"/>
                </a:prstClr>
              </a:solidFill>
            </a:endParaRPr>
          </a:p>
        </p:txBody>
      </p:sp>
      <p:grpSp>
        <p:nvGrpSpPr>
          <p:cNvPr id="7" name="Group 1041">
            <a:extLst>
              <a:ext uri="{FF2B5EF4-FFF2-40B4-BE49-F238E27FC236}">
                <a16:creationId xmlns:a16="http://schemas.microsoft.com/office/drawing/2014/main" id="{2A2C2C5C-3A16-8849-8AE9-037062D9C7DF}"/>
              </a:ext>
            </a:extLst>
          </p:cNvPr>
          <p:cNvGrpSpPr>
            <a:grpSpLocks/>
          </p:cNvGrpSpPr>
          <p:nvPr userDrawn="1"/>
        </p:nvGrpSpPr>
        <p:grpSpPr bwMode="auto">
          <a:xfrm>
            <a:off x="-48684" y="0"/>
            <a:ext cx="1968501" cy="6884988"/>
            <a:chOff x="0" y="0"/>
            <a:chExt cx="2016" cy="4320"/>
          </a:xfrm>
        </p:grpSpPr>
        <p:sp>
          <p:nvSpPr>
            <p:cNvPr id="8" name="Rectangle 1042">
              <a:extLst>
                <a:ext uri="{FF2B5EF4-FFF2-40B4-BE49-F238E27FC236}">
                  <a16:creationId xmlns:a16="http://schemas.microsoft.com/office/drawing/2014/main" id="{FAA07B8C-8FAD-6940-8919-DC2BC16E5FCC}"/>
                </a:ext>
              </a:extLst>
            </p:cNvPr>
            <p:cNvSpPr>
              <a:spLocks noChangeArrowheads="1"/>
            </p:cNvSpPr>
            <p:nvPr/>
          </p:nvSpPr>
          <p:spPr bwMode="auto">
            <a:xfrm>
              <a:off x="0" y="0"/>
              <a:ext cx="480" cy="4320"/>
            </a:xfrm>
            <a:prstGeom prst="rect">
              <a:avLst/>
            </a:prstGeom>
            <a:gradFill rotWithShape="0">
              <a:gsLst>
                <a:gs pos="0">
                  <a:srgbClr val="800080"/>
                </a:gs>
                <a:gs pos="100000">
                  <a:srgbClr val="800080">
                    <a:gamma/>
                    <a:tint val="20000"/>
                    <a:invGamma/>
                  </a:srgbClr>
                </a:gs>
              </a:gsLst>
              <a:lin ang="0" scaled="1"/>
            </a:gradFill>
            <a:ln w="9525">
              <a:noFill/>
              <a:miter lim="800000"/>
              <a:headEnd/>
              <a:tailEnd/>
            </a:ln>
            <a:effectLst/>
          </p:spPr>
          <p:txBody>
            <a:bodyPr wrap="none" anchor="ctr"/>
            <a:lstStyle/>
            <a:p>
              <a:endParaRPr lang="zh-CN" altLang="en-US" sz="2000"/>
            </a:p>
          </p:txBody>
        </p:sp>
        <p:sp>
          <p:nvSpPr>
            <p:cNvPr id="9" name="Rectangle 1043">
              <a:extLst>
                <a:ext uri="{FF2B5EF4-FFF2-40B4-BE49-F238E27FC236}">
                  <a16:creationId xmlns:a16="http://schemas.microsoft.com/office/drawing/2014/main" id="{A66CB090-46DF-774C-8B79-852DCF121BB0}"/>
                </a:ext>
              </a:extLst>
            </p:cNvPr>
            <p:cNvSpPr>
              <a:spLocks noChangeArrowheads="1"/>
            </p:cNvSpPr>
            <p:nvPr/>
          </p:nvSpPr>
          <p:spPr bwMode="auto">
            <a:xfrm>
              <a:off x="432" y="0"/>
              <a:ext cx="1584" cy="672"/>
            </a:xfrm>
            <a:prstGeom prst="rect">
              <a:avLst/>
            </a:prstGeom>
            <a:gradFill rotWithShape="0">
              <a:gsLst>
                <a:gs pos="0">
                  <a:srgbClr val="800080"/>
                </a:gs>
                <a:gs pos="100000">
                  <a:srgbClr val="800080">
                    <a:gamma/>
                    <a:tint val="20000"/>
                    <a:invGamma/>
                  </a:srgbClr>
                </a:gs>
              </a:gsLst>
              <a:lin ang="0" scaled="1"/>
            </a:gradFill>
            <a:ln w="9525">
              <a:noFill/>
              <a:miter lim="800000"/>
              <a:headEnd/>
              <a:tailEnd/>
            </a:ln>
            <a:effectLst/>
          </p:spPr>
          <p:txBody>
            <a:bodyPr wrap="none" anchor="ctr"/>
            <a:lstStyle/>
            <a:p>
              <a:endParaRPr lang="zh-CN" altLang="en-US" sz="2000"/>
            </a:p>
          </p:txBody>
        </p:sp>
      </p:grpSp>
      <p:sp>
        <p:nvSpPr>
          <p:cNvPr id="10" name="Line 1044">
            <a:extLst>
              <a:ext uri="{FF2B5EF4-FFF2-40B4-BE49-F238E27FC236}">
                <a16:creationId xmlns:a16="http://schemas.microsoft.com/office/drawing/2014/main" id="{AE793FDB-0880-954D-B6F6-356BCF66CDE6}"/>
              </a:ext>
            </a:extLst>
          </p:cNvPr>
          <p:cNvSpPr>
            <a:spLocks noChangeShapeType="1"/>
          </p:cNvSpPr>
          <p:nvPr userDrawn="1"/>
        </p:nvSpPr>
        <p:spPr bwMode="auto">
          <a:xfrm>
            <a:off x="1970618" y="1008064"/>
            <a:ext cx="10020300" cy="9525"/>
          </a:xfrm>
          <a:prstGeom prst="line">
            <a:avLst/>
          </a:prstGeom>
          <a:noFill/>
          <a:ln w="57150" cmpd="thinThick">
            <a:solidFill>
              <a:srgbClr val="800080"/>
            </a:solidFill>
            <a:round/>
            <a:headEnd type="none" w="sm" len="sm"/>
            <a:tailEnd type="none" w="sm" len="sm"/>
          </a:ln>
          <a:effectLst/>
        </p:spPr>
        <p:txBody>
          <a:bodyPr wrap="none" anchor="ctr"/>
          <a:lstStyle/>
          <a:p>
            <a:endParaRPr lang="zh-CN" altLang="en-US" sz="200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137" name="Group 1041"/>
          <p:cNvGrpSpPr>
            <a:grpSpLocks/>
          </p:cNvGrpSpPr>
          <p:nvPr userDrawn="1"/>
        </p:nvGrpSpPr>
        <p:grpSpPr bwMode="auto">
          <a:xfrm>
            <a:off x="1" y="0"/>
            <a:ext cx="1968500" cy="6884988"/>
            <a:chOff x="0" y="0"/>
            <a:chExt cx="2016" cy="4320"/>
          </a:xfrm>
        </p:grpSpPr>
        <p:sp>
          <p:nvSpPr>
            <p:cNvPr id="5138" name="Rectangle 1042"/>
            <p:cNvSpPr>
              <a:spLocks noChangeArrowheads="1"/>
            </p:cNvSpPr>
            <p:nvPr/>
          </p:nvSpPr>
          <p:spPr bwMode="auto">
            <a:xfrm>
              <a:off x="0" y="0"/>
              <a:ext cx="480" cy="4320"/>
            </a:xfrm>
            <a:prstGeom prst="rect">
              <a:avLst/>
            </a:prstGeom>
            <a:gradFill rotWithShape="0">
              <a:gsLst>
                <a:gs pos="0">
                  <a:srgbClr val="800080"/>
                </a:gs>
                <a:gs pos="100000">
                  <a:srgbClr val="800080">
                    <a:gamma/>
                    <a:tint val="20000"/>
                    <a:invGamma/>
                  </a:srgbClr>
                </a:gs>
              </a:gsLst>
              <a:lin ang="0" scaled="1"/>
            </a:gradFill>
            <a:ln w="9525">
              <a:noFill/>
              <a:miter lim="800000"/>
              <a:headEnd/>
              <a:tailEnd/>
            </a:ln>
            <a:effectLst/>
          </p:spPr>
          <p:txBody>
            <a:bodyPr wrap="none" anchor="ctr"/>
            <a:lstStyle/>
            <a:p>
              <a:endParaRPr lang="zh-CN" altLang="en-US" sz="1800"/>
            </a:p>
          </p:txBody>
        </p:sp>
        <p:sp>
          <p:nvSpPr>
            <p:cNvPr id="5139" name="Rectangle 1043"/>
            <p:cNvSpPr>
              <a:spLocks noChangeArrowheads="1"/>
            </p:cNvSpPr>
            <p:nvPr/>
          </p:nvSpPr>
          <p:spPr bwMode="auto">
            <a:xfrm>
              <a:off x="432" y="0"/>
              <a:ext cx="1584" cy="672"/>
            </a:xfrm>
            <a:prstGeom prst="rect">
              <a:avLst/>
            </a:prstGeom>
            <a:gradFill rotWithShape="0">
              <a:gsLst>
                <a:gs pos="0">
                  <a:srgbClr val="800080"/>
                </a:gs>
                <a:gs pos="100000">
                  <a:srgbClr val="800080">
                    <a:gamma/>
                    <a:tint val="20000"/>
                    <a:invGamma/>
                  </a:srgbClr>
                </a:gs>
              </a:gsLst>
              <a:lin ang="0" scaled="1"/>
            </a:gradFill>
            <a:ln w="9525">
              <a:noFill/>
              <a:miter lim="800000"/>
              <a:headEnd/>
              <a:tailEnd/>
            </a:ln>
            <a:effectLst/>
          </p:spPr>
          <p:txBody>
            <a:bodyPr wrap="none" anchor="ctr"/>
            <a:lstStyle/>
            <a:p>
              <a:endParaRPr lang="zh-CN" altLang="en-US" sz="1800"/>
            </a:p>
          </p:txBody>
        </p:sp>
      </p:grpSp>
      <p:sp>
        <p:nvSpPr>
          <p:cNvPr id="5140" name="Line 1044"/>
          <p:cNvSpPr>
            <a:spLocks noChangeShapeType="1"/>
          </p:cNvSpPr>
          <p:nvPr userDrawn="1"/>
        </p:nvSpPr>
        <p:spPr bwMode="auto">
          <a:xfrm>
            <a:off x="2019301" y="1008064"/>
            <a:ext cx="10020300" cy="9525"/>
          </a:xfrm>
          <a:prstGeom prst="line">
            <a:avLst/>
          </a:prstGeom>
          <a:noFill/>
          <a:ln w="57150" cmpd="thinThick">
            <a:solidFill>
              <a:srgbClr val="800080"/>
            </a:solidFill>
            <a:round/>
            <a:headEnd type="none" w="sm" len="sm"/>
            <a:tailEnd type="none" w="sm" len="sm"/>
          </a:ln>
          <a:effectLst/>
        </p:spPr>
        <p:txBody>
          <a:bodyPr wrap="none" anchor="ctr"/>
          <a:lstStyle/>
          <a:p>
            <a:endParaRPr lang="zh-CN" altLang="en-US" sz="1800"/>
          </a:p>
        </p:txBody>
      </p:sp>
      <p:sp>
        <p:nvSpPr>
          <p:cNvPr id="5143" name="AutoShape 1047"/>
          <p:cNvSpPr>
            <a:spLocks noChangeArrowheads="1"/>
          </p:cNvSpPr>
          <p:nvPr userDrawn="1"/>
        </p:nvSpPr>
        <p:spPr bwMode="auto">
          <a:xfrm>
            <a:off x="1538818" y="215900"/>
            <a:ext cx="4415367" cy="647700"/>
          </a:xfrm>
          <a:prstGeom prst="roundRect">
            <a:avLst>
              <a:gd name="adj" fmla="val 50000"/>
            </a:avLst>
          </a:prstGeom>
          <a:solidFill>
            <a:schemeClr val="bg1"/>
          </a:solidFill>
          <a:ln w="9525">
            <a:noFill/>
            <a:round/>
            <a:headEnd/>
            <a:tailEnd/>
          </a:ln>
          <a:effectLst/>
        </p:spPr>
        <p:txBody>
          <a:bodyPr wrap="none" anchor="ctr"/>
          <a:lstStyle/>
          <a:p>
            <a:pPr algn="ctr"/>
            <a:endParaRPr lang="zh-CN" altLang="zh-CN" sz="2400" b="0" i="0">
              <a:solidFill>
                <a:schemeClr val="tx1"/>
              </a:solidFill>
              <a:ea typeface="宋体" pitchFamily="2" charset="-122"/>
            </a:endParaRPr>
          </a:p>
        </p:txBody>
      </p:sp>
    </p:spTree>
    <p:extLst>
      <p:ext uri="{BB962C8B-B14F-4D97-AF65-F5344CB8AC3E}">
        <p14:creationId xmlns:p14="http://schemas.microsoft.com/office/powerpoint/2010/main" val="274233107"/>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ransition spd="med" advClick="0">
    <p:wipe dir="r"/>
  </p:transition>
  <p:hf hdr="0" ftr="0" dt="0"/>
  <p:txStyles>
    <p:titleStyle>
      <a:lvl1pPr algn="l" rtl="0" fontAlgn="base">
        <a:lnSpc>
          <a:spcPct val="90000"/>
        </a:lnSpc>
        <a:spcBef>
          <a:spcPct val="0"/>
        </a:spcBef>
        <a:spcAft>
          <a:spcPct val="0"/>
        </a:spcAft>
        <a:defRPr kumimoji="1" sz="3600" b="1">
          <a:solidFill>
            <a:schemeClr val="tx2"/>
          </a:solidFill>
          <a:latin typeface="+mj-lt"/>
          <a:ea typeface="+mj-ea"/>
          <a:cs typeface="+mj-cs"/>
        </a:defRPr>
      </a:lvl1pPr>
      <a:lvl2pPr algn="l" rtl="0" fontAlgn="base">
        <a:lnSpc>
          <a:spcPct val="90000"/>
        </a:lnSpc>
        <a:spcBef>
          <a:spcPct val="0"/>
        </a:spcBef>
        <a:spcAft>
          <a:spcPct val="0"/>
        </a:spcAft>
        <a:defRPr kumimoji="1" sz="3600" b="1">
          <a:solidFill>
            <a:schemeClr val="tx2"/>
          </a:solidFill>
          <a:latin typeface="Arial" pitchFamily="34" charset="0"/>
          <a:ea typeface="宋体" pitchFamily="2" charset="-122"/>
        </a:defRPr>
      </a:lvl2pPr>
      <a:lvl3pPr algn="l" rtl="0" fontAlgn="base">
        <a:lnSpc>
          <a:spcPct val="90000"/>
        </a:lnSpc>
        <a:spcBef>
          <a:spcPct val="0"/>
        </a:spcBef>
        <a:spcAft>
          <a:spcPct val="0"/>
        </a:spcAft>
        <a:defRPr kumimoji="1" sz="3600" b="1">
          <a:solidFill>
            <a:schemeClr val="tx2"/>
          </a:solidFill>
          <a:latin typeface="Arial" pitchFamily="34" charset="0"/>
          <a:ea typeface="宋体" pitchFamily="2" charset="-122"/>
        </a:defRPr>
      </a:lvl3pPr>
      <a:lvl4pPr algn="l" rtl="0" fontAlgn="base">
        <a:lnSpc>
          <a:spcPct val="90000"/>
        </a:lnSpc>
        <a:spcBef>
          <a:spcPct val="0"/>
        </a:spcBef>
        <a:spcAft>
          <a:spcPct val="0"/>
        </a:spcAft>
        <a:defRPr kumimoji="1" sz="3600" b="1">
          <a:solidFill>
            <a:schemeClr val="tx2"/>
          </a:solidFill>
          <a:latin typeface="Arial" pitchFamily="34" charset="0"/>
          <a:ea typeface="宋体" pitchFamily="2" charset="-122"/>
        </a:defRPr>
      </a:lvl4pPr>
      <a:lvl5pPr algn="l" rtl="0" fontAlgn="base">
        <a:lnSpc>
          <a:spcPct val="90000"/>
        </a:lnSpc>
        <a:spcBef>
          <a:spcPct val="0"/>
        </a:spcBef>
        <a:spcAft>
          <a:spcPct val="0"/>
        </a:spcAft>
        <a:defRPr kumimoji="1" sz="3600" b="1">
          <a:solidFill>
            <a:schemeClr val="tx2"/>
          </a:solidFill>
          <a:latin typeface="Arial" pitchFamily="34" charset="0"/>
          <a:ea typeface="宋体" pitchFamily="2" charset="-122"/>
        </a:defRPr>
      </a:lvl5pPr>
      <a:lvl6pPr marL="457200" algn="l" rtl="0" fontAlgn="base">
        <a:lnSpc>
          <a:spcPct val="90000"/>
        </a:lnSpc>
        <a:spcBef>
          <a:spcPct val="0"/>
        </a:spcBef>
        <a:spcAft>
          <a:spcPct val="0"/>
        </a:spcAft>
        <a:defRPr kumimoji="1" sz="3600" b="1">
          <a:solidFill>
            <a:schemeClr val="tx2"/>
          </a:solidFill>
          <a:latin typeface="Arial" pitchFamily="34" charset="0"/>
          <a:ea typeface="宋体" pitchFamily="2" charset="-122"/>
        </a:defRPr>
      </a:lvl6pPr>
      <a:lvl7pPr marL="914400" algn="l" rtl="0" fontAlgn="base">
        <a:lnSpc>
          <a:spcPct val="90000"/>
        </a:lnSpc>
        <a:spcBef>
          <a:spcPct val="0"/>
        </a:spcBef>
        <a:spcAft>
          <a:spcPct val="0"/>
        </a:spcAft>
        <a:defRPr kumimoji="1" sz="3600" b="1">
          <a:solidFill>
            <a:schemeClr val="tx2"/>
          </a:solidFill>
          <a:latin typeface="Arial" pitchFamily="34" charset="0"/>
          <a:ea typeface="宋体" pitchFamily="2" charset="-122"/>
        </a:defRPr>
      </a:lvl7pPr>
      <a:lvl8pPr marL="1371600" algn="l" rtl="0" fontAlgn="base">
        <a:lnSpc>
          <a:spcPct val="90000"/>
        </a:lnSpc>
        <a:spcBef>
          <a:spcPct val="0"/>
        </a:spcBef>
        <a:spcAft>
          <a:spcPct val="0"/>
        </a:spcAft>
        <a:defRPr kumimoji="1" sz="3600" b="1">
          <a:solidFill>
            <a:schemeClr val="tx2"/>
          </a:solidFill>
          <a:latin typeface="Arial" pitchFamily="34" charset="0"/>
          <a:ea typeface="宋体" pitchFamily="2" charset="-122"/>
        </a:defRPr>
      </a:lvl8pPr>
      <a:lvl9pPr marL="1828800" algn="l" rtl="0" fontAlgn="base">
        <a:lnSpc>
          <a:spcPct val="90000"/>
        </a:lnSpc>
        <a:spcBef>
          <a:spcPct val="0"/>
        </a:spcBef>
        <a:spcAft>
          <a:spcPct val="0"/>
        </a:spcAft>
        <a:defRPr kumimoji="1" sz="3600" b="1">
          <a:solidFill>
            <a:schemeClr val="tx2"/>
          </a:solidFill>
          <a:latin typeface="Arial" pitchFamily="34" charset="0"/>
          <a:ea typeface="宋体" pitchFamily="2" charset="-122"/>
        </a:defRPr>
      </a:lvl9pPr>
    </p:titleStyle>
    <p:bodyStyle>
      <a:lvl1pPr marL="342900" indent="-342900" algn="l" rtl="0" fontAlgn="base">
        <a:spcBef>
          <a:spcPct val="20000"/>
        </a:spcBef>
        <a:spcAft>
          <a:spcPct val="0"/>
        </a:spcAft>
        <a:buClr>
          <a:schemeClr val="tx1"/>
        </a:buClr>
        <a:buSzPct val="75000"/>
        <a:buFont typeface="Wingdings" pitchFamily="2" charset="2"/>
        <a:buChar char="l"/>
        <a:defRPr kumimoji="1" sz="28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Char char="–"/>
        <a:defRPr kumimoji="1" sz="2400">
          <a:solidFill>
            <a:schemeClr val="tx1"/>
          </a:solidFill>
          <a:latin typeface="+mn-lt"/>
          <a:ea typeface="+mn-ea"/>
        </a:defRPr>
      </a:lvl2pPr>
      <a:lvl3pPr marL="1143000" indent="-228600" algn="l" rtl="0" fontAlgn="base">
        <a:spcBef>
          <a:spcPct val="20000"/>
        </a:spcBef>
        <a:spcAft>
          <a:spcPct val="0"/>
        </a:spcAft>
        <a:buClr>
          <a:schemeClr val="tx1"/>
        </a:buClr>
        <a:buSzPct val="75000"/>
        <a:buFont typeface="Wingdings" pitchFamily="2" charset="2"/>
        <a:buChar char="l"/>
        <a:defRPr kumimoji="1" sz="2000">
          <a:solidFill>
            <a:schemeClr val="tx1"/>
          </a:solidFill>
          <a:latin typeface="+mn-lt"/>
          <a:ea typeface="+mn-ea"/>
        </a:defRPr>
      </a:lvl3pPr>
      <a:lvl4pPr marL="1600200" indent="-228600" algn="l" rtl="0" fontAlgn="base">
        <a:spcBef>
          <a:spcPct val="20000"/>
        </a:spcBef>
        <a:spcAft>
          <a:spcPct val="0"/>
        </a:spcAft>
        <a:buClr>
          <a:schemeClr val="tx1"/>
        </a:buClr>
        <a:buSzPct val="80000"/>
        <a:buChar char="–"/>
        <a:defRPr kumimoji="1">
          <a:solidFill>
            <a:schemeClr val="tx1"/>
          </a:solidFill>
          <a:latin typeface="+mn-lt"/>
          <a:ea typeface="+mn-ea"/>
        </a:defRPr>
      </a:lvl4pPr>
      <a:lvl5pPr marL="2057400" indent="-228600" algn="l" rtl="0" fontAlgn="base">
        <a:spcBef>
          <a:spcPct val="20000"/>
        </a:spcBef>
        <a:spcAft>
          <a:spcPct val="0"/>
        </a:spcAft>
        <a:buClr>
          <a:schemeClr val="tx1"/>
        </a:buClr>
        <a:buSzPct val="65000"/>
        <a:buFont typeface="Wingdings" pitchFamily="2" charset="2"/>
        <a:buChar char="l"/>
        <a:defRPr kumimoji="1">
          <a:solidFill>
            <a:schemeClr val="tx1"/>
          </a:solidFill>
          <a:latin typeface="+mn-lt"/>
          <a:ea typeface="+mn-ea"/>
        </a:defRPr>
      </a:lvl5pPr>
      <a:lvl6pPr marL="2514600" indent="-228600" algn="l" rtl="0" fontAlgn="base">
        <a:spcBef>
          <a:spcPct val="20000"/>
        </a:spcBef>
        <a:spcAft>
          <a:spcPct val="0"/>
        </a:spcAft>
        <a:buClr>
          <a:schemeClr val="tx1"/>
        </a:buClr>
        <a:buSzPct val="65000"/>
        <a:buFont typeface="Wingdings" pitchFamily="2" charset="2"/>
        <a:buChar char="l"/>
        <a:defRPr kumimoji="1">
          <a:solidFill>
            <a:schemeClr val="tx1"/>
          </a:solidFill>
          <a:latin typeface="+mn-lt"/>
          <a:ea typeface="+mn-ea"/>
        </a:defRPr>
      </a:lvl6pPr>
      <a:lvl7pPr marL="2971800" indent="-228600" algn="l" rtl="0" fontAlgn="base">
        <a:spcBef>
          <a:spcPct val="20000"/>
        </a:spcBef>
        <a:spcAft>
          <a:spcPct val="0"/>
        </a:spcAft>
        <a:buClr>
          <a:schemeClr val="tx1"/>
        </a:buClr>
        <a:buSzPct val="65000"/>
        <a:buFont typeface="Wingdings" pitchFamily="2" charset="2"/>
        <a:buChar char="l"/>
        <a:defRPr kumimoji="1">
          <a:solidFill>
            <a:schemeClr val="tx1"/>
          </a:solidFill>
          <a:latin typeface="+mn-lt"/>
          <a:ea typeface="+mn-ea"/>
        </a:defRPr>
      </a:lvl7pPr>
      <a:lvl8pPr marL="3429000" indent="-228600" algn="l" rtl="0" fontAlgn="base">
        <a:spcBef>
          <a:spcPct val="20000"/>
        </a:spcBef>
        <a:spcAft>
          <a:spcPct val="0"/>
        </a:spcAft>
        <a:buClr>
          <a:schemeClr val="tx1"/>
        </a:buClr>
        <a:buSzPct val="65000"/>
        <a:buFont typeface="Wingdings" pitchFamily="2" charset="2"/>
        <a:buChar char="l"/>
        <a:defRPr kumimoji="1">
          <a:solidFill>
            <a:schemeClr val="tx1"/>
          </a:solidFill>
          <a:latin typeface="+mn-lt"/>
          <a:ea typeface="+mn-ea"/>
        </a:defRPr>
      </a:lvl8pPr>
      <a:lvl9pPr marL="3886200" indent="-228600" algn="l" rtl="0" fontAlgn="base">
        <a:spcBef>
          <a:spcPct val="20000"/>
        </a:spcBef>
        <a:spcAft>
          <a:spcPct val="0"/>
        </a:spcAft>
        <a:buClr>
          <a:schemeClr val="tx1"/>
        </a:buClr>
        <a:buSzPct val="65000"/>
        <a:buFont typeface="Wingdings" pitchFamily="2" charset="2"/>
        <a:buChar char="l"/>
        <a:defRPr kumimoji="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6.xml"/><Relationship Id="rId3" Type="http://schemas.openxmlformats.org/officeDocument/2006/relationships/tags" Target="../tags/tag3.xml"/><Relationship Id="rId21" Type="http://schemas.openxmlformats.org/officeDocument/2006/relationships/image" Target="../media/image3.tmp"/><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1.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notesSlide" Target="../notesSlides/notesSlide6.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2.xml"/><Relationship Id="rId1" Type="http://schemas.openxmlformats.org/officeDocument/2006/relationships/slideLayout" Target="../slideLayouts/slideLayout17.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670.png"/><Relationship Id="rId13" Type="http://schemas.openxmlformats.org/officeDocument/2006/relationships/image" Target="../media/image110.png"/><Relationship Id="rId3" Type="http://schemas.openxmlformats.org/officeDocument/2006/relationships/image" Target="../media/image62.png"/><Relationship Id="rId7" Type="http://schemas.openxmlformats.org/officeDocument/2006/relationships/image" Target="../media/image660.png"/><Relationship Id="rId12" Type="http://schemas.openxmlformats.org/officeDocument/2006/relationships/image" Target="../media/image710.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65.png"/><Relationship Id="rId11" Type="http://schemas.openxmlformats.org/officeDocument/2006/relationships/image" Target="../media/image700.png"/><Relationship Id="rId5" Type="http://schemas.openxmlformats.org/officeDocument/2006/relationships/image" Target="../media/image64.png"/><Relationship Id="rId10" Type="http://schemas.openxmlformats.org/officeDocument/2006/relationships/image" Target="../media/image690.png"/><Relationship Id="rId4" Type="http://schemas.openxmlformats.org/officeDocument/2006/relationships/image" Target="../media/image63.png"/><Relationship Id="rId9" Type="http://schemas.openxmlformats.org/officeDocument/2006/relationships/image" Target="../media/image680.png"/></Relationships>
</file>

<file path=ppt/slides/_rels/slide3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NULL"/><Relationship Id="rId3" Type="http://schemas.openxmlformats.org/officeDocument/2006/relationships/image" Target="../media/image13.png"/><Relationship Id="rId7" Type="http://schemas.openxmlformats.org/officeDocument/2006/relationships/image" Target="../media/image77.png"/><Relationship Id="rId12" Type="http://schemas.openxmlformats.org/officeDocument/2006/relationships/image" Target="NUL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76.png"/><Relationship Id="rId11" Type="http://schemas.openxmlformats.org/officeDocument/2006/relationships/image" Target="NULL"/><Relationship Id="rId5" Type="http://schemas.openxmlformats.org/officeDocument/2006/relationships/image" Target="../media/image75.png"/><Relationship Id="rId15" Type="http://schemas.openxmlformats.org/officeDocument/2006/relationships/image" Target="NULL"/><Relationship Id="rId10" Type="http://schemas.openxmlformats.org/officeDocument/2006/relationships/image" Target="NULL"/><Relationship Id="rId4" Type="http://schemas.openxmlformats.org/officeDocument/2006/relationships/image" Target="../media/image740.png"/><Relationship Id="rId9" Type="http://schemas.openxmlformats.org/officeDocument/2006/relationships/image" Target="../media/image79.png"/><Relationship Id="rId14" Type="http://schemas.openxmlformats.org/officeDocument/2006/relationships/image" Target="NUL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tags" Target="../tags/tag35.xml"/><Relationship Id="rId26" Type="http://schemas.openxmlformats.org/officeDocument/2006/relationships/image" Target="../media/image3.tmp"/><Relationship Id="rId3" Type="http://schemas.openxmlformats.org/officeDocument/2006/relationships/tags" Target="../tags/tag20.xml"/><Relationship Id="rId21" Type="http://schemas.openxmlformats.org/officeDocument/2006/relationships/tags" Target="../tags/tag38.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5" Type="http://schemas.openxmlformats.org/officeDocument/2006/relationships/notesSlide" Target="../notesSlides/notesSlide32.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tags" Target="../tags/tag37.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24" Type="http://schemas.openxmlformats.org/officeDocument/2006/relationships/slideLayout" Target="../slideLayouts/slideLayout6.xml"/><Relationship Id="rId5" Type="http://schemas.openxmlformats.org/officeDocument/2006/relationships/tags" Target="../tags/tag22.xml"/><Relationship Id="rId15" Type="http://schemas.openxmlformats.org/officeDocument/2006/relationships/tags" Target="../tags/tag32.xml"/><Relationship Id="rId23" Type="http://schemas.openxmlformats.org/officeDocument/2006/relationships/tags" Target="../tags/tag40.xml"/><Relationship Id="rId10" Type="http://schemas.openxmlformats.org/officeDocument/2006/relationships/tags" Target="../tags/tag27.xml"/><Relationship Id="rId19" Type="http://schemas.openxmlformats.org/officeDocument/2006/relationships/tags" Target="../tags/tag36.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 Id="rId22" Type="http://schemas.openxmlformats.org/officeDocument/2006/relationships/tags" Target="../tags/tag3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p:txBody>
          <a:bodyPr/>
          <a:lstStyle/>
          <a:p>
            <a:r>
              <a:rPr lang="zh-CN" altLang="en-US" dirty="0">
                <a:solidFill>
                  <a:schemeClr val="bg1">
                    <a:lumMod val="65000"/>
                  </a:schemeClr>
                </a:solidFill>
              </a:rPr>
              <a:t>图灵机简介、形式化定义</a:t>
            </a:r>
            <a:endParaRPr lang="en-AU" altLang="zh-CN" dirty="0">
              <a:solidFill>
                <a:schemeClr val="bg1">
                  <a:lumMod val="65000"/>
                </a:schemeClr>
              </a:solidFill>
            </a:endParaRPr>
          </a:p>
          <a:p>
            <a:r>
              <a:rPr lang="zh-CN" altLang="en-US" dirty="0"/>
              <a:t>图灵机的表示能力：语言、停机与整数运算</a:t>
            </a:r>
            <a:endParaRPr lang="en-AU" altLang="zh-CN" dirty="0"/>
          </a:p>
          <a:p>
            <a:r>
              <a:rPr lang="zh-CN" altLang="en-US" dirty="0">
                <a:solidFill>
                  <a:schemeClr val="bg1">
                    <a:lumMod val="65000"/>
                  </a:schemeClr>
                </a:solidFill>
              </a:rPr>
              <a:t>扩展图灵机</a:t>
            </a:r>
            <a:endParaRPr lang="en-AU" altLang="zh-CN" dirty="0">
              <a:solidFill>
                <a:schemeClr val="bg1">
                  <a:lumMod val="65000"/>
                </a:schemeClr>
              </a:solidFill>
            </a:endParaRPr>
          </a:p>
          <a:p>
            <a:r>
              <a:rPr lang="zh-CN" altLang="en-US" dirty="0">
                <a:solidFill>
                  <a:schemeClr val="bg1">
                    <a:lumMod val="65000"/>
                  </a:schemeClr>
                </a:solidFill>
              </a:rPr>
              <a:t>受限图灵机</a:t>
            </a:r>
            <a:endParaRPr lang="en-AU" dirty="0">
              <a:solidFill>
                <a:schemeClr val="bg1">
                  <a:lumMod val="65000"/>
                </a:schemeClr>
              </a:solidFill>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t>1</a:t>
            </a:fld>
            <a:endParaRPr lang="en-A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图灵机的语言</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60550" y="1104901"/>
                <a:ext cx="8229600" cy="4525963"/>
              </a:xfrm>
            </p:spPr>
            <p:txBody>
              <a:bodyPr>
                <a:normAutofit fontScale="92500" lnSpcReduction="10000"/>
              </a:bodyPr>
              <a:lstStyle/>
              <a:p>
                <a:r>
                  <a:rPr lang="zh-CN" altLang="en-US" dirty="0"/>
                  <a:t>定义</a:t>
                </a:r>
                <a:r>
                  <a:rPr lang="en-AU" altLang="zh-CN" dirty="0"/>
                  <a:t>:</a:t>
                </a:r>
                <a:r>
                  <a:rPr lang="zh-CN" altLang="en-US" dirty="0"/>
                  <a:t>如果</a:t>
                </a:r>
                <a14:m>
                  <m:oMath xmlns:m="http://schemas.openxmlformats.org/officeDocument/2006/math">
                    <m:r>
                      <a:rPr lang="en-AU" altLang="zh-CN" i="1" dirty="0" smtClean="0">
                        <a:latin typeface="Cambria Math" panose="02040503050406030204" pitchFamily="18" charset="0"/>
                      </a:rPr>
                      <m:t>𝑀</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𝑄</m:t>
                    </m:r>
                    <m:r>
                      <a:rPr lang="en-AU" altLang="zh-CN" i="1" dirty="0" smtClean="0">
                        <a:latin typeface="Cambria Math" panose="02040503050406030204" pitchFamily="18" charset="0"/>
                      </a:rPr>
                      <m:t>, </m:t>
                    </m:r>
                    <m:r>
                      <m:rPr>
                        <m:sty m:val="p"/>
                      </m:rPr>
                      <a:rPr lang="el-GR" altLang="zh-CN" i="0" dirty="0" smtClean="0">
                        <a:latin typeface="Cambria Math" panose="02040503050406030204" pitchFamily="18" charset="0"/>
                      </a:rPr>
                      <m:t>Σ</m:t>
                    </m:r>
                    <m:r>
                      <a:rPr lang="el-GR" altLang="zh-CN" i="1" dirty="0" smtClean="0">
                        <a:latin typeface="Cambria Math" panose="02040503050406030204" pitchFamily="18" charset="0"/>
                      </a:rPr>
                      <m:t>, </m:t>
                    </m:r>
                    <m:r>
                      <m:rPr>
                        <m:sty m:val="p"/>
                      </m:rPr>
                      <a:rPr lang="el-GR" altLang="zh-CN" i="0" dirty="0" smtClean="0">
                        <a:latin typeface="Cambria Math" panose="02040503050406030204" pitchFamily="18" charset="0"/>
                      </a:rPr>
                      <m:t>Γ</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𝛿</m:t>
                    </m:r>
                    <m:r>
                      <a:rPr lang="el-GR" altLang="zh-CN" i="1" dirty="0" smtClean="0">
                        <a:latin typeface="Cambria Math" panose="02040503050406030204" pitchFamily="18" charset="0"/>
                      </a:rPr>
                      <m:t>, </m:t>
                    </m:r>
                    <m:sSub>
                      <m:sSubPr>
                        <m:ctrlPr>
                          <a:rPr lang="el-GR" altLang="zh-CN" i="1" dirty="0" smtClean="0">
                            <a:latin typeface="Cambria Math" panose="02040503050406030204" pitchFamily="18" charset="0"/>
                          </a:rPr>
                        </m:ctrlPr>
                      </m:sSubPr>
                      <m:e>
                        <m:r>
                          <a:rPr lang="en-AU" altLang="zh-CN" b="0" i="1" dirty="0" smtClean="0">
                            <a:latin typeface="Cambria Math" panose="02040503050406030204" pitchFamily="18" charset="0"/>
                          </a:rPr>
                          <m:t>𝑞</m:t>
                        </m:r>
                      </m:e>
                      <m:sub>
                        <m:r>
                          <a:rPr lang="en-AU" altLang="zh-CN" b="0" i="1" dirty="0" smtClean="0">
                            <a:latin typeface="Cambria Math" panose="02040503050406030204" pitchFamily="18" charset="0"/>
                          </a:rPr>
                          <m:t>0</m:t>
                        </m:r>
                      </m:sub>
                    </m:sSub>
                    <m:r>
                      <a:rPr lang="en-AU" altLang="zh-CN" i="1" dirty="0" smtClean="0">
                        <a:latin typeface="Cambria Math" panose="02040503050406030204" pitchFamily="18" charset="0"/>
                      </a:rPr>
                      <m:t>, </m:t>
                    </m:r>
                    <m:r>
                      <a:rPr lang="en-AU" altLang="zh-CN" i="1" dirty="0" smtClean="0">
                        <a:latin typeface="Cambria Math" panose="02040503050406030204" pitchFamily="18" charset="0"/>
                      </a:rPr>
                      <m:t>𝐵</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𝐹</m:t>
                    </m:r>
                    <m:r>
                      <a:rPr lang="en-AU" altLang="zh-CN" i="1" dirty="0" smtClean="0">
                        <a:latin typeface="Cambria Math" panose="02040503050406030204" pitchFamily="18" charset="0"/>
                      </a:rPr>
                      <m:t>)</m:t>
                    </m:r>
                  </m:oMath>
                </a14:m>
                <a:r>
                  <a:rPr lang="zh-CN" altLang="en-US" dirty="0"/>
                  <a:t>是一个图灵机</a:t>
                </a:r>
                <a:r>
                  <a:rPr lang="en-AU" altLang="zh-CN" dirty="0"/>
                  <a:t>,</a:t>
                </a:r>
                <a:r>
                  <a:rPr lang="zh-CN" altLang="en-US" dirty="0"/>
                  <a:t>则</a:t>
                </a:r>
                <a14:m>
                  <m:oMath xmlns:m="http://schemas.openxmlformats.org/officeDocument/2006/math">
                    <m:r>
                      <a:rPr lang="en-AU" altLang="zh-CN" b="0" i="1" smtClean="0">
                        <a:latin typeface="Cambria Math" panose="02040503050406030204" pitchFamily="18" charset="0"/>
                      </a:rPr>
                      <m:t>𝑀</m:t>
                    </m:r>
                  </m:oMath>
                </a14:m>
                <a:r>
                  <a:rPr lang="zh-CN" altLang="en-US" dirty="0"/>
                  <a:t>接受的语言为</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sz="2400" dirty="0">
                          <a:latin typeface="Cambria Math" panose="02040503050406030204" pitchFamily="18" charset="0"/>
                        </a:rPr>
                        <m:t>𝐋</m:t>
                      </m:r>
                      <m:d>
                        <m:dPr>
                          <m:ctrlPr>
                            <a:rPr lang="en-AU" sz="2400" i="1" dirty="0">
                              <a:latin typeface="Cambria Math" panose="02040503050406030204" pitchFamily="18" charset="0"/>
                            </a:rPr>
                          </m:ctrlPr>
                        </m:dPr>
                        <m:e>
                          <m:r>
                            <a:rPr lang="en-AU" sz="2400" i="1" dirty="0">
                              <a:latin typeface="Cambria Math" panose="02040503050406030204" pitchFamily="18" charset="0"/>
                            </a:rPr>
                            <m:t>𝑀</m:t>
                          </m:r>
                        </m:e>
                      </m:d>
                      <m:r>
                        <a:rPr lang="en-AU" sz="2400" i="1" dirty="0">
                          <a:latin typeface="Cambria Math" panose="02040503050406030204" pitchFamily="18" charset="0"/>
                        </a:rPr>
                        <m:t>= </m:t>
                      </m:r>
                      <m:d>
                        <m:dPr>
                          <m:begChr m:val="{"/>
                          <m:endChr m:val="|"/>
                          <m:ctrlPr>
                            <a:rPr lang="en-AU" sz="2400" i="1" dirty="0">
                              <a:latin typeface="Cambria Math" panose="02040503050406030204" pitchFamily="18" charset="0"/>
                            </a:rPr>
                          </m:ctrlPr>
                        </m:dPr>
                        <m:e>
                          <m:r>
                            <a:rPr lang="en-AU" sz="2400" i="1" dirty="0">
                              <a:latin typeface="Cambria Math" panose="02040503050406030204" pitchFamily="18" charset="0"/>
                            </a:rPr>
                            <m:t>𝑤</m:t>
                          </m:r>
                          <m:r>
                            <a:rPr lang="en-AU" sz="2400" i="1" dirty="0">
                              <a:latin typeface="Cambria Math" panose="02040503050406030204" pitchFamily="18" charset="0"/>
                            </a:rPr>
                            <m:t> </m:t>
                          </m:r>
                        </m:e>
                      </m:d>
                      <m:r>
                        <a:rPr lang="en-AU" sz="2400" i="1" dirty="0">
                          <a:latin typeface="Cambria Math" panose="02040503050406030204" pitchFamily="18" charset="0"/>
                        </a:rPr>
                        <m:t>𝑤</m:t>
                      </m:r>
                      <m:r>
                        <a:rPr lang="en-AU" sz="2400" i="1" dirty="0">
                          <a:latin typeface="Cambria Math" panose="02040503050406030204" pitchFamily="18" charset="0"/>
                        </a:rPr>
                        <m:t> ∈</m:t>
                      </m:r>
                      <m:sSup>
                        <m:sSupPr>
                          <m:ctrlPr>
                            <a:rPr lang="en-AU" sz="2400" i="1" dirty="0">
                              <a:latin typeface="Cambria Math" panose="02040503050406030204" pitchFamily="18" charset="0"/>
                            </a:rPr>
                          </m:ctrlPr>
                        </m:sSupPr>
                        <m:e>
                          <m:r>
                            <m:rPr>
                              <m:sty m:val="p"/>
                            </m:rPr>
                            <a:rPr lang="el-GR" sz="2400" i="1" dirty="0">
                              <a:latin typeface="Cambria Math" panose="02040503050406030204" pitchFamily="18" charset="0"/>
                              <a:ea typeface="Cambria Math" panose="02040503050406030204" pitchFamily="18" charset="0"/>
                            </a:rPr>
                            <m:t>Σ</m:t>
                          </m:r>
                        </m:e>
                        <m:sup>
                          <m:r>
                            <a:rPr lang="en-AU" sz="2400" b="0" i="1" dirty="0">
                              <a:latin typeface="Cambria Math" panose="02040503050406030204" pitchFamily="18" charset="0"/>
                            </a:rPr>
                            <m:t>∗</m:t>
                          </m:r>
                        </m:sup>
                      </m:sSup>
                      <m:r>
                        <a:rPr lang="el-GR" sz="2400" i="1" dirty="0">
                          <a:latin typeface="Cambria Math" panose="02040503050406030204" pitchFamily="18" charset="0"/>
                        </a:rPr>
                        <m:t>, </m:t>
                      </m:r>
                      <m:sSub>
                        <m:sSubPr>
                          <m:ctrlPr>
                            <a:rPr lang="el-GR" sz="2400" i="1" dirty="0">
                              <a:latin typeface="Cambria Math" panose="02040503050406030204" pitchFamily="18" charset="0"/>
                            </a:rPr>
                          </m:ctrlPr>
                        </m:sSubPr>
                        <m:e>
                          <m:r>
                            <a:rPr lang="en-AU" sz="2400" b="0" i="1" dirty="0">
                              <a:latin typeface="Cambria Math" panose="02040503050406030204" pitchFamily="18" charset="0"/>
                            </a:rPr>
                            <m:t>𝑞</m:t>
                          </m:r>
                        </m:e>
                        <m:sub>
                          <m:r>
                            <a:rPr lang="en-AU" sz="2400" b="0" i="1" dirty="0">
                              <a:latin typeface="Cambria Math" panose="02040503050406030204" pitchFamily="18" charset="0"/>
                            </a:rPr>
                            <m:t>0</m:t>
                          </m:r>
                        </m:sub>
                      </m:sSub>
                      <m:r>
                        <a:rPr lang="en-AU" sz="2400" i="1" dirty="0">
                          <a:latin typeface="Cambria Math" panose="02040503050406030204" pitchFamily="18" charset="0"/>
                        </a:rPr>
                        <m:t>𝑤</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m:t>
                          </m:r>
                        </m:e>
                        <m:sup>
                          <m:r>
                            <a:rPr lang="en-AU" altLang="zh-CN" sz="2400" i="1">
                              <a:latin typeface="Cambria Math" panose="02040503050406030204" pitchFamily="18" charset="0"/>
                            </a:rPr>
                            <m:t>∗</m:t>
                          </m:r>
                        </m:sup>
                      </m:sSup>
                      <m:r>
                        <a:rPr lang="el-GR" sz="2400" i="1" dirty="0">
                          <a:latin typeface="Cambria Math" panose="02040503050406030204" pitchFamily="18" charset="0"/>
                        </a:rPr>
                        <m:t>𝛼</m:t>
                      </m:r>
                      <m:r>
                        <a:rPr lang="en-AU" sz="2400" i="1" dirty="0">
                          <a:latin typeface="Cambria Math" panose="02040503050406030204" pitchFamily="18" charset="0"/>
                        </a:rPr>
                        <m:t>𝑝</m:t>
                      </m:r>
                      <m:r>
                        <a:rPr lang="el-GR" sz="2400" i="1" dirty="0">
                          <a:latin typeface="Cambria Math" panose="02040503050406030204" pitchFamily="18" charset="0"/>
                        </a:rPr>
                        <m:t>𝛽</m:t>
                      </m:r>
                      <m:r>
                        <a:rPr lang="el-GR" sz="2400" i="1" dirty="0">
                          <a:latin typeface="Cambria Math" panose="02040503050406030204" pitchFamily="18" charset="0"/>
                        </a:rPr>
                        <m:t>, </m:t>
                      </m:r>
                      <m:r>
                        <a:rPr lang="en-AU" sz="2400" i="1" dirty="0">
                          <a:latin typeface="Cambria Math" panose="02040503050406030204" pitchFamily="18" charset="0"/>
                        </a:rPr>
                        <m:t>𝑝</m:t>
                      </m:r>
                      <m:r>
                        <a:rPr lang="en-AU" sz="2400" i="1" dirty="0">
                          <a:latin typeface="Cambria Math" panose="02040503050406030204" pitchFamily="18" charset="0"/>
                        </a:rPr>
                        <m:t> ∈ </m:t>
                      </m:r>
                      <m:r>
                        <a:rPr lang="en-AU" sz="2400" i="1" dirty="0">
                          <a:latin typeface="Cambria Math" panose="02040503050406030204" pitchFamily="18" charset="0"/>
                        </a:rPr>
                        <m:t>𝐹</m:t>
                      </m:r>
                      <m:r>
                        <a:rPr lang="en-AU" sz="2400" i="1" dirty="0">
                          <a:latin typeface="Cambria Math" panose="02040503050406030204" pitchFamily="18" charset="0"/>
                        </a:rPr>
                        <m:t>, </m:t>
                      </m:r>
                      <m:r>
                        <a:rPr lang="el-GR" sz="2400" i="1" dirty="0">
                          <a:latin typeface="Cambria Math" panose="02040503050406030204" pitchFamily="18" charset="0"/>
                        </a:rPr>
                        <m:t>𝛼</m:t>
                      </m:r>
                      <m:r>
                        <a:rPr lang="el-GR" sz="2400" i="1" dirty="0">
                          <a:latin typeface="Cambria Math" panose="02040503050406030204" pitchFamily="18" charset="0"/>
                        </a:rPr>
                        <m:t>, </m:t>
                      </m:r>
                      <m:r>
                        <a:rPr lang="el-GR" sz="2400" i="1" dirty="0">
                          <a:latin typeface="Cambria Math" panose="02040503050406030204" pitchFamily="18" charset="0"/>
                        </a:rPr>
                        <m:t>𝛽</m:t>
                      </m:r>
                      <m:r>
                        <a:rPr lang="el-GR" sz="2400" i="1" dirty="0">
                          <a:latin typeface="Cambria Math" panose="02040503050406030204" pitchFamily="18" charset="0"/>
                        </a:rPr>
                        <m:t> ∈</m:t>
                      </m:r>
                      <m:sSup>
                        <m:sSupPr>
                          <m:ctrlPr>
                            <a:rPr lang="en-AU" sz="2400" i="1" dirty="0">
                              <a:latin typeface="Cambria Math" panose="02040503050406030204" pitchFamily="18" charset="0"/>
                            </a:rPr>
                          </m:ctrlPr>
                        </m:sSupPr>
                        <m:e>
                          <m:r>
                            <m:rPr>
                              <m:sty m:val="p"/>
                            </m:rPr>
                            <a:rPr lang="el-GR" sz="2400" dirty="0">
                              <a:latin typeface="Cambria Math" panose="02040503050406030204" pitchFamily="18" charset="0"/>
                            </a:rPr>
                            <m:t>Γ</m:t>
                          </m:r>
                        </m:e>
                        <m:sup>
                          <m:r>
                            <a:rPr lang="en-AU" sz="2400" i="1" dirty="0">
                              <a:latin typeface="Cambria Math" panose="02040503050406030204" pitchFamily="18" charset="0"/>
                            </a:rPr>
                            <m:t>∗</m:t>
                          </m:r>
                        </m:sup>
                      </m:sSup>
                      <m:r>
                        <a:rPr lang="el-GR" sz="2400" i="1" dirty="0">
                          <a:latin typeface="Cambria Math" panose="02040503050406030204" pitchFamily="18" charset="0"/>
                        </a:rPr>
                        <m:t>}</m:t>
                      </m:r>
                    </m:oMath>
                  </m:oMathPara>
                </a14:m>
                <a:endParaRPr lang="en-AU" sz="2400" dirty="0"/>
              </a:p>
              <a:p>
                <a:pPr lvl="1"/>
                <a:r>
                  <a:rPr lang="zh-CN" altLang="en-US" dirty="0"/>
                  <a:t>输入串放在输入带上，</a:t>
                </a:r>
                <a14:m>
                  <m:oMath xmlns:m="http://schemas.openxmlformats.org/officeDocument/2006/math">
                    <m:r>
                      <a:rPr lang="en-US" altLang="zh-CN" i="1" dirty="0" smtClean="0">
                        <a:latin typeface="Cambria Math" panose="02040503050406030204" pitchFamily="18" charset="0"/>
                      </a:rPr>
                      <m:t>𝑀</m:t>
                    </m:r>
                  </m:oMath>
                </a14:m>
                <a:r>
                  <a:rPr lang="zh-CN" altLang="en-US" dirty="0"/>
                  <a:t>处于</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𝑞</m:t>
                        </m:r>
                      </m:e>
                      <m:sub>
                        <m:r>
                          <a:rPr lang="en-AU" altLang="zh-CN" b="0" i="1" smtClean="0">
                            <a:latin typeface="Cambria Math" panose="02040503050406030204" pitchFamily="18" charset="0"/>
                          </a:rPr>
                          <m:t>0</m:t>
                        </m:r>
                      </m:sub>
                    </m:sSub>
                  </m:oMath>
                </a14:m>
                <a:r>
                  <a:rPr lang="zh-CN" altLang="en-US" dirty="0"/>
                  <a:t>，带头位于输入串的第一个字符上，输入串最终会导致</a:t>
                </a:r>
                <a14:m>
                  <m:oMath xmlns:m="http://schemas.openxmlformats.org/officeDocument/2006/math">
                    <m:r>
                      <a:rPr lang="en-US" altLang="zh-CN" i="1" dirty="0" smtClean="0">
                        <a:latin typeface="Cambria Math" panose="02040503050406030204" pitchFamily="18" charset="0"/>
                      </a:rPr>
                      <m:t>𝑀</m:t>
                    </m:r>
                  </m:oMath>
                </a14:m>
                <a:r>
                  <a:rPr lang="zh-CN" altLang="en-US" dirty="0"/>
                  <a:t>进入某个终止（接受）状态。</a:t>
                </a:r>
                <a:endParaRPr lang="en-AU" altLang="zh-CN" dirty="0"/>
              </a:p>
              <a:p>
                <a:r>
                  <a:rPr lang="zh-CN" altLang="en-US" dirty="0"/>
                  <a:t>一般假定当输入串被接受时</a:t>
                </a:r>
                <a14:m>
                  <m:oMath xmlns:m="http://schemas.openxmlformats.org/officeDocument/2006/math">
                    <m:r>
                      <a:rPr lang="en-US" altLang="zh-CN" i="1" dirty="0" smtClean="0">
                        <a:latin typeface="Cambria Math" panose="02040503050406030204" pitchFamily="18" charset="0"/>
                      </a:rPr>
                      <m:t>𝑀</m:t>
                    </m:r>
                  </m:oMath>
                </a14:m>
                <a:r>
                  <a:rPr lang="zh-CN" altLang="en-US" dirty="0"/>
                  <a:t>总会停机</a:t>
                </a:r>
                <a:r>
                  <a:rPr lang="en-US" altLang="zh-CN" dirty="0"/>
                  <a:t>(</a:t>
                </a:r>
                <a:r>
                  <a:rPr lang="en-US" altLang="zh-CN" dirty="0">
                    <a:latin typeface="Times New Roman" panose="02020603050405020304" pitchFamily="18" charset="0"/>
                    <a:cs typeface="Times New Roman" panose="02020603050405020304" pitchFamily="18" charset="0"/>
                  </a:rPr>
                  <a:t>halt</a:t>
                </a:r>
                <a:r>
                  <a:rPr lang="en-US" altLang="zh-CN" dirty="0"/>
                  <a:t>)</a:t>
                </a:r>
                <a:r>
                  <a:rPr lang="zh-CN" altLang="en-US" dirty="0"/>
                  <a:t>，即没有下一个动作的定义。</a:t>
                </a:r>
                <a:endParaRPr lang="en-AU" altLang="zh-CN" dirty="0"/>
              </a:p>
              <a:p>
                <a:r>
                  <a:rPr lang="zh-CN" altLang="en-US" dirty="0"/>
                  <a:t>而对于不接受的输入，</a:t>
                </a:r>
                <a:r>
                  <a:rPr lang="en-US" altLang="zh-CN" dirty="0">
                    <a:latin typeface="Times New Roman" panose="02020603050405020304" pitchFamily="18" charset="0"/>
                    <a:cs typeface="Times New Roman" panose="02020603050405020304" pitchFamily="18" charset="0"/>
                  </a:rPr>
                  <a:t>TM</a:t>
                </a:r>
                <a:r>
                  <a:rPr lang="zh-CN" altLang="en-US" dirty="0"/>
                  <a:t>可能永远不停机。</a:t>
                </a:r>
                <a:endParaRPr lang="en-US" altLang="zh-CN" dirty="0"/>
              </a:p>
              <a:p>
                <a:pPr lvl="1"/>
                <a:r>
                  <a:rPr lang="zh-CN" altLang="en-US" dirty="0">
                    <a:solidFill>
                      <a:srgbClr val="000000"/>
                    </a:solidFill>
                    <a:latin typeface="LMRoman12-Regular-Identity-H"/>
                    <a:ea typeface="楷体" panose="02010609060101010101" pitchFamily="49" charset="-122"/>
                  </a:rPr>
                  <a:t>无法知道，到底是因为运行的时间不够长而没有接受，还是根本就不会停机。</a:t>
                </a:r>
                <a:endParaRPr lang="en-AU" sz="4000" dirty="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60550" y="1104901"/>
                <a:ext cx="8229600" cy="4525963"/>
              </a:xfrm>
              <a:blipFill>
                <a:blip r:embed="rId3"/>
                <a:stretch>
                  <a:fillRect l="-1079" t="-2235" r="-92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a:t>
            </a:fld>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图灵机的语言</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定义</a:t>
                </a:r>
                <a:r>
                  <a:rPr lang="en-AU" altLang="zh-CN" dirty="0"/>
                  <a:t>:</a:t>
                </a:r>
                <a:r>
                  <a:rPr lang="zh-CN" altLang="en-US" dirty="0"/>
                  <a:t>如果</a:t>
                </a:r>
                <a14:m>
                  <m:oMath xmlns:m="http://schemas.openxmlformats.org/officeDocument/2006/math">
                    <m:r>
                      <a:rPr lang="en-US" altLang="zh-CN" i="1" dirty="0" smtClean="0">
                        <a:latin typeface="Cambria Math" panose="02040503050406030204" pitchFamily="18" charset="0"/>
                      </a:rPr>
                      <m:t>𝐿</m:t>
                    </m:r>
                  </m:oMath>
                </a14:m>
                <a:r>
                  <a:rPr lang="zh-CN" altLang="en-US" dirty="0"/>
                  <a:t>是图灵机</a:t>
                </a:r>
                <a14:m>
                  <m:oMath xmlns:m="http://schemas.openxmlformats.org/officeDocument/2006/math">
                    <m:r>
                      <a:rPr lang="en-US" altLang="zh-CN" i="1" dirty="0" smtClean="0">
                        <a:latin typeface="Cambria Math" panose="02040503050406030204" pitchFamily="18" charset="0"/>
                      </a:rPr>
                      <m:t>𝑀</m:t>
                    </m:r>
                  </m:oMath>
                </a14:m>
                <a:r>
                  <a:rPr lang="zh-CN" altLang="en-US" dirty="0"/>
                  <a:t>的语言，则称</a:t>
                </a:r>
                <a14:m>
                  <m:oMath xmlns:m="http://schemas.openxmlformats.org/officeDocument/2006/math">
                    <m:r>
                      <a:rPr lang="en-US" altLang="zh-CN" i="1" dirty="0" smtClean="0">
                        <a:latin typeface="Cambria Math" panose="02040503050406030204" pitchFamily="18" charset="0"/>
                      </a:rPr>
                      <m:t>𝐿</m:t>
                    </m:r>
                  </m:oMath>
                </a14:m>
                <a:r>
                  <a:rPr lang="zh-CN" altLang="en-US" dirty="0"/>
                  <a:t>是</a:t>
                </a:r>
                <a:r>
                  <a:rPr lang="zh-CN" altLang="en-US" dirty="0">
                    <a:solidFill>
                      <a:srgbClr val="FF0000"/>
                    </a:solidFill>
                  </a:rPr>
                  <a:t>递归可枚举</a:t>
                </a:r>
                <a:r>
                  <a:rPr lang="en-AU" altLang="zh-CN" dirty="0"/>
                  <a:t>(</a:t>
                </a:r>
                <a:r>
                  <a:rPr lang="en-AU" altLang="zh-CN" dirty="0">
                    <a:latin typeface="Times New Roman" panose="02020603050405020304" pitchFamily="18" charset="0"/>
                    <a:cs typeface="Times New Roman" panose="02020603050405020304" pitchFamily="18" charset="0"/>
                  </a:rPr>
                  <a:t>Recursively Enumerable</a:t>
                </a:r>
                <a:r>
                  <a:rPr lang="en-AU" altLang="zh-CN" dirty="0"/>
                  <a:t>)</a:t>
                </a:r>
                <a:r>
                  <a:rPr lang="zh-CN" altLang="en-US" dirty="0"/>
                  <a:t>语言。</a:t>
                </a:r>
                <a:endParaRPr lang="en-US" altLang="zh-CN" dirty="0"/>
              </a:p>
              <a:p>
                <a:pPr lvl="1"/>
                <a:r>
                  <a:rPr lang="en-US" altLang="zh-CN" dirty="0"/>
                  <a:t>“</a:t>
                </a:r>
                <a:r>
                  <a:rPr lang="zh-CN" altLang="en-US" dirty="0"/>
                  <a:t>递归”：一个在计算机出现之前的数学术语</a:t>
                </a:r>
                <a:endParaRPr lang="en-US" altLang="zh-CN" dirty="0"/>
              </a:p>
              <a:p>
                <a:pPr lvl="2"/>
                <a:r>
                  <a:rPr lang="zh-CN" altLang="en-US" dirty="0"/>
                  <a:t>与现在熟悉的递归函数不一样，术语“递归”是“可判定的”同义词</a:t>
                </a:r>
                <a:endParaRPr lang="en-US" altLang="zh-CN" dirty="0"/>
              </a:p>
              <a:p>
                <a:pPr lvl="1"/>
                <a:r>
                  <a:rPr lang="zh-CN" altLang="en-US" dirty="0"/>
                  <a:t>“可枚举”：语言中的串可以被某个图灵机枚举出来。</a:t>
                </a:r>
                <a:endParaRPr lang="en-US" altLang="zh-CN" dirty="0"/>
              </a:p>
              <a:p>
                <a:pPr lvl="1"/>
                <a:r>
                  <a:rPr lang="zh-CN" altLang="en-US" dirty="0"/>
                  <a:t>“递归可枚举”：按照某种顺序列举出来的语言</a:t>
                </a:r>
                <a:endParaRPr lang="en-AU" altLang="zh-CN" dirty="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95" t="-1676" r="-1062"/>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3</a:t>
            </a:fld>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76" name="Rectangle 48"/>
          <p:cNvSpPr>
            <a:spLocks noChangeArrowheads="1"/>
          </p:cNvSpPr>
          <p:nvPr/>
        </p:nvSpPr>
        <p:spPr bwMode="auto">
          <a:xfrm>
            <a:off x="2133599" y="1371601"/>
            <a:ext cx="9735671" cy="4985980"/>
          </a:xfrm>
          <a:prstGeom prst="rect">
            <a:avLst/>
          </a:prstGeom>
          <a:noFill/>
          <a:ln w="9525">
            <a:noFill/>
            <a:miter lim="800000"/>
            <a:headEnd/>
            <a:tailEnd/>
          </a:ln>
          <a:effectLst/>
        </p:spPr>
        <p:txBody>
          <a:bodyPr wrap="square">
            <a:spAutoFit/>
          </a:bodyPr>
          <a:lstStyle/>
          <a:p>
            <a:pPr marL="457200" indent="-457200">
              <a:buFont typeface="Arial" panose="020B0604020202020204" pitchFamily="34" charset="0"/>
              <a:buChar char="•"/>
            </a:pPr>
            <a:r>
              <a:rPr lang="en-US" altLang="zh-CN" sz="3200" b="1" dirty="0">
                <a:latin typeface="Times New Roman" panose="02020603050405020304" pitchFamily="18" charset="0"/>
                <a:ea typeface="KaiTi_GB2312" panose="02010609030101010101" pitchFamily="49" charset="-122"/>
                <a:cs typeface="Times New Roman" panose="02020603050405020304" pitchFamily="18" charset="0"/>
              </a:rPr>
              <a:t> </a:t>
            </a:r>
            <a:r>
              <a:rPr lang="zh-CN" altLang="en-US" sz="3200" b="1" dirty="0">
                <a:latin typeface="Times New Roman" panose="02020603050405020304" pitchFamily="18" charset="0"/>
                <a:ea typeface="KaiTi_GB2312" panose="02010609030101010101" pitchFamily="49" charset="-122"/>
                <a:cs typeface="Times New Roman" panose="02020603050405020304" pitchFamily="18" charset="0"/>
              </a:rPr>
              <a:t>递归语言（</a:t>
            </a:r>
            <a:r>
              <a:rPr lang="en-US" altLang="zh-CN" sz="3200" b="1" dirty="0">
                <a:latin typeface="Times New Roman" panose="02020603050405020304" pitchFamily="18" charset="0"/>
                <a:ea typeface="KaiTi_GB2312" panose="02010609030101010101" pitchFamily="49" charset="-122"/>
                <a:cs typeface="Times New Roman" panose="02020603050405020304" pitchFamily="18" charset="0"/>
              </a:rPr>
              <a:t>recursive languages</a:t>
            </a:r>
            <a:r>
              <a:rPr lang="zh-CN" altLang="en-US" sz="3200" b="1" dirty="0">
                <a:latin typeface="Times New Roman" panose="02020603050405020304" pitchFamily="18" charset="0"/>
                <a:ea typeface="KaiTi_GB2312" panose="02010609030101010101" pitchFamily="49" charset="-122"/>
                <a:cs typeface="Times New Roman" panose="02020603050405020304" pitchFamily="18" charset="0"/>
              </a:rPr>
              <a:t>） </a:t>
            </a:r>
          </a:p>
          <a:p>
            <a:pPr>
              <a:buFont typeface="Wingdings" pitchFamily="2" charset="2"/>
              <a:buNone/>
            </a:pPr>
            <a:endParaRPr lang="zh-CN" altLang="en-US" sz="1000" b="1" dirty="0">
              <a:latin typeface="Times New Roman" panose="02020603050405020304" pitchFamily="18" charset="0"/>
              <a:ea typeface="KaiTi_GB2312" panose="02010609030101010101" pitchFamily="49" charset="-122"/>
              <a:cs typeface="Times New Roman" panose="02020603050405020304" pitchFamily="18" charset="0"/>
            </a:endParaRPr>
          </a:p>
          <a:p>
            <a:pPr lvl="1"/>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称语言 </a:t>
            </a:r>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rPr>
              <a:t>L </a:t>
            </a:r>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是递归的，当且仅当存在图灵机 </a:t>
            </a:r>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rPr>
              <a:t>M </a:t>
            </a:r>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a:t>
            </a:r>
          </a:p>
          <a:p>
            <a:pPr>
              <a:buFont typeface="Wingdings" pitchFamily="2" charset="2"/>
              <a:buNone/>
            </a:pPr>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     使得</a:t>
            </a:r>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rPr>
              <a:t>L = L(M)</a:t>
            </a:r>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，且满足：</a:t>
            </a:r>
          </a:p>
          <a:p>
            <a:pPr>
              <a:buFont typeface="Wingdings" pitchFamily="2" charset="2"/>
              <a:buNone/>
            </a:pPr>
            <a:endParaRPr lang="zh-CN" altLang="en-US" sz="1000" dirty="0">
              <a:latin typeface="Times New Roman" panose="02020603050405020304" pitchFamily="18" charset="0"/>
              <a:ea typeface="KaiTi_GB2312" panose="02010609030101010101" pitchFamily="49" charset="-122"/>
              <a:cs typeface="Times New Roman" panose="02020603050405020304" pitchFamily="18" charset="0"/>
            </a:endParaRPr>
          </a:p>
          <a:p>
            <a:pPr lvl="1"/>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     </a:t>
            </a:r>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rPr>
              <a:t>1. </a:t>
            </a:r>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如果</a:t>
            </a:r>
            <a:r>
              <a:rPr lang="en-US" altLang="zh-CN" sz="2800" dirty="0" err="1">
                <a:latin typeface="Times New Roman" panose="02020603050405020304" pitchFamily="18" charset="0"/>
                <a:ea typeface="KaiTi_GB2312" panose="02010609030101010101" pitchFamily="49" charset="-122"/>
                <a:cs typeface="Times New Roman" panose="02020603050405020304" pitchFamily="18" charset="0"/>
              </a:rPr>
              <a:t>w</a:t>
            </a:r>
            <a:r>
              <a:rPr lang="en-US" altLang="zh-CN" sz="2800" dirty="0" err="1">
                <a:latin typeface="Times New Roman" panose="02020603050405020304" pitchFamily="18" charset="0"/>
                <a:ea typeface="KaiTi_GB2312" panose="02010609030101010101" pitchFamily="49" charset="-122"/>
                <a:cs typeface="Times New Roman" panose="02020603050405020304" pitchFamily="18" charset="0"/>
                <a:sym typeface="Symbol" pitchFamily="18" charset="2"/>
              </a:rPr>
              <a:t></a:t>
            </a:r>
            <a:r>
              <a:rPr lang="en-US" altLang="zh-CN" sz="2800" dirty="0" err="1">
                <a:latin typeface="Times New Roman" panose="02020603050405020304" pitchFamily="18" charset="0"/>
                <a:ea typeface="KaiTi_GB2312" panose="02010609030101010101" pitchFamily="49" charset="-122"/>
                <a:cs typeface="Times New Roman" panose="02020603050405020304" pitchFamily="18" charset="0"/>
              </a:rPr>
              <a:t>L</a:t>
            </a:r>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rPr>
              <a:t>(M)</a:t>
            </a:r>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sym typeface="Symbol" pitchFamily="18" charset="2"/>
              </a:rPr>
              <a:t> </a:t>
            </a:r>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，则对于 </a:t>
            </a:r>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rPr>
              <a:t>w</a:t>
            </a:r>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a:t>
            </a:r>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rPr>
              <a:t>M </a:t>
            </a:r>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接受 </a:t>
            </a:r>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rPr>
              <a:t>w</a:t>
            </a:r>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（自然会</a:t>
            </a:r>
          </a:p>
          <a:p>
            <a:pPr lvl="1"/>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         停机，到达终态）</a:t>
            </a:r>
            <a:endParaRPr lang="en-US" altLang="zh-CN" sz="2800" dirty="0">
              <a:latin typeface="Times New Roman" panose="02020603050405020304" pitchFamily="18" charset="0"/>
              <a:ea typeface="KaiTi_GB2312" panose="02010609030101010101" pitchFamily="49" charset="-122"/>
              <a:cs typeface="Times New Roman" panose="02020603050405020304" pitchFamily="18" charset="0"/>
            </a:endParaRPr>
          </a:p>
          <a:p>
            <a:pPr lvl="1"/>
            <a:endParaRPr lang="en-US" altLang="zh-CN" sz="1000" dirty="0">
              <a:latin typeface="Times New Roman" panose="02020603050405020304" pitchFamily="18" charset="0"/>
              <a:ea typeface="KaiTi_GB2312" panose="02010609030101010101" pitchFamily="49" charset="-122"/>
              <a:cs typeface="Times New Roman" panose="02020603050405020304" pitchFamily="18" charset="0"/>
            </a:endParaRPr>
          </a:p>
          <a:p>
            <a:pPr lvl="1"/>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rPr>
              <a:t>     2. </a:t>
            </a:r>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如果</a:t>
            </a:r>
            <a:r>
              <a:rPr lang="en-US" altLang="zh-CN" sz="2800" dirty="0" err="1">
                <a:latin typeface="Times New Roman" panose="02020603050405020304" pitchFamily="18" charset="0"/>
                <a:ea typeface="KaiTi_GB2312" panose="02010609030101010101" pitchFamily="49" charset="-122"/>
                <a:cs typeface="Times New Roman" panose="02020603050405020304" pitchFamily="18" charset="0"/>
              </a:rPr>
              <a:t>w</a:t>
            </a:r>
            <a:r>
              <a:rPr lang="en-US" altLang="zh-CN" sz="2800" dirty="0" err="1">
                <a:latin typeface="Times New Roman" panose="02020603050405020304" pitchFamily="18" charset="0"/>
                <a:ea typeface="KaiTi_GB2312" panose="02010609030101010101" pitchFamily="49" charset="-122"/>
                <a:cs typeface="Times New Roman" panose="02020603050405020304" pitchFamily="18" charset="0"/>
                <a:sym typeface="Symbol" pitchFamily="18" charset="2"/>
              </a:rPr>
              <a:t></a:t>
            </a:r>
            <a:r>
              <a:rPr lang="en-US" altLang="zh-CN" sz="2800" dirty="0" err="1">
                <a:latin typeface="Times New Roman" panose="02020603050405020304" pitchFamily="18" charset="0"/>
                <a:ea typeface="KaiTi_GB2312" panose="02010609030101010101" pitchFamily="49" charset="-122"/>
                <a:cs typeface="Times New Roman" panose="02020603050405020304" pitchFamily="18" charset="0"/>
              </a:rPr>
              <a:t>L</a:t>
            </a:r>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rPr>
              <a:t>(M)</a:t>
            </a:r>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sym typeface="Symbol" pitchFamily="18" charset="2"/>
              </a:rPr>
              <a:t> </a:t>
            </a:r>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，则对于 </a:t>
            </a:r>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rPr>
              <a:t>w</a:t>
            </a:r>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a:t>
            </a:r>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rPr>
              <a:t>M </a:t>
            </a:r>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最终也会停机</a:t>
            </a:r>
          </a:p>
          <a:p>
            <a:pPr lvl="1"/>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       （虽然不能到达终态）</a:t>
            </a:r>
            <a:endParaRPr lang="en-US" altLang="zh-CN" sz="2800" dirty="0">
              <a:latin typeface="Times New Roman" panose="02020603050405020304" pitchFamily="18" charset="0"/>
              <a:ea typeface="KaiTi_GB2312" panose="02010609030101010101" pitchFamily="49" charset="-122"/>
              <a:cs typeface="Times New Roman" panose="02020603050405020304" pitchFamily="18" charset="0"/>
            </a:endParaRPr>
          </a:p>
          <a:p>
            <a:pPr marL="457200" indent="-457200">
              <a:buFont typeface="Arial" panose="020B0604020202020204" pitchFamily="34" charset="0"/>
              <a:buChar char="•"/>
            </a:pPr>
            <a:r>
              <a:rPr lang="zh-CN" altLang="en-US" sz="3200" b="1" dirty="0">
                <a:latin typeface="Times New Roman" panose="02020603050405020304" pitchFamily="18" charset="0"/>
                <a:ea typeface="KaiTi_GB2312" panose="02010609030101010101" pitchFamily="49" charset="-122"/>
                <a:cs typeface="Times New Roman" panose="02020603050405020304" pitchFamily="18" charset="0"/>
              </a:rPr>
              <a:t>算法的形式化</a:t>
            </a:r>
            <a:endParaRPr lang="en-US" altLang="zh-CN" sz="3200" b="1" dirty="0">
              <a:latin typeface="Times New Roman" panose="02020603050405020304" pitchFamily="18" charset="0"/>
              <a:ea typeface="KaiTi_GB2312" panose="02010609030101010101" pitchFamily="49" charset="-122"/>
              <a:cs typeface="Times New Roman" panose="02020603050405020304" pitchFamily="18" charset="0"/>
            </a:endParaRPr>
          </a:p>
          <a:p>
            <a:pPr lvl="1"/>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保证停机的图灵机</a:t>
            </a:r>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rPr>
              <a:t>, </a:t>
            </a:r>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正是算法的好模型</a:t>
            </a:r>
            <a:r>
              <a:rPr lang="en-US" altLang="zh-CN" sz="2800" dirty="0">
                <a:latin typeface="Times New Roman" panose="02020603050405020304" pitchFamily="18" charset="0"/>
                <a:ea typeface="KaiTi_GB2312" panose="02010609030101010101" pitchFamily="49" charset="-122"/>
                <a:cs typeface="Times New Roman" panose="02020603050405020304" pitchFamily="18" charset="0"/>
              </a:rPr>
              <a:t>, </a:t>
            </a:r>
            <a:r>
              <a:rPr lang="zh-CN" altLang="en-US" sz="2800" dirty="0">
                <a:latin typeface="Times New Roman" panose="02020603050405020304" pitchFamily="18" charset="0"/>
                <a:ea typeface="KaiTi_GB2312" panose="02010609030101010101" pitchFamily="49" charset="-122"/>
                <a:cs typeface="Times New Roman" panose="02020603050405020304" pitchFamily="18" charset="0"/>
              </a:rPr>
              <a:t>这也是算法概念的首次形式化，并由此建立了计算机科学的基础。</a:t>
            </a:r>
          </a:p>
        </p:txBody>
      </p:sp>
      <p:sp>
        <p:nvSpPr>
          <p:cNvPr id="150582" name="Rectangle 54"/>
          <p:cNvSpPr>
            <a:spLocks noChangeArrowheads="1"/>
          </p:cNvSpPr>
          <p:nvPr/>
        </p:nvSpPr>
        <p:spPr bwMode="auto">
          <a:xfrm>
            <a:off x="2452350" y="210503"/>
            <a:ext cx="2236510" cy="661720"/>
          </a:xfrm>
          <a:prstGeom prst="rect">
            <a:avLst/>
          </a:prstGeom>
          <a:noFill/>
          <a:ln w="9525" algn="ctr">
            <a:noFill/>
            <a:miter lim="800000"/>
            <a:headEnd/>
            <a:tailEnd/>
          </a:ln>
          <a:effectLst/>
        </p:spPr>
        <p:txBody>
          <a:bodyPr wrap="none">
            <a:spAutoFit/>
          </a:bodyPr>
          <a:lstStyle/>
          <a:p>
            <a:pPr algn="ctr">
              <a:lnSpc>
                <a:spcPct val="90000"/>
              </a:lnSpc>
            </a:pPr>
            <a:r>
              <a:rPr lang="zh-CN" altLang="en-US" sz="4000" dirty="0">
                <a:solidFill>
                  <a:srgbClr val="800080"/>
                </a:solidFill>
                <a:ea typeface="华文行楷" pitchFamily="2" charset="-122"/>
              </a:rPr>
              <a:t>递归语言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0576">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057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整数函数计算器</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082800" y="1166019"/>
                <a:ext cx="8229600" cy="4525963"/>
              </a:xfrm>
            </p:spPr>
            <p:txBody>
              <a:bodyPr>
                <a:normAutofit/>
              </a:bodyPr>
              <a:lstStyle/>
              <a:p>
                <a:r>
                  <a:rPr lang="zh-CN" altLang="en-US" dirty="0"/>
                  <a:t>整数函数计算器：图灵机可以作为语言的识别器，也可以用作整数函数计算器。</a:t>
                </a:r>
                <a:endParaRPr lang="en-AU" altLang="zh-CN" dirty="0"/>
              </a:p>
              <a:p>
                <a:pPr lvl="1"/>
                <a:r>
                  <a:rPr lang="zh-CN" altLang="en-US" dirty="0"/>
                  <a:t>例如，将整数</a:t>
                </a:r>
                <a14:m>
                  <m:oMath xmlns:m="http://schemas.openxmlformats.org/officeDocument/2006/math">
                    <m:r>
                      <a:rPr lang="en-AU" altLang="zh-CN" i="1" dirty="0" smtClean="0">
                        <a:latin typeface="Cambria Math" panose="02040503050406030204" pitchFamily="18" charset="0"/>
                      </a:rPr>
                      <m:t>𝑖</m:t>
                    </m:r>
                    <m:r>
                      <a:rPr lang="en-AU" altLang="zh-CN" i="1" dirty="0" smtClean="0">
                        <a:latin typeface="Cambria Math" panose="02040503050406030204" pitchFamily="18" charset="0"/>
                      </a:rPr>
                      <m:t> ≥ 0 </m:t>
                    </m:r>
                  </m:oMath>
                </a14:m>
                <a:r>
                  <a:rPr lang="zh-CN" altLang="en-US" dirty="0"/>
                  <a:t>表示为字符串</a:t>
                </a:r>
                <a14:m>
                  <m:oMath xmlns:m="http://schemas.openxmlformats.org/officeDocument/2006/math">
                    <m:sSup>
                      <m:sSupPr>
                        <m:ctrlPr>
                          <a:rPr lang="en-US" altLang="zh-CN" i="1" smtClean="0">
                            <a:latin typeface="Cambria Math" panose="02040503050406030204" pitchFamily="18" charset="0"/>
                          </a:rPr>
                        </m:ctrlPr>
                      </m:sSupPr>
                      <m:e>
                        <m:r>
                          <a:rPr lang="en-AU" altLang="zh-CN" b="0" i="1" smtClean="0">
                            <a:latin typeface="Cambria Math" panose="02040503050406030204" pitchFamily="18" charset="0"/>
                          </a:rPr>
                          <m:t>0</m:t>
                        </m:r>
                      </m:e>
                      <m:sup>
                        <m:r>
                          <a:rPr lang="en-AU" altLang="zh-CN" b="0" i="1" smtClean="0">
                            <a:latin typeface="Cambria Math" panose="02040503050406030204" pitchFamily="18" charset="0"/>
                          </a:rPr>
                          <m:t>𝑖</m:t>
                        </m:r>
                      </m:sup>
                    </m:sSup>
                  </m:oMath>
                </a14:m>
                <a:endParaRPr lang="en-AU" altLang="zh-CN" dirty="0"/>
              </a:p>
              <a:p>
                <a:pPr lvl="1"/>
                <a:r>
                  <a:rPr lang="zh-CN" altLang="en-US" dirty="0"/>
                  <a:t>若计算</a:t>
                </a:r>
                <a14:m>
                  <m:oMath xmlns:m="http://schemas.openxmlformats.org/officeDocument/2006/math">
                    <m:r>
                      <a:rPr lang="en-AU" altLang="zh-CN" i="1" dirty="0" smtClean="0">
                        <a:latin typeface="Cambria Math" panose="02040503050406030204" pitchFamily="18" charset="0"/>
                      </a:rPr>
                      <m:t>𝑘</m:t>
                    </m:r>
                  </m:oMath>
                </a14:m>
                <a:r>
                  <a:rPr lang="zh-CN" altLang="en-US" dirty="0"/>
                  <a:t>个自变量</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𝑖</m:t>
                        </m:r>
                      </m:e>
                      <m:sub>
                        <m:r>
                          <a:rPr lang="en-AU" altLang="zh-CN" b="0" i="1" smtClean="0">
                            <a:latin typeface="Cambria Math" panose="02040503050406030204" pitchFamily="18" charset="0"/>
                          </a:rPr>
                          <m:t>1</m:t>
                        </m:r>
                      </m:sub>
                    </m:sSub>
                  </m:oMath>
                </a14:m>
                <a:r>
                  <a:rPr lang="en-AU" altLang="zh-CN"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𝑖</m:t>
                        </m:r>
                      </m:e>
                      <m:sub>
                        <m:r>
                          <a:rPr lang="en-AU" altLang="zh-CN" b="0" i="1" smtClean="0">
                            <a:latin typeface="Cambria Math" panose="02040503050406030204" pitchFamily="18" charset="0"/>
                          </a:rPr>
                          <m:t>2</m:t>
                        </m:r>
                      </m:sub>
                    </m:sSub>
                  </m:oMath>
                </a14:m>
                <a:r>
                  <a:rPr lang="en-AU" altLang="zh-CN" dirty="0"/>
                  <a:t>,</a:t>
                </a:r>
                <a14:m>
                  <m:oMath xmlns:m="http://schemas.openxmlformats.org/officeDocument/2006/math">
                    <m:r>
                      <a:rPr lang="en-AU" altLang="zh-CN" i="1" dirty="0" smtClean="0">
                        <a:latin typeface="Cambria Math" panose="02040503050406030204" pitchFamily="18" charset="0"/>
                        <a:ea typeface="Cambria Math" panose="02040503050406030204" pitchFamily="18" charset="0"/>
                      </a:rPr>
                      <m:t>⋯</m:t>
                    </m:r>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𝑖</m:t>
                        </m:r>
                      </m:e>
                      <m:sub>
                        <m:r>
                          <a:rPr lang="en-AU" altLang="zh-CN" b="0" i="1" smtClean="0">
                            <a:latin typeface="Cambria Math" panose="02040503050406030204" pitchFamily="18" charset="0"/>
                          </a:rPr>
                          <m:t>𝑘</m:t>
                        </m:r>
                      </m:sub>
                    </m:sSub>
                  </m:oMath>
                </a14:m>
                <a:r>
                  <a:rPr lang="zh-CN" altLang="en-US" dirty="0"/>
                  <a:t>的函数</a:t>
                </a:r>
                <a14:m>
                  <m:oMath xmlns:m="http://schemas.openxmlformats.org/officeDocument/2006/math">
                    <m:r>
                      <a:rPr lang="en-AU" altLang="zh-CN" b="0" i="1" smtClean="0">
                        <a:latin typeface="Cambria Math" panose="02040503050406030204" pitchFamily="18" charset="0"/>
                      </a:rPr>
                      <m:t>𝑓</m:t>
                    </m:r>
                  </m:oMath>
                </a14:m>
                <a:r>
                  <a:rPr lang="zh-CN" altLang="en-US" dirty="0"/>
                  <a:t>，用</a:t>
                </a:r>
                <a:endParaRPr lang="en-AU" altLang="zh-CN" dirty="0"/>
              </a:p>
              <a:p>
                <a:pPr marL="400050" lvl="1" indent="0">
                  <a:buNone/>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r>
                            <a:rPr lang="en-AU" altLang="zh-CN" i="1">
                              <a:latin typeface="Cambria Math" panose="02040503050406030204" pitchFamily="18" charset="0"/>
                            </a:rPr>
                            <m:t>0</m:t>
                          </m:r>
                        </m:e>
                        <m:sup>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𝑖</m:t>
                              </m:r>
                            </m:e>
                            <m:sub>
                              <m:r>
                                <a:rPr lang="en-AU" altLang="zh-CN" b="0" i="1" smtClean="0">
                                  <a:latin typeface="Cambria Math" panose="02040503050406030204" pitchFamily="18" charset="0"/>
                                </a:rPr>
                                <m:t>1</m:t>
                              </m:r>
                            </m:sub>
                          </m:sSub>
                        </m:sup>
                      </m:sSup>
                      <m:sSup>
                        <m:sSupPr>
                          <m:ctrlPr>
                            <a:rPr lang="en-US" altLang="zh-CN" i="1">
                              <a:latin typeface="Cambria Math" panose="02040503050406030204" pitchFamily="18" charset="0"/>
                            </a:rPr>
                          </m:ctrlPr>
                        </m:sSupPr>
                        <m:e>
                          <m:r>
                            <a:rPr lang="en-AU" altLang="zh-CN" b="0" i="1" smtClean="0">
                              <a:latin typeface="Cambria Math" panose="02040503050406030204" pitchFamily="18" charset="0"/>
                            </a:rPr>
                            <m:t>1</m:t>
                          </m:r>
                          <m:r>
                            <a:rPr lang="en-AU" altLang="zh-CN" i="1">
                              <a:latin typeface="Cambria Math" panose="02040503050406030204" pitchFamily="18" charset="0"/>
                            </a:rPr>
                            <m:t>0</m:t>
                          </m:r>
                        </m:e>
                        <m:sup>
                          <m:sSub>
                            <m:sSubPr>
                              <m:ctrlPr>
                                <a:rPr lang="en-AU" altLang="zh-CN" i="1">
                                  <a:latin typeface="Cambria Math" panose="02040503050406030204" pitchFamily="18" charset="0"/>
                                </a:rPr>
                              </m:ctrlPr>
                            </m:sSubPr>
                            <m:e>
                              <m:r>
                                <a:rPr lang="en-AU" altLang="zh-CN" i="1">
                                  <a:latin typeface="Cambria Math" panose="02040503050406030204" pitchFamily="18" charset="0"/>
                                </a:rPr>
                                <m:t>𝑖</m:t>
                              </m:r>
                            </m:e>
                            <m:sub>
                              <m:r>
                                <a:rPr lang="en-AU" altLang="zh-CN" b="0" i="1" smtClean="0">
                                  <a:latin typeface="Cambria Math" panose="02040503050406030204" pitchFamily="18" charset="0"/>
                                </a:rPr>
                                <m:t>2</m:t>
                              </m:r>
                            </m:sub>
                          </m:sSub>
                        </m:sup>
                      </m:sSup>
                      <m:r>
                        <a:rPr lang="en-AU" altLang="zh-CN" i="1" dirty="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sSup>
                        <m:sSupPr>
                          <m:ctrlPr>
                            <a:rPr lang="en-US" altLang="zh-CN" i="1">
                              <a:latin typeface="Cambria Math" panose="02040503050406030204" pitchFamily="18" charset="0"/>
                            </a:rPr>
                          </m:ctrlPr>
                        </m:sSupPr>
                        <m:e>
                          <m:r>
                            <a:rPr lang="en-AU" altLang="zh-CN" i="1">
                              <a:latin typeface="Cambria Math" panose="02040503050406030204" pitchFamily="18" charset="0"/>
                            </a:rPr>
                            <m:t>0</m:t>
                          </m:r>
                        </m:e>
                        <m:sup>
                          <m:sSub>
                            <m:sSubPr>
                              <m:ctrlPr>
                                <a:rPr lang="en-AU" altLang="zh-CN" i="1">
                                  <a:latin typeface="Cambria Math" panose="02040503050406030204" pitchFamily="18" charset="0"/>
                                </a:rPr>
                              </m:ctrlPr>
                            </m:sSubPr>
                            <m:e>
                              <m:r>
                                <a:rPr lang="en-AU" altLang="zh-CN" i="1">
                                  <a:latin typeface="Cambria Math" panose="02040503050406030204" pitchFamily="18" charset="0"/>
                                </a:rPr>
                                <m:t>𝑖</m:t>
                              </m:r>
                            </m:e>
                            <m:sub>
                              <m:r>
                                <a:rPr lang="en-AU" altLang="zh-CN" b="0" i="1" smtClean="0">
                                  <a:latin typeface="Cambria Math" panose="02040503050406030204" pitchFamily="18" charset="0"/>
                                </a:rPr>
                                <m:t>𝑘</m:t>
                              </m:r>
                            </m:sub>
                          </m:sSub>
                        </m:sup>
                      </m:sSup>
                    </m:oMath>
                  </m:oMathPara>
                </a14:m>
                <a:endParaRPr lang="en-AU" altLang="zh-CN" dirty="0"/>
              </a:p>
              <a:p>
                <a:pPr marL="400050" lvl="1" indent="0">
                  <a:buNone/>
                </a:pPr>
                <a:r>
                  <a:rPr lang="zh-CN" altLang="en-US" dirty="0"/>
                  <a:t>作为图灵机</a:t>
                </a:r>
                <a14:m>
                  <m:oMath xmlns:m="http://schemas.openxmlformats.org/officeDocument/2006/math">
                    <m:r>
                      <a:rPr lang="en-AU" altLang="zh-CN" b="0" i="1" smtClean="0">
                        <a:latin typeface="Cambria Math" panose="02040503050406030204" pitchFamily="18" charset="0"/>
                      </a:rPr>
                      <m:t>𝑀</m:t>
                    </m:r>
                  </m:oMath>
                </a14:m>
                <a:r>
                  <a:rPr lang="zh-CN" altLang="en-US" dirty="0"/>
                  <a:t>的输入</a:t>
                </a:r>
                <a:endParaRPr lang="en-AU" altLang="zh-CN" dirty="0"/>
              </a:p>
              <a:p>
                <a:pPr lvl="1"/>
                <a:r>
                  <a:rPr lang="zh-CN" altLang="en-US" dirty="0"/>
                  <a:t>当</a:t>
                </a:r>
                <a14:m>
                  <m:oMath xmlns:m="http://schemas.openxmlformats.org/officeDocument/2006/math">
                    <m:r>
                      <a:rPr lang="en-AU" altLang="zh-CN" b="0" i="1" smtClean="0">
                        <a:latin typeface="Cambria Math" panose="02040503050406030204" pitchFamily="18" charset="0"/>
                      </a:rPr>
                      <m:t>𝑀</m:t>
                    </m:r>
                  </m:oMath>
                </a14:m>
                <a:r>
                  <a:rPr lang="zh-CN" altLang="en-US" dirty="0"/>
                  <a:t>停机且输入带上为</a:t>
                </a:r>
                <a14:m>
                  <m:oMath xmlns:m="http://schemas.openxmlformats.org/officeDocument/2006/math">
                    <m:sSup>
                      <m:sSupPr>
                        <m:ctrlPr>
                          <a:rPr lang="en-US" altLang="zh-CN" i="1">
                            <a:latin typeface="Cambria Math" panose="02040503050406030204" pitchFamily="18" charset="0"/>
                          </a:rPr>
                        </m:ctrlPr>
                      </m:sSupPr>
                      <m:e>
                        <m:r>
                          <a:rPr lang="en-AU" altLang="zh-CN" i="1">
                            <a:latin typeface="Cambria Math" panose="02040503050406030204" pitchFamily="18" charset="0"/>
                          </a:rPr>
                          <m:t>0</m:t>
                        </m:r>
                      </m:e>
                      <m:sup>
                        <m:r>
                          <a:rPr lang="en-AU" altLang="zh-CN" b="0" i="1" smtClean="0">
                            <a:latin typeface="Cambria Math" panose="02040503050406030204" pitchFamily="18" charset="0"/>
                          </a:rPr>
                          <m:t>𝑚</m:t>
                        </m:r>
                      </m:sup>
                    </m:sSup>
                  </m:oMath>
                </a14:m>
                <a:r>
                  <a:rPr lang="zh-CN" altLang="en-US" dirty="0"/>
                  <a:t>，表示计算</a:t>
                </a:r>
                <a:br>
                  <a:rPr lang="en-AU" altLang="zh-CN" dirty="0"/>
                </a:br>
                <a14:m>
                  <m:oMath xmlns:m="http://schemas.openxmlformats.org/officeDocument/2006/math">
                    <m:r>
                      <a:rPr lang="en-AU" altLang="zh-CN" b="0" i="1" smtClean="0">
                        <a:latin typeface="Cambria Math" panose="02040503050406030204" pitchFamily="18" charset="0"/>
                      </a:rPr>
                      <m:t>𝑓</m:t>
                    </m:r>
                    <m:d>
                      <m:dPr>
                        <m:ctrlPr>
                          <a:rPr lang="en-AU" altLang="zh-CN" b="0"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AU" altLang="zh-CN" i="1">
                                <a:latin typeface="Cambria Math" panose="02040503050406030204" pitchFamily="18" charset="0"/>
                              </a:rPr>
                              <m:t>𝑖</m:t>
                            </m:r>
                          </m:e>
                          <m:sub>
                            <m:r>
                              <a:rPr lang="en-AU" altLang="zh-CN" i="1">
                                <a:latin typeface="Cambria Math" panose="02040503050406030204" pitchFamily="18" charset="0"/>
                              </a:rPr>
                              <m:t>1</m:t>
                            </m:r>
                          </m:sub>
                        </m:sSub>
                        <m:r>
                          <m:rPr>
                            <m:nor/>
                          </m:rPr>
                          <a:rPr lang="en-AU" altLang="zh-CN" dirty="0">
                            <a:latin typeface="Cambria Math" panose="02040503050406030204" pitchFamily="18" charset="0"/>
                          </a:rPr>
                          <m:t>,</m:t>
                        </m:r>
                        <m:r>
                          <m:rPr>
                            <m:nor/>
                          </m:rPr>
                          <a:rPr lang="en-US" altLang="zh-CN" dirty="0">
                            <a:latin typeface="Cambria Math" panose="02040503050406030204" pitchFamily="18" charset="0"/>
                          </a:rPr>
                          <m:t> </m:t>
                        </m:r>
                        <m:sSub>
                          <m:sSubPr>
                            <m:ctrlPr>
                              <a:rPr lang="en-US" altLang="zh-CN" i="1">
                                <a:latin typeface="Cambria Math" panose="02040503050406030204" pitchFamily="18" charset="0"/>
                              </a:rPr>
                            </m:ctrlPr>
                          </m:sSubPr>
                          <m:e>
                            <m:r>
                              <a:rPr lang="en-AU" altLang="zh-CN" i="1">
                                <a:latin typeface="Cambria Math" panose="02040503050406030204" pitchFamily="18" charset="0"/>
                              </a:rPr>
                              <m:t>𝑖</m:t>
                            </m:r>
                          </m:e>
                          <m:sub>
                            <m:r>
                              <a:rPr lang="en-AU" altLang="zh-CN" i="1">
                                <a:latin typeface="Cambria Math" panose="02040503050406030204" pitchFamily="18" charset="0"/>
                              </a:rPr>
                              <m:t>2</m:t>
                            </m:r>
                          </m:sub>
                        </m:sSub>
                        <m:r>
                          <m:rPr>
                            <m:nor/>
                          </m:rPr>
                          <a:rPr lang="en-AU" altLang="zh-CN" dirty="0">
                            <a:latin typeface="Cambria Math" panose="02040503050406030204" pitchFamily="18" charset="0"/>
                          </a:rPr>
                          <m:t>,</m:t>
                        </m:r>
                        <m:r>
                          <a:rPr lang="en-AU" altLang="zh-CN" i="1" dirty="0">
                            <a:latin typeface="Cambria Math" panose="02040503050406030204" pitchFamily="18" charset="0"/>
                            <a:ea typeface="Cambria Math" panose="02040503050406030204" pitchFamily="18" charset="0"/>
                          </a:rPr>
                          <m:t>⋯</m:t>
                        </m:r>
                        <m:r>
                          <m:rPr>
                            <m:nor/>
                          </m:rPr>
                          <a:rPr lang="en-US" altLang="zh-CN" dirty="0">
                            <a:latin typeface="Cambria Math" panose="02040503050406030204" pitchFamily="18" charset="0"/>
                          </a:rPr>
                          <m:t>,</m:t>
                        </m:r>
                        <m:sSub>
                          <m:sSubPr>
                            <m:ctrlPr>
                              <a:rPr lang="en-US" altLang="zh-CN" i="1">
                                <a:latin typeface="Cambria Math" panose="02040503050406030204" pitchFamily="18" charset="0"/>
                              </a:rPr>
                            </m:ctrlPr>
                          </m:sSubPr>
                          <m:e>
                            <m:r>
                              <a:rPr lang="en-AU" altLang="zh-CN" i="1">
                                <a:latin typeface="Cambria Math" panose="02040503050406030204" pitchFamily="18" charset="0"/>
                              </a:rPr>
                              <m:t>𝑖</m:t>
                            </m:r>
                          </m:e>
                          <m:sub>
                            <m:r>
                              <a:rPr lang="en-AU" altLang="zh-CN" i="1">
                                <a:latin typeface="Cambria Math" panose="02040503050406030204" pitchFamily="18" charset="0"/>
                              </a:rPr>
                              <m:t>𝑘</m:t>
                            </m:r>
                          </m:sub>
                        </m:sSub>
                      </m:e>
                    </m:d>
                    <m:r>
                      <a:rPr lang="en-AU" altLang="zh-CN" b="0" i="1" smtClean="0">
                        <a:latin typeface="Cambria Math" panose="02040503050406030204" pitchFamily="18" charset="0"/>
                      </a:rPr>
                      <m:t>=</m:t>
                    </m:r>
                    <m:r>
                      <a:rPr lang="en-AU" altLang="zh-CN" b="0" i="1" smtClean="0">
                        <a:latin typeface="Cambria Math" panose="02040503050406030204" pitchFamily="18" charset="0"/>
                      </a:rPr>
                      <m:t>𝑚</m:t>
                    </m:r>
                  </m:oMath>
                </a14:m>
                <a:endParaRPr lang="zh-CN" alt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082800" y="1166019"/>
                <a:ext cx="8229600" cy="4525963"/>
              </a:xfrm>
              <a:blipFill>
                <a:blip r:embed="rId3"/>
                <a:stretch>
                  <a:fillRect l="-1333" t="-1346" r="-3333"/>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5</a:t>
            </a:fld>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整数函数计算器</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81200" y="1166019"/>
                <a:ext cx="8229600" cy="4525963"/>
              </a:xfrm>
            </p:spPr>
            <p:txBody>
              <a:bodyPr>
                <a:normAutofit fontScale="92500" lnSpcReduction="20000"/>
              </a:bodyPr>
              <a:lstStyle/>
              <a:p>
                <a:r>
                  <a:rPr lang="zh-CN" altLang="en-US" dirty="0"/>
                  <a:t>例：设计整数真减法的图灵机</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altLang="zh-CN" b="0" i="1" smtClean="0">
                          <a:latin typeface="Cambria Math" panose="02040503050406030204" pitchFamily="18" charset="0"/>
                        </a:rPr>
                        <m:t>𝑚</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rPr>
                        <m:t>𝑛</m:t>
                      </m:r>
                      <m:r>
                        <a:rPr lang="en-AU" altLang="zh-CN" b="0" i="1" smtClean="0">
                          <a:latin typeface="Cambria Math" panose="02040503050406030204" pitchFamily="18" charset="0"/>
                        </a:rPr>
                        <m:t>=</m:t>
                      </m:r>
                      <m:d>
                        <m:dPr>
                          <m:begChr m:val="{"/>
                          <m:endChr m:val=""/>
                          <m:ctrlPr>
                            <a:rPr lang="en-AU" altLang="zh-CN" b="0" i="1" smtClean="0">
                              <a:latin typeface="Cambria Math" panose="02040503050406030204" pitchFamily="18" charset="0"/>
                            </a:rPr>
                          </m:ctrlPr>
                        </m:dPr>
                        <m:e>
                          <m:eqArr>
                            <m:eqArrPr>
                              <m:ctrlPr>
                                <a:rPr lang="en-AU" altLang="zh-CN" b="0" i="1" smtClean="0">
                                  <a:latin typeface="Cambria Math" panose="02040503050406030204" pitchFamily="18" charset="0"/>
                                </a:rPr>
                              </m:ctrlPr>
                            </m:eqArrPr>
                            <m:e>
                              <m:r>
                                <a:rPr lang="en-AU" altLang="zh-CN" b="0" i="1" smtClean="0">
                                  <a:latin typeface="Cambria Math" panose="02040503050406030204" pitchFamily="18" charset="0"/>
                                </a:rPr>
                                <m:t>𝑚</m:t>
                              </m:r>
                              <m:r>
                                <a:rPr lang="en-AU" altLang="zh-CN" b="0" i="1" smtClean="0">
                                  <a:latin typeface="Cambria Math" panose="02040503050406030204" pitchFamily="18" charset="0"/>
                                </a:rPr>
                                <m:t>−</m:t>
                              </m:r>
                              <m:r>
                                <a:rPr lang="en-AU" altLang="zh-CN" b="0" i="1" smtClean="0">
                                  <a:latin typeface="Cambria Math" panose="02040503050406030204" pitchFamily="18" charset="0"/>
                                </a:rPr>
                                <m:t>𝑛</m:t>
                              </m:r>
                              <m:r>
                                <a:rPr lang="en-AU" altLang="zh-CN" b="0" i="1" smtClean="0">
                                  <a:latin typeface="Cambria Math" panose="02040503050406030204" pitchFamily="18" charset="0"/>
                                </a:rPr>
                                <m:t>,</m:t>
                              </m:r>
                              <m:r>
                                <a:rPr lang="en-AU" altLang="zh-CN" b="0" i="1" smtClean="0">
                                  <a:latin typeface="Cambria Math" panose="02040503050406030204" pitchFamily="18" charset="0"/>
                                </a:rPr>
                                <m:t>𝑚</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𝑛</m:t>
                              </m:r>
                            </m:e>
                            <m:e>
                              <m:r>
                                <a:rPr lang="en-AU" b="0" i="1" smtClean="0">
                                  <a:latin typeface="Cambria Math" panose="02040503050406030204" pitchFamily="18" charset="0"/>
                                </a:rPr>
                                <m:t>0,</m:t>
                              </m:r>
                              <m:r>
                                <a:rPr lang="en-AU" b="0" i="1" smtClean="0">
                                  <a:latin typeface="Cambria Math" panose="02040503050406030204" pitchFamily="18" charset="0"/>
                                </a:rPr>
                                <m:t>𝑚</m:t>
                              </m:r>
                              <m:r>
                                <a:rPr lang="en-AU" b="0" i="1" smtClean="0">
                                  <a:latin typeface="Cambria Math" panose="02040503050406030204" pitchFamily="18" charset="0"/>
                                </a:rPr>
                                <m:t>&lt;</m:t>
                              </m:r>
                              <m:r>
                                <a:rPr lang="en-AU" b="0" i="1" smtClean="0">
                                  <a:latin typeface="Cambria Math" panose="02040503050406030204" pitchFamily="18" charset="0"/>
                                </a:rPr>
                                <m:t>𝑛</m:t>
                              </m:r>
                            </m:e>
                          </m:eqArr>
                        </m:e>
                      </m:d>
                    </m:oMath>
                  </m:oMathPara>
                </a14:m>
                <a:endParaRPr lang="en-AU" altLang="zh-CN" b="0" dirty="0"/>
              </a:p>
              <a:p>
                <a:r>
                  <a:rPr lang="zh-CN" altLang="en-US" dirty="0"/>
                  <a:t>思路：</a:t>
                </a:r>
                <a:endParaRPr lang="en-AU" altLang="zh-CN" dirty="0"/>
              </a:p>
              <a:p>
                <a:pPr lvl="1"/>
                <a:r>
                  <a:rPr lang="zh-CN" altLang="en-US" dirty="0"/>
                  <a:t>开始时，带上符号为</a:t>
                </a:r>
                <a14:m>
                  <m:oMath xmlns:m="http://schemas.openxmlformats.org/officeDocument/2006/math">
                    <m:sSup>
                      <m:sSupPr>
                        <m:ctrlPr>
                          <a:rPr lang="en-US" altLang="zh-CN" i="1">
                            <a:latin typeface="Cambria Math" panose="02040503050406030204" pitchFamily="18" charset="0"/>
                          </a:rPr>
                        </m:ctrlPr>
                      </m:sSupPr>
                      <m:e>
                        <m:r>
                          <a:rPr lang="en-AU" altLang="zh-CN" i="1">
                            <a:latin typeface="Cambria Math" panose="02040503050406030204" pitchFamily="18" charset="0"/>
                          </a:rPr>
                          <m:t>0</m:t>
                        </m:r>
                      </m:e>
                      <m:sup>
                        <m:r>
                          <a:rPr lang="en-AU" altLang="zh-CN" b="0" i="1" smtClean="0">
                            <a:latin typeface="Cambria Math" panose="02040503050406030204" pitchFamily="18" charset="0"/>
                          </a:rPr>
                          <m:t>𝑚</m:t>
                        </m:r>
                      </m:sup>
                    </m:sSup>
                    <m:r>
                      <a:rPr lang="en-AU" altLang="zh-CN" b="0" i="1" smtClean="0">
                        <a:latin typeface="Cambria Math" panose="02040503050406030204" pitchFamily="18" charset="0"/>
                      </a:rPr>
                      <m:t>1</m:t>
                    </m:r>
                    <m:sSup>
                      <m:sSupPr>
                        <m:ctrlPr>
                          <a:rPr lang="en-US" altLang="zh-CN" i="1">
                            <a:latin typeface="Cambria Math" panose="02040503050406030204" pitchFamily="18" charset="0"/>
                          </a:rPr>
                        </m:ctrlPr>
                      </m:sSupPr>
                      <m:e>
                        <m:r>
                          <a:rPr lang="en-AU" altLang="zh-CN" i="1">
                            <a:latin typeface="Cambria Math" panose="02040503050406030204" pitchFamily="18" charset="0"/>
                          </a:rPr>
                          <m:t>0</m:t>
                        </m:r>
                      </m:e>
                      <m:sup>
                        <m:r>
                          <a:rPr lang="en-AU" altLang="zh-CN" i="1">
                            <a:latin typeface="Cambria Math" panose="02040503050406030204" pitchFamily="18" charset="0"/>
                          </a:rPr>
                          <m:t>𝑛</m:t>
                        </m:r>
                      </m:sup>
                    </m:sSup>
                  </m:oMath>
                </a14:m>
                <a:r>
                  <a:rPr lang="zh-CN" altLang="en-US" dirty="0"/>
                  <a:t>，结束时，带上的符号为</a:t>
                </a:r>
                <a14:m>
                  <m:oMath xmlns:m="http://schemas.openxmlformats.org/officeDocument/2006/math">
                    <m:r>
                      <a:rPr lang="en-US" altLang="zh-CN" i="1" dirty="0" smtClean="0">
                        <a:latin typeface="Cambria Math" panose="02040503050406030204" pitchFamily="18" charset="0"/>
                      </a:rPr>
                      <m:t>0</m:t>
                    </m:r>
                  </m:oMath>
                </a14:m>
                <a:r>
                  <a:rPr lang="zh-CN" altLang="en-US" dirty="0"/>
                  <a:t>（</a:t>
                </a:r>
                <a:r>
                  <a:rPr lang="en-AU" altLang="zh-CN" dirty="0"/>
                  <a:t> </a:t>
                </a:r>
                <a14:m>
                  <m:oMath xmlns:m="http://schemas.openxmlformats.org/officeDocument/2006/math">
                    <m:r>
                      <a:rPr lang="en-AU" altLang="zh-CN" i="1">
                        <a:latin typeface="Cambria Math" panose="02040503050406030204" pitchFamily="18" charset="0"/>
                      </a:rPr>
                      <m:t>𝑚</m:t>
                    </m:r>
                    <m:r>
                      <a:rPr lang="en-AU" altLang="zh-CN" i="1">
                        <a:latin typeface="Cambria Math" panose="02040503050406030204" pitchFamily="18" charset="0"/>
                        <a:ea typeface="Cambria Math" panose="02040503050406030204" pitchFamily="18" charset="0"/>
                      </a:rPr>
                      <m:t>≥</m:t>
                    </m:r>
                    <m:r>
                      <a:rPr lang="en-AU" altLang="zh-CN" i="1">
                        <a:latin typeface="Cambria Math" panose="02040503050406030204" pitchFamily="18" charset="0"/>
                        <a:ea typeface="Cambria Math" panose="02040503050406030204" pitchFamily="18" charset="0"/>
                      </a:rPr>
                      <m:t>𝑛</m:t>
                    </m:r>
                    <m:r>
                      <a:rPr lang="en-AU" altLang="zh-CN" i="1">
                        <a:latin typeface="Cambria Math" panose="02040503050406030204" pitchFamily="18" charset="0"/>
                        <a:ea typeface="Cambria Math" panose="02040503050406030204" pitchFamily="18" charset="0"/>
                      </a:rPr>
                      <m:t> </m:t>
                    </m:r>
                  </m:oMath>
                </a14:m>
                <a:r>
                  <a:rPr lang="zh-CN" altLang="en-US" dirty="0"/>
                  <a:t>）或者空格符</a:t>
                </a:r>
                <a:r>
                  <a:rPr lang="en-AU" altLang="zh-CN" dirty="0"/>
                  <a:t>(</a:t>
                </a:r>
                <a14:m>
                  <m:oMath xmlns:m="http://schemas.openxmlformats.org/officeDocument/2006/math">
                    <m:r>
                      <a:rPr lang="en-AU" altLang="zh-CN" i="1">
                        <a:latin typeface="Cambria Math" panose="02040503050406030204" pitchFamily="18" charset="0"/>
                      </a:rPr>
                      <m:t>𝑚</m:t>
                    </m:r>
                    <m:r>
                      <a:rPr lang="en-AU" altLang="zh-CN" b="0" i="1" smtClean="0">
                        <a:latin typeface="Cambria Math" panose="02040503050406030204" pitchFamily="18" charset="0"/>
                      </a:rPr>
                      <m:t>&lt;</m:t>
                    </m:r>
                    <m:r>
                      <a:rPr lang="en-AU" altLang="zh-CN" i="1">
                        <a:latin typeface="Cambria Math" panose="02040503050406030204" pitchFamily="18" charset="0"/>
                        <a:ea typeface="Cambria Math" panose="02040503050406030204" pitchFamily="18" charset="0"/>
                      </a:rPr>
                      <m:t>𝑛</m:t>
                    </m:r>
                    <m:r>
                      <a:rPr lang="en-AU" altLang="zh-CN" i="1">
                        <a:latin typeface="Cambria Math" panose="02040503050406030204" pitchFamily="18" charset="0"/>
                        <a:ea typeface="Cambria Math" panose="02040503050406030204" pitchFamily="18" charset="0"/>
                      </a:rPr>
                      <m:t> </m:t>
                    </m:r>
                  </m:oMath>
                </a14:m>
                <a:r>
                  <a:rPr lang="en-AU" altLang="zh-CN" dirty="0"/>
                  <a:t>)</a:t>
                </a:r>
                <a:r>
                  <a:rPr lang="zh-CN" altLang="en-US" dirty="0"/>
                  <a:t>。</a:t>
                </a:r>
                <a:endParaRPr lang="en-AU" altLang="zh-CN" dirty="0"/>
              </a:p>
              <a:p>
                <a:pPr lvl="1"/>
                <a:r>
                  <a:rPr lang="zh-CN" altLang="en-US" dirty="0"/>
                  <a:t>每当在</a:t>
                </a:r>
                <a:r>
                  <a:rPr lang="en-US" altLang="zh-CN" dirty="0"/>
                  <a:t>1</a:t>
                </a:r>
                <a:r>
                  <a:rPr lang="zh-CN" altLang="en-US" dirty="0"/>
                  <a:t>的左边将一个</a:t>
                </a:r>
                <a:r>
                  <a:rPr lang="en-US" altLang="zh-CN" dirty="0"/>
                  <a:t>0</a:t>
                </a:r>
                <a:r>
                  <a:rPr lang="zh-CN" altLang="en-US" dirty="0"/>
                  <a:t>改变为</a:t>
                </a:r>
                <a:r>
                  <a:rPr lang="en-US" altLang="zh-CN" dirty="0"/>
                  <a:t>B</a:t>
                </a:r>
                <a:r>
                  <a:rPr lang="zh-CN" altLang="en-US" dirty="0"/>
                  <a:t>，就在</a:t>
                </a:r>
                <a:r>
                  <a:rPr lang="en-US" altLang="zh-CN" dirty="0"/>
                  <a:t>1</a:t>
                </a:r>
                <a:r>
                  <a:rPr lang="zh-CN" altLang="en-US" dirty="0"/>
                  <a:t>的右边将一个</a:t>
                </a:r>
                <a:r>
                  <a:rPr lang="en-US" altLang="zh-CN" dirty="0"/>
                  <a:t>0</a:t>
                </a:r>
                <a:r>
                  <a:rPr lang="zh-CN" altLang="en-US" dirty="0"/>
                  <a:t>改为</a:t>
                </a:r>
                <a:r>
                  <a:rPr lang="en-US" altLang="zh-CN" dirty="0"/>
                  <a:t>1</a:t>
                </a:r>
                <a:r>
                  <a:rPr lang="zh-CN" altLang="en-US" dirty="0"/>
                  <a:t>。重复以上循环，直到以下两种情况结束</a:t>
                </a:r>
                <a:r>
                  <a:rPr lang="en-AU" altLang="zh-CN" dirty="0"/>
                  <a:t>:</a:t>
                </a:r>
              </a:p>
              <a:p>
                <a:pPr lvl="2"/>
                <a:r>
                  <a:rPr lang="en-AU" altLang="zh-CN" dirty="0"/>
                  <a:t>(1)1</a:t>
                </a:r>
                <a:r>
                  <a:rPr lang="zh-CN" altLang="en-US" dirty="0"/>
                  <a:t>右边的</a:t>
                </a:r>
                <a:r>
                  <a:rPr lang="en-AU" altLang="zh-CN" dirty="0"/>
                  <a:t>n</a:t>
                </a:r>
                <a:r>
                  <a:rPr lang="zh-CN" altLang="en-US" dirty="0"/>
                  <a:t>个</a:t>
                </a:r>
                <a:r>
                  <a:rPr lang="en-AU" altLang="zh-CN" dirty="0"/>
                  <a:t>0</a:t>
                </a:r>
                <a:r>
                  <a:rPr lang="zh-CN" altLang="en-US" dirty="0"/>
                  <a:t>全部改为了</a:t>
                </a:r>
                <a:r>
                  <a:rPr lang="en-AU" altLang="zh-CN" dirty="0"/>
                  <a:t>1</a:t>
                </a:r>
                <a:r>
                  <a:rPr lang="zh-CN" altLang="en-US" dirty="0"/>
                  <a:t>，向右移遇到了空格符，此时把</a:t>
                </a:r>
                <a:r>
                  <a:rPr lang="en-AU" altLang="zh-CN" dirty="0"/>
                  <a:t>(n+1)</a:t>
                </a:r>
                <a:r>
                  <a:rPr lang="zh-CN" altLang="en-US" dirty="0"/>
                  <a:t>个</a:t>
                </a:r>
                <a:r>
                  <a:rPr lang="en-AU" altLang="zh-CN" dirty="0"/>
                  <a:t>1</a:t>
                </a:r>
                <a:r>
                  <a:rPr lang="zh-CN" altLang="en-US" dirty="0"/>
                  <a:t>改为</a:t>
                </a:r>
                <a:r>
                  <a:rPr lang="en-AU" altLang="zh-CN" dirty="0"/>
                  <a:t>1</a:t>
                </a:r>
                <a:r>
                  <a:rPr lang="zh-CN" altLang="en-US" dirty="0"/>
                  <a:t>个</a:t>
                </a:r>
                <a:r>
                  <a:rPr lang="en-AU" altLang="zh-CN" dirty="0"/>
                  <a:t>0</a:t>
                </a:r>
                <a:r>
                  <a:rPr lang="zh-CN" altLang="en-US" dirty="0"/>
                  <a:t>和</a:t>
                </a:r>
                <a:r>
                  <a:rPr lang="en-AU" altLang="zh-CN" dirty="0"/>
                  <a:t>n</a:t>
                </a:r>
                <a:r>
                  <a:rPr lang="zh-CN" altLang="en-US" dirty="0"/>
                  <a:t>个</a:t>
                </a:r>
                <a:r>
                  <a:rPr lang="en-US" altLang="zh-CN" dirty="0"/>
                  <a:t>B</a:t>
                </a:r>
                <a:r>
                  <a:rPr lang="zh-CN" altLang="en-US" dirty="0"/>
                  <a:t>。这样带上剩下</a:t>
                </a:r>
                <a:r>
                  <a:rPr lang="en-AU" altLang="zh-CN" dirty="0"/>
                  <a:t>m-n</a:t>
                </a:r>
                <a:r>
                  <a:rPr lang="zh-CN" altLang="en-US" dirty="0"/>
                  <a:t>个</a:t>
                </a:r>
                <a:r>
                  <a:rPr lang="en-AU" altLang="zh-CN" dirty="0"/>
                  <a:t>0</a:t>
                </a:r>
                <a:r>
                  <a:rPr lang="zh-CN" altLang="en-US" dirty="0"/>
                  <a:t>。</a:t>
                </a:r>
                <a:endParaRPr lang="en-AU" altLang="zh-CN" dirty="0"/>
              </a:p>
              <a:p>
                <a:pPr lvl="2"/>
                <a:r>
                  <a:rPr lang="en-AU" altLang="zh-CN" dirty="0"/>
                  <a:t>(2)</a:t>
                </a:r>
                <a:r>
                  <a:rPr lang="zh-CN" altLang="en-US" dirty="0"/>
                  <a:t>向左已经找不到</a:t>
                </a:r>
                <a:r>
                  <a:rPr lang="en-AU" altLang="zh-CN" dirty="0"/>
                  <a:t>0</a:t>
                </a:r>
                <a:r>
                  <a:rPr lang="zh-CN" altLang="en-US" dirty="0"/>
                  <a:t>，此时把带上剩下的</a:t>
                </a:r>
                <a:r>
                  <a:rPr lang="en-US" altLang="zh-CN" dirty="0"/>
                  <a:t>1</a:t>
                </a:r>
                <a:r>
                  <a:rPr lang="zh-CN" altLang="en-US" dirty="0"/>
                  <a:t>和</a:t>
                </a:r>
                <a:r>
                  <a:rPr lang="en-US" altLang="zh-CN" dirty="0"/>
                  <a:t>0</a:t>
                </a:r>
                <a:r>
                  <a:rPr lang="zh-CN" altLang="en-US" dirty="0"/>
                  <a:t>全部变为空格符号，留下一个只有空格符的带。</a:t>
                </a:r>
              </a:p>
              <a:p>
                <a:endParaRPr lang="zh-CN" alt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81200" y="1166019"/>
                <a:ext cx="8229600" cy="4525963"/>
              </a:xfrm>
              <a:blipFill>
                <a:blip r:embed="rId3"/>
                <a:stretch>
                  <a:fillRect l="-1233" t="-36872" r="-2773"/>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6</a:t>
            </a:fld>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整数函数计算器</a:t>
            </a:r>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t>7</a:t>
            </a:fld>
            <a:endParaRPr lang="en-AU"/>
          </a:p>
        </p:txBody>
      </p:sp>
      <p:pic>
        <p:nvPicPr>
          <p:cNvPr id="6" name="Picture 5" descr="Diagram&#10;&#10;Description automatically generated"/>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154645" y="3859236"/>
            <a:ext cx="7964826" cy="2998764"/>
          </a:xfrm>
          <a:prstGeom prst="rect">
            <a:avLst/>
          </a:prstGeom>
        </p:spPr>
      </p:pic>
      <p:sp>
        <p:nvSpPr>
          <p:cNvPr id="11" name="文本框 10">
            <a:extLst>
              <a:ext uri="{FF2B5EF4-FFF2-40B4-BE49-F238E27FC236}">
                <a16:creationId xmlns:a16="http://schemas.microsoft.com/office/drawing/2014/main" id="{F3C4926A-C7D7-0195-EF8B-A9277E7AABA0}"/>
              </a:ext>
            </a:extLst>
          </p:cNvPr>
          <p:cNvSpPr txBox="1"/>
          <p:nvPr/>
        </p:nvSpPr>
        <p:spPr>
          <a:xfrm>
            <a:off x="815099" y="1159273"/>
            <a:ext cx="11304372" cy="3416320"/>
          </a:xfrm>
          <a:prstGeom prst="rect">
            <a:avLst/>
          </a:prstGeom>
          <a:noFill/>
        </p:spPr>
        <p:txBody>
          <a:bodyPr wrap="square">
            <a:spAutoFit/>
          </a:bodyPr>
          <a:lstStyle/>
          <a:p>
            <a:r>
              <a:rPr lang="zh-CN" altLang="en-US" sz="2400" dirty="0"/>
              <a:t>每当在</a:t>
            </a:r>
            <a:r>
              <a:rPr lang="en-US" altLang="zh-CN" sz="2400" dirty="0"/>
              <a:t>1</a:t>
            </a:r>
            <a:r>
              <a:rPr lang="zh-CN" altLang="en-US" sz="2400" dirty="0"/>
              <a:t>的左边将一个</a:t>
            </a:r>
            <a:r>
              <a:rPr lang="en-US" altLang="zh-CN" sz="2400" dirty="0"/>
              <a:t>0</a:t>
            </a:r>
            <a:r>
              <a:rPr lang="zh-CN" altLang="en-US" sz="2400" dirty="0"/>
              <a:t>改变为</a:t>
            </a:r>
            <a:r>
              <a:rPr lang="en" altLang="zh-CN" sz="2400" dirty="0"/>
              <a:t>B</a:t>
            </a:r>
            <a:r>
              <a:rPr lang="zh-CN" altLang="en" sz="2400" dirty="0"/>
              <a:t>，</a:t>
            </a:r>
            <a:r>
              <a:rPr lang="zh-CN" altLang="en-US" sz="2400" dirty="0"/>
              <a:t>就在</a:t>
            </a:r>
            <a:r>
              <a:rPr lang="en-US" altLang="zh-CN" sz="2400" dirty="0"/>
              <a:t>1</a:t>
            </a:r>
            <a:r>
              <a:rPr lang="zh-CN" altLang="en-US" sz="2400" dirty="0"/>
              <a:t>的右边将一个</a:t>
            </a:r>
            <a:r>
              <a:rPr lang="en-US" altLang="zh-CN" sz="2400" dirty="0"/>
              <a:t>0</a:t>
            </a:r>
            <a:r>
              <a:rPr lang="zh-CN" altLang="en-US" sz="2400" dirty="0"/>
              <a:t>改为</a:t>
            </a:r>
            <a:r>
              <a:rPr lang="en-US" altLang="zh-CN" sz="2400" dirty="0"/>
              <a:t>1</a:t>
            </a:r>
            <a:r>
              <a:rPr lang="zh-CN" altLang="en-US" sz="2400" dirty="0"/>
              <a:t>。重复以上循环，直到以下两种情况结束</a:t>
            </a:r>
            <a:r>
              <a:rPr lang="en-US" altLang="zh-CN" sz="2400" dirty="0"/>
              <a:t>:</a:t>
            </a:r>
          </a:p>
          <a:p>
            <a:endParaRPr lang="en-US" altLang="zh-CN" sz="2400" dirty="0"/>
          </a:p>
          <a:p>
            <a:r>
              <a:rPr lang="en-US" altLang="zh-CN" sz="2400" dirty="0"/>
              <a:t>(1)</a:t>
            </a:r>
            <a:r>
              <a:rPr lang="zh-CN" altLang="en-US" sz="2400" dirty="0"/>
              <a:t> </a:t>
            </a:r>
            <a:r>
              <a:rPr lang="en-US" altLang="zh-CN" sz="2400" dirty="0"/>
              <a:t>1</a:t>
            </a:r>
            <a:r>
              <a:rPr lang="zh-CN" altLang="en-US" sz="2400" dirty="0"/>
              <a:t>右边的</a:t>
            </a:r>
            <a:r>
              <a:rPr lang="en" altLang="zh-CN" sz="2400" dirty="0"/>
              <a:t>n</a:t>
            </a:r>
            <a:r>
              <a:rPr lang="zh-CN" altLang="en-US" sz="2400" dirty="0"/>
              <a:t>个</a:t>
            </a:r>
            <a:r>
              <a:rPr lang="en-US" altLang="zh-CN" sz="2400" dirty="0"/>
              <a:t>0</a:t>
            </a:r>
            <a:r>
              <a:rPr lang="zh-CN" altLang="en-US" sz="2400" dirty="0"/>
              <a:t>全部改为了</a:t>
            </a:r>
            <a:r>
              <a:rPr lang="en-US" altLang="zh-CN" sz="2400" dirty="0"/>
              <a:t>1</a:t>
            </a:r>
            <a:r>
              <a:rPr lang="zh-CN" altLang="en-US" sz="2400" dirty="0"/>
              <a:t>，向右移遇到了空格符，此时把</a:t>
            </a:r>
            <a:r>
              <a:rPr lang="en-US" altLang="zh-CN" sz="2400" dirty="0"/>
              <a:t>(</a:t>
            </a:r>
            <a:r>
              <a:rPr lang="en" altLang="zh-CN" sz="2400" dirty="0"/>
              <a:t>n+1)</a:t>
            </a:r>
            <a:r>
              <a:rPr lang="zh-CN" altLang="en-US" sz="2400" dirty="0"/>
              <a:t>个</a:t>
            </a:r>
            <a:r>
              <a:rPr lang="en-US" altLang="zh-CN" sz="2400" dirty="0"/>
              <a:t>1</a:t>
            </a:r>
            <a:r>
              <a:rPr lang="zh-CN" altLang="en-US" sz="2400" dirty="0"/>
              <a:t>改为</a:t>
            </a:r>
            <a:r>
              <a:rPr lang="en-US" altLang="zh-CN" sz="2400" dirty="0"/>
              <a:t>1</a:t>
            </a:r>
            <a:r>
              <a:rPr lang="zh-CN" altLang="en-US" sz="2400" dirty="0"/>
              <a:t>个</a:t>
            </a:r>
            <a:r>
              <a:rPr lang="en-US" altLang="zh-CN" sz="2400" dirty="0"/>
              <a:t>0</a:t>
            </a:r>
            <a:r>
              <a:rPr lang="zh-CN" altLang="en-US" sz="2400" dirty="0"/>
              <a:t>和</a:t>
            </a:r>
            <a:r>
              <a:rPr lang="en" altLang="zh-CN" sz="2400" dirty="0"/>
              <a:t>n</a:t>
            </a:r>
            <a:r>
              <a:rPr lang="zh-CN" altLang="en-US" sz="2400" dirty="0"/>
              <a:t>个</a:t>
            </a:r>
            <a:r>
              <a:rPr lang="en" altLang="zh-CN" sz="2400" dirty="0"/>
              <a:t>B</a:t>
            </a:r>
            <a:r>
              <a:rPr lang="zh-CN" altLang="en" sz="2400" dirty="0"/>
              <a:t>。</a:t>
            </a:r>
            <a:r>
              <a:rPr lang="zh-CN" altLang="en-US" sz="2400" dirty="0"/>
              <a:t>这样带上剩下</a:t>
            </a:r>
            <a:r>
              <a:rPr lang="en" altLang="zh-CN" sz="2400" dirty="0"/>
              <a:t>m-n</a:t>
            </a:r>
            <a:r>
              <a:rPr lang="zh-CN" altLang="en-US" sz="2400" dirty="0"/>
              <a:t>个</a:t>
            </a:r>
            <a:r>
              <a:rPr lang="en-US" altLang="zh-CN" sz="2400" dirty="0"/>
              <a:t>0</a:t>
            </a:r>
            <a:r>
              <a:rPr lang="zh-CN" altLang="en-US" sz="2400" dirty="0"/>
              <a:t>。</a:t>
            </a:r>
          </a:p>
          <a:p>
            <a:endParaRPr lang="zh-CN" altLang="en-US" sz="2400" dirty="0"/>
          </a:p>
          <a:p>
            <a:r>
              <a:rPr lang="en-US" altLang="zh-CN" sz="2400" dirty="0"/>
              <a:t>(2)</a:t>
            </a:r>
            <a:r>
              <a:rPr lang="zh-CN" altLang="en-US" sz="2400" dirty="0"/>
              <a:t>向左已经找不到</a:t>
            </a:r>
            <a:r>
              <a:rPr lang="en-US" altLang="zh-CN" sz="2400" dirty="0"/>
              <a:t>0</a:t>
            </a:r>
            <a:r>
              <a:rPr lang="zh-CN" altLang="en-US" sz="2400" dirty="0"/>
              <a:t>，此时把带上剩下的</a:t>
            </a:r>
            <a:r>
              <a:rPr lang="en-US" altLang="zh-CN" sz="2400" dirty="0"/>
              <a:t>1</a:t>
            </a:r>
            <a:r>
              <a:rPr lang="zh-CN" altLang="en-US" sz="2400" dirty="0"/>
              <a:t>和</a:t>
            </a:r>
            <a:r>
              <a:rPr lang="en-US" altLang="zh-CN" sz="2400" dirty="0"/>
              <a:t>0</a:t>
            </a:r>
            <a:r>
              <a:rPr lang="zh-CN" altLang="en-US" sz="2400" dirty="0"/>
              <a:t>全部变为空格符号，留下一个只有空格符的带。</a:t>
            </a:r>
          </a:p>
          <a:p>
            <a:endParaRPr lang="zh-CN" altLang="en-US" sz="2400" dirty="0"/>
          </a:p>
        </p:txBody>
      </p:sp>
      <p:pic>
        <p:nvPicPr>
          <p:cNvPr id="14" name="图片 13">
            <a:extLst>
              <a:ext uri="{FF2B5EF4-FFF2-40B4-BE49-F238E27FC236}">
                <a16:creationId xmlns:a16="http://schemas.microsoft.com/office/drawing/2014/main" id="{247EDA70-ADD3-51C9-DD1B-295B8E5B8D7F}"/>
              </a:ext>
            </a:extLst>
          </p:cNvPr>
          <p:cNvPicPr>
            <a:picLocks noChangeAspect="1"/>
          </p:cNvPicPr>
          <p:nvPr/>
        </p:nvPicPr>
        <p:blipFill>
          <a:blip r:embed="rId3"/>
          <a:stretch>
            <a:fillRect/>
          </a:stretch>
        </p:blipFill>
        <p:spPr>
          <a:xfrm>
            <a:off x="592572" y="4947534"/>
            <a:ext cx="3784600" cy="1041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CE8915F-BB6F-439F-AC9A-14BFA7E3C0C2}"/>
              </a:ext>
            </a:extLst>
          </p:cNvPr>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8</a:t>
            </a:fld>
            <a:endParaRPr lang="en-US" altLang="zh-CN" strike="noStrike" noProof="1">
              <a:solidFill>
                <a:prstClr val="black">
                  <a:tint val="75000"/>
                </a:prstClr>
              </a:solidFill>
            </a:endParaRPr>
          </a:p>
        </p:txBody>
      </p:sp>
      <p:sp>
        <p:nvSpPr>
          <p:cNvPr id="7" name="文本框 6">
            <a:extLst>
              <a:ext uri="{FF2B5EF4-FFF2-40B4-BE49-F238E27FC236}">
                <a16:creationId xmlns:a16="http://schemas.microsoft.com/office/drawing/2014/main" id="{C870D1EB-EA36-4AB6-A349-1F1B69721C89}"/>
              </a:ext>
            </a:extLst>
          </p:cNvPr>
          <p:cNvSpPr txBox="1"/>
          <p:nvPr>
            <p:custDataLst>
              <p:tags r:id="rId2"/>
            </p:custDataLst>
          </p:nvPr>
        </p:nvSpPr>
        <p:spPr>
          <a:xfrm>
            <a:off x="1219200" y="1069819"/>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红框中转移弧的作用</a:t>
            </a:r>
          </a:p>
        </p:txBody>
      </p:sp>
      <p:sp>
        <p:nvSpPr>
          <p:cNvPr id="8" name="文本框 7">
            <a:extLst>
              <a:ext uri="{FF2B5EF4-FFF2-40B4-BE49-F238E27FC236}">
                <a16:creationId xmlns:a16="http://schemas.microsoft.com/office/drawing/2014/main" id="{50F19FC7-0159-4FF9-BDB1-41613E55CA61}"/>
              </a:ext>
            </a:extLst>
          </p:cNvPr>
          <p:cNvSpPr txBox="1"/>
          <p:nvPr>
            <p:custDataLst>
              <p:tags r:id="rId3"/>
            </p:custDataLst>
          </p:nvPr>
        </p:nvSpPr>
        <p:spPr>
          <a:xfrm>
            <a:off x="2159000" y="3503509"/>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替换左部的一个</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D77F7162-EAEF-498F-8545-1D9BD443FE9D}"/>
              </a:ext>
            </a:extLst>
          </p:cNvPr>
          <p:cNvSpPr txBox="1"/>
          <p:nvPr>
            <p:custDataLst>
              <p:tags r:id="rId4"/>
            </p:custDataLst>
          </p:nvPr>
        </p:nvSpPr>
        <p:spPr>
          <a:xfrm>
            <a:off x="2159000" y="4360759"/>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减少一个</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的计数</a:t>
            </a:r>
          </a:p>
        </p:txBody>
      </p:sp>
      <p:sp>
        <p:nvSpPr>
          <p:cNvPr id="10" name="文本框 9">
            <a:extLst>
              <a:ext uri="{FF2B5EF4-FFF2-40B4-BE49-F238E27FC236}">
                <a16:creationId xmlns:a16="http://schemas.microsoft.com/office/drawing/2014/main" id="{DF6DB1B1-0D42-4CA2-9BBB-8E0766A08FA2}"/>
              </a:ext>
            </a:extLst>
          </p:cNvPr>
          <p:cNvSpPr txBox="1"/>
          <p:nvPr>
            <p:custDataLst>
              <p:tags r:id="rId5"/>
            </p:custDataLst>
          </p:nvPr>
        </p:nvSpPr>
        <p:spPr>
          <a:xfrm>
            <a:off x="2159000" y="5218009"/>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替换右部的一个</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EA2DBCCE-8E81-41EC-9BEA-1CB07C0475B1}"/>
              </a:ext>
            </a:extLst>
          </p:cNvPr>
          <p:cNvSpPr txBox="1"/>
          <p:nvPr>
            <p:custDataLst>
              <p:tags r:id="rId6"/>
            </p:custDataLst>
          </p:nvPr>
        </p:nvSpPr>
        <p:spPr>
          <a:xfrm>
            <a:off x="2159000" y="6075259"/>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增加一个</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的计数</a:t>
            </a:r>
          </a:p>
        </p:txBody>
      </p:sp>
      <p:sp>
        <p:nvSpPr>
          <p:cNvPr id="12" name="矩形 11">
            <a:extLst>
              <a:ext uri="{FF2B5EF4-FFF2-40B4-BE49-F238E27FC236}">
                <a16:creationId xmlns:a16="http://schemas.microsoft.com/office/drawing/2014/main" id="{1A6EBA5D-E817-48ED-9003-CBB4255E4780}"/>
              </a:ext>
            </a:extLst>
          </p:cNvPr>
          <p:cNvSpPr>
            <a:spLocks noChangeAspect="1"/>
          </p:cNvSpPr>
          <p:nvPr>
            <p:custDataLst>
              <p:tags r:id="rId7"/>
            </p:custDataLst>
          </p:nvPr>
        </p:nvSpPr>
        <p:spPr>
          <a:xfrm>
            <a:off x="1292225" y="3567802"/>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a:extLst>
              <a:ext uri="{FF2B5EF4-FFF2-40B4-BE49-F238E27FC236}">
                <a16:creationId xmlns:a16="http://schemas.microsoft.com/office/drawing/2014/main" id="{9CA913E6-0245-4A67-8DFD-9E75FFE220D5}"/>
              </a:ext>
            </a:extLst>
          </p:cNvPr>
          <p:cNvSpPr>
            <a:spLocks noChangeAspect="1"/>
          </p:cNvSpPr>
          <p:nvPr>
            <p:custDataLst>
              <p:tags r:id="rId8"/>
            </p:custDataLst>
          </p:nvPr>
        </p:nvSpPr>
        <p:spPr>
          <a:xfrm>
            <a:off x="1292225" y="4425052"/>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13">
            <a:extLst>
              <a:ext uri="{FF2B5EF4-FFF2-40B4-BE49-F238E27FC236}">
                <a16:creationId xmlns:a16="http://schemas.microsoft.com/office/drawing/2014/main" id="{1DAB8823-441A-424E-A744-90BC1A84AF31}"/>
              </a:ext>
            </a:extLst>
          </p:cNvPr>
          <p:cNvSpPr>
            <a:spLocks noChangeAspect="1"/>
          </p:cNvSpPr>
          <p:nvPr>
            <p:custDataLst>
              <p:tags r:id="rId9"/>
            </p:custDataLst>
          </p:nvPr>
        </p:nvSpPr>
        <p:spPr>
          <a:xfrm>
            <a:off x="1292225" y="5282302"/>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14">
            <a:extLst>
              <a:ext uri="{FF2B5EF4-FFF2-40B4-BE49-F238E27FC236}">
                <a16:creationId xmlns:a16="http://schemas.microsoft.com/office/drawing/2014/main" id="{DAD02E34-6067-4591-9212-690A69C9E730}"/>
              </a:ext>
            </a:extLst>
          </p:cNvPr>
          <p:cNvSpPr>
            <a:spLocks noChangeAspect="1"/>
          </p:cNvSpPr>
          <p:nvPr>
            <p:custDataLst>
              <p:tags r:id="rId10"/>
            </p:custDataLst>
          </p:nvPr>
        </p:nvSpPr>
        <p:spPr>
          <a:xfrm>
            <a:off x="1292225" y="6139552"/>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矩形: 圆角 15">
            <a:extLst>
              <a:ext uri="{FF2B5EF4-FFF2-40B4-BE49-F238E27FC236}">
                <a16:creationId xmlns:a16="http://schemas.microsoft.com/office/drawing/2014/main" id="{2DF2C116-65EA-47D9-8B00-A9DDA34236E9}"/>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23" name="Picture 5" descr="Diagram&#10;&#10;Description automatically generated">
            <a:extLst>
              <a:ext uri="{FF2B5EF4-FFF2-40B4-BE49-F238E27FC236}">
                <a16:creationId xmlns:a16="http://schemas.microsoft.com/office/drawing/2014/main" id="{AA8D0908-BF08-4F58-927A-FAFFF6E81E5A}"/>
              </a:ext>
            </a:extLst>
          </p:cNvPr>
          <p:cNvPicPr>
            <a:picLocks noChangeAspect="1"/>
          </p:cNvPicPr>
          <p:nvPr/>
        </p:nvPicPr>
        <p:blipFill>
          <a:blip r:embed="rId2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988396" y="1143719"/>
            <a:ext cx="7203604" cy="2712163"/>
          </a:xfrm>
          <a:prstGeom prst="rect">
            <a:avLst/>
          </a:prstGeom>
        </p:spPr>
      </p:pic>
      <p:sp>
        <p:nvSpPr>
          <p:cNvPr id="24" name="矩形 23">
            <a:extLst>
              <a:ext uri="{FF2B5EF4-FFF2-40B4-BE49-F238E27FC236}">
                <a16:creationId xmlns:a16="http://schemas.microsoft.com/office/drawing/2014/main" id="{C67CAAE4-EFF6-48ED-8D80-4CA3D13BF4F7}"/>
              </a:ext>
            </a:extLst>
          </p:cNvPr>
          <p:cNvSpPr/>
          <p:nvPr/>
        </p:nvSpPr>
        <p:spPr>
          <a:xfrm>
            <a:off x="8246187" y="3111655"/>
            <a:ext cx="982825" cy="7204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a:extLst>
              <a:ext uri="{FF2B5EF4-FFF2-40B4-BE49-F238E27FC236}">
                <a16:creationId xmlns:a16="http://schemas.microsoft.com/office/drawing/2014/main" id="{9F50787E-AF6E-4061-A634-4064D8104CB9}"/>
              </a:ext>
            </a:extLst>
          </p:cNvPr>
          <p:cNvGrpSpPr/>
          <p:nvPr>
            <p:custDataLst>
              <p:tags r:id="rId12"/>
            </p:custDataLst>
          </p:nvPr>
        </p:nvGrpSpPr>
        <p:grpSpPr>
          <a:xfrm>
            <a:off x="0" y="0"/>
            <a:ext cx="12192000" cy="635000"/>
            <a:chOff x="0" y="0"/>
            <a:chExt cx="12192000" cy="635000"/>
          </a:xfrm>
        </p:grpSpPr>
        <p:sp>
          <p:nvSpPr>
            <p:cNvPr id="17" name="TitleBackground">
              <a:extLst>
                <a:ext uri="{FF2B5EF4-FFF2-40B4-BE49-F238E27FC236}">
                  <a16:creationId xmlns:a16="http://schemas.microsoft.com/office/drawing/2014/main" id="{70A029CD-21C5-49A5-8A6E-827EC3730D8C}"/>
                </a:ext>
              </a:extLst>
            </p:cNvPr>
            <p:cNvSpPr/>
            <p:nvPr>
              <p:custDataLst>
                <p:tags r:id="rId14"/>
              </p:custDataLst>
            </p:nvPr>
          </p:nvSpPr>
          <p:spPr>
            <a:xfrm>
              <a:off x="0" y="0"/>
              <a:ext cx="12192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a:extLst>
                <a:ext uri="{FF2B5EF4-FFF2-40B4-BE49-F238E27FC236}">
                  <a16:creationId xmlns:a16="http://schemas.microsoft.com/office/drawing/2014/main" id="{5B60B4D2-9A1C-41E1-9A0B-6A2F0DE95326}"/>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a:extLst>
                <a:ext uri="{FF2B5EF4-FFF2-40B4-BE49-F238E27FC236}">
                  <a16:creationId xmlns:a16="http://schemas.microsoft.com/office/drawing/2014/main" id="{BCB80E28-CF4D-452D-A844-2D797F9974D3}"/>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20" name="TipText">
              <a:extLst>
                <a:ext uri="{FF2B5EF4-FFF2-40B4-BE49-F238E27FC236}">
                  <a16:creationId xmlns:a16="http://schemas.microsoft.com/office/drawing/2014/main" id="{6E1F1B12-4BC3-4647-A0E0-7B6682485004}"/>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33</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6" name="图片 5">
            <a:extLst>
              <a:ext uri="{FF2B5EF4-FFF2-40B4-BE49-F238E27FC236}">
                <a16:creationId xmlns:a16="http://schemas.microsoft.com/office/drawing/2014/main" id="{942E50D5-4EDB-417A-AB48-CF3EDDE84E87}"/>
              </a:ext>
            </a:extLst>
          </p:cNvPr>
          <p:cNvPicPr>
            <a:picLocks/>
          </p:cNvPicPr>
          <p:nvPr>
            <p:custDataLst>
              <p:tags r:id="rId13"/>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969037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整数函数计算器</a:t>
            </a:r>
            <a:endParaRPr lang="en-AU" dirty="0"/>
          </a:p>
        </p:txBody>
      </p:sp>
      <p:sp>
        <p:nvSpPr>
          <p:cNvPr id="3" name="Content Placeholder 2"/>
          <p:cNvSpPr>
            <a:spLocks noGrp="1"/>
          </p:cNvSpPr>
          <p:nvPr>
            <p:ph idx="1"/>
          </p:nvPr>
        </p:nvSpPr>
        <p:spPr>
          <a:xfrm>
            <a:off x="2074524" y="1054870"/>
            <a:ext cx="8229600" cy="4525963"/>
          </a:xfrm>
        </p:spPr>
        <p:txBody>
          <a:bodyPr>
            <a:normAutofit/>
          </a:bodyPr>
          <a:lstStyle/>
          <a:p>
            <a:pPr marL="0" indent="0">
              <a:buNone/>
            </a:pPr>
            <a:r>
              <a:rPr lang="zh-CN" altLang="en-US" dirty="0"/>
              <a:t>例：</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二进制数的加</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rPr>
              <a:t>函数，用符号</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作为数前的占位标记。例如</a:t>
            </a:r>
            <a:r>
              <a:rPr lang="en-US" altLang="zh-CN" i="1" dirty="0">
                <a:latin typeface="Times New Roman" pitchFamily="18" charset="0"/>
                <a:ea typeface="宋体" pitchFamily="2" charset="-122"/>
                <a:sym typeface="Symbol"/>
              </a:rPr>
              <a:t>q</a:t>
            </a:r>
            <a:r>
              <a:rPr lang="en-US" altLang="zh-CN" baseline="-25000" dirty="0">
                <a:latin typeface="Times New Roman" pitchFamily="18" charset="0"/>
                <a:ea typeface="宋体" pitchFamily="2" charset="-122"/>
                <a:sym typeface="Symbol"/>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$10011</a:t>
            </a:r>
            <a:r>
              <a:rPr lang="en-US" altLang="zh-CN" dirty="0">
                <a:latin typeface="Times New Roman" pitchFamily="18" charset="0"/>
                <a:ea typeface="宋体" pitchFamily="2" charset="-122"/>
              </a:rPr>
              <a:t>├</a:t>
            </a:r>
            <a:r>
              <a:rPr lang="en-US" altLang="zh-CN" baseline="30000" dirty="0">
                <a:latin typeface="Times New Roman" pitchFamily="18" charset="0"/>
                <a:ea typeface="宋体" pitchFamily="2" charset="-122"/>
              </a:rPr>
              <a:t>*</a:t>
            </a:r>
            <a:r>
              <a:rPr lang="en-US" altLang="zh-CN" i="1" dirty="0">
                <a:latin typeface="Times New Roman" pitchFamily="18" charset="0"/>
                <a:ea typeface="宋体" pitchFamily="2" charset="-122"/>
                <a:sym typeface="Symbol"/>
              </a:rPr>
              <a:t>q</a:t>
            </a:r>
            <a:r>
              <a:rPr lang="en-US" altLang="zh-CN" i="1" baseline="-25000" dirty="0">
                <a:latin typeface="Times New Roman" pitchFamily="18" charset="0"/>
                <a:ea typeface="宋体" pitchFamily="2" charset="-122"/>
                <a:sym typeface="Symbol"/>
              </a:rPr>
              <a:t>f</a:t>
            </a:r>
            <a:r>
              <a:rPr lang="en-US" altLang="zh-CN" dirty="0">
                <a:latin typeface="Times New Roman" panose="02020603050405020304" pitchFamily="18" charset="0"/>
                <a:ea typeface="宋体" panose="02010600030101010101" pitchFamily="2" charset="-122"/>
                <a:cs typeface="Times New Roman" panose="02020603050405020304" pitchFamily="18" charset="0"/>
              </a:rPr>
              <a:t>10100</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itchFamily="18" charset="0"/>
                <a:ea typeface="宋体" pitchFamily="2" charset="-122"/>
                <a:sym typeface="Symbol"/>
              </a:rPr>
              <a:t>q</a:t>
            </a:r>
            <a:r>
              <a:rPr lang="en-US" altLang="zh-CN" baseline="-25000" dirty="0">
                <a:latin typeface="Times New Roman" pitchFamily="18" charset="0"/>
                <a:ea typeface="宋体" pitchFamily="2" charset="-122"/>
                <a:sym typeface="Symbol"/>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$111</a:t>
            </a:r>
            <a:r>
              <a:rPr lang="en-US" altLang="zh-CN" dirty="0">
                <a:latin typeface="Times New Roman" pitchFamily="18" charset="0"/>
                <a:ea typeface="宋体" pitchFamily="2" charset="-122"/>
              </a:rPr>
              <a:t>├</a:t>
            </a:r>
            <a:r>
              <a:rPr lang="en-US" altLang="zh-CN" baseline="30000" dirty="0">
                <a:latin typeface="Times New Roman" pitchFamily="18" charset="0"/>
                <a:ea typeface="宋体" pitchFamily="2" charset="-122"/>
              </a:rPr>
              <a:t>*</a:t>
            </a:r>
            <a:r>
              <a:rPr lang="en-US" altLang="zh-CN" i="1" dirty="0">
                <a:latin typeface="Times New Roman" pitchFamily="18" charset="0"/>
                <a:ea typeface="宋体" pitchFamily="2" charset="-122"/>
                <a:sym typeface="Symbol"/>
              </a:rPr>
              <a:t>q</a:t>
            </a:r>
            <a:r>
              <a:rPr lang="en-US" altLang="zh-CN" i="1" baseline="-25000" dirty="0">
                <a:latin typeface="Times New Roman" pitchFamily="18" charset="0"/>
                <a:ea typeface="宋体" pitchFamily="2" charset="-122"/>
                <a:sym typeface="Symbol"/>
              </a:rPr>
              <a:t>f</a:t>
            </a:r>
            <a:r>
              <a:rPr lang="en-US" altLang="zh-CN" dirty="0">
                <a:latin typeface="Times New Roman" panose="02020603050405020304" pitchFamily="18" charset="0"/>
                <a:ea typeface="宋体" panose="02010600030101010101" pitchFamily="2" charset="-122"/>
                <a:cs typeface="Times New Roman" panose="02020603050405020304" pitchFamily="18" charset="0"/>
              </a:rPr>
              <a:t>1000</a:t>
            </a:r>
          </a:p>
          <a:p>
            <a:pPr marL="400050" lvl="1" indent="0">
              <a:buNone/>
            </a:pPr>
            <a:r>
              <a:rPr lang="zh-CN" altLang="en-US" dirty="0">
                <a:latin typeface="Times New Roman" panose="02020603050405020304" pitchFamily="18" charset="0"/>
                <a:ea typeface="宋体" panose="02010600030101010101" pitchFamily="2" charset="-122"/>
                <a:cs typeface="Times New Roman" panose="02020603050405020304" pitchFamily="18" charset="0"/>
              </a:rPr>
              <a:t>分两种情况</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末尾为</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时，</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变成</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，往回直到遇到</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或者</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，把</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或者</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变成</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末尾为</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时，</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变成</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。第</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种情况被第</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种情况包含</a:t>
            </a:r>
            <a:endPar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a:p>
            <a:pPr marL="0" indent="0">
              <a:buNone/>
            </a:pPr>
            <a:endParaRPr lang="zh-CN" altLang="en-US" dirty="0"/>
          </a:p>
          <a:p>
            <a:endParaRPr lang="zh-CN" altLang="en-US" dirty="0"/>
          </a:p>
        </p:txBody>
      </p:sp>
      <p:sp>
        <p:nvSpPr>
          <p:cNvPr id="4" name="Slide Number Placeholder 3"/>
          <p:cNvSpPr>
            <a:spLocks noGrp="1"/>
          </p:cNvSpPr>
          <p:nvPr>
            <p:ph type="sldNum" sz="quarter" idx="12"/>
          </p:nvPr>
        </p:nvSpPr>
        <p:spPr/>
        <p:txBody>
          <a:bodyPr/>
          <a:lstStyle/>
          <a:p>
            <a:fld id="{0662E1F6-9BD6-474C-A82E-E07C3DB67AAE}" type="slidenum">
              <a:rPr lang="en-AU" smtClean="0"/>
              <a:t>9</a:t>
            </a:fld>
            <a:endParaRPr lang="en-AU"/>
          </a:p>
        </p:txBody>
      </p:sp>
    </p:spTree>
    <p:extLst>
      <p:ext uri="{BB962C8B-B14F-4D97-AF65-F5344CB8AC3E}">
        <p14:creationId xmlns:p14="http://schemas.microsoft.com/office/powerpoint/2010/main" val="2919111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整数函数计算器</a:t>
            </a:r>
            <a:endParaRPr lang="en-AU" dirty="0"/>
          </a:p>
        </p:txBody>
      </p:sp>
      <p:sp>
        <p:nvSpPr>
          <p:cNvPr id="3" name="Content Placeholder 2"/>
          <p:cNvSpPr>
            <a:spLocks noGrp="1"/>
          </p:cNvSpPr>
          <p:nvPr>
            <p:ph idx="1"/>
          </p:nvPr>
        </p:nvSpPr>
        <p:spPr>
          <a:xfrm>
            <a:off x="2074524" y="1054870"/>
            <a:ext cx="8229600" cy="4525963"/>
          </a:xfrm>
        </p:spPr>
        <p:txBody>
          <a:bodyPr>
            <a:normAutofit/>
          </a:bodyPr>
          <a:lstStyle/>
          <a:p>
            <a:pPr marL="0" indent="0">
              <a:buNone/>
            </a:pPr>
            <a:r>
              <a:rPr lang="zh-CN" altLang="en-US" dirty="0"/>
              <a:t>例：</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二进制数的加</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rPr>
              <a:t>函数，用符号</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作为数前的占位标记。例如</a:t>
            </a:r>
            <a:r>
              <a:rPr lang="en-US" altLang="zh-CN" i="1" dirty="0">
                <a:latin typeface="Times New Roman" pitchFamily="18" charset="0"/>
                <a:ea typeface="宋体" pitchFamily="2" charset="-122"/>
                <a:sym typeface="Symbol"/>
              </a:rPr>
              <a:t>q</a:t>
            </a:r>
            <a:r>
              <a:rPr lang="en-US" altLang="zh-CN" baseline="-25000" dirty="0">
                <a:latin typeface="Times New Roman" pitchFamily="18" charset="0"/>
                <a:ea typeface="宋体" pitchFamily="2" charset="-122"/>
                <a:sym typeface="Symbol"/>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$10011</a:t>
            </a:r>
            <a:r>
              <a:rPr lang="en-US" altLang="zh-CN" dirty="0">
                <a:latin typeface="Times New Roman" pitchFamily="18" charset="0"/>
                <a:ea typeface="宋体" pitchFamily="2" charset="-122"/>
              </a:rPr>
              <a:t>├</a:t>
            </a:r>
            <a:r>
              <a:rPr lang="en-US" altLang="zh-CN" baseline="30000" dirty="0">
                <a:latin typeface="Times New Roman" pitchFamily="18" charset="0"/>
                <a:ea typeface="宋体" pitchFamily="2" charset="-122"/>
              </a:rPr>
              <a:t>*</a:t>
            </a:r>
            <a:r>
              <a:rPr lang="en-US" altLang="zh-CN" i="1" dirty="0">
                <a:latin typeface="Times New Roman" pitchFamily="18" charset="0"/>
                <a:ea typeface="宋体" pitchFamily="2" charset="-122"/>
                <a:sym typeface="Symbol"/>
              </a:rPr>
              <a:t>q</a:t>
            </a:r>
            <a:r>
              <a:rPr lang="en-US" altLang="zh-CN" i="1" baseline="-25000" dirty="0">
                <a:latin typeface="Times New Roman" pitchFamily="18" charset="0"/>
                <a:ea typeface="宋体" pitchFamily="2" charset="-122"/>
                <a:sym typeface="Symbol"/>
              </a:rPr>
              <a:t>f</a:t>
            </a:r>
            <a:r>
              <a:rPr lang="en-US" altLang="zh-CN" dirty="0">
                <a:latin typeface="Times New Roman" panose="02020603050405020304" pitchFamily="18" charset="0"/>
                <a:ea typeface="宋体" panose="02010600030101010101" pitchFamily="2" charset="-122"/>
                <a:cs typeface="Times New Roman" panose="02020603050405020304" pitchFamily="18" charset="0"/>
              </a:rPr>
              <a:t>10100</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itchFamily="18" charset="0"/>
                <a:ea typeface="宋体" pitchFamily="2" charset="-122"/>
                <a:sym typeface="Symbol"/>
              </a:rPr>
              <a:t>q</a:t>
            </a:r>
            <a:r>
              <a:rPr lang="en-US" altLang="zh-CN" baseline="-25000" dirty="0">
                <a:latin typeface="Times New Roman" pitchFamily="18" charset="0"/>
                <a:ea typeface="宋体" pitchFamily="2" charset="-122"/>
                <a:sym typeface="Symbol"/>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$111</a:t>
            </a:r>
            <a:r>
              <a:rPr lang="en-US" altLang="zh-CN" dirty="0">
                <a:latin typeface="Times New Roman" pitchFamily="18" charset="0"/>
                <a:ea typeface="宋体" pitchFamily="2" charset="-122"/>
              </a:rPr>
              <a:t>├</a:t>
            </a:r>
            <a:r>
              <a:rPr lang="en-US" altLang="zh-CN" baseline="30000" dirty="0">
                <a:latin typeface="Times New Roman" pitchFamily="18" charset="0"/>
                <a:ea typeface="宋体" pitchFamily="2" charset="-122"/>
              </a:rPr>
              <a:t>*</a:t>
            </a:r>
            <a:r>
              <a:rPr lang="en-US" altLang="zh-CN" i="1" dirty="0">
                <a:latin typeface="Times New Roman" pitchFamily="18" charset="0"/>
                <a:ea typeface="宋体" pitchFamily="2" charset="-122"/>
                <a:sym typeface="Symbol"/>
              </a:rPr>
              <a:t>q</a:t>
            </a:r>
            <a:r>
              <a:rPr lang="en-US" altLang="zh-CN" i="1" baseline="-25000" dirty="0">
                <a:latin typeface="Times New Roman" pitchFamily="18" charset="0"/>
                <a:ea typeface="宋体" pitchFamily="2" charset="-122"/>
                <a:sym typeface="Symbol"/>
              </a:rPr>
              <a:t>f</a:t>
            </a:r>
            <a:r>
              <a:rPr lang="en-US" altLang="zh-CN" dirty="0">
                <a:latin typeface="Times New Roman" panose="02020603050405020304" pitchFamily="18" charset="0"/>
                <a:ea typeface="宋体" panose="02010600030101010101" pitchFamily="2" charset="-122"/>
                <a:cs typeface="Times New Roman" panose="02020603050405020304" pitchFamily="18" charset="0"/>
              </a:rPr>
              <a:t>1000</a:t>
            </a:r>
          </a:p>
          <a:p>
            <a:pPr marL="400050" lvl="1" indent="0">
              <a:buNone/>
            </a:pPr>
            <a:r>
              <a:rPr lang="zh-CN" altLang="en-US" dirty="0">
                <a:latin typeface="Times New Roman" panose="02020603050405020304" pitchFamily="18" charset="0"/>
                <a:ea typeface="宋体" panose="02010600030101010101" pitchFamily="2" charset="-122"/>
                <a:cs typeface="Times New Roman" panose="02020603050405020304" pitchFamily="18" charset="0"/>
              </a:rPr>
              <a:t>分两种情况</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末尾为</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时，</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变成</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，往回直到遇到</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或者</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，把</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或者</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变成</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末尾为</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时，</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变成</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。第</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种情况被第</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种情况包含</a:t>
            </a:r>
            <a:endPar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a:p>
            <a:pPr marL="0" indent="0">
              <a:buNone/>
            </a:pPr>
            <a:endParaRPr lang="zh-CN" altLang="en-US" dirty="0"/>
          </a:p>
          <a:p>
            <a:endParaRPr lang="zh-CN" altLang="en-US" dirty="0"/>
          </a:p>
        </p:txBody>
      </p:sp>
      <p:sp>
        <p:nvSpPr>
          <p:cNvPr id="4" name="Slide Number Placeholder 3"/>
          <p:cNvSpPr>
            <a:spLocks noGrp="1"/>
          </p:cNvSpPr>
          <p:nvPr>
            <p:ph type="sldNum" sz="quarter" idx="12"/>
          </p:nvPr>
        </p:nvSpPr>
        <p:spPr/>
        <p:txBody>
          <a:bodyPr/>
          <a:lstStyle/>
          <a:p>
            <a:fld id="{0662E1F6-9BD6-474C-A82E-E07C3DB67AAE}" type="slidenum">
              <a:rPr lang="en-AU" smtClean="0"/>
              <a:t>10</a:t>
            </a:fld>
            <a:endParaRPr lang="en-AU"/>
          </a:p>
        </p:txBody>
      </p:sp>
      <p:pic>
        <p:nvPicPr>
          <p:cNvPr id="5" name="Picture 2"/>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2365"/>
          <a:stretch/>
        </p:blipFill>
        <p:spPr bwMode="auto">
          <a:xfrm>
            <a:off x="2057401" y="3434068"/>
            <a:ext cx="8067675" cy="2752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2057400" y="4205593"/>
            <a:ext cx="2662908" cy="369332"/>
          </a:xfrm>
          <a:prstGeom prst="rect">
            <a:avLst/>
          </a:prstGeom>
        </p:spPr>
        <p:txBody>
          <a:bodyPr wrap="none">
            <a:spAutoFit/>
          </a:bodyPr>
          <a:lstStyle/>
          <a:p>
            <a:r>
              <a:rPr lang="zh-CN" altLang="en-US" b="1" dirty="0">
                <a:solidFill>
                  <a:srgbClr val="FF0000"/>
                </a:solidFill>
              </a:rPr>
              <a:t>向右移动直到找到</a:t>
            </a:r>
            <a:r>
              <a:rPr lang="en-US" altLang="zh-CN" b="1" i="1" dirty="0">
                <a:solidFill>
                  <a:srgbClr val="FF0000"/>
                </a:solidFill>
              </a:rPr>
              <a:t>B</a:t>
            </a:r>
            <a:r>
              <a:rPr lang="zh-CN" altLang="en-US" b="1" dirty="0">
                <a:solidFill>
                  <a:srgbClr val="FF0000"/>
                </a:solidFill>
              </a:rPr>
              <a:t>为止</a:t>
            </a:r>
            <a:endParaRPr lang="en-US" b="1" dirty="0">
              <a:solidFill>
                <a:srgbClr val="FF0000"/>
              </a:solidFill>
            </a:endParaRPr>
          </a:p>
        </p:txBody>
      </p:sp>
      <p:sp>
        <p:nvSpPr>
          <p:cNvPr id="7" name="矩形 6"/>
          <p:cNvSpPr/>
          <p:nvPr/>
        </p:nvSpPr>
        <p:spPr>
          <a:xfrm>
            <a:off x="4720308" y="5796266"/>
            <a:ext cx="1579278" cy="369332"/>
          </a:xfrm>
          <a:prstGeom prst="rect">
            <a:avLst/>
          </a:prstGeom>
        </p:spPr>
        <p:txBody>
          <a:bodyPr wrap="none">
            <a:spAutoFit/>
          </a:bodyPr>
          <a:lstStyle/>
          <a:p>
            <a:r>
              <a:rPr lang="zh-CN" altLang="en-US" b="1" dirty="0">
                <a:solidFill>
                  <a:srgbClr val="FF0000"/>
                </a:solidFill>
              </a:rPr>
              <a:t>处理末尾数字</a:t>
            </a:r>
            <a:endParaRPr lang="en-US" b="1" dirty="0">
              <a:solidFill>
                <a:srgbClr val="FF0000"/>
              </a:solidFill>
            </a:endParaRPr>
          </a:p>
        </p:txBody>
      </p:sp>
      <p:sp>
        <p:nvSpPr>
          <p:cNvPr id="8" name="矩形 7"/>
          <p:cNvSpPr/>
          <p:nvPr/>
        </p:nvSpPr>
        <p:spPr>
          <a:xfrm>
            <a:off x="5257800" y="3743929"/>
            <a:ext cx="2133600" cy="646331"/>
          </a:xfrm>
          <a:prstGeom prst="rect">
            <a:avLst/>
          </a:prstGeom>
        </p:spPr>
        <p:txBody>
          <a:bodyPr wrap="square">
            <a:spAutoFit/>
          </a:bodyPr>
          <a:lstStyle/>
          <a:p>
            <a:r>
              <a:rPr lang="zh-CN" altLang="en-US" b="1" dirty="0">
                <a:solidFill>
                  <a:srgbClr val="FF0000"/>
                </a:solidFill>
              </a:rPr>
              <a:t>从后往前找，直到第一个非</a:t>
            </a:r>
            <a:r>
              <a:rPr lang="en-US" altLang="zh-CN" b="1" dirty="0">
                <a:solidFill>
                  <a:srgbClr val="FF0000"/>
                </a:solidFill>
              </a:rPr>
              <a:t>1</a:t>
            </a:r>
            <a:r>
              <a:rPr lang="zh-CN" altLang="en-US" b="1" dirty="0">
                <a:solidFill>
                  <a:srgbClr val="FF0000"/>
                </a:solidFill>
              </a:rPr>
              <a:t>的数字</a:t>
            </a:r>
            <a:endParaRPr lang="en-US" b="1" dirty="0">
              <a:solidFill>
                <a:srgbClr val="FF0000"/>
              </a:solidFill>
            </a:endParaRPr>
          </a:p>
        </p:txBody>
      </p:sp>
      <p:cxnSp>
        <p:nvCxnSpPr>
          <p:cNvPr id="9" name="直接箭头连接符 8"/>
          <p:cNvCxnSpPr>
            <a:stCxn id="8" idx="2"/>
          </p:cNvCxnSpPr>
          <p:nvPr/>
        </p:nvCxnSpPr>
        <p:spPr>
          <a:xfrm>
            <a:off x="6324600" y="4390260"/>
            <a:ext cx="152400" cy="501135"/>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5257800" y="6165599"/>
            <a:ext cx="2133600" cy="646331"/>
          </a:xfrm>
          <a:prstGeom prst="rect">
            <a:avLst/>
          </a:prstGeom>
        </p:spPr>
        <p:txBody>
          <a:bodyPr wrap="square">
            <a:spAutoFit/>
          </a:bodyPr>
          <a:lstStyle/>
          <a:p>
            <a:r>
              <a:rPr lang="zh-CN" altLang="en-US" b="1" dirty="0">
                <a:solidFill>
                  <a:srgbClr val="FF0000"/>
                </a:solidFill>
              </a:rPr>
              <a:t>从后往前找，没找到非</a:t>
            </a:r>
            <a:r>
              <a:rPr lang="en-US" altLang="zh-CN" b="1" dirty="0">
                <a:solidFill>
                  <a:srgbClr val="FF0000"/>
                </a:solidFill>
              </a:rPr>
              <a:t>1</a:t>
            </a:r>
            <a:r>
              <a:rPr lang="zh-CN" altLang="en-US" b="1" dirty="0">
                <a:solidFill>
                  <a:srgbClr val="FF0000"/>
                </a:solidFill>
              </a:rPr>
              <a:t>的数字</a:t>
            </a:r>
            <a:endParaRPr lang="en-US" b="1" dirty="0">
              <a:solidFill>
                <a:srgbClr val="FF0000"/>
              </a:solidFill>
            </a:endParaRPr>
          </a:p>
        </p:txBody>
      </p:sp>
      <p:sp>
        <p:nvSpPr>
          <p:cNvPr id="11" name="矩形 10"/>
          <p:cNvSpPr/>
          <p:nvPr/>
        </p:nvSpPr>
        <p:spPr>
          <a:xfrm>
            <a:off x="7543800" y="3976993"/>
            <a:ext cx="2514600" cy="369332"/>
          </a:xfrm>
          <a:prstGeom prst="rect">
            <a:avLst/>
          </a:prstGeom>
        </p:spPr>
        <p:txBody>
          <a:bodyPr wrap="square">
            <a:spAutoFit/>
          </a:bodyPr>
          <a:lstStyle/>
          <a:p>
            <a:r>
              <a:rPr lang="zh-CN" altLang="en-US" b="1" dirty="0">
                <a:solidFill>
                  <a:srgbClr val="FF0000"/>
                </a:solidFill>
              </a:rPr>
              <a:t>向左移动，直到</a:t>
            </a:r>
            <a:r>
              <a:rPr lang="en-US" altLang="zh-CN" b="1" dirty="0">
                <a:solidFill>
                  <a:srgbClr val="FF0000"/>
                </a:solidFill>
              </a:rPr>
              <a:t>$</a:t>
            </a:r>
            <a:r>
              <a:rPr lang="zh-CN" altLang="en-US" b="1" dirty="0">
                <a:solidFill>
                  <a:srgbClr val="FF0000"/>
                </a:solidFill>
              </a:rPr>
              <a:t>为止</a:t>
            </a:r>
            <a:endParaRPr lang="en-US" b="1" dirty="0">
              <a:solidFill>
                <a:srgbClr val="FF0000"/>
              </a:solidFill>
            </a:endParaRPr>
          </a:p>
        </p:txBody>
      </p:sp>
    </p:spTree>
    <p:extLst>
      <p:ext uri="{BB962C8B-B14F-4D97-AF65-F5344CB8AC3E}">
        <p14:creationId xmlns:p14="http://schemas.microsoft.com/office/powerpoint/2010/main" val="586634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p:txBody>
          <a:bodyPr/>
          <a:lstStyle/>
          <a:p>
            <a:r>
              <a:rPr lang="zh-CN" altLang="en-US" dirty="0">
                <a:solidFill>
                  <a:schemeClr val="bg1">
                    <a:lumMod val="65000"/>
                  </a:schemeClr>
                </a:solidFill>
              </a:rPr>
              <a:t>图灵机简介、形式化定义</a:t>
            </a:r>
            <a:endParaRPr lang="en-AU" altLang="zh-CN" dirty="0">
              <a:solidFill>
                <a:schemeClr val="bg1">
                  <a:lumMod val="65000"/>
                </a:schemeClr>
              </a:solidFill>
            </a:endParaRPr>
          </a:p>
          <a:p>
            <a:r>
              <a:rPr lang="zh-CN" altLang="en-US" dirty="0">
                <a:solidFill>
                  <a:schemeClr val="bg1">
                    <a:lumMod val="65000"/>
                  </a:schemeClr>
                </a:solidFill>
              </a:rPr>
              <a:t>图灵机的表示能力：语言、停机与整数运算</a:t>
            </a:r>
            <a:endParaRPr lang="en-AU" altLang="zh-CN" dirty="0">
              <a:solidFill>
                <a:schemeClr val="bg1">
                  <a:lumMod val="65000"/>
                </a:schemeClr>
              </a:solidFill>
            </a:endParaRPr>
          </a:p>
          <a:p>
            <a:r>
              <a:rPr lang="zh-CN" altLang="en-US" dirty="0"/>
              <a:t>扩展图灵机</a:t>
            </a:r>
            <a:endParaRPr lang="en-AU" altLang="zh-CN" dirty="0"/>
          </a:p>
          <a:p>
            <a:r>
              <a:rPr lang="zh-CN" altLang="en-US" dirty="0">
                <a:solidFill>
                  <a:schemeClr val="bg1">
                    <a:lumMod val="65000"/>
                  </a:schemeClr>
                </a:solidFill>
              </a:rPr>
              <a:t>受限图灵机</a:t>
            </a:r>
            <a:endParaRPr lang="en-AU" dirty="0">
              <a:solidFill>
                <a:schemeClr val="bg1">
                  <a:lumMod val="65000"/>
                </a:schemeClr>
              </a:solidFill>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t>11</a:t>
            </a:fld>
            <a:endParaRPr lang="en-A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1" dirty="0"/>
              <a:t>带状态中存储的图灵机</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81200" y="1035905"/>
                <a:ext cx="8229600" cy="4525963"/>
              </a:xfrm>
            </p:spPr>
            <p:txBody>
              <a:bodyPr/>
              <a:lstStyle/>
              <a:p>
                <a:r>
                  <a:rPr lang="zh-CN" altLang="en-US" b="1" dirty="0"/>
                  <a:t>状态中存储</a:t>
                </a:r>
                <a:r>
                  <a:rPr lang="en-AU" altLang="zh-CN" dirty="0"/>
                  <a:t>:</a:t>
                </a:r>
                <a:r>
                  <a:rPr lang="zh-CN" altLang="en-US" dirty="0"/>
                  <a:t>有穷控制器中可以存储有穷个符号的图灵机</a:t>
                </a:r>
                <a:r>
                  <a:rPr lang="en-US" altLang="zh-CN" dirty="0"/>
                  <a:t>:</a:t>
                </a:r>
              </a:p>
              <a:p>
                <a:pPr marL="0" indent="0">
                  <a:buNone/>
                </a:pPr>
                <a14:m>
                  <m:oMathPara xmlns:m="http://schemas.openxmlformats.org/officeDocument/2006/math">
                    <m:oMathParaPr>
                      <m:jc m:val="centerGroup"/>
                    </m:oMathParaPr>
                    <m:oMath xmlns:m="http://schemas.openxmlformats.org/officeDocument/2006/math">
                      <m:r>
                        <a:rPr lang="el-GR" altLang="zh-CN" i="1" dirty="0" smtClean="0">
                          <a:latin typeface="Cambria Math" panose="02040503050406030204" pitchFamily="18" charset="0"/>
                        </a:rPr>
                        <m:t>𝑀</m:t>
                      </m:r>
                      <m:r>
                        <a:rPr lang="el-GR" altLang="zh-CN" i="1" dirty="0" smtClean="0">
                          <a:latin typeface="Cambria Math" panose="02040503050406030204" pitchFamily="18" charset="0"/>
                        </a:rPr>
                        <m:t>′ = (</m:t>
                      </m:r>
                      <m:r>
                        <a:rPr lang="el-GR" altLang="zh-CN" i="1" dirty="0" smtClean="0">
                          <a:latin typeface="Cambria Math" panose="02040503050406030204" pitchFamily="18" charset="0"/>
                        </a:rPr>
                        <m:t>𝑄</m:t>
                      </m:r>
                      <m:r>
                        <a:rPr lang="el-GR" altLang="zh-CN" i="1" dirty="0" smtClean="0">
                          <a:latin typeface="Cambria Math" panose="02040503050406030204" pitchFamily="18" charset="0"/>
                        </a:rPr>
                        <m:t>′, </m:t>
                      </m:r>
                      <m:r>
                        <m:rPr>
                          <m:sty m:val="p"/>
                        </m:rPr>
                        <a:rPr lang="el-GR" altLang="zh-CN" i="0" dirty="0" smtClean="0">
                          <a:latin typeface="Cambria Math" panose="02040503050406030204" pitchFamily="18" charset="0"/>
                        </a:rPr>
                        <m:t>Σ</m:t>
                      </m:r>
                      <m:r>
                        <a:rPr lang="el-GR" altLang="zh-CN" i="1" dirty="0" smtClean="0">
                          <a:latin typeface="Cambria Math" panose="02040503050406030204" pitchFamily="18" charset="0"/>
                        </a:rPr>
                        <m:t>, </m:t>
                      </m:r>
                      <m:r>
                        <m:rPr>
                          <m:sty m:val="p"/>
                        </m:rPr>
                        <a:rPr lang="el-GR" altLang="zh-CN" i="0" dirty="0" smtClean="0">
                          <a:latin typeface="Cambria Math" panose="02040503050406030204" pitchFamily="18" charset="0"/>
                        </a:rPr>
                        <m:t>Γ</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𝛿</m:t>
                      </m:r>
                      <m:r>
                        <a:rPr lang="el-GR" altLang="zh-CN" i="1" dirty="0" smtClean="0">
                          <a:latin typeface="Cambria Math" panose="02040503050406030204" pitchFamily="18" charset="0"/>
                        </a:rPr>
                        <m:t>, </m:t>
                      </m:r>
                      <m:sSub>
                        <m:sSubPr>
                          <m:ctrlPr>
                            <a:rPr lang="el-GR" altLang="zh-CN" i="1" dirty="0" smtClean="0">
                              <a:latin typeface="Cambria Math" panose="02040503050406030204" pitchFamily="18" charset="0"/>
                            </a:rPr>
                          </m:ctrlPr>
                        </m:sSubPr>
                        <m:e>
                          <m:r>
                            <a:rPr lang="en-AU" altLang="zh-CN" b="0" i="1" dirty="0" smtClean="0">
                              <a:latin typeface="Cambria Math" panose="02040503050406030204" pitchFamily="18" charset="0"/>
                            </a:rPr>
                            <m:t>𝑞</m:t>
                          </m:r>
                        </m:e>
                        <m:sub>
                          <m:r>
                            <a:rPr lang="en-AU" altLang="zh-CN" b="0" i="1" dirty="0" smtClean="0">
                              <a:latin typeface="Cambria Math" panose="02040503050406030204" pitchFamily="18" charset="0"/>
                            </a:rPr>
                            <m:t>0</m:t>
                          </m:r>
                        </m:sub>
                      </m:sSub>
                      <m:r>
                        <a:rPr lang="en-AU" altLang="zh-CN" b="0" i="1" dirty="0" smtClean="0">
                          <a:latin typeface="Cambria Math" panose="02040503050406030204" pitchFamily="18" charset="0"/>
                        </a:rPr>
                        <m:t>′</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𝐵</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𝐹</m:t>
                      </m:r>
                      <m:r>
                        <a:rPr lang="el-GR" altLang="zh-CN" i="1" dirty="0" smtClean="0">
                          <a:latin typeface="Cambria Math" panose="02040503050406030204" pitchFamily="18" charset="0"/>
                        </a:rPr>
                        <m:t>′)</m:t>
                      </m:r>
                    </m:oMath>
                  </m:oMathPara>
                </a14:m>
                <a:endParaRPr lang="en-US" altLang="zh-CN" dirty="0"/>
              </a:p>
              <a:p>
                <a:pPr marL="0" indent="0">
                  <a:buNone/>
                </a:pPr>
                <a:r>
                  <a:rPr lang="zh-CN" altLang="en-US" dirty="0"/>
                  <a:t>其中</a:t>
                </a:r>
                <a14:m>
                  <m:oMath xmlns:m="http://schemas.openxmlformats.org/officeDocument/2006/math">
                    <m:sSup>
                      <m:sSupPr>
                        <m:ctrlPr>
                          <a:rPr lang="el-GR" altLang="zh-CN" i="1" dirty="0" smtClean="0">
                            <a:latin typeface="Cambria Math" panose="02040503050406030204" pitchFamily="18" charset="0"/>
                          </a:rPr>
                        </m:ctrlPr>
                      </m:sSupPr>
                      <m:e>
                        <m:r>
                          <a:rPr lang="el-GR" altLang="zh-CN" i="1" dirty="0" smtClean="0">
                            <a:latin typeface="Cambria Math" panose="02040503050406030204" pitchFamily="18" charset="0"/>
                          </a:rPr>
                          <m:t>𝑄</m:t>
                        </m:r>
                      </m:e>
                      <m:sup>
                        <m:r>
                          <a:rPr lang="el-GR" altLang="zh-CN" i="1" dirty="0" smtClean="0">
                            <a:latin typeface="Cambria Math" panose="02040503050406030204" pitchFamily="18" charset="0"/>
                          </a:rPr>
                          <m:t>′</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𝑄</m:t>
                    </m:r>
                    <m:r>
                      <a:rPr lang="en-AU" altLang="zh-CN" b="0" i="1" dirty="0" smtClean="0">
                        <a:latin typeface="Cambria Math" panose="02040503050406030204" pitchFamily="18" charset="0"/>
                        <a:ea typeface="Cambria Math" panose="02040503050406030204" pitchFamily="18" charset="0"/>
                      </a:rPr>
                      <m:t>×</m:t>
                    </m:r>
                    <m:r>
                      <m:rPr>
                        <m:sty m:val="p"/>
                      </m:rPr>
                      <a:rPr lang="el-GR" altLang="zh-CN" dirty="0">
                        <a:latin typeface="Cambria Math" panose="02040503050406030204" pitchFamily="18" charset="0"/>
                      </a:rPr>
                      <m:t>Γ</m:t>
                    </m:r>
                    <m:r>
                      <a:rPr lang="en-AU" altLang="zh-CN" i="1" dirty="0">
                        <a:latin typeface="Cambria Math" panose="02040503050406030204" pitchFamily="18" charset="0"/>
                        <a:ea typeface="Cambria Math" panose="02040503050406030204" pitchFamily="18" charset="0"/>
                      </a:rPr>
                      <m:t>×</m:t>
                    </m:r>
                    <m:r>
                      <a:rPr lang="en-AU" altLang="zh-CN" i="1" dirty="0" smtClean="0">
                        <a:latin typeface="Cambria Math" panose="02040503050406030204" pitchFamily="18" charset="0"/>
                        <a:ea typeface="Cambria Math" panose="02040503050406030204" pitchFamily="18" charset="0"/>
                      </a:rPr>
                      <m:t>⋯</m:t>
                    </m:r>
                    <m:r>
                      <a:rPr lang="en-AU" altLang="zh-CN" i="1" dirty="0">
                        <a:latin typeface="Cambria Math" panose="02040503050406030204" pitchFamily="18" charset="0"/>
                        <a:ea typeface="Cambria Math" panose="02040503050406030204" pitchFamily="18" charset="0"/>
                      </a:rPr>
                      <m:t>×</m:t>
                    </m:r>
                    <m:r>
                      <m:rPr>
                        <m:sty m:val="p"/>
                      </m:rPr>
                      <a:rPr lang="el-GR" altLang="zh-CN" dirty="0">
                        <a:latin typeface="Cambria Math" panose="02040503050406030204" pitchFamily="18" charset="0"/>
                      </a:rPr>
                      <m:t>Γ</m:t>
                    </m:r>
                  </m:oMath>
                </a14:m>
                <a:r>
                  <a:rPr lang="en-US" altLang="zh-CN" dirty="0"/>
                  <a:t>,</a:t>
                </a:r>
                <a:r>
                  <a:rPr lang="el-GR" altLang="zh-CN" dirty="0"/>
                  <a:t> </a:t>
                </a:r>
                <a14:m>
                  <m:oMath xmlns:m="http://schemas.openxmlformats.org/officeDocument/2006/math">
                    <m:sSubSup>
                      <m:sSubSupPr>
                        <m:ctrlPr>
                          <a:rPr lang="en-AU" altLang="zh-CN" i="1" dirty="0">
                            <a:latin typeface="Cambria Math" panose="02040503050406030204" pitchFamily="18" charset="0"/>
                          </a:rPr>
                        </m:ctrlPr>
                      </m:sSubSupPr>
                      <m:e>
                        <m:r>
                          <a:rPr lang="en-AU" altLang="zh-CN" i="1" dirty="0">
                            <a:latin typeface="Cambria Math" panose="02040503050406030204" pitchFamily="18" charset="0"/>
                          </a:rPr>
                          <m:t>𝑞</m:t>
                        </m:r>
                      </m:e>
                      <m:sub>
                        <m:r>
                          <a:rPr lang="en-AU" altLang="zh-CN" i="1" dirty="0">
                            <a:latin typeface="Cambria Math" panose="02040503050406030204" pitchFamily="18" charset="0"/>
                          </a:rPr>
                          <m:t>0</m:t>
                        </m:r>
                      </m:sub>
                      <m:sup>
                        <m:r>
                          <a:rPr lang="en-AU" altLang="zh-CN" i="1" dirty="0">
                            <a:latin typeface="Cambria Math" panose="02040503050406030204" pitchFamily="18" charset="0"/>
                          </a:rPr>
                          <m:t>′</m:t>
                        </m:r>
                      </m:sup>
                    </m:sSubSup>
                    <m:r>
                      <a:rPr lang="en-AU" altLang="zh-CN" b="0" i="1" dirty="0" smtClean="0">
                        <a:latin typeface="Cambria Math" panose="02040503050406030204" pitchFamily="18" charset="0"/>
                      </a:rPr>
                      <m:t>=[</m:t>
                    </m:r>
                    <m:sSub>
                      <m:sSubPr>
                        <m:ctrlPr>
                          <a:rPr lang="en-AU" altLang="zh-CN" b="0" i="1" dirty="0" smtClean="0">
                            <a:latin typeface="Cambria Math" panose="02040503050406030204" pitchFamily="18" charset="0"/>
                          </a:rPr>
                        </m:ctrlPr>
                      </m:sSubPr>
                      <m:e>
                        <m:r>
                          <a:rPr lang="en-AU" altLang="zh-CN" b="0" i="1" dirty="0" smtClean="0">
                            <a:latin typeface="Cambria Math" panose="02040503050406030204" pitchFamily="18" charset="0"/>
                          </a:rPr>
                          <m:t>𝑞</m:t>
                        </m:r>
                      </m:e>
                      <m:sub>
                        <m:r>
                          <a:rPr lang="en-AU" altLang="zh-CN" b="0" i="1" dirty="0" smtClean="0">
                            <a:latin typeface="Cambria Math" panose="02040503050406030204" pitchFamily="18" charset="0"/>
                          </a:rPr>
                          <m:t>0</m:t>
                        </m:r>
                      </m:sub>
                    </m:sSub>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𝐵</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𝐵</m:t>
                    </m:r>
                    <m:r>
                      <a:rPr lang="en-AU" altLang="zh-CN" b="0" i="1" dirty="0" smtClean="0">
                        <a:latin typeface="Cambria Math" panose="02040503050406030204" pitchFamily="18" charset="0"/>
                      </a:rPr>
                      <m:t>]</m:t>
                    </m:r>
                  </m:oMath>
                </a14:m>
                <a:r>
                  <a:rPr lang="zh-CN" altLang="en-US" dirty="0"/>
                  <a:t>。</a:t>
                </a:r>
                <a:endParaRPr lang="en-AU" altLang="zh-CN" dirty="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81200" y="1035905"/>
                <a:ext cx="8229600" cy="4525963"/>
              </a:xfrm>
              <a:blipFill>
                <a:blip r:embed="rId3"/>
                <a:stretch>
                  <a:fillRect l="-1695" t="-1401" r="-1233"/>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12</a:t>
            </a:fld>
            <a:endParaRPr lang="en-AU"/>
          </a:p>
        </p:txBody>
      </p:sp>
      <p:sp>
        <p:nvSpPr>
          <p:cNvPr id="39" name="Rectangle 4"/>
          <p:cNvSpPr>
            <a:spLocks noChangeArrowheads="1"/>
          </p:cNvSpPr>
          <p:nvPr/>
        </p:nvSpPr>
        <p:spPr bwMode="auto">
          <a:xfrm>
            <a:off x="3900404" y="3429000"/>
            <a:ext cx="1447800" cy="457200"/>
          </a:xfrm>
          <a:prstGeom prst="rect">
            <a:avLst/>
          </a:prstGeom>
          <a:solidFill>
            <a:srgbClr val="92D050"/>
          </a:solidFill>
          <a:ln w="9525">
            <a:solidFill>
              <a:schemeClr val="tx1"/>
            </a:solidFill>
            <a:miter lim="800000"/>
          </a:ln>
        </p:spPr>
        <p:txBody>
          <a:bodyPr wrap="none" anchor="ctr"/>
          <a:lstStyle/>
          <a:p>
            <a:pPr algn="ctr"/>
            <a:r>
              <a:rPr lang="zh-CN" altLang="en-US" sz="2400" dirty="0"/>
              <a:t>状态</a:t>
            </a:r>
            <a:r>
              <a:rPr lang="en-US" sz="2400" dirty="0"/>
              <a:t>q</a:t>
            </a:r>
          </a:p>
        </p:txBody>
      </p:sp>
      <p:sp>
        <p:nvSpPr>
          <p:cNvPr id="40" name="Rectangle 6"/>
          <p:cNvSpPr>
            <a:spLocks noChangeArrowheads="1"/>
          </p:cNvSpPr>
          <p:nvPr/>
        </p:nvSpPr>
        <p:spPr bwMode="auto">
          <a:xfrm>
            <a:off x="3900404" y="3886200"/>
            <a:ext cx="1447800" cy="304800"/>
          </a:xfrm>
          <a:prstGeom prst="rect">
            <a:avLst/>
          </a:prstGeom>
          <a:solidFill>
            <a:srgbClr val="FFFF00"/>
          </a:solidFill>
          <a:ln w="9525">
            <a:solidFill>
              <a:schemeClr val="tx1"/>
            </a:solidFill>
            <a:miter lim="800000"/>
          </a:ln>
        </p:spPr>
        <p:txBody>
          <a:bodyPr wrap="none" anchor="ctr"/>
          <a:lstStyle/>
          <a:p>
            <a:pPr algn="ctr"/>
            <a:r>
              <a:rPr lang="zh-CN" altLang="en-US" sz="2400" dirty="0"/>
              <a:t>存储</a:t>
            </a:r>
            <a:endParaRPr lang="en-US" sz="2400" dirty="0"/>
          </a:p>
        </p:txBody>
      </p:sp>
      <p:sp>
        <p:nvSpPr>
          <p:cNvPr id="41" name="Freeform 42"/>
          <p:cNvSpPr/>
          <p:nvPr/>
        </p:nvSpPr>
        <p:spPr bwMode="auto">
          <a:xfrm>
            <a:off x="4281404" y="4191000"/>
            <a:ext cx="152400" cy="914400"/>
          </a:xfrm>
          <a:custGeom>
            <a:avLst/>
            <a:gdLst>
              <a:gd name="T0" fmla="*/ 2147483647 w 189"/>
              <a:gd name="T1" fmla="*/ 0 h 568"/>
              <a:gd name="T2" fmla="*/ 2147483647 w 189"/>
              <a:gd name="T3" fmla="*/ 2147483647 h 568"/>
              <a:gd name="T4" fmla="*/ 2147483647 w 189"/>
              <a:gd name="T5" fmla="*/ 2147483647 h 568"/>
              <a:gd name="T6" fmla="*/ 2147483647 w 189"/>
              <a:gd name="T7" fmla="*/ 2147483647 h 568"/>
              <a:gd name="T8" fmla="*/ 2147483647 w 189"/>
              <a:gd name="T9" fmla="*/ 2147483647 h 568"/>
              <a:gd name="T10" fmla="*/ 2147483647 w 189"/>
              <a:gd name="T11" fmla="*/ 2147483647 h 568"/>
              <a:gd name="T12" fmla="*/ 0 60000 65536"/>
              <a:gd name="T13" fmla="*/ 0 60000 65536"/>
              <a:gd name="T14" fmla="*/ 0 60000 65536"/>
              <a:gd name="T15" fmla="*/ 0 60000 65536"/>
              <a:gd name="T16" fmla="*/ 0 60000 65536"/>
              <a:gd name="T17" fmla="*/ 0 60000 65536"/>
              <a:gd name="T18" fmla="*/ 0 w 189"/>
              <a:gd name="T19" fmla="*/ 0 h 568"/>
              <a:gd name="T20" fmla="*/ 189 w 189"/>
              <a:gd name="T21" fmla="*/ 568 h 568"/>
            </a:gdLst>
            <a:ahLst/>
            <a:cxnLst>
              <a:cxn ang="T12">
                <a:pos x="T0" y="T1"/>
              </a:cxn>
              <a:cxn ang="T13">
                <a:pos x="T2" y="T3"/>
              </a:cxn>
              <a:cxn ang="T14">
                <a:pos x="T4" y="T5"/>
              </a:cxn>
              <a:cxn ang="T15">
                <a:pos x="T6" y="T7"/>
              </a:cxn>
              <a:cxn ang="T16">
                <a:pos x="T8" y="T9"/>
              </a:cxn>
              <a:cxn ang="T17">
                <a:pos x="T10" y="T11"/>
              </a:cxn>
            </a:cxnLst>
            <a:rect l="T18" t="T19" r="T20" b="T21"/>
            <a:pathLst>
              <a:path w="189" h="568">
                <a:moveTo>
                  <a:pt x="29" y="0"/>
                </a:moveTo>
                <a:cubicBezTo>
                  <a:pt x="21" y="46"/>
                  <a:pt x="0" y="105"/>
                  <a:pt x="21" y="152"/>
                </a:cubicBezTo>
                <a:cubicBezTo>
                  <a:pt x="24" y="159"/>
                  <a:pt x="37" y="156"/>
                  <a:pt x="45" y="160"/>
                </a:cubicBezTo>
                <a:cubicBezTo>
                  <a:pt x="105" y="190"/>
                  <a:pt x="98" y="184"/>
                  <a:pt x="189" y="192"/>
                </a:cubicBezTo>
                <a:cubicBezTo>
                  <a:pt x="180" y="245"/>
                  <a:pt x="164" y="264"/>
                  <a:pt x="149" y="312"/>
                </a:cubicBezTo>
                <a:cubicBezTo>
                  <a:pt x="140" y="562"/>
                  <a:pt x="141" y="477"/>
                  <a:pt x="141" y="568"/>
                </a:cubicBezTo>
              </a:path>
            </a:pathLst>
          </a:custGeom>
          <a:noFill/>
          <a:ln w="9525">
            <a:solidFill>
              <a:schemeClr val="tx1"/>
            </a:solidFill>
            <a:round/>
            <a:tailEnd type="arrow" w="med" len="med"/>
          </a:ln>
        </p:spPr>
        <p:txBody>
          <a:bodyPr wrap="none" anchor="ctr"/>
          <a:lstStyle/>
          <a:p>
            <a:endParaRPr lang="en-US"/>
          </a:p>
        </p:txBody>
      </p:sp>
      <p:grpSp>
        <p:nvGrpSpPr>
          <p:cNvPr id="43" name="Group 44"/>
          <p:cNvGrpSpPr/>
          <p:nvPr/>
        </p:nvGrpSpPr>
        <p:grpSpPr bwMode="auto">
          <a:xfrm>
            <a:off x="3055854" y="5105400"/>
            <a:ext cx="4502150" cy="438150"/>
            <a:chOff x="3164" y="3024"/>
            <a:chExt cx="2836" cy="276"/>
          </a:xfrm>
        </p:grpSpPr>
        <p:sp>
          <p:nvSpPr>
            <p:cNvPr id="44" name="Rectangle 45"/>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1</a:t>
              </a:r>
            </a:p>
          </p:txBody>
        </p:sp>
        <p:sp>
          <p:nvSpPr>
            <p:cNvPr id="45" name="Rectangle 46"/>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1</a:t>
              </a:r>
            </a:p>
          </p:txBody>
        </p:sp>
        <p:sp>
          <p:nvSpPr>
            <p:cNvPr id="46" name="Rectangle 47"/>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1</a:t>
              </a:r>
            </a:p>
          </p:txBody>
        </p:sp>
        <p:sp>
          <p:nvSpPr>
            <p:cNvPr id="47" name="Rectangle 48"/>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1</a:t>
              </a:r>
            </a:p>
          </p:txBody>
        </p:sp>
        <p:sp>
          <p:nvSpPr>
            <p:cNvPr id="48" name="Rectangle 49"/>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1</a:t>
              </a:r>
            </a:p>
          </p:txBody>
        </p:sp>
        <p:sp>
          <p:nvSpPr>
            <p:cNvPr id="49" name="Rectangle 50"/>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0</a:t>
              </a:r>
              <a:endParaRPr lang="en-US" sz="1600"/>
            </a:p>
          </p:txBody>
        </p:sp>
        <p:sp>
          <p:nvSpPr>
            <p:cNvPr id="50" name="Rectangle 51"/>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51" name="Rectangle 52"/>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52" name="Rectangle 53"/>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53" name="Rectangle 54"/>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54" name="Line 55"/>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55" name="Line 56"/>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56" name="Line 57"/>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57" name="Line 58"/>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58" name="Line 59"/>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59" name="Line 60"/>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60" name="Line 61"/>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61" name="Line 62"/>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62" name="Line 63"/>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63" name="Line 64"/>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64" name="Line 65"/>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65" name="Line 66"/>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66" name="Line 67"/>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67" name="Line 68"/>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68" name="Line 69"/>
            <p:cNvSpPr>
              <a:spLocks noChangeShapeType="1"/>
            </p:cNvSpPr>
            <p:nvPr/>
          </p:nvSpPr>
          <p:spPr bwMode="auto">
            <a:xfrm>
              <a:off x="3164" y="3300"/>
              <a:ext cx="384" cy="0"/>
            </a:xfrm>
            <a:prstGeom prst="line">
              <a:avLst/>
            </a:prstGeom>
            <a:noFill/>
            <a:ln w="9525">
              <a:solidFill>
                <a:schemeClr val="tx1"/>
              </a:solidFill>
              <a:round/>
            </a:ln>
          </p:spPr>
          <p:txBody>
            <a:bodyPr wrap="none" anchor="ctr"/>
            <a:lstStyle/>
            <a:p>
              <a:endParaRPr lang="en-US"/>
            </a:p>
          </p:txBody>
        </p:sp>
        <p:sp>
          <p:nvSpPr>
            <p:cNvPr id="69" name="Line 70"/>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70" name="Line 71"/>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71" name="Text Box 72"/>
            <p:cNvSpPr txBox="1">
              <a:spLocks noChangeArrowheads="1"/>
            </p:cNvSpPr>
            <p:nvPr/>
          </p:nvSpPr>
          <p:spPr bwMode="auto">
            <a:xfrm>
              <a:off x="5676" y="3053"/>
              <a:ext cx="205" cy="213"/>
            </a:xfrm>
            <a:prstGeom prst="rect">
              <a:avLst/>
            </a:prstGeom>
            <a:noFill/>
            <a:ln w="9525">
              <a:noFill/>
              <a:miter lim="800000"/>
            </a:ln>
          </p:spPr>
          <p:txBody>
            <a:bodyPr wrap="none">
              <a:spAutoFit/>
            </a:bodyPr>
            <a:lstStyle/>
            <a:p>
              <a:r>
                <a:rPr lang="en-US" sz="1600"/>
                <a:t>…</a:t>
              </a:r>
            </a:p>
          </p:txBody>
        </p:sp>
      </p:grpSp>
      <p:sp>
        <p:nvSpPr>
          <p:cNvPr id="37" name="TextBox 35">
            <a:extLst>
              <a:ext uri="{FF2B5EF4-FFF2-40B4-BE49-F238E27FC236}">
                <a16:creationId xmlns:a16="http://schemas.microsoft.com/office/drawing/2014/main" id="{5C237E7E-EE3B-074E-B802-676A1091B31D}"/>
              </a:ext>
            </a:extLst>
          </p:cNvPr>
          <p:cNvSpPr txBox="1"/>
          <p:nvPr/>
        </p:nvSpPr>
        <p:spPr>
          <a:xfrm>
            <a:off x="8242538" y="4325034"/>
            <a:ext cx="3532725" cy="707886"/>
          </a:xfrm>
          <a:prstGeom prst="rect">
            <a:avLst/>
          </a:prstGeom>
          <a:solidFill>
            <a:srgbClr val="FFC000"/>
          </a:solidFill>
        </p:spPr>
        <p:txBody>
          <a:bodyPr wrap="square" rtlCol="0">
            <a:spAutoFit/>
          </a:bodyPr>
          <a:lstStyle/>
          <a:p>
            <a:r>
              <a:rPr lang="zh-CN" altLang="en-US" sz="2000" b="1" dirty="0"/>
              <a:t>图灵机的七元组形式没有改变，依然是基本的图灵机。</a:t>
            </a:r>
            <a:endParaRPr lang="en-AU"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717" name="Rectangle 141"/>
          <p:cNvSpPr>
            <a:spLocks noChangeArrowheads="1"/>
          </p:cNvSpPr>
          <p:nvPr/>
        </p:nvSpPr>
        <p:spPr bwMode="auto">
          <a:xfrm>
            <a:off x="3020953" y="233364"/>
            <a:ext cx="5724644" cy="604781"/>
          </a:xfrm>
          <a:prstGeom prst="rect">
            <a:avLst/>
          </a:prstGeom>
          <a:noFill/>
          <a:ln w="9525" algn="ctr">
            <a:noFill/>
            <a:miter lim="800000"/>
            <a:headEnd/>
            <a:tailEnd/>
          </a:ln>
          <a:effectLst/>
        </p:spPr>
        <p:txBody>
          <a:bodyPr wrap="none">
            <a:spAutoFit/>
          </a:bodyPr>
          <a:lstStyle/>
          <a:p>
            <a:pPr algn="ctr" defTabSz="914400" fontAlgn="base">
              <a:lnSpc>
                <a:spcPct val="90000"/>
              </a:lnSpc>
              <a:spcBef>
                <a:spcPct val="0"/>
              </a:spcBef>
              <a:spcAft>
                <a:spcPct val="0"/>
              </a:spcAft>
            </a:pPr>
            <a:r>
              <a:rPr kumimoji="1" lang="zh-CN" altLang="en-US" sz="3600" b="1">
                <a:solidFill>
                  <a:srgbClr val="800080"/>
                </a:solidFill>
                <a:latin typeface="Times New Roman" pitchFamily="18" charset="0"/>
                <a:ea typeface="华文行楷" pitchFamily="2" charset="-122"/>
              </a:rPr>
              <a:t>基本图灵机的几种编程技巧</a:t>
            </a:r>
          </a:p>
        </p:txBody>
      </p:sp>
      <p:pic>
        <p:nvPicPr>
          <p:cNvPr id="5" name="图片 4">
            <a:extLst>
              <a:ext uri="{FF2B5EF4-FFF2-40B4-BE49-F238E27FC236}">
                <a16:creationId xmlns:a16="http://schemas.microsoft.com/office/drawing/2014/main" id="{DE9061A0-C063-4242-B937-1D69B39B453F}"/>
              </a:ext>
            </a:extLst>
          </p:cNvPr>
          <p:cNvPicPr>
            <a:picLocks noChangeAspect="1"/>
          </p:cNvPicPr>
          <p:nvPr/>
        </p:nvPicPr>
        <p:blipFill>
          <a:blip r:embed="rId3"/>
          <a:stretch>
            <a:fillRect/>
          </a:stretch>
        </p:blipFill>
        <p:spPr>
          <a:xfrm>
            <a:off x="2275670" y="1412776"/>
            <a:ext cx="8122555" cy="5044534"/>
          </a:xfrm>
          <a:prstGeom prst="rect">
            <a:avLst/>
          </a:prstGeom>
        </p:spPr>
      </p:pic>
      <p:sp>
        <p:nvSpPr>
          <p:cNvPr id="2" name="矩形 1">
            <a:extLst>
              <a:ext uri="{FF2B5EF4-FFF2-40B4-BE49-F238E27FC236}">
                <a16:creationId xmlns:a16="http://schemas.microsoft.com/office/drawing/2014/main" id="{E359CA6A-D729-1F4D-B04F-E5FD385E7006}"/>
              </a:ext>
            </a:extLst>
          </p:cNvPr>
          <p:cNvSpPr/>
          <p:nvPr/>
        </p:nvSpPr>
        <p:spPr bwMode="auto">
          <a:xfrm>
            <a:off x="2032000" y="1930400"/>
            <a:ext cx="8122554" cy="28829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000" b="1" i="1" u="none" strike="noStrike" cap="none" normalizeH="0" baseline="0">
              <a:ln>
                <a:noFill/>
              </a:ln>
              <a:solidFill>
                <a:srgbClr val="800080"/>
              </a:solidFill>
              <a:effectLst/>
              <a:latin typeface="Times New Roman" pitchFamily="18" charset="0"/>
              <a:ea typeface="楷体_GB2312" pitchFamily="49" charset="-122"/>
            </a:endParaRPr>
          </a:p>
        </p:txBody>
      </p:sp>
      <p:sp>
        <p:nvSpPr>
          <p:cNvPr id="3" name="矩形 2">
            <a:extLst>
              <a:ext uri="{FF2B5EF4-FFF2-40B4-BE49-F238E27FC236}">
                <a16:creationId xmlns:a16="http://schemas.microsoft.com/office/drawing/2014/main" id="{04843581-B12B-A144-8D0F-D4478A6A20D1}"/>
              </a:ext>
            </a:extLst>
          </p:cNvPr>
          <p:cNvSpPr/>
          <p:nvPr/>
        </p:nvSpPr>
        <p:spPr bwMode="auto">
          <a:xfrm>
            <a:off x="2032000" y="1930400"/>
            <a:ext cx="8877300" cy="452691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000" b="1" i="1" u="none" strike="noStrike" cap="none" normalizeH="0" baseline="0">
              <a:ln>
                <a:noFill/>
              </a:ln>
              <a:solidFill>
                <a:srgbClr val="800080"/>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1047351493"/>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717" name="Rectangle 141"/>
          <p:cNvSpPr>
            <a:spLocks noChangeArrowheads="1"/>
          </p:cNvSpPr>
          <p:nvPr/>
        </p:nvSpPr>
        <p:spPr bwMode="auto">
          <a:xfrm>
            <a:off x="3020953" y="233364"/>
            <a:ext cx="5724644" cy="604781"/>
          </a:xfrm>
          <a:prstGeom prst="rect">
            <a:avLst/>
          </a:prstGeom>
          <a:noFill/>
          <a:ln w="9525" algn="ctr">
            <a:noFill/>
            <a:miter lim="800000"/>
            <a:headEnd/>
            <a:tailEnd/>
          </a:ln>
          <a:effectLst/>
        </p:spPr>
        <p:txBody>
          <a:bodyPr wrap="none">
            <a:spAutoFit/>
          </a:bodyPr>
          <a:lstStyle/>
          <a:p>
            <a:pPr algn="ctr" defTabSz="914400" fontAlgn="base">
              <a:lnSpc>
                <a:spcPct val="90000"/>
              </a:lnSpc>
              <a:spcBef>
                <a:spcPct val="0"/>
              </a:spcBef>
              <a:spcAft>
                <a:spcPct val="0"/>
              </a:spcAft>
            </a:pPr>
            <a:r>
              <a:rPr kumimoji="1" lang="zh-CN" altLang="en-US" sz="3600" b="1">
                <a:solidFill>
                  <a:srgbClr val="800080"/>
                </a:solidFill>
                <a:latin typeface="Times New Roman" pitchFamily="18" charset="0"/>
                <a:ea typeface="华文行楷" pitchFamily="2" charset="-122"/>
              </a:rPr>
              <a:t>基本图灵机的几种编程技巧</a:t>
            </a:r>
          </a:p>
        </p:txBody>
      </p:sp>
      <p:pic>
        <p:nvPicPr>
          <p:cNvPr id="5" name="图片 4">
            <a:extLst>
              <a:ext uri="{FF2B5EF4-FFF2-40B4-BE49-F238E27FC236}">
                <a16:creationId xmlns:a16="http://schemas.microsoft.com/office/drawing/2014/main" id="{DE9061A0-C063-4242-B937-1D69B39B453F}"/>
              </a:ext>
            </a:extLst>
          </p:cNvPr>
          <p:cNvPicPr>
            <a:picLocks noChangeAspect="1"/>
          </p:cNvPicPr>
          <p:nvPr/>
        </p:nvPicPr>
        <p:blipFill>
          <a:blip r:embed="rId3"/>
          <a:stretch>
            <a:fillRect/>
          </a:stretch>
        </p:blipFill>
        <p:spPr>
          <a:xfrm>
            <a:off x="2275670" y="1412776"/>
            <a:ext cx="8122555" cy="5044534"/>
          </a:xfrm>
          <a:prstGeom prst="rect">
            <a:avLst/>
          </a:prstGeom>
        </p:spPr>
      </p:pic>
      <p:sp>
        <p:nvSpPr>
          <p:cNvPr id="2" name="矩形 1">
            <a:extLst>
              <a:ext uri="{FF2B5EF4-FFF2-40B4-BE49-F238E27FC236}">
                <a16:creationId xmlns:a16="http://schemas.microsoft.com/office/drawing/2014/main" id="{E359CA6A-D729-1F4D-B04F-E5FD385E7006}"/>
              </a:ext>
            </a:extLst>
          </p:cNvPr>
          <p:cNvSpPr/>
          <p:nvPr/>
        </p:nvSpPr>
        <p:spPr bwMode="auto">
          <a:xfrm>
            <a:off x="2032000" y="1930400"/>
            <a:ext cx="8122554" cy="28829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000" b="1" i="1" u="none" strike="noStrike" cap="none" normalizeH="0" baseline="0">
              <a:ln>
                <a:noFill/>
              </a:ln>
              <a:solidFill>
                <a:srgbClr val="800080"/>
              </a:solidFill>
              <a:effectLst/>
              <a:latin typeface="Times New Roman" pitchFamily="18" charset="0"/>
              <a:ea typeface="楷体_GB2312" pitchFamily="49" charset="-122"/>
            </a:endParaRPr>
          </a:p>
        </p:txBody>
      </p:sp>
      <p:sp>
        <p:nvSpPr>
          <p:cNvPr id="3" name="矩形 2">
            <a:extLst>
              <a:ext uri="{FF2B5EF4-FFF2-40B4-BE49-F238E27FC236}">
                <a16:creationId xmlns:a16="http://schemas.microsoft.com/office/drawing/2014/main" id="{04843581-B12B-A144-8D0F-D4478A6A20D1}"/>
              </a:ext>
            </a:extLst>
          </p:cNvPr>
          <p:cNvSpPr/>
          <p:nvPr/>
        </p:nvSpPr>
        <p:spPr bwMode="auto">
          <a:xfrm>
            <a:off x="2032000" y="4813300"/>
            <a:ext cx="9423400" cy="164401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000" b="1" i="1" u="none" strike="noStrike" cap="none" normalizeH="0" baseline="0">
              <a:ln>
                <a:noFill/>
              </a:ln>
              <a:solidFill>
                <a:srgbClr val="800080"/>
              </a:solidFill>
              <a:effectLst/>
              <a:latin typeface="Times New Roman" pitchFamily="18" charset="0"/>
              <a:ea typeface="楷体_GB2312" pitchFamily="49" charset="-122"/>
            </a:endParaRPr>
          </a:p>
        </p:txBody>
      </p:sp>
    </p:spTree>
    <p:extLst>
      <p:ext uri="{BB962C8B-B14F-4D97-AF65-F5344CB8AC3E}">
        <p14:creationId xmlns:p14="http://schemas.microsoft.com/office/powerpoint/2010/main" val="340884052"/>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717" name="Rectangle 141"/>
          <p:cNvSpPr>
            <a:spLocks noChangeArrowheads="1"/>
          </p:cNvSpPr>
          <p:nvPr/>
        </p:nvSpPr>
        <p:spPr bwMode="auto">
          <a:xfrm>
            <a:off x="3020953" y="233364"/>
            <a:ext cx="5724644" cy="604781"/>
          </a:xfrm>
          <a:prstGeom prst="rect">
            <a:avLst/>
          </a:prstGeom>
          <a:noFill/>
          <a:ln w="9525" algn="ctr">
            <a:noFill/>
            <a:miter lim="800000"/>
            <a:headEnd/>
            <a:tailEnd/>
          </a:ln>
          <a:effectLst/>
        </p:spPr>
        <p:txBody>
          <a:bodyPr wrap="none">
            <a:spAutoFit/>
          </a:bodyPr>
          <a:lstStyle/>
          <a:p>
            <a:pPr algn="ctr" defTabSz="914400" fontAlgn="base">
              <a:lnSpc>
                <a:spcPct val="90000"/>
              </a:lnSpc>
              <a:spcBef>
                <a:spcPct val="0"/>
              </a:spcBef>
              <a:spcAft>
                <a:spcPct val="0"/>
              </a:spcAft>
            </a:pPr>
            <a:r>
              <a:rPr kumimoji="1" lang="zh-CN" altLang="en-US" sz="3600" b="1">
                <a:solidFill>
                  <a:srgbClr val="800080"/>
                </a:solidFill>
                <a:latin typeface="Times New Roman" pitchFamily="18" charset="0"/>
                <a:ea typeface="华文行楷" pitchFamily="2" charset="-122"/>
              </a:rPr>
              <a:t>基本图灵机的几种编程技巧</a:t>
            </a:r>
          </a:p>
        </p:txBody>
      </p:sp>
      <p:pic>
        <p:nvPicPr>
          <p:cNvPr id="5" name="图片 4">
            <a:extLst>
              <a:ext uri="{FF2B5EF4-FFF2-40B4-BE49-F238E27FC236}">
                <a16:creationId xmlns:a16="http://schemas.microsoft.com/office/drawing/2014/main" id="{DE9061A0-C063-4242-B937-1D69B39B453F}"/>
              </a:ext>
            </a:extLst>
          </p:cNvPr>
          <p:cNvPicPr>
            <a:picLocks noChangeAspect="1"/>
          </p:cNvPicPr>
          <p:nvPr/>
        </p:nvPicPr>
        <p:blipFill>
          <a:blip r:embed="rId3"/>
          <a:stretch>
            <a:fillRect/>
          </a:stretch>
        </p:blipFill>
        <p:spPr>
          <a:xfrm>
            <a:off x="2275670" y="1412776"/>
            <a:ext cx="8122555" cy="5044534"/>
          </a:xfrm>
          <a:prstGeom prst="rect">
            <a:avLst/>
          </a:prstGeom>
        </p:spPr>
      </p:pic>
    </p:spTree>
    <p:extLst>
      <p:ext uri="{BB962C8B-B14F-4D97-AF65-F5344CB8AC3E}">
        <p14:creationId xmlns:p14="http://schemas.microsoft.com/office/powerpoint/2010/main" val="1398963181"/>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709" name="Rectangle 53"/>
          <p:cNvSpPr>
            <a:spLocks noChangeArrowheads="1"/>
          </p:cNvSpPr>
          <p:nvPr/>
        </p:nvSpPr>
        <p:spPr bwMode="auto">
          <a:xfrm>
            <a:off x="2927649" y="188640"/>
            <a:ext cx="2749471" cy="661720"/>
          </a:xfrm>
          <a:prstGeom prst="rect">
            <a:avLst/>
          </a:prstGeom>
          <a:noFill/>
          <a:ln w="9525" algn="ctr">
            <a:noFill/>
            <a:miter lim="800000"/>
            <a:headEnd/>
            <a:tailEnd/>
          </a:ln>
          <a:effectLst/>
        </p:spPr>
        <p:txBody>
          <a:bodyPr wrap="none">
            <a:spAutoFit/>
          </a:bodyPr>
          <a:lstStyle/>
          <a:p>
            <a:pPr algn="ctr" defTabSz="914400" fontAlgn="base">
              <a:lnSpc>
                <a:spcPct val="90000"/>
              </a:lnSpc>
              <a:spcBef>
                <a:spcPct val="0"/>
              </a:spcBef>
              <a:spcAft>
                <a:spcPct val="0"/>
              </a:spcAft>
            </a:pPr>
            <a:r>
              <a:rPr kumimoji="1" lang="zh-CN" altLang="en-US" sz="4000" b="1" dirty="0">
                <a:solidFill>
                  <a:srgbClr val="800080"/>
                </a:solidFill>
                <a:latin typeface="Arial" pitchFamily="34" charset="0"/>
                <a:ea typeface="华文行楷" pitchFamily="2" charset="-122"/>
              </a:rPr>
              <a:t>设计图灵机</a:t>
            </a:r>
          </a:p>
        </p:txBody>
      </p:sp>
      <p:sp>
        <p:nvSpPr>
          <p:cNvPr id="37" name="文本框 36">
            <a:extLst>
              <a:ext uri="{FF2B5EF4-FFF2-40B4-BE49-F238E27FC236}">
                <a16:creationId xmlns:a16="http://schemas.microsoft.com/office/drawing/2014/main" id="{DF85A77B-E56F-3F4B-8D58-89DD49B779F4}"/>
              </a:ext>
            </a:extLst>
          </p:cNvPr>
          <p:cNvSpPr txBox="1"/>
          <p:nvPr/>
        </p:nvSpPr>
        <p:spPr>
          <a:xfrm>
            <a:off x="10128448" y="6488668"/>
            <a:ext cx="539552" cy="369332"/>
          </a:xfrm>
          <a:prstGeom prst="rect">
            <a:avLst/>
          </a:prstGeom>
          <a:noFill/>
        </p:spPr>
        <p:txBody>
          <a:bodyPr wrap="square" rtlCol="0">
            <a:spAutoFit/>
          </a:bodyPr>
          <a:lstStyle/>
          <a:p>
            <a:pPr algn="ctr" defTabSz="914400" fontAlgn="base">
              <a:spcBef>
                <a:spcPct val="0"/>
              </a:spcBef>
              <a:spcAft>
                <a:spcPct val="0"/>
              </a:spcAft>
            </a:pPr>
            <a:r>
              <a:rPr kumimoji="1" lang="en-US" altLang="zh-CN" dirty="0">
                <a:solidFill>
                  <a:srgbClr val="000000"/>
                </a:solidFill>
                <a:latin typeface="Times New Roman" pitchFamily="18" charset="0"/>
                <a:ea typeface="楷体_GB2312" pitchFamily="49" charset="-122"/>
              </a:rPr>
              <a:t>66</a:t>
            </a:r>
            <a:endParaRPr kumimoji="1" lang="zh-CN" altLang="en-US" dirty="0">
              <a:solidFill>
                <a:srgbClr val="000000"/>
              </a:solidFill>
              <a:latin typeface="Times New Roman" pitchFamily="18" charset="0"/>
              <a:ea typeface="楷体_GB2312" pitchFamily="49" charset="-122"/>
            </a:endParaRPr>
          </a:p>
        </p:txBody>
      </p:sp>
      <p:pic>
        <p:nvPicPr>
          <p:cNvPr id="2" name="图片 1">
            <a:extLst>
              <a:ext uri="{FF2B5EF4-FFF2-40B4-BE49-F238E27FC236}">
                <a16:creationId xmlns:a16="http://schemas.microsoft.com/office/drawing/2014/main" id="{9EF6B977-A666-194D-A045-B6807F281B95}"/>
              </a:ext>
            </a:extLst>
          </p:cNvPr>
          <p:cNvPicPr>
            <a:picLocks noChangeAspect="1"/>
          </p:cNvPicPr>
          <p:nvPr/>
        </p:nvPicPr>
        <p:blipFill rotWithShape="1">
          <a:blip r:embed="rId3"/>
          <a:srcRect b="91569"/>
          <a:stretch/>
        </p:blipFill>
        <p:spPr>
          <a:xfrm>
            <a:off x="2135561" y="1556793"/>
            <a:ext cx="8236831" cy="358178"/>
          </a:xfrm>
          <a:prstGeom prst="rect">
            <a:avLst/>
          </a:prstGeom>
        </p:spPr>
      </p:pic>
      <p:pic>
        <p:nvPicPr>
          <p:cNvPr id="3" name="图片 2">
            <a:extLst>
              <a:ext uri="{FF2B5EF4-FFF2-40B4-BE49-F238E27FC236}">
                <a16:creationId xmlns:a16="http://schemas.microsoft.com/office/drawing/2014/main" id="{86CE9D8B-31A6-3A42-A83D-A79A04638B4D}"/>
              </a:ext>
            </a:extLst>
          </p:cNvPr>
          <p:cNvPicPr>
            <a:picLocks noChangeAspect="1"/>
          </p:cNvPicPr>
          <p:nvPr/>
        </p:nvPicPr>
        <p:blipFill>
          <a:blip r:embed="rId4"/>
          <a:stretch>
            <a:fillRect/>
          </a:stretch>
        </p:blipFill>
        <p:spPr>
          <a:xfrm>
            <a:off x="4295800" y="1988840"/>
            <a:ext cx="4177988" cy="2954190"/>
          </a:xfrm>
          <a:prstGeom prst="rect">
            <a:avLst/>
          </a:prstGeom>
        </p:spPr>
      </p:pic>
      <p:pic>
        <p:nvPicPr>
          <p:cNvPr id="4" name="图片 3">
            <a:extLst>
              <a:ext uri="{FF2B5EF4-FFF2-40B4-BE49-F238E27FC236}">
                <a16:creationId xmlns:a16="http://schemas.microsoft.com/office/drawing/2014/main" id="{4F250B2F-F368-4441-9E65-B690C8A53805}"/>
              </a:ext>
            </a:extLst>
          </p:cNvPr>
          <p:cNvPicPr>
            <a:picLocks noChangeAspect="1"/>
          </p:cNvPicPr>
          <p:nvPr/>
        </p:nvPicPr>
        <p:blipFill>
          <a:blip r:embed="rId5"/>
          <a:stretch>
            <a:fillRect/>
          </a:stretch>
        </p:blipFill>
        <p:spPr>
          <a:xfrm>
            <a:off x="3071664" y="5039803"/>
            <a:ext cx="5919116" cy="1482504"/>
          </a:xfrm>
          <a:prstGeom prst="rect">
            <a:avLst/>
          </a:prstGeom>
        </p:spPr>
      </p:pic>
      <p:sp>
        <p:nvSpPr>
          <p:cNvPr id="5" name="矩形 4">
            <a:extLst>
              <a:ext uri="{FF2B5EF4-FFF2-40B4-BE49-F238E27FC236}">
                <a16:creationId xmlns:a16="http://schemas.microsoft.com/office/drawing/2014/main" id="{D56FFC1B-DD3D-0AE2-5D65-2DBECF77699C}"/>
              </a:ext>
            </a:extLst>
          </p:cNvPr>
          <p:cNvSpPr/>
          <p:nvPr/>
        </p:nvSpPr>
        <p:spPr>
          <a:xfrm>
            <a:off x="7339390" y="2011744"/>
            <a:ext cx="4852610" cy="523220"/>
          </a:xfrm>
          <a:prstGeom prst="rect">
            <a:avLst/>
          </a:prstGeom>
          <a:noFill/>
        </p:spPr>
        <p:txBody>
          <a:bodyPr wrap="none" lIns="91440" tIns="45720" rIns="91440" bIns="45720">
            <a:spAutoFit/>
          </a:bodyPr>
          <a:lstStyle/>
          <a:p>
            <a:pPr algn="ctr"/>
            <a:r>
              <a:rPr lang="zh-CN" altLang="en-US" sz="2800" dirty="0">
                <a:ln w="0"/>
                <a:effectLst>
                  <a:outerShdw blurRad="38100" dist="19050" dir="2700000" algn="tl" rotWithShape="0">
                    <a:schemeClr val="dk1">
                      <a:alpha val="40000"/>
                    </a:schemeClr>
                  </a:outerShdw>
                </a:effectLst>
              </a:rPr>
              <a:t>带储存区之后如何简化设计？</a:t>
            </a:r>
            <a:endParaRPr lang="zh-CN" altLang="en-US" sz="28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662448154"/>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多道图灵机</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095500" y="968374"/>
                <a:ext cx="8229600" cy="4525963"/>
              </a:xfrm>
            </p:spPr>
            <p:txBody>
              <a:bodyPr/>
              <a:lstStyle/>
              <a:p>
                <a:pPr marL="0" indent="0">
                  <a:buNone/>
                </a:pPr>
                <a:r>
                  <a:rPr lang="zh-CN" altLang="en-US" b="1" dirty="0"/>
                  <a:t>多道</a:t>
                </a:r>
                <a:r>
                  <a:rPr lang="en-AU" altLang="zh-CN" b="1" dirty="0"/>
                  <a:t>(</a:t>
                </a:r>
                <a:r>
                  <a:rPr lang="en-AU" altLang="zh-CN" b="1" dirty="0">
                    <a:latin typeface="Times New Roman" panose="02020603050405020304" pitchFamily="18" charset="0"/>
                    <a:cs typeface="Times New Roman" panose="02020603050405020304" pitchFamily="18" charset="0"/>
                  </a:rPr>
                  <a:t>multi-track</a:t>
                </a:r>
                <a:r>
                  <a:rPr lang="en-AU" altLang="zh-CN" b="1" dirty="0"/>
                  <a:t>)</a:t>
                </a:r>
                <a:r>
                  <a:rPr lang="zh-CN" altLang="en-US" dirty="0"/>
                  <a:t>图灵机：</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l-GR" altLang="zh-CN" i="1" dirty="0" smtClean="0">
                          <a:latin typeface="Cambria Math" panose="02040503050406030204" pitchFamily="18" charset="0"/>
                        </a:rPr>
                        <m:t>𝑀</m:t>
                      </m:r>
                      <m:r>
                        <a:rPr lang="el-GR" altLang="zh-CN" i="1" dirty="0" smtClean="0">
                          <a:latin typeface="Cambria Math" panose="02040503050406030204" pitchFamily="18" charset="0"/>
                        </a:rPr>
                        <m:t>′ = (</m:t>
                      </m:r>
                      <m:r>
                        <a:rPr lang="el-GR" altLang="zh-CN" i="1" dirty="0" smtClean="0">
                          <a:latin typeface="Cambria Math" panose="02040503050406030204" pitchFamily="18" charset="0"/>
                        </a:rPr>
                        <m:t>𝑄</m:t>
                      </m:r>
                      <m:r>
                        <a:rPr lang="el-GR" altLang="zh-CN" i="1" dirty="0" smtClean="0">
                          <a:latin typeface="Cambria Math" panose="02040503050406030204" pitchFamily="18" charset="0"/>
                        </a:rPr>
                        <m:t>, </m:t>
                      </m:r>
                      <m:r>
                        <m:rPr>
                          <m:sty m:val="p"/>
                        </m:rPr>
                        <a:rPr lang="el-GR" altLang="zh-CN" i="0" dirty="0" smtClean="0">
                          <a:latin typeface="Cambria Math" panose="02040503050406030204" pitchFamily="18" charset="0"/>
                        </a:rPr>
                        <m:t>Σ</m:t>
                      </m:r>
                      <m:r>
                        <a:rPr lang="el-GR" altLang="zh-CN" i="1" dirty="0" smtClean="0">
                          <a:latin typeface="Cambria Math" panose="02040503050406030204" pitchFamily="18" charset="0"/>
                        </a:rPr>
                        <m:t>, </m:t>
                      </m:r>
                      <m:r>
                        <m:rPr>
                          <m:sty m:val="p"/>
                        </m:rPr>
                        <a:rPr lang="el-GR" altLang="zh-CN" i="0" dirty="0" smtClean="0">
                          <a:latin typeface="Cambria Math" panose="02040503050406030204" pitchFamily="18" charset="0"/>
                        </a:rPr>
                        <m:t>Γ</m:t>
                      </m:r>
                      <m:r>
                        <a:rPr lang="en-AU" altLang="zh-CN" b="0" i="1" dirty="0">
                          <a:latin typeface="Cambria Math" panose="02040503050406030204" pitchFamily="18" charset="0"/>
                        </a:rPr>
                        <m:t>′</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𝛿</m:t>
                      </m:r>
                      <m:r>
                        <a:rPr lang="el-GR" altLang="zh-CN" i="1" dirty="0" smtClean="0">
                          <a:latin typeface="Cambria Math" panose="02040503050406030204" pitchFamily="18" charset="0"/>
                        </a:rPr>
                        <m:t>, </m:t>
                      </m:r>
                      <m:sSub>
                        <m:sSubPr>
                          <m:ctrlPr>
                            <a:rPr lang="el-GR" altLang="zh-CN" i="1" dirty="0" smtClean="0">
                              <a:latin typeface="Cambria Math" panose="02040503050406030204" pitchFamily="18" charset="0"/>
                            </a:rPr>
                          </m:ctrlPr>
                        </m:sSubPr>
                        <m:e>
                          <m:r>
                            <a:rPr lang="en-AU" altLang="zh-CN" b="0" i="1" dirty="0" smtClean="0">
                              <a:latin typeface="Cambria Math" panose="02040503050406030204" pitchFamily="18" charset="0"/>
                            </a:rPr>
                            <m:t>𝑞</m:t>
                          </m:r>
                        </m:e>
                        <m:sub>
                          <m:r>
                            <a:rPr lang="en-AU" altLang="zh-CN" b="0" i="1" dirty="0" smtClean="0">
                              <a:latin typeface="Cambria Math" panose="02040503050406030204" pitchFamily="18" charset="0"/>
                            </a:rPr>
                            <m:t>0</m:t>
                          </m:r>
                        </m:sub>
                      </m:sSub>
                      <m:r>
                        <a:rPr lang="el-GR" altLang="zh-CN" i="1" dirty="0" smtClean="0">
                          <a:latin typeface="Cambria Math" panose="02040503050406030204" pitchFamily="18" charset="0"/>
                        </a:rPr>
                        <m:t>, </m:t>
                      </m:r>
                      <m:r>
                        <a:rPr lang="el-GR" altLang="zh-CN" i="1" dirty="0" smtClean="0">
                          <a:latin typeface="Cambria Math" panose="02040503050406030204" pitchFamily="18" charset="0"/>
                        </a:rPr>
                        <m:t>𝐵</m:t>
                      </m:r>
                      <m:r>
                        <a:rPr lang="en-AU" altLang="zh-CN" b="0" i="1" dirty="0" smtClean="0">
                          <a:latin typeface="Cambria Math" panose="02040503050406030204" pitchFamily="18" charset="0"/>
                        </a:rPr>
                        <m:t>′</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𝐹</m:t>
                      </m:r>
                      <m:r>
                        <a:rPr lang="el-GR" altLang="zh-CN" i="1" dirty="0" smtClean="0">
                          <a:latin typeface="Cambria Math" panose="02040503050406030204" pitchFamily="18" charset="0"/>
                        </a:rPr>
                        <m:t>)</m:t>
                      </m:r>
                    </m:oMath>
                  </m:oMathPara>
                </a14:m>
                <a:endParaRPr lang="en-US" altLang="zh-CN" dirty="0"/>
              </a:p>
              <a:p>
                <a:pPr marL="0" indent="0">
                  <a:buNone/>
                </a:pPr>
                <a:r>
                  <a:rPr lang="zh-CN" altLang="en-US" dirty="0"/>
                  <a:t>其中</a:t>
                </a:r>
                <a14:m>
                  <m:oMath xmlns:m="http://schemas.openxmlformats.org/officeDocument/2006/math">
                    <m:sSup>
                      <m:sSupPr>
                        <m:ctrlPr>
                          <a:rPr lang="el-GR" altLang="zh-CN" i="1" dirty="0" smtClean="0">
                            <a:latin typeface="Cambria Math" panose="02040503050406030204" pitchFamily="18" charset="0"/>
                          </a:rPr>
                        </m:ctrlPr>
                      </m:sSupPr>
                      <m:e>
                        <m:r>
                          <m:rPr>
                            <m:sty m:val="p"/>
                          </m:rPr>
                          <a:rPr lang="el-GR" altLang="zh-CN" dirty="0">
                            <a:latin typeface="Cambria Math" panose="02040503050406030204" pitchFamily="18" charset="0"/>
                          </a:rPr>
                          <m:t>Γ</m:t>
                        </m:r>
                      </m:e>
                      <m:sup>
                        <m:r>
                          <a:rPr lang="el-GR" altLang="zh-CN" i="1" dirty="0" smtClean="0">
                            <a:latin typeface="Cambria Math" panose="02040503050406030204" pitchFamily="18" charset="0"/>
                          </a:rPr>
                          <m:t>′</m:t>
                        </m:r>
                      </m:sup>
                    </m:sSup>
                    <m:r>
                      <a:rPr lang="en-AU" altLang="zh-CN" b="0" i="1" dirty="0" smtClean="0">
                        <a:latin typeface="Cambria Math" panose="02040503050406030204" pitchFamily="18" charset="0"/>
                      </a:rPr>
                      <m:t>=</m:t>
                    </m:r>
                    <m:r>
                      <m:rPr>
                        <m:sty m:val="p"/>
                      </m:rPr>
                      <a:rPr lang="el-GR" altLang="zh-CN" dirty="0">
                        <a:latin typeface="Cambria Math" panose="02040503050406030204" pitchFamily="18" charset="0"/>
                      </a:rPr>
                      <m:t>Γ</m:t>
                    </m:r>
                    <m:r>
                      <a:rPr lang="en-AU" altLang="zh-CN" b="0" i="1" dirty="0" smtClean="0">
                        <a:latin typeface="Cambria Math" panose="02040503050406030204" pitchFamily="18" charset="0"/>
                        <a:ea typeface="Cambria Math" panose="02040503050406030204" pitchFamily="18" charset="0"/>
                      </a:rPr>
                      <m:t>×</m:t>
                    </m:r>
                    <m:r>
                      <m:rPr>
                        <m:sty m:val="p"/>
                      </m:rPr>
                      <a:rPr lang="el-GR" altLang="zh-CN" dirty="0">
                        <a:latin typeface="Cambria Math" panose="02040503050406030204" pitchFamily="18" charset="0"/>
                      </a:rPr>
                      <m:t>Γ</m:t>
                    </m:r>
                    <m:r>
                      <a:rPr lang="en-AU" altLang="zh-CN" i="1" dirty="0">
                        <a:latin typeface="Cambria Math" panose="02040503050406030204" pitchFamily="18" charset="0"/>
                        <a:ea typeface="Cambria Math" panose="02040503050406030204" pitchFamily="18" charset="0"/>
                      </a:rPr>
                      <m:t>×</m:t>
                    </m:r>
                    <m:r>
                      <a:rPr lang="en-AU" altLang="zh-CN" i="1" dirty="0" smtClean="0">
                        <a:latin typeface="Cambria Math" panose="02040503050406030204" pitchFamily="18" charset="0"/>
                        <a:ea typeface="Cambria Math" panose="02040503050406030204" pitchFamily="18" charset="0"/>
                      </a:rPr>
                      <m:t>⋯</m:t>
                    </m:r>
                    <m:r>
                      <a:rPr lang="en-AU" altLang="zh-CN" i="1" dirty="0">
                        <a:latin typeface="Cambria Math" panose="02040503050406030204" pitchFamily="18" charset="0"/>
                        <a:ea typeface="Cambria Math" panose="02040503050406030204" pitchFamily="18" charset="0"/>
                      </a:rPr>
                      <m:t>×</m:t>
                    </m:r>
                    <m:r>
                      <m:rPr>
                        <m:sty m:val="p"/>
                      </m:rPr>
                      <a:rPr lang="el-GR" altLang="zh-CN" dirty="0">
                        <a:latin typeface="Cambria Math" panose="02040503050406030204" pitchFamily="18" charset="0"/>
                      </a:rPr>
                      <m:t>Γ</m:t>
                    </m:r>
                  </m:oMath>
                </a14:m>
                <a:r>
                  <a:rPr lang="zh-CN" altLang="en-US" dirty="0"/>
                  <a:t>。</a:t>
                </a:r>
                <a:endParaRPr lang="en-AU" altLang="zh-CN" dirty="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095500" y="968374"/>
                <a:ext cx="8229600" cy="4525963"/>
              </a:xfrm>
              <a:blipFill>
                <a:blip r:embed="rId3"/>
                <a:stretch>
                  <a:fillRect l="-1541" t="-196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17</a:t>
            </a:fld>
            <a:endParaRPr lang="en-AU"/>
          </a:p>
        </p:txBody>
      </p:sp>
      <p:sp>
        <p:nvSpPr>
          <p:cNvPr id="5" name="Rectangle 4"/>
          <p:cNvSpPr>
            <a:spLocks noChangeArrowheads="1"/>
          </p:cNvSpPr>
          <p:nvPr/>
        </p:nvSpPr>
        <p:spPr bwMode="auto">
          <a:xfrm>
            <a:off x="5029200" y="2971801"/>
            <a:ext cx="2133600" cy="914399"/>
          </a:xfrm>
          <a:prstGeom prst="rect">
            <a:avLst/>
          </a:prstGeom>
          <a:solidFill>
            <a:srgbClr val="92D050"/>
          </a:solidFill>
          <a:ln w="9525">
            <a:solidFill>
              <a:schemeClr val="tx1"/>
            </a:solidFill>
            <a:miter lim="800000"/>
          </a:ln>
        </p:spPr>
        <p:txBody>
          <a:bodyPr wrap="none" anchor="ctr"/>
          <a:lstStyle/>
          <a:p>
            <a:pPr algn="ctr"/>
            <a:r>
              <a:rPr lang="zh-CN" altLang="en-US" sz="2400" dirty="0"/>
              <a:t>有穷控制器</a:t>
            </a:r>
            <a:endParaRPr lang="en-US" sz="2400" dirty="0"/>
          </a:p>
        </p:txBody>
      </p:sp>
      <p:graphicFrame>
        <p:nvGraphicFramePr>
          <p:cNvPr id="6" name="Group 25"/>
          <p:cNvGraphicFramePr>
            <a:graphicFrameLocks noGrp="1"/>
          </p:cNvGraphicFramePr>
          <p:nvPr/>
        </p:nvGraphicFramePr>
        <p:xfrm>
          <a:off x="4648200" y="4485323"/>
          <a:ext cx="3124200" cy="365760"/>
        </p:xfrm>
        <a:graphic>
          <a:graphicData uri="http://schemas.openxmlformats.org/drawingml/2006/table">
            <a:tbl>
              <a:tblPr/>
              <a:tblGrid>
                <a:gridCol w="520700">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2070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7" name="Text Box 26"/>
          <p:cNvSpPr txBox="1">
            <a:spLocks noChangeArrowheads="1"/>
          </p:cNvSpPr>
          <p:nvPr/>
        </p:nvSpPr>
        <p:spPr bwMode="auto">
          <a:xfrm>
            <a:off x="4133850" y="4428173"/>
            <a:ext cx="343364" cy="369332"/>
          </a:xfrm>
          <a:prstGeom prst="rect">
            <a:avLst/>
          </a:prstGeom>
          <a:noFill/>
          <a:ln w="9525">
            <a:noFill/>
            <a:miter lim="800000"/>
          </a:ln>
        </p:spPr>
        <p:txBody>
          <a:bodyPr wrap="none">
            <a:spAutoFit/>
          </a:bodyPr>
          <a:lstStyle/>
          <a:p>
            <a:r>
              <a:rPr lang="en-US"/>
              <a:t>…</a:t>
            </a:r>
          </a:p>
        </p:txBody>
      </p:sp>
      <p:sp>
        <p:nvSpPr>
          <p:cNvPr id="8" name="Line 28"/>
          <p:cNvSpPr>
            <a:spLocks noChangeShapeType="1"/>
          </p:cNvSpPr>
          <p:nvPr/>
        </p:nvSpPr>
        <p:spPr bwMode="auto">
          <a:xfrm>
            <a:off x="4038600" y="4485323"/>
            <a:ext cx="609600" cy="0"/>
          </a:xfrm>
          <a:prstGeom prst="line">
            <a:avLst/>
          </a:prstGeom>
          <a:noFill/>
          <a:ln w="9525">
            <a:solidFill>
              <a:schemeClr val="tx1"/>
            </a:solidFill>
            <a:round/>
          </a:ln>
        </p:spPr>
        <p:txBody>
          <a:bodyPr wrap="none" anchor="ctr"/>
          <a:lstStyle/>
          <a:p>
            <a:endParaRPr lang="en-US"/>
          </a:p>
        </p:txBody>
      </p:sp>
      <p:sp>
        <p:nvSpPr>
          <p:cNvPr id="9" name="Line 29"/>
          <p:cNvSpPr>
            <a:spLocks noChangeShapeType="1"/>
          </p:cNvSpPr>
          <p:nvPr/>
        </p:nvSpPr>
        <p:spPr bwMode="auto">
          <a:xfrm>
            <a:off x="4038600" y="4866323"/>
            <a:ext cx="609600" cy="0"/>
          </a:xfrm>
          <a:prstGeom prst="line">
            <a:avLst/>
          </a:prstGeom>
          <a:noFill/>
          <a:ln w="9525">
            <a:solidFill>
              <a:schemeClr val="tx1"/>
            </a:solidFill>
            <a:round/>
          </a:ln>
        </p:spPr>
        <p:txBody>
          <a:bodyPr wrap="none" anchor="ctr"/>
          <a:lstStyle/>
          <a:p>
            <a:endParaRPr lang="en-US"/>
          </a:p>
        </p:txBody>
      </p:sp>
      <p:sp>
        <p:nvSpPr>
          <p:cNvPr id="10" name="Text Box 30"/>
          <p:cNvSpPr txBox="1">
            <a:spLocks noChangeArrowheads="1"/>
          </p:cNvSpPr>
          <p:nvPr/>
        </p:nvSpPr>
        <p:spPr bwMode="auto">
          <a:xfrm>
            <a:off x="7791450" y="4409123"/>
            <a:ext cx="343364" cy="369332"/>
          </a:xfrm>
          <a:prstGeom prst="rect">
            <a:avLst/>
          </a:prstGeom>
          <a:noFill/>
          <a:ln w="9525">
            <a:noFill/>
            <a:miter lim="800000"/>
          </a:ln>
        </p:spPr>
        <p:txBody>
          <a:bodyPr wrap="none">
            <a:spAutoFit/>
          </a:bodyPr>
          <a:lstStyle/>
          <a:p>
            <a:r>
              <a:rPr lang="en-US"/>
              <a:t>…</a:t>
            </a:r>
          </a:p>
        </p:txBody>
      </p:sp>
      <p:sp>
        <p:nvSpPr>
          <p:cNvPr id="11" name="Line 31"/>
          <p:cNvSpPr>
            <a:spLocks noChangeShapeType="1"/>
          </p:cNvSpPr>
          <p:nvPr/>
        </p:nvSpPr>
        <p:spPr bwMode="auto">
          <a:xfrm>
            <a:off x="7696200" y="4466273"/>
            <a:ext cx="609600" cy="0"/>
          </a:xfrm>
          <a:prstGeom prst="line">
            <a:avLst/>
          </a:prstGeom>
          <a:noFill/>
          <a:ln w="9525">
            <a:solidFill>
              <a:schemeClr val="tx1"/>
            </a:solidFill>
            <a:round/>
          </a:ln>
        </p:spPr>
        <p:txBody>
          <a:bodyPr wrap="none" anchor="ctr"/>
          <a:lstStyle/>
          <a:p>
            <a:endParaRPr lang="en-US"/>
          </a:p>
        </p:txBody>
      </p:sp>
      <p:sp>
        <p:nvSpPr>
          <p:cNvPr id="12" name="Line 32"/>
          <p:cNvSpPr>
            <a:spLocks noChangeShapeType="1"/>
          </p:cNvSpPr>
          <p:nvPr/>
        </p:nvSpPr>
        <p:spPr bwMode="auto">
          <a:xfrm>
            <a:off x="7696200" y="4847273"/>
            <a:ext cx="609600" cy="0"/>
          </a:xfrm>
          <a:prstGeom prst="line">
            <a:avLst/>
          </a:prstGeom>
          <a:noFill/>
          <a:ln w="9525">
            <a:solidFill>
              <a:schemeClr val="tx1"/>
            </a:solidFill>
            <a:round/>
          </a:ln>
        </p:spPr>
        <p:txBody>
          <a:bodyPr wrap="none" anchor="ctr"/>
          <a:lstStyle/>
          <a:p>
            <a:endParaRPr lang="en-US"/>
          </a:p>
        </p:txBody>
      </p:sp>
      <p:graphicFrame>
        <p:nvGraphicFramePr>
          <p:cNvPr id="13" name="Group 33"/>
          <p:cNvGraphicFramePr>
            <a:graphicFrameLocks noGrp="1"/>
          </p:cNvGraphicFramePr>
          <p:nvPr/>
        </p:nvGraphicFramePr>
        <p:xfrm>
          <a:off x="4648200" y="4866323"/>
          <a:ext cx="3124200" cy="365760"/>
        </p:xfrm>
        <a:graphic>
          <a:graphicData uri="http://schemas.openxmlformats.org/drawingml/2006/table">
            <a:tbl>
              <a:tblPr/>
              <a:tblGrid>
                <a:gridCol w="520700">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2070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4" name="Text Box 49"/>
          <p:cNvSpPr txBox="1">
            <a:spLocks noChangeArrowheads="1"/>
          </p:cNvSpPr>
          <p:nvPr/>
        </p:nvSpPr>
        <p:spPr bwMode="auto">
          <a:xfrm>
            <a:off x="4133850" y="4885373"/>
            <a:ext cx="343364" cy="369332"/>
          </a:xfrm>
          <a:prstGeom prst="rect">
            <a:avLst/>
          </a:prstGeom>
          <a:noFill/>
          <a:ln w="9525">
            <a:noFill/>
            <a:miter lim="800000"/>
          </a:ln>
        </p:spPr>
        <p:txBody>
          <a:bodyPr wrap="none">
            <a:spAutoFit/>
          </a:bodyPr>
          <a:lstStyle/>
          <a:p>
            <a:r>
              <a:rPr lang="en-US"/>
              <a:t>…</a:t>
            </a:r>
          </a:p>
        </p:txBody>
      </p:sp>
      <p:sp>
        <p:nvSpPr>
          <p:cNvPr id="15" name="Line 50"/>
          <p:cNvSpPr>
            <a:spLocks noChangeShapeType="1"/>
          </p:cNvSpPr>
          <p:nvPr/>
        </p:nvSpPr>
        <p:spPr bwMode="auto">
          <a:xfrm>
            <a:off x="4038600" y="4866323"/>
            <a:ext cx="609600" cy="0"/>
          </a:xfrm>
          <a:prstGeom prst="line">
            <a:avLst/>
          </a:prstGeom>
          <a:noFill/>
          <a:ln w="9525">
            <a:solidFill>
              <a:schemeClr val="tx1"/>
            </a:solidFill>
            <a:round/>
          </a:ln>
        </p:spPr>
        <p:txBody>
          <a:bodyPr wrap="none" anchor="ctr"/>
          <a:lstStyle/>
          <a:p>
            <a:endParaRPr lang="en-US"/>
          </a:p>
        </p:txBody>
      </p:sp>
      <p:sp>
        <p:nvSpPr>
          <p:cNvPr id="16" name="Line 51"/>
          <p:cNvSpPr>
            <a:spLocks noChangeShapeType="1"/>
          </p:cNvSpPr>
          <p:nvPr/>
        </p:nvSpPr>
        <p:spPr bwMode="auto">
          <a:xfrm>
            <a:off x="4038600" y="5247323"/>
            <a:ext cx="609600" cy="0"/>
          </a:xfrm>
          <a:prstGeom prst="line">
            <a:avLst/>
          </a:prstGeom>
          <a:noFill/>
          <a:ln w="9525">
            <a:solidFill>
              <a:schemeClr val="tx1"/>
            </a:solidFill>
            <a:round/>
          </a:ln>
        </p:spPr>
        <p:txBody>
          <a:bodyPr wrap="none" anchor="ctr"/>
          <a:lstStyle/>
          <a:p>
            <a:endParaRPr lang="en-US"/>
          </a:p>
        </p:txBody>
      </p:sp>
      <p:sp>
        <p:nvSpPr>
          <p:cNvPr id="17" name="Text Box 52"/>
          <p:cNvSpPr txBox="1">
            <a:spLocks noChangeArrowheads="1"/>
          </p:cNvSpPr>
          <p:nvPr/>
        </p:nvSpPr>
        <p:spPr bwMode="auto">
          <a:xfrm>
            <a:off x="7791450" y="4790123"/>
            <a:ext cx="343364" cy="369332"/>
          </a:xfrm>
          <a:prstGeom prst="rect">
            <a:avLst/>
          </a:prstGeom>
          <a:noFill/>
          <a:ln w="9525">
            <a:noFill/>
            <a:miter lim="800000"/>
          </a:ln>
        </p:spPr>
        <p:txBody>
          <a:bodyPr wrap="none">
            <a:spAutoFit/>
          </a:bodyPr>
          <a:lstStyle/>
          <a:p>
            <a:r>
              <a:rPr lang="en-US"/>
              <a:t>…</a:t>
            </a:r>
          </a:p>
        </p:txBody>
      </p:sp>
      <p:sp>
        <p:nvSpPr>
          <p:cNvPr id="18" name="Line 53"/>
          <p:cNvSpPr>
            <a:spLocks noChangeShapeType="1"/>
          </p:cNvSpPr>
          <p:nvPr/>
        </p:nvSpPr>
        <p:spPr bwMode="auto">
          <a:xfrm>
            <a:off x="7696200" y="4866323"/>
            <a:ext cx="609600" cy="0"/>
          </a:xfrm>
          <a:prstGeom prst="line">
            <a:avLst/>
          </a:prstGeom>
          <a:noFill/>
          <a:ln w="9525">
            <a:solidFill>
              <a:schemeClr val="tx1"/>
            </a:solidFill>
            <a:round/>
          </a:ln>
        </p:spPr>
        <p:txBody>
          <a:bodyPr wrap="none" anchor="ctr"/>
          <a:lstStyle/>
          <a:p>
            <a:endParaRPr lang="en-US"/>
          </a:p>
        </p:txBody>
      </p:sp>
      <p:sp>
        <p:nvSpPr>
          <p:cNvPr id="19" name="Line 54"/>
          <p:cNvSpPr>
            <a:spLocks noChangeShapeType="1"/>
          </p:cNvSpPr>
          <p:nvPr/>
        </p:nvSpPr>
        <p:spPr bwMode="auto">
          <a:xfrm>
            <a:off x="7696200" y="5228273"/>
            <a:ext cx="609600" cy="0"/>
          </a:xfrm>
          <a:prstGeom prst="line">
            <a:avLst/>
          </a:prstGeom>
          <a:noFill/>
          <a:ln w="9525">
            <a:solidFill>
              <a:schemeClr val="tx1"/>
            </a:solidFill>
            <a:round/>
          </a:ln>
        </p:spPr>
        <p:txBody>
          <a:bodyPr wrap="none" anchor="ctr"/>
          <a:lstStyle/>
          <a:p>
            <a:endParaRPr lang="en-US"/>
          </a:p>
        </p:txBody>
      </p:sp>
      <p:graphicFrame>
        <p:nvGraphicFramePr>
          <p:cNvPr id="20" name="Group 55"/>
          <p:cNvGraphicFramePr>
            <a:graphicFrameLocks noGrp="1"/>
          </p:cNvGraphicFramePr>
          <p:nvPr/>
        </p:nvGraphicFramePr>
        <p:xfrm>
          <a:off x="4648200" y="5628323"/>
          <a:ext cx="3124200" cy="365760"/>
        </p:xfrm>
        <a:graphic>
          <a:graphicData uri="http://schemas.openxmlformats.org/drawingml/2006/table">
            <a:tbl>
              <a:tblPr/>
              <a:tblGrid>
                <a:gridCol w="520700">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2070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1" name="Text Box 71"/>
          <p:cNvSpPr txBox="1">
            <a:spLocks noChangeArrowheads="1"/>
          </p:cNvSpPr>
          <p:nvPr/>
        </p:nvSpPr>
        <p:spPr bwMode="auto">
          <a:xfrm>
            <a:off x="4133850" y="5571173"/>
            <a:ext cx="343364" cy="369332"/>
          </a:xfrm>
          <a:prstGeom prst="rect">
            <a:avLst/>
          </a:prstGeom>
          <a:noFill/>
          <a:ln w="9525">
            <a:noFill/>
            <a:miter lim="800000"/>
          </a:ln>
        </p:spPr>
        <p:txBody>
          <a:bodyPr wrap="none">
            <a:spAutoFit/>
          </a:bodyPr>
          <a:lstStyle/>
          <a:p>
            <a:r>
              <a:rPr lang="en-US"/>
              <a:t>…</a:t>
            </a:r>
          </a:p>
        </p:txBody>
      </p:sp>
      <p:sp>
        <p:nvSpPr>
          <p:cNvPr id="22" name="Line 72"/>
          <p:cNvSpPr>
            <a:spLocks noChangeShapeType="1"/>
          </p:cNvSpPr>
          <p:nvPr/>
        </p:nvSpPr>
        <p:spPr bwMode="auto">
          <a:xfrm>
            <a:off x="4038600" y="5628323"/>
            <a:ext cx="609600" cy="0"/>
          </a:xfrm>
          <a:prstGeom prst="line">
            <a:avLst/>
          </a:prstGeom>
          <a:noFill/>
          <a:ln w="9525">
            <a:solidFill>
              <a:schemeClr val="tx1"/>
            </a:solidFill>
            <a:round/>
          </a:ln>
        </p:spPr>
        <p:txBody>
          <a:bodyPr wrap="none" anchor="ctr"/>
          <a:lstStyle/>
          <a:p>
            <a:endParaRPr lang="en-US"/>
          </a:p>
        </p:txBody>
      </p:sp>
      <p:sp>
        <p:nvSpPr>
          <p:cNvPr id="23" name="Line 73"/>
          <p:cNvSpPr>
            <a:spLocks noChangeShapeType="1"/>
          </p:cNvSpPr>
          <p:nvPr/>
        </p:nvSpPr>
        <p:spPr bwMode="auto">
          <a:xfrm>
            <a:off x="4038600" y="6009323"/>
            <a:ext cx="609600" cy="0"/>
          </a:xfrm>
          <a:prstGeom prst="line">
            <a:avLst/>
          </a:prstGeom>
          <a:noFill/>
          <a:ln w="9525">
            <a:solidFill>
              <a:schemeClr val="tx1"/>
            </a:solidFill>
            <a:round/>
          </a:ln>
        </p:spPr>
        <p:txBody>
          <a:bodyPr wrap="none" anchor="ctr"/>
          <a:lstStyle/>
          <a:p>
            <a:endParaRPr lang="en-US"/>
          </a:p>
        </p:txBody>
      </p:sp>
      <p:sp>
        <p:nvSpPr>
          <p:cNvPr id="24" name="Text Box 74"/>
          <p:cNvSpPr txBox="1">
            <a:spLocks noChangeArrowheads="1"/>
          </p:cNvSpPr>
          <p:nvPr/>
        </p:nvSpPr>
        <p:spPr bwMode="auto">
          <a:xfrm>
            <a:off x="7791450" y="5552123"/>
            <a:ext cx="343364" cy="369332"/>
          </a:xfrm>
          <a:prstGeom prst="rect">
            <a:avLst/>
          </a:prstGeom>
          <a:noFill/>
          <a:ln w="9525">
            <a:noFill/>
            <a:miter lim="800000"/>
          </a:ln>
        </p:spPr>
        <p:txBody>
          <a:bodyPr wrap="none">
            <a:spAutoFit/>
          </a:bodyPr>
          <a:lstStyle/>
          <a:p>
            <a:r>
              <a:rPr lang="en-US"/>
              <a:t>…</a:t>
            </a:r>
          </a:p>
        </p:txBody>
      </p:sp>
      <p:sp>
        <p:nvSpPr>
          <p:cNvPr id="25" name="Line 75"/>
          <p:cNvSpPr>
            <a:spLocks noChangeShapeType="1"/>
          </p:cNvSpPr>
          <p:nvPr/>
        </p:nvSpPr>
        <p:spPr bwMode="auto">
          <a:xfrm>
            <a:off x="7696200" y="5609273"/>
            <a:ext cx="609600" cy="0"/>
          </a:xfrm>
          <a:prstGeom prst="line">
            <a:avLst/>
          </a:prstGeom>
          <a:noFill/>
          <a:ln w="9525">
            <a:solidFill>
              <a:schemeClr val="tx1"/>
            </a:solidFill>
            <a:round/>
          </a:ln>
        </p:spPr>
        <p:txBody>
          <a:bodyPr wrap="none" anchor="ctr"/>
          <a:lstStyle/>
          <a:p>
            <a:endParaRPr lang="en-US"/>
          </a:p>
        </p:txBody>
      </p:sp>
      <p:sp>
        <p:nvSpPr>
          <p:cNvPr id="26" name="Line 76"/>
          <p:cNvSpPr>
            <a:spLocks noChangeShapeType="1"/>
          </p:cNvSpPr>
          <p:nvPr/>
        </p:nvSpPr>
        <p:spPr bwMode="auto">
          <a:xfrm>
            <a:off x="7696200" y="5990273"/>
            <a:ext cx="609600" cy="0"/>
          </a:xfrm>
          <a:prstGeom prst="line">
            <a:avLst/>
          </a:prstGeom>
          <a:noFill/>
          <a:ln w="9525">
            <a:solidFill>
              <a:schemeClr val="tx1"/>
            </a:solidFill>
            <a:round/>
          </a:ln>
        </p:spPr>
        <p:txBody>
          <a:bodyPr wrap="none" anchor="ctr"/>
          <a:lstStyle/>
          <a:p>
            <a:endParaRPr lang="en-US"/>
          </a:p>
        </p:txBody>
      </p:sp>
      <p:sp>
        <p:nvSpPr>
          <p:cNvPr id="27" name="Freeform 79"/>
          <p:cNvSpPr/>
          <p:nvPr/>
        </p:nvSpPr>
        <p:spPr bwMode="auto">
          <a:xfrm>
            <a:off x="5410201" y="3902709"/>
            <a:ext cx="514351" cy="1878014"/>
          </a:xfrm>
          <a:custGeom>
            <a:avLst/>
            <a:gdLst>
              <a:gd name="T0" fmla="*/ 2147483647 w 392"/>
              <a:gd name="T1" fmla="*/ 0 h 1120"/>
              <a:gd name="T2" fmla="*/ 2147483647 w 392"/>
              <a:gd name="T3" fmla="*/ 2147483647 h 1120"/>
              <a:gd name="T4" fmla="*/ 2147483647 w 392"/>
              <a:gd name="T5" fmla="*/ 2147483647 h 1120"/>
              <a:gd name="T6" fmla="*/ 2147483647 w 392"/>
              <a:gd name="T7" fmla="*/ 2147483647 h 1120"/>
              <a:gd name="T8" fmla="*/ 2147483647 w 392"/>
              <a:gd name="T9" fmla="*/ 2147483647 h 1120"/>
              <a:gd name="T10" fmla="*/ 2147483647 w 392"/>
              <a:gd name="T11" fmla="*/ 2147483647 h 1120"/>
              <a:gd name="T12" fmla="*/ 2147483647 w 392"/>
              <a:gd name="T13" fmla="*/ 2147483647 h 1120"/>
              <a:gd name="T14" fmla="*/ 2147483647 w 392"/>
              <a:gd name="T15" fmla="*/ 2147483647 h 1120"/>
              <a:gd name="T16" fmla="*/ 2147483647 w 392"/>
              <a:gd name="T17" fmla="*/ 2147483647 h 1120"/>
              <a:gd name="T18" fmla="*/ 0 w 392"/>
              <a:gd name="T19" fmla="*/ 2147483647 h 1120"/>
              <a:gd name="T20" fmla="*/ 2147483647 w 392"/>
              <a:gd name="T21" fmla="*/ 2147483647 h 11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2"/>
              <a:gd name="T34" fmla="*/ 0 h 1120"/>
              <a:gd name="T35" fmla="*/ 392 w 392"/>
              <a:gd name="T36" fmla="*/ 1120 h 11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2" h="1120">
                <a:moveTo>
                  <a:pt x="392" y="0"/>
                </a:moveTo>
                <a:cubicBezTo>
                  <a:pt x="373" y="6"/>
                  <a:pt x="352" y="6"/>
                  <a:pt x="336" y="16"/>
                </a:cubicBezTo>
                <a:cubicBezTo>
                  <a:pt x="326" y="21"/>
                  <a:pt x="321" y="33"/>
                  <a:pt x="312" y="40"/>
                </a:cubicBezTo>
                <a:cubicBezTo>
                  <a:pt x="304" y="44"/>
                  <a:pt x="295" y="43"/>
                  <a:pt x="288" y="48"/>
                </a:cubicBezTo>
                <a:cubicBezTo>
                  <a:pt x="271" y="57"/>
                  <a:pt x="240" y="80"/>
                  <a:pt x="240" y="80"/>
                </a:cubicBezTo>
                <a:cubicBezTo>
                  <a:pt x="220" y="138"/>
                  <a:pt x="178" y="188"/>
                  <a:pt x="144" y="240"/>
                </a:cubicBezTo>
                <a:cubicBezTo>
                  <a:pt x="121" y="274"/>
                  <a:pt x="136" y="267"/>
                  <a:pt x="112" y="296"/>
                </a:cubicBezTo>
                <a:cubicBezTo>
                  <a:pt x="102" y="307"/>
                  <a:pt x="89" y="316"/>
                  <a:pt x="80" y="328"/>
                </a:cubicBezTo>
                <a:cubicBezTo>
                  <a:pt x="62" y="348"/>
                  <a:pt x="32" y="392"/>
                  <a:pt x="32" y="392"/>
                </a:cubicBezTo>
                <a:cubicBezTo>
                  <a:pt x="19" y="428"/>
                  <a:pt x="9" y="466"/>
                  <a:pt x="0" y="504"/>
                </a:cubicBezTo>
                <a:cubicBezTo>
                  <a:pt x="6" y="709"/>
                  <a:pt x="16" y="914"/>
                  <a:pt x="16" y="1120"/>
                </a:cubicBezTo>
              </a:path>
            </a:pathLst>
          </a:custGeom>
          <a:noFill/>
          <a:ln w="9525">
            <a:solidFill>
              <a:schemeClr val="tx1"/>
            </a:solidFill>
            <a:round/>
            <a:tailEnd type="arrow" w="med" len="med"/>
          </a:ln>
        </p:spPr>
        <p:txBody>
          <a:bodyPr wrap="none" anchor="ctr"/>
          <a:lstStyle/>
          <a:p>
            <a:endParaRPr lang="en-US"/>
          </a:p>
        </p:txBody>
      </p:sp>
      <p:sp>
        <p:nvSpPr>
          <p:cNvPr id="28" name="Text Box 80"/>
          <p:cNvSpPr txBox="1">
            <a:spLocks noChangeArrowheads="1"/>
          </p:cNvSpPr>
          <p:nvPr/>
        </p:nvSpPr>
        <p:spPr bwMode="auto">
          <a:xfrm>
            <a:off x="2955925" y="4428173"/>
            <a:ext cx="840486" cy="369332"/>
          </a:xfrm>
          <a:prstGeom prst="rect">
            <a:avLst/>
          </a:prstGeom>
          <a:noFill/>
          <a:ln w="9525">
            <a:noFill/>
            <a:miter lim="800000"/>
          </a:ln>
        </p:spPr>
        <p:txBody>
          <a:bodyPr wrap="none">
            <a:spAutoFit/>
          </a:bodyPr>
          <a:lstStyle/>
          <a:p>
            <a:r>
              <a:rPr lang="en-US" dirty="0"/>
              <a:t>Track 1</a:t>
            </a:r>
          </a:p>
        </p:txBody>
      </p:sp>
      <p:sp>
        <p:nvSpPr>
          <p:cNvPr id="29" name="Text Box 81"/>
          <p:cNvSpPr txBox="1">
            <a:spLocks noChangeArrowheads="1"/>
          </p:cNvSpPr>
          <p:nvPr/>
        </p:nvSpPr>
        <p:spPr bwMode="auto">
          <a:xfrm>
            <a:off x="2895600" y="5002848"/>
            <a:ext cx="840486" cy="369332"/>
          </a:xfrm>
          <a:prstGeom prst="rect">
            <a:avLst/>
          </a:prstGeom>
          <a:noFill/>
          <a:ln w="9525">
            <a:noFill/>
            <a:miter lim="800000"/>
          </a:ln>
        </p:spPr>
        <p:txBody>
          <a:bodyPr wrap="none">
            <a:spAutoFit/>
          </a:bodyPr>
          <a:lstStyle/>
          <a:p>
            <a:r>
              <a:rPr lang="en-US"/>
              <a:t>Track 2</a:t>
            </a:r>
          </a:p>
        </p:txBody>
      </p:sp>
      <p:sp>
        <p:nvSpPr>
          <p:cNvPr id="30" name="Text Box 82"/>
          <p:cNvSpPr txBox="1">
            <a:spLocks noChangeArrowheads="1"/>
          </p:cNvSpPr>
          <p:nvPr/>
        </p:nvSpPr>
        <p:spPr bwMode="auto">
          <a:xfrm>
            <a:off x="2911475" y="5612448"/>
            <a:ext cx="827662" cy="369332"/>
          </a:xfrm>
          <a:prstGeom prst="rect">
            <a:avLst/>
          </a:prstGeom>
          <a:noFill/>
          <a:ln w="9525">
            <a:noFill/>
            <a:miter lim="800000"/>
          </a:ln>
        </p:spPr>
        <p:txBody>
          <a:bodyPr wrap="none">
            <a:spAutoFit/>
          </a:bodyPr>
          <a:lstStyle/>
          <a:p>
            <a:r>
              <a:rPr lang="en-US"/>
              <a:t>Track k</a:t>
            </a:r>
          </a:p>
        </p:txBody>
      </p:sp>
      <p:sp>
        <p:nvSpPr>
          <p:cNvPr id="31" name="Text Box 83"/>
          <p:cNvSpPr txBox="1">
            <a:spLocks noChangeArrowheads="1"/>
          </p:cNvSpPr>
          <p:nvPr/>
        </p:nvSpPr>
        <p:spPr bwMode="auto">
          <a:xfrm rot="5400000">
            <a:off x="3668481" y="5300781"/>
            <a:ext cx="343364" cy="369332"/>
          </a:xfrm>
          <a:prstGeom prst="rect">
            <a:avLst/>
          </a:prstGeom>
          <a:noFill/>
          <a:ln w="9525">
            <a:noFill/>
            <a:miter lim="800000"/>
          </a:ln>
        </p:spPr>
        <p:txBody>
          <a:bodyPr wrap="none">
            <a:spAutoFit/>
          </a:bodyPr>
          <a:lstStyle/>
          <a:p>
            <a:r>
              <a:rPr lang="en-US"/>
              <a:t>…</a:t>
            </a:r>
          </a:p>
        </p:txBody>
      </p:sp>
      <mc:AlternateContent xmlns:mc="http://schemas.openxmlformats.org/markup-compatibility/2006" xmlns:a14="http://schemas.microsoft.com/office/drawing/2010/main">
        <mc:Choice Requires="a14">
          <p:sp>
            <p:nvSpPr>
              <p:cNvPr id="32" name="Text Box 84"/>
              <p:cNvSpPr txBox="1">
                <a:spLocks noChangeArrowheads="1"/>
              </p:cNvSpPr>
              <p:nvPr/>
            </p:nvSpPr>
            <p:spPr bwMode="auto">
              <a:xfrm>
                <a:off x="7696200" y="3467637"/>
                <a:ext cx="2495550" cy="830997"/>
              </a:xfrm>
              <a:prstGeom prst="rect">
                <a:avLst/>
              </a:prstGeom>
              <a:noFill/>
              <a:ln w="9525">
                <a:noFill/>
                <a:miter lim="800000"/>
              </a:ln>
            </p:spPr>
            <p:txBody>
              <a:bodyPr wrap="square">
                <a:spAutoFit/>
              </a:bodyPr>
              <a:lstStyle/>
              <a:p>
                <a14:m>
                  <m:oMath xmlns:m="http://schemas.openxmlformats.org/officeDocument/2006/math">
                    <m:r>
                      <a:rPr lang="en-AU" altLang="zh-CN" sz="2400" i="1" dirty="0">
                        <a:latin typeface="Cambria Math" panose="02040503050406030204" pitchFamily="18" charset="0"/>
                      </a:rPr>
                      <m:t>𝑘</m:t>
                    </m:r>
                  </m:oMath>
                </a14:m>
                <a:r>
                  <a:rPr lang="zh-CN" altLang="en-US" sz="2400" dirty="0">
                    <a:latin typeface="楷体" panose="02010609060101010101" pitchFamily="49" charset="-122"/>
                    <a:ea typeface="楷体" panose="02010609060101010101" pitchFamily="49" charset="-122"/>
                  </a:rPr>
                  <a:t>条道，读头一次读入</a:t>
                </a:r>
                <a14:m>
                  <m:oMath xmlns:m="http://schemas.openxmlformats.org/officeDocument/2006/math">
                    <m:r>
                      <a:rPr lang="en-AU" altLang="zh-CN" sz="2400" i="1" dirty="0">
                        <a:latin typeface="Cambria Math" panose="02040503050406030204" pitchFamily="18" charset="0"/>
                        <a:ea typeface="楷体" panose="02010609060101010101" pitchFamily="49" charset="-122"/>
                      </a:rPr>
                      <m:t>𝑘</m:t>
                    </m:r>
                  </m:oMath>
                </a14:m>
                <a:r>
                  <a:rPr lang="zh-CN" altLang="en-US" sz="2400" dirty="0">
                    <a:latin typeface="楷体" panose="02010609060101010101" pitchFamily="49" charset="-122"/>
                    <a:ea typeface="楷体" panose="02010609060101010101" pitchFamily="49" charset="-122"/>
                  </a:rPr>
                  <a:t>个符号。</a:t>
                </a:r>
                <a:endParaRPr lang="en-US" sz="2400" dirty="0">
                  <a:latin typeface="楷体" panose="02010609060101010101" pitchFamily="49" charset="-122"/>
                  <a:ea typeface="楷体" panose="02010609060101010101" pitchFamily="49" charset="-122"/>
                </a:endParaRPr>
              </a:p>
            </p:txBody>
          </p:sp>
        </mc:Choice>
        <mc:Fallback xmlns="">
          <p:sp>
            <p:nvSpPr>
              <p:cNvPr id="32" name="Text Box 84"/>
              <p:cNvSpPr txBox="1">
                <a:spLocks noRot="1" noChangeAspect="1" noMove="1" noResize="1" noEditPoints="1" noAdjustHandles="1" noChangeArrowheads="1" noChangeShapeType="1" noTextEdit="1"/>
              </p:cNvSpPr>
              <p:nvPr/>
            </p:nvSpPr>
            <p:spPr bwMode="auto">
              <a:xfrm>
                <a:off x="7696200" y="3467637"/>
                <a:ext cx="2495550" cy="830997"/>
              </a:xfrm>
              <a:prstGeom prst="rect">
                <a:avLst/>
              </a:prstGeom>
              <a:blipFill>
                <a:blip r:embed="rId4"/>
                <a:stretch>
                  <a:fillRect l="-4061" t="-7576" r="-3553" b="-13636"/>
                </a:stretch>
              </a:blipFill>
              <a:ln w="9525">
                <a:noFill/>
                <a:miter lim="800000"/>
              </a:ln>
            </p:spPr>
            <p:txBody>
              <a:bodyPr/>
              <a:lstStyle/>
              <a:p>
                <a:r>
                  <a:rPr lang="zh-CN" altLang="en-US">
                    <a:noFill/>
                  </a:rPr>
                  <a:t> </a:t>
                </a:r>
              </a:p>
            </p:txBody>
          </p:sp>
        </mc:Fallback>
      </mc:AlternateContent>
      <p:sp>
        <p:nvSpPr>
          <p:cNvPr id="33" name="Rectangle 35"/>
          <p:cNvSpPr>
            <a:spLocks noChangeArrowheads="1"/>
          </p:cNvSpPr>
          <p:nvPr/>
        </p:nvSpPr>
        <p:spPr bwMode="auto">
          <a:xfrm>
            <a:off x="5029200" y="4180523"/>
            <a:ext cx="762000" cy="1981200"/>
          </a:xfrm>
          <a:prstGeom prst="rect">
            <a:avLst/>
          </a:prstGeom>
          <a:noFill/>
          <a:ln w="9525" algn="ctr">
            <a:solidFill>
              <a:schemeClr val="tx1"/>
            </a:solidFill>
            <a:prstDash val="dash"/>
            <a:round/>
          </a:ln>
        </p:spPr>
        <p:txBody>
          <a:bodyPr/>
          <a:lstStyle/>
          <a:p>
            <a:endParaRPr lang="en-US"/>
          </a:p>
        </p:txBody>
      </p:sp>
      <p:sp>
        <p:nvSpPr>
          <p:cNvPr id="34" name="Text Box 83"/>
          <p:cNvSpPr txBox="1">
            <a:spLocks noChangeArrowheads="1"/>
          </p:cNvSpPr>
          <p:nvPr/>
        </p:nvSpPr>
        <p:spPr bwMode="auto">
          <a:xfrm rot="5400000">
            <a:off x="5513156" y="5281731"/>
            <a:ext cx="343364" cy="369332"/>
          </a:xfrm>
          <a:prstGeom prst="rect">
            <a:avLst/>
          </a:prstGeom>
          <a:noFill/>
          <a:ln w="9525">
            <a:noFill/>
            <a:miter lim="800000"/>
          </a:ln>
        </p:spPr>
        <p:txBody>
          <a:bodyPr wrap="none">
            <a:spAutoFit/>
          </a:bodyPr>
          <a:lstStyle/>
          <a:p>
            <a:r>
              <a:rPr lang="en-US"/>
              <a:t>…</a:t>
            </a:r>
          </a:p>
        </p:txBody>
      </p:sp>
      <p:sp>
        <p:nvSpPr>
          <p:cNvPr id="35" name="TextBox 35">
            <a:extLst>
              <a:ext uri="{FF2B5EF4-FFF2-40B4-BE49-F238E27FC236}">
                <a16:creationId xmlns:a16="http://schemas.microsoft.com/office/drawing/2014/main" id="{DA6BCBF0-40B9-944C-B745-AECC3848636B}"/>
              </a:ext>
            </a:extLst>
          </p:cNvPr>
          <p:cNvSpPr txBox="1"/>
          <p:nvPr/>
        </p:nvSpPr>
        <p:spPr>
          <a:xfrm>
            <a:off x="8625414" y="4872496"/>
            <a:ext cx="3532725" cy="707886"/>
          </a:xfrm>
          <a:prstGeom prst="rect">
            <a:avLst/>
          </a:prstGeom>
          <a:solidFill>
            <a:srgbClr val="FFC000"/>
          </a:solidFill>
        </p:spPr>
        <p:txBody>
          <a:bodyPr wrap="square" rtlCol="0">
            <a:spAutoFit/>
          </a:bodyPr>
          <a:lstStyle/>
          <a:p>
            <a:r>
              <a:rPr lang="zh-CN" altLang="en-US" sz="2000" b="1" dirty="0"/>
              <a:t>图灵机的七元组形式没有改变，依然是基本的图灵机。</a:t>
            </a:r>
            <a:endParaRPr lang="en-AU"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sz="2400" dirty="0"/>
                  <a:t>例</a:t>
                </a:r>
                <a:r>
                  <a:rPr lang="en-AU" altLang="zh-CN" sz="2400" dirty="0"/>
                  <a:t>:</a:t>
                </a:r>
                <a:r>
                  <a:rPr lang="zh-CN" altLang="en-US" sz="2400" dirty="0"/>
                  <a:t>利用状态中存储与多道设计</a:t>
                </a:r>
                <a:r>
                  <a:rPr lang="en-AU" altLang="zh-CN" sz="2400" dirty="0">
                    <a:latin typeface="Times New Roman" panose="02020603050405020304" pitchFamily="18" charset="0"/>
                    <a:cs typeface="Times New Roman" panose="02020603050405020304" pitchFamily="18" charset="0"/>
                  </a:rPr>
                  <a:t>TM</a:t>
                </a:r>
                <a:r>
                  <a:rPr lang="zh-CN" altLang="en-US" sz="2400" dirty="0"/>
                  <a:t>识别</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en-AU" sz="2400" b="0" i="1">
                          <a:latin typeface="Cambria Math" panose="02040503050406030204" pitchFamily="18" charset="0"/>
                        </a:rPr>
                        <m:t>𝐿</m:t>
                      </m:r>
                      <m:r>
                        <a:rPr lang="en-AU" sz="2400" b="0" i="1">
                          <a:latin typeface="Cambria Math" panose="02040503050406030204" pitchFamily="18" charset="0"/>
                        </a:rPr>
                        <m:t>={</m:t>
                      </m:r>
                      <m:r>
                        <a:rPr lang="en-AU" sz="2400" b="0" i="1">
                          <a:latin typeface="Cambria Math" panose="02040503050406030204" pitchFamily="18" charset="0"/>
                        </a:rPr>
                        <m:t>𝑤𝑐𝑤</m:t>
                      </m:r>
                      <m:r>
                        <a:rPr lang="en-AU" sz="2400" b="0" i="1">
                          <a:latin typeface="Cambria Math" panose="02040503050406030204" pitchFamily="18" charset="0"/>
                        </a:rPr>
                        <m:t>|</m:t>
                      </m:r>
                      <m:r>
                        <a:rPr lang="en-AU" sz="2400" b="0" i="1">
                          <a:latin typeface="Cambria Math" panose="02040503050406030204" pitchFamily="18" charset="0"/>
                        </a:rPr>
                        <m:t>𝑤</m:t>
                      </m:r>
                      <m:r>
                        <a:rPr lang="en-AU" sz="2400" b="0" i="1">
                          <a:latin typeface="Cambria Math" panose="02040503050406030204" pitchFamily="18" charset="0"/>
                          <a:ea typeface="Cambria Math" panose="02040503050406030204" pitchFamily="18" charset="0"/>
                        </a:rPr>
                        <m:t>∈</m:t>
                      </m:r>
                      <m:sSup>
                        <m:sSupPr>
                          <m:ctrlPr>
                            <a:rPr lang="en-AU" sz="2400" b="0" i="1">
                              <a:latin typeface="Cambria Math" panose="02040503050406030204" pitchFamily="18" charset="0"/>
                              <a:ea typeface="Cambria Math" panose="02040503050406030204" pitchFamily="18" charset="0"/>
                            </a:rPr>
                          </m:ctrlPr>
                        </m:sSupPr>
                        <m:e>
                          <m:r>
                            <a:rPr lang="en-AU" sz="2400" b="0" i="1">
                              <a:latin typeface="Cambria Math" panose="02040503050406030204" pitchFamily="18" charset="0"/>
                              <a:ea typeface="Cambria Math" panose="02040503050406030204" pitchFamily="18" charset="0"/>
                            </a:rPr>
                            <m:t>{</m:t>
                          </m:r>
                          <m:r>
                            <a:rPr lang="en-AU" sz="2400" b="0" i="1">
                              <a:latin typeface="Cambria Math" panose="02040503050406030204" pitchFamily="18" charset="0"/>
                              <a:ea typeface="Cambria Math" panose="02040503050406030204" pitchFamily="18" charset="0"/>
                            </a:rPr>
                            <m:t>𝑎</m:t>
                          </m:r>
                          <m:r>
                            <a:rPr lang="en-AU" sz="2400" b="0" i="1">
                              <a:latin typeface="Cambria Math" panose="02040503050406030204" pitchFamily="18" charset="0"/>
                              <a:ea typeface="Cambria Math" panose="02040503050406030204" pitchFamily="18" charset="0"/>
                            </a:rPr>
                            <m:t>,</m:t>
                          </m:r>
                          <m:r>
                            <a:rPr lang="en-AU" sz="2400" b="0" i="1">
                              <a:latin typeface="Cambria Math" panose="02040503050406030204" pitchFamily="18" charset="0"/>
                              <a:ea typeface="Cambria Math" panose="02040503050406030204" pitchFamily="18" charset="0"/>
                            </a:rPr>
                            <m:t>𝑏</m:t>
                          </m:r>
                          <m:r>
                            <a:rPr lang="en-AU" sz="2400" b="0" i="1">
                              <a:latin typeface="Cambria Math" panose="02040503050406030204" pitchFamily="18" charset="0"/>
                              <a:ea typeface="Cambria Math" panose="02040503050406030204" pitchFamily="18" charset="0"/>
                            </a:rPr>
                            <m:t>}</m:t>
                          </m:r>
                        </m:e>
                        <m:sup>
                          <m:r>
                            <a:rPr lang="en-AU" sz="2400" b="0" i="1">
                              <a:latin typeface="Cambria Math" panose="02040503050406030204" pitchFamily="18" charset="0"/>
                              <a:ea typeface="Cambria Math" panose="02040503050406030204" pitchFamily="18" charset="0"/>
                            </a:rPr>
                            <m:t>∗</m:t>
                          </m:r>
                        </m:sup>
                      </m:sSup>
                      <m:r>
                        <a:rPr lang="en-AU" sz="2400" b="0" i="1">
                          <a:latin typeface="Cambria Math" panose="02040503050406030204" pitchFamily="18" charset="0"/>
                        </a:rPr>
                        <m:t>}</m:t>
                      </m:r>
                    </m:oMath>
                  </m:oMathPara>
                </a14:m>
                <a:endParaRPr lang="en-AU" sz="2400" dirty="0"/>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3"/>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18</a:t>
            </a:fld>
            <a:endParaRPr lang="en-AU"/>
          </a:p>
        </p:txBody>
      </p:sp>
      <p:grpSp>
        <p:nvGrpSpPr>
          <p:cNvPr id="73" name="Group 241"/>
          <p:cNvGrpSpPr/>
          <p:nvPr/>
        </p:nvGrpSpPr>
        <p:grpSpPr bwMode="auto">
          <a:xfrm>
            <a:off x="2451099" y="3024822"/>
            <a:ext cx="4592639" cy="3311526"/>
            <a:chOff x="-121" y="2256"/>
            <a:chExt cx="2893" cy="2086"/>
          </a:xfrm>
        </p:grpSpPr>
        <p:sp>
          <p:nvSpPr>
            <p:cNvPr id="74" name="Rectangle 4"/>
            <p:cNvSpPr>
              <a:spLocks noChangeArrowheads="1"/>
            </p:cNvSpPr>
            <p:nvPr/>
          </p:nvSpPr>
          <p:spPr bwMode="auto">
            <a:xfrm>
              <a:off x="743" y="2256"/>
              <a:ext cx="912" cy="480"/>
            </a:xfrm>
            <a:prstGeom prst="rect">
              <a:avLst/>
            </a:prstGeom>
            <a:solidFill>
              <a:srgbClr val="92D050"/>
            </a:solidFill>
            <a:ln w="9525">
              <a:solidFill>
                <a:schemeClr val="tx1"/>
              </a:solidFill>
              <a:miter lim="800000"/>
            </a:ln>
          </p:spPr>
          <p:txBody>
            <a:bodyPr wrap="none" anchor="ctr"/>
            <a:lstStyle/>
            <a:p>
              <a:pPr algn="ctr"/>
              <a:r>
                <a:rPr lang="zh-CN" altLang="en-US" dirty="0"/>
                <a:t>有穷控制器</a:t>
              </a:r>
              <a:endParaRPr lang="en-US" dirty="0"/>
            </a:p>
          </p:txBody>
        </p:sp>
        <p:grpSp>
          <p:nvGrpSpPr>
            <p:cNvPr id="76" name="Group 8"/>
            <p:cNvGrpSpPr/>
            <p:nvPr/>
          </p:nvGrpSpPr>
          <p:grpSpPr bwMode="auto">
            <a:xfrm>
              <a:off x="-121" y="3312"/>
              <a:ext cx="2544" cy="288"/>
              <a:chOff x="3168" y="3024"/>
              <a:chExt cx="2832" cy="288"/>
            </a:xfrm>
          </p:grpSpPr>
          <p:sp>
            <p:nvSpPr>
              <p:cNvPr id="115" name="Rectangle 9"/>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16" name="Rectangle 10"/>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FF0000"/>
                    </a:solidFill>
                  </a:rPr>
                  <a:t>c</a:t>
                </a:r>
              </a:p>
            </p:txBody>
          </p:sp>
          <p:sp>
            <p:nvSpPr>
              <p:cNvPr id="117" name="Rectangle 11"/>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18" name="Rectangle 12"/>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p>
            </p:txBody>
          </p:sp>
          <p:sp>
            <p:nvSpPr>
              <p:cNvPr id="119" name="Rectangle 13"/>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p>
            </p:txBody>
          </p:sp>
          <p:sp>
            <p:nvSpPr>
              <p:cNvPr id="120" name="Rectangle 14"/>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p>
            </p:txBody>
          </p:sp>
          <p:sp>
            <p:nvSpPr>
              <p:cNvPr id="121" name="Rectangle 15"/>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22" name="Rectangle 16"/>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3" name="Rectangle 17"/>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4" name="Rectangle 18"/>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5" name="Line 19"/>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26" name="Line 20"/>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27" name="Line 21"/>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28" name="Line 22"/>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29" name="Line 23"/>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30" name="Line 24"/>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31" name="Line 25"/>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32" name="Line 26"/>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33" name="Line 27"/>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34" name="Line 28"/>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35" name="Line 29"/>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36" name="Line 30"/>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37" name="Line 31"/>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38" name="Line 32"/>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39" name="Line 33"/>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40" name="Line 34"/>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41" name="Line 35"/>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42" name="Text Box 36"/>
              <p:cNvSpPr txBox="1">
                <a:spLocks noChangeArrowheads="1"/>
              </p:cNvSpPr>
              <p:nvPr/>
            </p:nvSpPr>
            <p:spPr bwMode="auto">
              <a:xfrm>
                <a:off x="5676" y="3053"/>
                <a:ext cx="228" cy="213"/>
              </a:xfrm>
              <a:prstGeom prst="rect">
                <a:avLst/>
              </a:prstGeom>
              <a:noFill/>
              <a:ln w="9525">
                <a:noFill/>
                <a:miter lim="800000"/>
              </a:ln>
            </p:spPr>
            <p:txBody>
              <a:bodyPr wrap="none">
                <a:spAutoFit/>
              </a:bodyPr>
              <a:lstStyle/>
              <a:p>
                <a:r>
                  <a:rPr lang="en-US" sz="1600"/>
                  <a:t>…</a:t>
                </a:r>
              </a:p>
            </p:txBody>
          </p:sp>
        </p:grpSp>
        <p:sp>
          <p:nvSpPr>
            <p:cNvPr id="77" name="Text Box 124"/>
            <p:cNvSpPr txBox="1">
              <a:spLocks noChangeArrowheads="1"/>
            </p:cNvSpPr>
            <p:nvPr/>
          </p:nvSpPr>
          <p:spPr bwMode="auto">
            <a:xfrm>
              <a:off x="-36" y="3324"/>
              <a:ext cx="216" cy="233"/>
            </a:xfrm>
            <a:prstGeom prst="rect">
              <a:avLst/>
            </a:prstGeom>
            <a:noFill/>
            <a:ln w="9525">
              <a:noFill/>
              <a:miter lim="800000"/>
            </a:ln>
          </p:spPr>
          <p:txBody>
            <a:bodyPr wrap="none">
              <a:spAutoFit/>
            </a:bodyPr>
            <a:lstStyle/>
            <a:p>
              <a:r>
                <a:rPr lang="en-US"/>
                <a:t>…</a:t>
              </a:r>
            </a:p>
          </p:txBody>
        </p:sp>
        <p:sp>
          <p:nvSpPr>
            <p:cNvPr id="78" name="Text Box 127"/>
            <p:cNvSpPr txBox="1">
              <a:spLocks noChangeArrowheads="1"/>
            </p:cNvSpPr>
            <p:nvPr/>
          </p:nvSpPr>
          <p:spPr bwMode="auto">
            <a:xfrm>
              <a:off x="2279" y="3312"/>
              <a:ext cx="483" cy="213"/>
            </a:xfrm>
            <a:prstGeom prst="rect">
              <a:avLst/>
            </a:prstGeom>
            <a:noFill/>
            <a:ln w="9525">
              <a:noFill/>
              <a:miter lim="800000"/>
            </a:ln>
          </p:spPr>
          <p:txBody>
            <a:bodyPr wrap="none">
              <a:spAutoFit/>
            </a:bodyPr>
            <a:lstStyle/>
            <a:p>
              <a:r>
                <a:rPr lang="en-US" sz="1600"/>
                <a:t>Track 1</a:t>
              </a:r>
            </a:p>
          </p:txBody>
        </p:sp>
        <p:sp>
          <p:nvSpPr>
            <p:cNvPr id="79" name="Rectangle 130"/>
            <p:cNvSpPr>
              <a:spLocks noChangeArrowheads="1"/>
            </p:cNvSpPr>
            <p:nvPr/>
          </p:nvSpPr>
          <p:spPr bwMode="auto">
            <a:xfrm>
              <a:off x="551" y="3216"/>
              <a:ext cx="288" cy="720"/>
            </a:xfrm>
            <a:prstGeom prst="rect">
              <a:avLst/>
            </a:prstGeom>
            <a:noFill/>
            <a:ln w="9525">
              <a:solidFill>
                <a:schemeClr val="tx1"/>
              </a:solidFill>
              <a:prstDash val="dash"/>
              <a:miter lim="800000"/>
            </a:ln>
          </p:spPr>
          <p:txBody>
            <a:bodyPr wrap="none" anchor="ctr"/>
            <a:lstStyle/>
            <a:p>
              <a:endParaRPr lang="en-US"/>
            </a:p>
          </p:txBody>
        </p:sp>
        <p:grpSp>
          <p:nvGrpSpPr>
            <p:cNvPr id="80" name="Group 135"/>
            <p:cNvGrpSpPr/>
            <p:nvPr/>
          </p:nvGrpSpPr>
          <p:grpSpPr bwMode="auto">
            <a:xfrm>
              <a:off x="-111" y="3600"/>
              <a:ext cx="2544" cy="288"/>
              <a:chOff x="3168" y="3024"/>
              <a:chExt cx="2832" cy="288"/>
            </a:xfrm>
          </p:grpSpPr>
          <p:sp>
            <p:nvSpPr>
              <p:cNvPr id="87" name="Rectangle 136"/>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88" name="Rectangle 137"/>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89" name="Rectangle 138"/>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0" name="Rectangle 139"/>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1" name="Rectangle 140"/>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2" name="Rectangle 141"/>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3" name="Rectangle 142"/>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4" name="Rectangle 143"/>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5" name="Rectangle 144"/>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6" name="Rectangle 145"/>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7" name="Line 146"/>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98" name="Line 147"/>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99" name="Line 148"/>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00" name="Line 149"/>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01" name="Line 150"/>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02" name="Line 151"/>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03" name="Line 152"/>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04" name="Line 153"/>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05" name="Line 154"/>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06" name="Line 155"/>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07" name="Line 156"/>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08" name="Line 157"/>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09" name="Line 158"/>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10" name="Line 159"/>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11" name="Line 160"/>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12" name="Line 161"/>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13" name="Line 162"/>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14" name="Text Box 163"/>
              <p:cNvSpPr txBox="1">
                <a:spLocks noChangeArrowheads="1"/>
              </p:cNvSpPr>
              <p:nvPr/>
            </p:nvSpPr>
            <p:spPr bwMode="auto">
              <a:xfrm>
                <a:off x="5676" y="3053"/>
                <a:ext cx="228" cy="213"/>
              </a:xfrm>
              <a:prstGeom prst="rect">
                <a:avLst/>
              </a:prstGeom>
              <a:noFill/>
              <a:ln w="9525">
                <a:noFill/>
                <a:miter lim="800000"/>
              </a:ln>
            </p:spPr>
            <p:txBody>
              <a:bodyPr wrap="none">
                <a:spAutoFit/>
              </a:bodyPr>
              <a:lstStyle/>
              <a:p>
                <a:r>
                  <a:rPr lang="en-US" sz="1600"/>
                  <a:t>…</a:t>
                </a:r>
              </a:p>
            </p:txBody>
          </p:sp>
        </p:grpSp>
        <p:sp>
          <p:nvSpPr>
            <p:cNvPr id="81" name="Text Box 164"/>
            <p:cNvSpPr txBox="1">
              <a:spLocks noChangeArrowheads="1"/>
            </p:cNvSpPr>
            <p:nvPr/>
          </p:nvSpPr>
          <p:spPr bwMode="auto">
            <a:xfrm>
              <a:off x="-36" y="3612"/>
              <a:ext cx="216" cy="233"/>
            </a:xfrm>
            <a:prstGeom prst="rect">
              <a:avLst/>
            </a:prstGeom>
            <a:noFill/>
            <a:ln w="9525">
              <a:noFill/>
              <a:miter lim="800000"/>
            </a:ln>
          </p:spPr>
          <p:txBody>
            <a:bodyPr wrap="none">
              <a:spAutoFit/>
            </a:bodyPr>
            <a:lstStyle/>
            <a:p>
              <a:r>
                <a:rPr lang="en-US"/>
                <a:t>…</a:t>
              </a:r>
            </a:p>
          </p:txBody>
        </p:sp>
        <p:sp>
          <p:nvSpPr>
            <p:cNvPr id="82" name="Text Box 165"/>
            <p:cNvSpPr txBox="1">
              <a:spLocks noChangeArrowheads="1"/>
            </p:cNvSpPr>
            <p:nvPr/>
          </p:nvSpPr>
          <p:spPr bwMode="auto">
            <a:xfrm>
              <a:off x="2289" y="3600"/>
              <a:ext cx="483" cy="213"/>
            </a:xfrm>
            <a:prstGeom prst="rect">
              <a:avLst/>
            </a:prstGeom>
            <a:noFill/>
            <a:ln w="9525">
              <a:noFill/>
              <a:miter lim="800000"/>
            </a:ln>
          </p:spPr>
          <p:txBody>
            <a:bodyPr wrap="none">
              <a:spAutoFit/>
            </a:bodyPr>
            <a:lstStyle/>
            <a:p>
              <a:r>
                <a:rPr lang="en-US" sz="1600"/>
                <a:t>Track 2</a:t>
              </a:r>
            </a:p>
          </p:txBody>
        </p:sp>
        <p:sp>
          <p:nvSpPr>
            <p:cNvPr id="83" name="Freeform 166"/>
            <p:cNvSpPr/>
            <p:nvPr/>
          </p:nvSpPr>
          <p:spPr bwMode="auto">
            <a:xfrm>
              <a:off x="663" y="2736"/>
              <a:ext cx="352" cy="560"/>
            </a:xfrm>
            <a:custGeom>
              <a:avLst/>
              <a:gdLst>
                <a:gd name="T0" fmla="*/ 352 w 352"/>
                <a:gd name="T1" fmla="*/ 0 h 560"/>
                <a:gd name="T2" fmla="*/ 344 w 352"/>
                <a:gd name="T3" fmla="*/ 96 h 560"/>
                <a:gd name="T4" fmla="*/ 152 w 352"/>
                <a:gd name="T5" fmla="*/ 176 h 560"/>
                <a:gd name="T6" fmla="*/ 88 w 352"/>
                <a:gd name="T7" fmla="*/ 184 h 560"/>
                <a:gd name="T8" fmla="*/ 0 w 352"/>
                <a:gd name="T9" fmla="*/ 240 h 560"/>
                <a:gd name="T10" fmla="*/ 8 w 352"/>
                <a:gd name="T11" fmla="*/ 472 h 560"/>
                <a:gd name="T12" fmla="*/ 16 w 352"/>
                <a:gd name="T13" fmla="*/ 560 h 560"/>
                <a:gd name="T14" fmla="*/ 0 60000 65536"/>
                <a:gd name="T15" fmla="*/ 0 60000 65536"/>
                <a:gd name="T16" fmla="*/ 0 60000 65536"/>
                <a:gd name="T17" fmla="*/ 0 60000 65536"/>
                <a:gd name="T18" fmla="*/ 0 60000 65536"/>
                <a:gd name="T19" fmla="*/ 0 60000 65536"/>
                <a:gd name="T20" fmla="*/ 0 60000 65536"/>
                <a:gd name="T21" fmla="*/ 0 w 352"/>
                <a:gd name="T22" fmla="*/ 0 h 560"/>
                <a:gd name="T23" fmla="*/ 352 w 352"/>
                <a:gd name="T24" fmla="*/ 560 h 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2" h="560">
                  <a:moveTo>
                    <a:pt x="352" y="0"/>
                  </a:moveTo>
                  <a:cubicBezTo>
                    <a:pt x="349" y="32"/>
                    <a:pt x="351" y="64"/>
                    <a:pt x="344" y="96"/>
                  </a:cubicBezTo>
                  <a:cubicBezTo>
                    <a:pt x="326" y="166"/>
                    <a:pt x="195" y="171"/>
                    <a:pt x="152" y="176"/>
                  </a:cubicBezTo>
                  <a:cubicBezTo>
                    <a:pt x="130" y="178"/>
                    <a:pt x="109" y="181"/>
                    <a:pt x="88" y="184"/>
                  </a:cubicBezTo>
                  <a:cubicBezTo>
                    <a:pt x="57" y="208"/>
                    <a:pt x="36" y="227"/>
                    <a:pt x="0" y="240"/>
                  </a:cubicBezTo>
                  <a:cubicBezTo>
                    <a:pt x="15" y="334"/>
                    <a:pt x="14" y="352"/>
                    <a:pt x="8" y="472"/>
                  </a:cubicBezTo>
                  <a:cubicBezTo>
                    <a:pt x="10" y="501"/>
                    <a:pt x="16" y="560"/>
                    <a:pt x="16" y="560"/>
                  </a:cubicBezTo>
                </a:path>
              </a:pathLst>
            </a:custGeom>
            <a:noFill/>
            <a:ln w="9525">
              <a:solidFill>
                <a:schemeClr val="tx1"/>
              </a:solidFill>
              <a:round/>
              <a:tailEnd type="arrow" w="med" len="med"/>
            </a:ln>
          </p:spPr>
          <p:txBody>
            <a:bodyPr wrap="none" anchor="ctr"/>
            <a:lstStyle/>
            <a:p>
              <a:endParaRPr lang="en-US"/>
            </a:p>
          </p:txBody>
        </p:sp>
        <p:sp>
          <p:nvSpPr>
            <p:cNvPr id="86" name="Text Box 239"/>
            <p:cNvSpPr txBox="1">
              <a:spLocks noChangeArrowheads="1"/>
            </p:cNvSpPr>
            <p:nvPr/>
          </p:nvSpPr>
          <p:spPr bwMode="auto">
            <a:xfrm>
              <a:off x="101" y="4090"/>
              <a:ext cx="2459" cy="252"/>
            </a:xfrm>
            <a:prstGeom prst="rect">
              <a:avLst/>
            </a:prstGeom>
            <a:noFill/>
            <a:ln w="9525">
              <a:noFill/>
              <a:miter lim="800000"/>
            </a:ln>
          </p:spPr>
          <p:txBody>
            <a:bodyPr wrap="none">
              <a:spAutoFit/>
            </a:bodyPr>
            <a:lstStyle/>
            <a:p>
              <a:r>
                <a:rPr lang="en-US" sz="2000" dirty="0">
                  <a:latin typeface="楷体" panose="02010609060101010101" pitchFamily="49" charset="-122"/>
                  <a:ea typeface="楷体" panose="02010609060101010101" pitchFamily="49" charset="-122"/>
                  <a:cs typeface="Times New Roman" panose="02020603050405020304" pitchFamily="18" charset="0"/>
                </a:rPr>
                <a:t>Track 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主要起到做标记的作用。</a:t>
              </a:r>
              <a:endParaRPr lang="en-US" sz="2000" dirty="0">
                <a:latin typeface="楷体" panose="02010609060101010101" pitchFamily="49" charset="-122"/>
                <a:ea typeface="楷体" panose="02010609060101010101" pitchFamily="49" charset="-122"/>
                <a:cs typeface="Times New Roman" panose="02020603050405020304" pitchFamily="18" charset="0"/>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sz="2400" dirty="0"/>
                  <a:t>例</a:t>
                </a:r>
                <a:r>
                  <a:rPr lang="en-AU" altLang="zh-CN" sz="2400" dirty="0"/>
                  <a:t>:</a:t>
                </a:r>
                <a:r>
                  <a:rPr lang="zh-CN" altLang="en-US" sz="2400" dirty="0"/>
                  <a:t>利用状态中存储与多道设计</a:t>
                </a:r>
                <a:r>
                  <a:rPr lang="en-AU" altLang="zh-CN" sz="2400" dirty="0">
                    <a:latin typeface="Times New Roman" panose="02020603050405020304" pitchFamily="18" charset="0"/>
                    <a:cs typeface="Times New Roman" panose="02020603050405020304" pitchFamily="18" charset="0"/>
                  </a:rPr>
                  <a:t>TM</a:t>
                </a:r>
                <a:r>
                  <a:rPr lang="zh-CN" altLang="en-US" sz="2400" dirty="0"/>
                  <a:t>识别</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en-AU" sz="2400" b="0" i="1">
                          <a:latin typeface="Cambria Math" panose="02040503050406030204" pitchFamily="18" charset="0"/>
                        </a:rPr>
                        <m:t>𝐿</m:t>
                      </m:r>
                      <m:r>
                        <a:rPr lang="en-AU" sz="2400" b="0" i="1">
                          <a:latin typeface="Cambria Math" panose="02040503050406030204" pitchFamily="18" charset="0"/>
                        </a:rPr>
                        <m:t>={</m:t>
                      </m:r>
                      <m:r>
                        <a:rPr lang="en-AU" sz="2400" b="0" i="1">
                          <a:latin typeface="Cambria Math" panose="02040503050406030204" pitchFamily="18" charset="0"/>
                        </a:rPr>
                        <m:t>𝑤𝑐𝑤</m:t>
                      </m:r>
                      <m:r>
                        <a:rPr lang="en-AU" sz="2400" b="0" i="1">
                          <a:latin typeface="Cambria Math" panose="02040503050406030204" pitchFamily="18" charset="0"/>
                        </a:rPr>
                        <m:t>|</m:t>
                      </m:r>
                      <m:r>
                        <a:rPr lang="en-AU" sz="2400" b="0" i="1">
                          <a:latin typeface="Cambria Math" panose="02040503050406030204" pitchFamily="18" charset="0"/>
                        </a:rPr>
                        <m:t>𝑤</m:t>
                      </m:r>
                      <m:r>
                        <a:rPr lang="en-AU" sz="2400" b="0" i="1">
                          <a:latin typeface="Cambria Math" panose="02040503050406030204" pitchFamily="18" charset="0"/>
                          <a:ea typeface="Cambria Math" panose="02040503050406030204" pitchFamily="18" charset="0"/>
                        </a:rPr>
                        <m:t>∈</m:t>
                      </m:r>
                      <m:sSup>
                        <m:sSupPr>
                          <m:ctrlPr>
                            <a:rPr lang="en-AU" sz="2400" b="0" i="1">
                              <a:latin typeface="Cambria Math" panose="02040503050406030204" pitchFamily="18" charset="0"/>
                              <a:ea typeface="Cambria Math" panose="02040503050406030204" pitchFamily="18" charset="0"/>
                            </a:rPr>
                          </m:ctrlPr>
                        </m:sSupPr>
                        <m:e>
                          <m:r>
                            <a:rPr lang="en-AU" sz="2400" b="0" i="1">
                              <a:latin typeface="Cambria Math" panose="02040503050406030204" pitchFamily="18" charset="0"/>
                              <a:ea typeface="Cambria Math" panose="02040503050406030204" pitchFamily="18" charset="0"/>
                            </a:rPr>
                            <m:t>{</m:t>
                          </m:r>
                          <m:r>
                            <a:rPr lang="en-AU" sz="2400" b="0" i="1">
                              <a:latin typeface="Cambria Math" panose="02040503050406030204" pitchFamily="18" charset="0"/>
                              <a:ea typeface="Cambria Math" panose="02040503050406030204" pitchFamily="18" charset="0"/>
                            </a:rPr>
                            <m:t>𝑎</m:t>
                          </m:r>
                          <m:r>
                            <a:rPr lang="en-AU" sz="2400" b="0" i="1">
                              <a:latin typeface="Cambria Math" panose="02040503050406030204" pitchFamily="18" charset="0"/>
                              <a:ea typeface="Cambria Math" panose="02040503050406030204" pitchFamily="18" charset="0"/>
                            </a:rPr>
                            <m:t>,</m:t>
                          </m:r>
                          <m:r>
                            <a:rPr lang="en-AU" sz="2400" b="0" i="1">
                              <a:latin typeface="Cambria Math" panose="02040503050406030204" pitchFamily="18" charset="0"/>
                              <a:ea typeface="Cambria Math" panose="02040503050406030204" pitchFamily="18" charset="0"/>
                            </a:rPr>
                            <m:t>𝑏</m:t>
                          </m:r>
                          <m:r>
                            <a:rPr lang="en-AU" sz="2400" b="0" i="1">
                              <a:latin typeface="Cambria Math" panose="02040503050406030204" pitchFamily="18" charset="0"/>
                              <a:ea typeface="Cambria Math" panose="02040503050406030204" pitchFamily="18" charset="0"/>
                            </a:rPr>
                            <m:t>}</m:t>
                          </m:r>
                        </m:e>
                        <m:sup>
                          <m:r>
                            <a:rPr lang="en-AU" sz="2400" b="0" i="1">
                              <a:latin typeface="Cambria Math" panose="02040503050406030204" pitchFamily="18" charset="0"/>
                              <a:ea typeface="Cambria Math" panose="02040503050406030204" pitchFamily="18" charset="0"/>
                            </a:rPr>
                            <m:t>∗</m:t>
                          </m:r>
                        </m:sup>
                      </m:sSup>
                      <m:r>
                        <a:rPr lang="en-AU" sz="2400" b="0" i="1">
                          <a:latin typeface="Cambria Math" panose="02040503050406030204" pitchFamily="18" charset="0"/>
                        </a:rPr>
                        <m:t>}</m:t>
                      </m:r>
                    </m:oMath>
                  </m:oMathPara>
                </a14:m>
                <a:endParaRPr lang="en-AU" sz="2400" dirty="0"/>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3"/>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19</a:t>
            </a:fld>
            <a:endParaRPr lang="en-AU"/>
          </a:p>
        </p:txBody>
      </p:sp>
      <p:grpSp>
        <p:nvGrpSpPr>
          <p:cNvPr id="73" name="Group 241"/>
          <p:cNvGrpSpPr/>
          <p:nvPr/>
        </p:nvGrpSpPr>
        <p:grpSpPr bwMode="auto">
          <a:xfrm>
            <a:off x="2451099" y="3024822"/>
            <a:ext cx="4592639" cy="3311526"/>
            <a:chOff x="-121" y="2256"/>
            <a:chExt cx="2893" cy="2086"/>
          </a:xfrm>
        </p:grpSpPr>
        <p:sp>
          <p:nvSpPr>
            <p:cNvPr id="74" name="Rectangle 4"/>
            <p:cNvSpPr>
              <a:spLocks noChangeArrowheads="1"/>
            </p:cNvSpPr>
            <p:nvPr/>
          </p:nvSpPr>
          <p:spPr bwMode="auto">
            <a:xfrm>
              <a:off x="743" y="2256"/>
              <a:ext cx="912" cy="480"/>
            </a:xfrm>
            <a:prstGeom prst="rect">
              <a:avLst/>
            </a:prstGeom>
            <a:solidFill>
              <a:srgbClr val="92D050"/>
            </a:solidFill>
            <a:ln w="9525">
              <a:solidFill>
                <a:schemeClr val="tx1"/>
              </a:solidFill>
              <a:miter lim="800000"/>
            </a:ln>
          </p:spPr>
          <p:txBody>
            <a:bodyPr wrap="none" anchor="ctr"/>
            <a:lstStyle/>
            <a:p>
              <a:pPr algn="ctr"/>
              <a:r>
                <a:rPr lang="zh-CN" altLang="en-US" dirty="0"/>
                <a:t>有穷控制器</a:t>
              </a:r>
              <a:endParaRPr lang="en-US" dirty="0"/>
            </a:p>
          </p:txBody>
        </p:sp>
        <p:grpSp>
          <p:nvGrpSpPr>
            <p:cNvPr id="76" name="Group 8"/>
            <p:cNvGrpSpPr/>
            <p:nvPr/>
          </p:nvGrpSpPr>
          <p:grpSpPr bwMode="auto">
            <a:xfrm>
              <a:off x="-121" y="3312"/>
              <a:ext cx="2544" cy="288"/>
              <a:chOff x="3168" y="3024"/>
              <a:chExt cx="2832" cy="288"/>
            </a:xfrm>
          </p:grpSpPr>
          <p:sp>
            <p:nvSpPr>
              <p:cNvPr id="115" name="Rectangle 9"/>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16" name="Rectangle 10"/>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FF0000"/>
                    </a:solidFill>
                  </a:rPr>
                  <a:t>c</a:t>
                </a:r>
              </a:p>
            </p:txBody>
          </p:sp>
          <p:sp>
            <p:nvSpPr>
              <p:cNvPr id="117" name="Rectangle 11"/>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18" name="Rectangle 12"/>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p>
            </p:txBody>
          </p:sp>
          <p:sp>
            <p:nvSpPr>
              <p:cNvPr id="119" name="Rectangle 13"/>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p>
            </p:txBody>
          </p:sp>
          <p:sp>
            <p:nvSpPr>
              <p:cNvPr id="120" name="Rectangle 14"/>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p>
            </p:txBody>
          </p:sp>
          <p:sp>
            <p:nvSpPr>
              <p:cNvPr id="121" name="Rectangle 15"/>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22" name="Rectangle 16"/>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3" name="Rectangle 17"/>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4" name="Rectangle 18"/>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5" name="Line 19"/>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26" name="Line 20"/>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27" name="Line 21"/>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28" name="Line 22"/>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29" name="Line 23"/>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30" name="Line 24"/>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31" name="Line 25"/>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32" name="Line 26"/>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33" name="Line 27"/>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34" name="Line 28"/>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35" name="Line 29"/>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36" name="Line 30"/>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37" name="Line 31"/>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38" name="Line 32"/>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39" name="Line 33"/>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40" name="Line 34"/>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41" name="Line 35"/>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42" name="Text Box 36"/>
              <p:cNvSpPr txBox="1">
                <a:spLocks noChangeArrowheads="1"/>
              </p:cNvSpPr>
              <p:nvPr/>
            </p:nvSpPr>
            <p:spPr bwMode="auto">
              <a:xfrm>
                <a:off x="5676" y="3053"/>
                <a:ext cx="228" cy="213"/>
              </a:xfrm>
              <a:prstGeom prst="rect">
                <a:avLst/>
              </a:prstGeom>
              <a:noFill/>
              <a:ln w="9525">
                <a:noFill/>
                <a:miter lim="800000"/>
              </a:ln>
            </p:spPr>
            <p:txBody>
              <a:bodyPr wrap="none">
                <a:spAutoFit/>
              </a:bodyPr>
              <a:lstStyle/>
              <a:p>
                <a:r>
                  <a:rPr lang="en-US" sz="1600"/>
                  <a:t>…</a:t>
                </a:r>
              </a:p>
            </p:txBody>
          </p:sp>
        </p:grpSp>
        <p:sp>
          <p:nvSpPr>
            <p:cNvPr id="77" name="Text Box 124"/>
            <p:cNvSpPr txBox="1">
              <a:spLocks noChangeArrowheads="1"/>
            </p:cNvSpPr>
            <p:nvPr/>
          </p:nvSpPr>
          <p:spPr bwMode="auto">
            <a:xfrm>
              <a:off x="-36" y="3324"/>
              <a:ext cx="216" cy="233"/>
            </a:xfrm>
            <a:prstGeom prst="rect">
              <a:avLst/>
            </a:prstGeom>
            <a:noFill/>
            <a:ln w="9525">
              <a:noFill/>
              <a:miter lim="800000"/>
            </a:ln>
          </p:spPr>
          <p:txBody>
            <a:bodyPr wrap="none">
              <a:spAutoFit/>
            </a:bodyPr>
            <a:lstStyle/>
            <a:p>
              <a:r>
                <a:rPr lang="en-US"/>
                <a:t>…</a:t>
              </a:r>
            </a:p>
          </p:txBody>
        </p:sp>
        <p:sp>
          <p:nvSpPr>
            <p:cNvPr id="78" name="Text Box 127"/>
            <p:cNvSpPr txBox="1">
              <a:spLocks noChangeArrowheads="1"/>
            </p:cNvSpPr>
            <p:nvPr/>
          </p:nvSpPr>
          <p:spPr bwMode="auto">
            <a:xfrm>
              <a:off x="2279" y="3312"/>
              <a:ext cx="483" cy="213"/>
            </a:xfrm>
            <a:prstGeom prst="rect">
              <a:avLst/>
            </a:prstGeom>
            <a:noFill/>
            <a:ln w="9525">
              <a:noFill/>
              <a:miter lim="800000"/>
            </a:ln>
          </p:spPr>
          <p:txBody>
            <a:bodyPr wrap="none">
              <a:spAutoFit/>
            </a:bodyPr>
            <a:lstStyle/>
            <a:p>
              <a:r>
                <a:rPr lang="en-US" sz="1600"/>
                <a:t>Track 1</a:t>
              </a:r>
            </a:p>
          </p:txBody>
        </p:sp>
        <p:sp>
          <p:nvSpPr>
            <p:cNvPr id="79" name="Rectangle 130"/>
            <p:cNvSpPr>
              <a:spLocks noChangeArrowheads="1"/>
            </p:cNvSpPr>
            <p:nvPr/>
          </p:nvSpPr>
          <p:spPr bwMode="auto">
            <a:xfrm>
              <a:off x="551" y="3216"/>
              <a:ext cx="288" cy="720"/>
            </a:xfrm>
            <a:prstGeom prst="rect">
              <a:avLst/>
            </a:prstGeom>
            <a:noFill/>
            <a:ln w="9525">
              <a:solidFill>
                <a:schemeClr val="tx1"/>
              </a:solidFill>
              <a:prstDash val="dash"/>
              <a:miter lim="800000"/>
            </a:ln>
          </p:spPr>
          <p:txBody>
            <a:bodyPr wrap="none" anchor="ctr"/>
            <a:lstStyle/>
            <a:p>
              <a:endParaRPr lang="en-US"/>
            </a:p>
          </p:txBody>
        </p:sp>
        <p:grpSp>
          <p:nvGrpSpPr>
            <p:cNvPr id="80" name="Group 135"/>
            <p:cNvGrpSpPr/>
            <p:nvPr/>
          </p:nvGrpSpPr>
          <p:grpSpPr bwMode="auto">
            <a:xfrm>
              <a:off x="-111" y="3600"/>
              <a:ext cx="2544" cy="288"/>
              <a:chOff x="3168" y="3024"/>
              <a:chExt cx="2832" cy="288"/>
            </a:xfrm>
          </p:grpSpPr>
          <p:sp>
            <p:nvSpPr>
              <p:cNvPr id="87" name="Rectangle 136"/>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88" name="Rectangle 137"/>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89" name="Rectangle 138"/>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0" name="Rectangle 139"/>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1" name="Rectangle 140"/>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2" name="Rectangle 141"/>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p>
            </p:txBody>
          </p:sp>
          <p:sp>
            <p:nvSpPr>
              <p:cNvPr id="93" name="Rectangle 142"/>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4" name="Rectangle 143"/>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5" name="Rectangle 144"/>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6" name="Rectangle 145"/>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7" name="Line 146"/>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98" name="Line 147"/>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99" name="Line 148"/>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00" name="Line 149"/>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01" name="Line 150"/>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02" name="Line 151"/>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03" name="Line 152"/>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04" name="Line 153"/>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05" name="Line 154"/>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06" name="Line 155"/>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07" name="Line 156"/>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08" name="Line 157"/>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09" name="Line 158"/>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10" name="Line 159"/>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11" name="Line 160"/>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12" name="Line 161"/>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13" name="Line 162"/>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14" name="Text Box 163"/>
              <p:cNvSpPr txBox="1">
                <a:spLocks noChangeArrowheads="1"/>
              </p:cNvSpPr>
              <p:nvPr/>
            </p:nvSpPr>
            <p:spPr bwMode="auto">
              <a:xfrm>
                <a:off x="5676" y="3053"/>
                <a:ext cx="228" cy="213"/>
              </a:xfrm>
              <a:prstGeom prst="rect">
                <a:avLst/>
              </a:prstGeom>
              <a:noFill/>
              <a:ln w="9525">
                <a:noFill/>
                <a:miter lim="800000"/>
              </a:ln>
            </p:spPr>
            <p:txBody>
              <a:bodyPr wrap="none">
                <a:spAutoFit/>
              </a:bodyPr>
              <a:lstStyle/>
              <a:p>
                <a:r>
                  <a:rPr lang="en-US" sz="1600"/>
                  <a:t>…</a:t>
                </a:r>
              </a:p>
            </p:txBody>
          </p:sp>
        </p:grpSp>
        <p:sp>
          <p:nvSpPr>
            <p:cNvPr id="81" name="Text Box 164"/>
            <p:cNvSpPr txBox="1">
              <a:spLocks noChangeArrowheads="1"/>
            </p:cNvSpPr>
            <p:nvPr/>
          </p:nvSpPr>
          <p:spPr bwMode="auto">
            <a:xfrm>
              <a:off x="-36" y="3612"/>
              <a:ext cx="216" cy="233"/>
            </a:xfrm>
            <a:prstGeom prst="rect">
              <a:avLst/>
            </a:prstGeom>
            <a:noFill/>
            <a:ln w="9525">
              <a:noFill/>
              <a:miter lim="800000"/>
            </a:ln>
          </p:spPr>
          <p:txBody>
            <a:bodyPr wrap="none">
              <a:spAutoFit/>
            </a:bodyPr>
            <a:lstStyle/>
            <a:p>
              <a:r>
                <a:rPr lang="en-US"/>
                <a:t>…</a:t>
              </a:r>
            </a:p>
          </p:txBody>
        </p:sp>
        <p:sp>
          <p:nvSpPr>
            <p:cNvPr id="82" name="Text Box 165"/>
            <p:cNvSpPr txBox="1">
              <a:spLocks noChangeArrowheads="1"/>
            </p:cNvSpPr>
            <p:nvPr/>
          </p:nvSpPr>
          <p:spPr bwMode="auto">
            <a:xfrm>
              <a:off x="2289" y="3600"/>
              <a:ext cx="483" cy="213"/>
            </a:xfrm>
            <a:prstGeom prst="rect">
              <a:avLst/>
            </a:prstGeom>
            <a:noFill/>
            <a:ln w="9525">
              <a:noFill/>
              <a:miter lim="800000"/>
            </a:ln>
          </p:spPr>
          <p:txBody>
            <a:bodyPr wrap="none">
              <a:spAutoFit/>
            </a:bodyPr>
            <a:lstStyle/>
            <a:p>
              <a:r>
                <a:rPr lang="en-US" sz="1600"/>
                <a:t>Track 2</a:t>
              </a:r>
            </a:p>
          </p:txBody>
        </p:sp>
        <p:sp>
          <p:nvSpPr>
            <p:cNvPr id="83" name="Freeform 166"/>
            <p:cNvSpPr/>
            <p:nvPr/>
          </p:nvSpPr>
          <p:spPr bwMode="auto">
            <a:xfrm>
              <a:off x="663" y="2736"/>
              <a:ext cx="352" cy="560"/>
            </a:xfrm>
            <a:custGeom>
              <a:avLst/>
              <a:gdLst>
                <a:gd name="T0" fmla="*/ 352 w 352"/>
                <a:gd name="T1" fmla="*/ 0 h 560"/>
                <a:gd name="T2" fmla="*/ 344 w 352"/>
                <a:gd name="T3" fmla="*/ 96 h 560"/>
                <a:gd name="T4" fmla="*/ 152 w 352"/>
                <a:gd name="T5" fmla="*/ 176 h 560"/>
                <a:gd name="T6" fmla="*/ 88 w 352"/>
                <a:gd name="T7" fmla="*/ 184 h 560"/>
                <a:gd name="T8" fmla="*/ 0 w 352"/>
                <a:gd name="T9" fmla="*/ 240 h 560"/>
                <a:gd name="T10" fmla="*/ 8 w 352"/>
                <a:gd name="T11" fmla="*/ 472 h 560"/>
                <a:gd name="T12" fmla="*/ 16 w 352"/>
                <a:gd name="T13" fmla="*/ 560 h 560"/>
                <a:gd name="T14" fmla="*/ 0 60000 65536"/>
                <a:gd name="T15" fmla="*/ 0 60000 65536"/>
                <a:gd name="T16" fmla="*/ 0 60000 65536"/>
                <a:gd name="T17" fmla="*/ 0 60000 65536"/>
                <a:gd name="T18" fmla="*/ 0 60000 65536"/>
                <a:gd name="T19" fmla="*/ 0 60000 65536"/>
                <a:gd name="T20" fmla="*/ 0 60000 65536"/>
                <a:gd name="T21" fmla="*/ 0 w 352"/>
                <a:gd name="T22" fmla="*/ 0 h 560"/>
                <a:gd name="T23" fmla="*/ 352 w 352"/>
                <a:gd name="T24" fmla="*/ 560 h 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2" h="560">
                  <a:moveTo>
                    <a:pt x="352" y="0"/>
                  </a:moveTo>
                  <a:cubicBezTo>
                    <a:pt x="349" y="32"/>
                    <a:pt x="351" y="64"/>
                    <a:pt x="344" y="96"/>
                  </a:cubicBezTo>
                  <a:cubicBezTo>
                    <a:pt x="326" y="166"/>
                    <a:pt x="195" y="171"/>
                    <a:pt x="152" y="176"/>
                  </a:cubicBezTo>
                  <a:cubicBezTo>
                    <a:pt x="130" y="178"/>
                    <a:pt x="109" y="181"/>
                    <a:pt x="88" y="184"/>
                  </a:cubicBezTo>
                  <a:cubicBezTo>
                    <a:pt x="57" y="208"/>
                    <a:pt x="36" y="227"/>
                    <a:pt x="0" y="240"/>
                  </a:cubicBezTo>
                  <a:cubicBezTo>
                    <a:pt x="15" y="334"/>
                    <a:pt x="14" y="352"/>
                    <a:pt x="8" y="472"/>
                  </a:cubicBezTo>
                  <a:cubicBezTo>
                    <a:pt x="10" y="501"/>
                    <a:pt x="16" y="560"/>
                    <a:pt x="16" y="560"/>
                  </a:cubicBezTo>
                </a:path>
              </a:pathLst>
            </a:custGeom>
            <a:noFill/>
            <a:ln w="9525">
              <a:solidFill>
                <a:schemeClr val="tx1"/>
              </a:solidFill>
              <a:round/>
              <a:tailEnd type="arrow" w="med" len="med"/>
            </a:ln>
          </p:spPr>
          <p:txBody>
            <a:bodyPr wrap="none" anchor="ctr"/>
            <a:lstStyle/>
            <a:p>
              <a:endParaRPr lang="en-US"/>
            </a:p>
          </p:txBody>
        </p:sp>
        <p:sp>
          <p:nvSpPr>
            <p:cNvPr id="86" name="Text Box 239"/>
            <p:cNvSpPr txBox="1">
              <a:spLocks noChangeArrowheads="1"/>
            </p:cNvSpPr>
            <p:nvPr/>
          </p:nvSpPr>
          <p:spPr bwMode="auto">
            <a:xfrm>
              <a:off x="101" y="4090"/>
              <a:ext cx="2459" cy="252"/>
            </a:xfrm>
            <a:prstGeom prst="rect">
              <a:avLst/>
            </a:prstGeom>
            <a:noFill/>
            <a:ln w="9525">
              <a:noFill/>
              <a:miter lim="800000"/>
            </a:ln>
          </p:spPr>
          <p:txBody>
            <a:bodyPr wrap="none">
              <a:spAutoFit/>
            </a:bodyPr>
            <a:lstStyle/>
            <a:p>
              <a:r>
                <a:rPr lang="en-US" sz="2000" dirty="0">
                  <a:latin typeface="楷体" panose="02010609060101010101" pitchFamily="49" charset="-122"/>
                  <a:ea typeface="楷体" panose="02010609060101010101" pitchFamily="49" charset="-122"/>
                  <a:cs typeface="Times New Roman" panose="02020603050405020304" pitchFamily="18" charset="0"/>
                </a:rPr>
                <a:t>Track 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主要起到做标记的作用。</a:t>
              </a:r>
              <a:endParaRPr lang="en-US" sz="2000" dirty="0">
                <a:latin typeface="楷体" panose="02010609060101010101" pitchFamily="49" charset="-122"/>
                <a:ea typeface="楷体" panose="02010609060101010101" pitchFamily="49" charset="-122"/>
                <a:cs typeface="Times New Roman" panose="02020603050405020304" pitchFamily="18" charset="0"/>
              </a:endParaRPr>
            </a:p>
          </p:txBody>
        </p:sp>
      </p:grpSp>
      <p:sp>
        <p:nvSpPr>
          <p:cNvPr id="144" name="TextBox 143"/>
          <p:cNvSpPr txBox="1"/>
          <p:nvPr/>
        </p:nvSpPr>
        <p:spPr>
          <a:xfrm>
            <a:off x="4905294" y="3392092"/>
            <a:ext cx="365204" cy="369332"/>
          </a:xfrm>
          <a:prstGeom prst="rect">
            <a:avLst/>
          </a:prstGeom>
          <a:noFill/>
        </p:spPr>
        <p:txBody>
          <a:bodyPr wrap="square">
            <a:spAutoFit/>
          </a:bodyPr>
          <a:lstStyle/>
          <a:p>
            <a:pPr eaLnBrk="1" hangingPunct="1">
              <a:spcBef>
                <a:spcPct val="20000"/>
              </a:spcBef>
              <a:buClr>
                <a:schemeClr val="folHlink"/>
              </a:buClr>
              <a:buSzPct val="60000"/>
              <a:buFont typeface="Wingdings" panose="05000000000000000000" pitchFamily="2" charset="2"/>
              <a:buNone/>
            </a:pPr>
            <a:r>
              <a:rPr lang="en-US" dirty="0">
                <a:solidFill>
                  <a:schemeClr val="hlink"/>
                </a:solidFill>
              </a:rPr>
              <a:t>a</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sz="2400" dirty="0"/>
                  <a:t>例</a:t>
                </a:r>
                <a:r>
                  <a:rPr lang="en-AU" altLang="zh-CN" sz="2400" dirty="0"/>
                  <a:t>:</a:t>
                </a:r>
                <a:r>
                  <a:rPr lang="zh-CN" altLang="en-US" sz="2400" dirty="0"/>
                  <a:t>利用状态中存储与多道设计</a:t>
                </a:r>
                <a:r>
                  <a:rPr lang="en-AU" altLang="zh-CN" sz="2400" dirty="0">
                    <a:latin typeface="Times New Roman" panose="02020603050405020304" pitchFamily="18" charset="0"/>
                    <a:cs typeface="Times New Roman" panose="02020603050405020304" pitchFamily="18" charset="0"/>
                  </a:rPr>
                  <a:t>TM</a:t>
                </a:r>
                <a:r>
                  <a:rPr lang="zh-CN" altLang="en-US" sz="2400" dirty="0"/>
                  <a:t>识别</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en-AU" sz="2400" b="0" i="1">
                          <a:latin typeface="Cambria Math" panose="02040503050406030204" pitchFamily="18" charset="0"/>
                        </a:rPr>
                        <m:t>𝐿</m:t>
                      </m:r>
                      <m:r>
                        <a:rPr lang="en-AU" sz="2400" b="0" i="1">
                          <a:latin typeface="Cambria Math" panose="02040503050406030204" pitchFamily="18" charset="0"/>
                        </a:rPr>
                        <m:t>={</m:t>
                      </m:r>
                      <m:r>
                        <a:rPr lang="en-AU" sz="2400" b="0" i="1">
                          <a:latin typeface="Cambria Math" panose="02040503050406030204" pitchFamily="18" charset="0"/>
                        </a:rPr>
                        <m:t>𝑤𝑐𝑤</m:t>
                      </m:r>
                      <m:r>
                        <a:rPr lang="en-AU" sz="2400" b="0" i="1">
                          <a:latin typeface="Cambria Math" panose="02040503050406030204" pitchFamily="18" charset="0"/>
                        </a:rPr>
                        <m:t>|</m:t>
                      </m:r>
                      <m:r>
                        <a:rPr lang="en-AU" sz="2400" b="0" i="1">
                          <a:latin typeface="Cambria Math" panose="02040503050406030204" pitchFamily="18" charset="0"/>
                        </a:rPr>
                        <m:t>𝑤</m:t>
                      </m:r>
                      <m:r>
                        <a:rPr lang="en-AU" sz="2400" b="0" i="1">
                          <a:latin typeface="Cambria Math" panose="02040503050406030204" pitchFamily="18" charset="0"/>
                          <a:ea typeface="Cambria Math" panose="02040503050406030204" pitchFamily="18" charset="0"/>
                        </a:rPr>
                        <m:t>∈</m:t>
                      </m:r>
                      <m:sSup>
                        <m:sSupPr>
                          <m:ctrlPr>
                            <a:rPr lang="en-AU" sz="2400" b="0" i="1">
                              <a:latin typeface="Cambria Math" panose="02040503050406030204" pitchFamily="18" charset="0"/>
                              <a:ea typeface="Cambria Math" panose="02040503050406030204" pitchFamily="18" charset="0"/>
                            </a:rPr>
                          </m:ctrlPr>
                        </m:sSupPr>
                        <m:e>
                          <m:r>
                            <a:rPr lang="en-AU" sz="2400" b="0" i="1">
                              <a:latin typeface="Cambria Math" panose="02040503050406030204" pitchFamily="18" charset="0"/>
                              <a:ea typeface="Cambria Math" panose="02040503050406030204" pitchFamily="18" charset="0"/>
                            </a:rPr>
                            <m:t>{</m:t>
                          </m:r>
                          <m:r>
                            <a:rPr lang="en-AU" sz="2400" b="0" i="1">
                              <a:latin typeface="Cambria Math" panose="02040503050406030204" pitchFamily="18" charset="0"/>
                              <a:ea typeface="Cambria Math" panose="02040503050406030204" pitchFamily="18" charset="0"/>
                            </a:rPr>
                            <m:t>𝑎</m:t>
                          </m:r>
                          <m:r>
                            <a:rPr lang="en-AU" sz="2400" b="0" i="1">
                              <a:latin typeface="Cambria Math" panose="02040503050406030204" pitchFamily="18" charset="0"/>
                              <a:ea typeface="Cambria Math" panose="02040503050406030204" pitchFamily="18" charset="0"/>
                            </a:rPr>
                            <m:t>,</m:t>
                          </m:r>
                          <m:r>
                            <a:rPr lang="en-AU" sz="2400" b="0" i="1">
                              <a:latin typeface="Cambria Math" panose="02040503050406030204" pitchFamily="18" charset="0"/>
                              <a:ea typeface="Cambria Math" panose="02040503050406030204" pitchFamily="18" charset="0"/>
                            </a:rPr>
                            <m:t>𝑏</m:t>
                          </m:r>
                          <m:r>
                            <a:rPr lang="en-AU" sz="2400" b="0" i="1">
                              <a:latin typeface="Cambria Math" panose="02040503050406030204" pitchFamily="18" charset="0"/>
                              <a:ea typeface="Cambria Math" panose="02040503050406030204" pitchFamily="18" charset="0"/>
                            </a:rPr>
                            <m:t>}</m:t>
                          </m:r>
                        </m:e>
                        <m:sup>
                          <m:r>
                            <a:rPr lang="en-AU" sz="2400" b="0" i="1">
                              <a:latin typeface="Cambria Math" panose="02040503050406030204" pitchFamily="18" charset="0"/>
                              <a:ea typeface="Cambria Math" panose="02040503050406030204" pitchFamily="18" charset="0"/>
                            </a:rPr>
                            <m:t>∗</m:t>
                          </m:r>
                        </m:sup>
                      </m:sSup>
                      <m:r>
                        <a:rPr lang="en-AU" sz="2400" b="0" i="1">
                          <a:latin typeface="Cambria Math" panose="02040503050406030204" pitchFamily="18" charset="0"/>
                        </a:rPr>
                        <m:t>}</m:t>
                      </m:r>
                    </m:oMath>
                  </m:oMathPara>
                </a14:m>
                <a:endParaRPr lang="en-AU" sz="2400" dirty="0"/>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3"/>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20</a:t>
            </a:fld>
            <a:endParaRPr lang="en-AU"/>
          </a:p>
        </p:txBody>
      </p:sp>
      <p:grpSp>
        <p:nvGrpSpPr>
          <p:cNvPr id="73" name="Group 241"/>
          <p:cNvGrpSpPr/>
          <p:nvPr/>
        </p:nvGrpSpPr>
        <p:grpSpPr bwMode="auto">
          <a:xfrm>
            <a:off x="2451099" y="3024822"/>
            <a:ext cx="4592639" cy="3311526"/>
            <a:chOff x="-121" y="2256"/>
            <a:chExt cx="2893" cy="2086"/>
          </a:xfrm>
        </p:grpSpPr>
        <p:sp>
          <p:nvSpPr>
            <p:cNvPr id="74" name="Rectangle 4"/>
            <p:cNvSpPr>
              <a:spLocks noChangeArrowheads="1"/>
            </p:cNvSpPr>
            <p:nvPr/>
          </p:nvSpPr>
          <p:spPr bwMode="auto">
            <a:xfrm>
              <a:off x="743" y="2256"/>
              <a:ext cx="912" cy="480"/>
            </a:xfrm>
            <a:prstGeom prst="rect">
              <a:avLst/>
            </a:prstGeom>
            <a:solidFill>
              <a:srgbClr val="92D050"/>
            </a:solidFill>
            <a:ln w="9525">
              <a:solidFill>
                <a:schemeClr val="tx1"/>
              </a:solidFill>
              <a:miter lim="800000"/>
            </a:ln>
          </p:spPr>
          <p:txBody>
            <a:bodyPr wrap="none" anchor="ctr"/>
            <a:lstStyle/>
            <a:p>
              <a:pPr algn="ctr"/>
              <a:r>
                <a:rPr lang="zh-CN" altLang="en-US" dirty="0"/>
                <a:t>有穷控制器</a:t>
              </a:r>
              <a:endParaRPr lang="en-US" dirty="0"/>
            </a:p>
          </p:txBody>
        </p:sp>
        <p:grpSp>
          <p:nvGrpSpPr>
            <p:cNvPr id="76" name="Group 8"/>
            <p:cNvGrpSpPr/>
            <p:nvPr/>
          </p:nvGrpSpPr>
          <p:grpSpPr bwMode="auto">
            <a:xfrm>
              <a:off x="-121" y="3312"/>
              <a:ext cx="2544" cy="288"/>
              <a:chOff x="3168" y="3024"/>
              <a:chExt cx="2832" cy="288"/>
            </a:xfrm>
          </p:grpSpPr>
          <p:sp>
            <p:nvSpPr>
              <p:cNvPr id="115" name="Rectangle 9"/>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16" name="Rectangle 10"/>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FF0000"/>
                    </a:solidFill>
                  </a:rPr>
                  <a:t>c</a:t>
                </a:r>
              </a:p>
            </p:txBody>
          </p:sp>
          <p:sp>
            <p:nvSpPr>
              <p:cNvPr id="117" name="Rectangle 11"/>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18" name="Rectangle 12"/>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p>
            </p:txBody>
          </p:sp>
          <p:sp>
            <p:nvSpPr>
              <p:cNvPr id="119" name="Rectangle 13"/>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p>
            </p:txBody>
          </p:sp>
          <p:sp>
            <p:nvSpPr>
              <p:cNvPr id="120" name="Rectangle 14"/>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p>
            </p:txBody>
          </p:sp>
          <p:sp>
            <p:nvSpPr>
              <p:cNvPr id="121" name="Rectangle 15"/>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22" name="Rectangle 16"/>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3" name="Rectangle 17"/>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4" name="Rectangle 18"/>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5" name="Line 19"/>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26" name="Line 20"/>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27" name="Line 21"/>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28" name="Line 22"/>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29" name="Line 23"/>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30" name="Line 24"/>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31" name="Line 25"/>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32" name="Line 26"/>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33" name="Line 27"/>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34" name="Line 28"/>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35" name="Line 29"/>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36" name="Line 30"/>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37" name="Line 31"/>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38" name="Line 32"/>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39" name="Line 33"/>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40" name="Line 34"/>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41" name="Line 35"/>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42" name="Text Box 36"/>
              <p:cNvSpPr txBox="1">
                <a:spLocks noChangeArrowheads="1"/>
              </p:cNvSpPr>
              <p:nvPr/>
            </p:nvSpPr>
            <p:spPr bwMode="auto">
              <a:xfrm>
                <a:off x="5676" y="3053"/>
                <a:ext cx="228" cy="213"/>
              </a:xfrm>
              <a:prstGeom prst="rect">
                <a:avLst/>
              </a:prstGeom>
              <a:noFill/>
              <a:ln w="9525">
                <a:noFill/>
                <a:miter lim="800000"/>
              </a:ln>
            </p:spPr>
            <p:txBody>
              <a:bodyPr wrap="none">
                <a:spAutoFit/>
              </a:bodyPr>
              <a:lstStyle/>
              <a:p>
                <a:r>
                  <a:rPr lang="en-US" sz="1600"/>
                  <a:t>…</a:t>
                </a:r>
              </a:p>
            </p:txBody>
          </p:sp>
        </p:grpSp>
        <p:sp>
          <p:nvSpPr>
            <p:cNvPr id="77" name="Text Box 124"/>
            <p:cNvSpPr txBox="1">
              <a:spLocks noChangeArrowheads="1"/>
            </p:cNvSpPr>
            <p:nvPr/>
          </p:nvSpPr>
          <p:spPr bwMode="auto">
            <a:xfrm>
              <a:off x="-36" y="3324"/>
              <a:ext cx="216" cy="233"/>
            </a:xfrm>
            <a:prstGeom prst="rect">
              <a:avLst/>
            </a:prstGeom>
            <a:noFill/>
            <a:ln w="9525">
              <a:noFill/>
              <a:miter lim="800000"/>
            </a:ln>
          </p:spPr>
          <p:txBody>
            <a:bodyPr wrap="none">
              <a:spAutoFit/>
            </a:bodyPr>
            <a:lstStyle/>
            <a:p>
              <a:r>
                <a:rPr lang="en-US"/>
                <a:t>…</a:t>
              </a:r>
            </a:p>
          </p:txBody>
        </p:sp>
        <p:sp>
          <p:nvSpPr>
            <p:cNvPr id="78" name="Text Box 127"/>
            <p:cNvSpPr txBox="1">
              <a:spLocks noChangeArrowheads="1"/>
            </p:cNvSpPr>
            <p:nvPr/>
          </p:nvSpPr>
          <p:spPr bwMode="auto">
            <a:xfrm>
              <a:off x="2279" y="3312"/>
              <a:ext cx="483" cy="213"/>
            </a:xfrm>
            <a:prstGeom prst="rect">
              <a:avLst/>
            </a:prstGeom>
            <a:noFill/>
            <a:ln w="9525">
              <a:noFill/>
              <a:miter lim="800000"/>
            </a:ln>
          </p:spPr>
          <p:txBody>
            <a:bodyPr wrap="none">
              <a:spAutoFit/>
            </a:bodyPr>
            <a:lstStyle/>
            <a:p>
              <a:r>
                <a:rPr lang="en-US" sz="1600"/>
                <a:t>Track 1</a:t>
              </a:r>
            </a:p>
          </p:txBody>
        </p:sp>
        <p:sp>
          <p:nvSpPr>
            <p:cNvPr id="79" name="Rectangle 130"/>
            <p:cNvSpPr>
              <a:spLocks noChangeArrowheads="1"/>
            </p:cNvSpPr>
            <p:nvPr/>
          </p:nvSpPr>
          <p:spPr bwMode="auto">
            <a:xfrm>
              <a:off x="1291" y="3240"/>
              <a:ext cx="288" cy="720"/>
            </a:xfrm>
            <a:prstGeom prst="rect">
              <a:avLst/>
            </a:prstGeom>
            <a:noFill/>
            <a:ln w="9525">
              <a:solidFill>
                <a:schemeClr val="tx1"/>
              </a:solidFill>
              <a:prstDash val="dash"/>
              <a:miter lim="800000"/>
            </a:ln>
          </p:spPr>
          <p:txBody>
            <a:bodyPr wrap="none" anchor="ctr"/>
            <a:lstStyle/>
            <a:p>
              <a:endParaRPr lang="en-US"/>
            </a:p>
          </p:txBody>
        </p:sp>
        <p:grpSp>
          <p:nvGrpSpPr>
            <p:cNvPr id="80" name="Group 135"/>
            <p:cNvGrpSpPr/>
            <p:nvPr/>
          </p:nvGrpSpPr>
          <p:grpSpPr bwMode="auto">
            <a:xfrm>
              <a:off x="-111" y="3600"/>
              <a:ext cx="2544" cy="288"/>
              <a:chOff x="3168" y="3024"/>
              <a:chExt cx="2832" cy="288"/>
            </a:xfrm>
          </p:grpSpPr>
          <p:sp>
            <p:nvSpPr>
              <p:cNvPr id="87" name="Rectangle 136"/>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88" name="Rectangle 137"/>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c</a:t>
                </a:r>
              </a:p>
            </p:txBody>
          </p:sp>
          <p:sp>
            <p:nvSpPr>
              <p:cNvPr id="89" name="Rectangle 138"/>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p>
            </p:txBody>
          </p:sp>
          <p:sp>
            <p:nvSpPr>
              <p:cNvPr id="90" name="Rectangle 139"/>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1" name="Rectangle 140"/>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2" name="Rectangle 141"/>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p>
            </p:txBody>
          </p:sp>
          <p:sp>
            <p:nvSpPr>
              <p:cNvPr id="93" name="Rectangle 142"/>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4" name="Rectangle 143"/>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5" name="Rectangle 144"/>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6" name="Rectangle 145"/>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7" name="Line 146"/>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98" name="Line 147"/>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99" name="Line 148"/>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00" name="Line 149"/>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01" name="Line 150"/>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02" name="Line 151"/>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03" name="Line 152"/>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04" name="Line 153"/>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05" name="Line 154"/>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06" name="Line 155"/>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07" name="Line 156"/>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08" name="Line 157"/>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09" name="Line 158"/>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10" name="Line 159"/>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11" name="Line 160"/>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12" name="Line 161"/>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13" name="Line 162"/>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14" name="Text Box 163"/>
              <p:cNvSpPr txBox="1">
                <a:spLocks noChangeArrowheads="1"/>
              </p:cNvSpPr>
              <p:nvPr/>
            </p:nvSpPr>
            <p:spPr bwMode="auto">
              <a:xfrm>
                <a:off x="5676" y="3053"/>
                <a:ext cx="228" cy="213"/>
              </a:xfrm>
              <a:prstGeom prst="rect">
                <a:avLst/>
              </a:prstGeom>
              <a:noFill/>
              <a:ln w="9525">
                <a:noFill/>
                <a:miter lim="800000"/>
              </a:ln>
            </p:spPr>
            <p:txBody>
              <a:bodyPr wrap="none">
                <a:spAutoFit/>
              </a:bodyPr>
              <a:lstStyle/>
              <a:p>
                <a:r>
                  <a:rPr lang="en-US" sz="1600"/>
                  <a:t>…</a:t>
                </a:r>
              </a:p>
            </p:txBody>
          </p:sp>
        </p:grpSp>
        <p:sp>
          <p:nvSpPr>
            <p:cNvPr id="81" name="Text Box 164"/>
            <p:cNvSpPr txBox="1">
              <a:spLocks noChangeArrowheads="1"/>
            </p:cNvSpPr>
            <p:nvPr/>
          </p:nvSpPr>
          <p:spPr bwMode="auto">
            <a:xfrm>
              <a:off x="-36" y="3612"/>
              <a:ext cx="216" cy="233"/>
            </a:xfrm>
            <a:prstGeom prst="rect">
              <a:avLst/>
            </a:prstGeom>
            <a:noFill/>
            <a:ln w="9525">
              <a:noFill/>
              <a:miter lim="800000"/>
            </a:ln>
          </p:spPr>
          <p:txBody>
            <a:bodyPr wrap="none">
              <a:spAutoFit/>
            </a:bodyPr>
            <a:lstStyle/>
            <a:p>
              <a:r>
                <a:rPr lang="en-US"/>
                <a:t>…</a:t>
              </a:r>
            </a:p>
          </p:txBody>
        </p:sp>
        <p:sp>
          <p:nvSpPr>
            <p:cNvPr id="82" name="Text Box 165"/>
            <p:cNvSpPr txBox="1">
              <a:spLocks noChangeArrowheads="1"/>
            </p:cNvSpPr>
            <p:nvPr/>
          </p:nvSpPr>
          <p:spPr bwMode="auto">
            <a:xfrm>
              <a:off x="2289" y="3600"/>
              <a:ext cx="483" cy="213"/>
            </a:xfrm>
            <a:prstGeom prst="rect">
              <a:avLst/>
            </a:prstGeom>
            <a:noFill/>
            <a:ln w="9525">
              <a:noFill/>
              <a:miter lim="800000"/>
            </a:ln>
          </p:spPr>
          <p:txBody>
            <a:bodyPr wrap="none">
              <a:spAutoFit/>
            </a:bodyPr>
            <a:lstStyle/>
            <a:p>
              <a:r>
                <a:rPr lang="en-US" sz="1600"/>
                <a:t>Track 2</a:t>
              </a:r>
            </a:p>
          </p:txBody>
        </p:sp>
        <p:sp>
          <p:nvSpPr>
            <p:cNvPr id="83" name="Freeform 166"/>
            <p:cNvSpPr/>
            <p:nvPr/>
          </p:nvSpPr>
          <p:spPr bwMode="auto">
            <a:xfrm flipH="1">
              <a:off x="1015" y="2736"/>
              <a:ext cx="410" cy="560"/>
            </a:xfrm>
            <a:custGeom>
              <a:avLst/>
              <a:gdLst>
                <a:gd name="T0" fmla="*/ 352 w 352"/>
                <a:gd name="T1" fmla="*/ 0 h 560"/>
                <a:gd name="T2" fmla="*/ 344 w 352"/>
                <a:gd name="T3" fmla="*/ 96 h 560"/>
                <a:gd name="T4" fmla="*/ 152 w 352"/>
                <a:gd name="T5" fmla="*/ 176 h 560"/>
                <a:gd name="T6" fmla="*/ 88 w 352"/>
                <a:gd name="T7" fmla="*/ 184 h 560"/>
                <a:gd name="T8" fmla="*/ 0 w 352"/>
                <a:gd name="T9" fmla="*/ 240 h 560"/>
                <a:gd name="T10" fmla="*/ 8 w 352"/>
                <a:gd name="T11" fmla="*/ 472 h 560"/>
                <a:gd name="T12" fmla="*/ 16 w 352"/>
                <a:gd name="T13" fmla="*/ 560 h 560"/>
                <a:gd name="T14" fmla="*/ 0 60000 65536"/>
                <a:gd name="T15" fmla="*/ 0 60000 65536"/>
                <a:gd name="T16" fmla="*/ 0 60000 65536"/>
                <a:gd name="T17" fmla="*/ 0 60000 65536"/>
                <a:gd name="T18" fmla="*/ 0 60000 65536"/>
                <a:gd name="T19" fmla="*/ 0 60000 65536"/>
                <a:gd name="T20" fmla="*/ 0 60000 65536"/>
                <a:gd name="T21" fmla="*/ 0 w 352"/>
                <a:gd name="T22" fmla="*/ 0 h 560"/>
                <a:gd name="T23" fmla="*/ 352 w 352"/>
                <a:gd name="T24" fmla="*/ 560 h 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2" h="560">
                  <a:moveTo>
                    <a:pt x="352" y="0"/>
                  </a:moveTo>
                  <a:cubicBezTo>
                    <a:pt x="349" y="32"/>
                    <a:pt x="351" y="64"/>
                    <a:pt x="344" y="96"/>
                  </a:cubicBezTo>
                  <a:cubicBezTo>
                    <a:pt x="326" y="166"/>
                    <a:pt x="195" y="171"/>
                    <a:pt x="152" y="176"/>
                  </a:cubicBezTo>
                  <a:cubicBezTo>
                    <a:pt x="130" y="178"/>
                    <a:pt x="109" y="181"/>
                    <a:pt x="88" y="184"/>
                  </a:cubicBezTo>
                  <a:cubicBezTo>
                    <a:pt x="57" y="208"/>
                    <a:pt x="36" y="227"/>
                    <a:pt x="0" y="240"/>
                  </a:cubicBezTo>
                  <a:cubicBezTo>
                    <a:pt x="15" y="334"/>
                    <a:pt x="14" y="352"/>
                    <a:pt x="8" y="472"/>
                  </a:cubicBezTo>
                  <a:cubicBezTo>
                    <a:pt x="10" y="501"/>
                    <a:pt x="16" y="560"/>
                    <a:pt x="16" y="560"/>
                  </a:cubicBezTo>
                </a:path>
              </a:pathLst>
            </a:custGeom>
            <a:noFill/>
            <a:ln w="9525">
              <a:solidFill>
                <a:schemeClr val="tx1"/>
              </a:solidFill>
              <a:round/>
              <a:tailEnd type="arrow" w="med" len="med"/>
            </a:ln>
          </p:spPr>
          <p:txBody>
            <a:bodyPr wrap="none" anchor="ctr"/>
            <a:lstStyle/>
            <a:p>
              <a:endParaRPr lang="en-US"/>
            </a:p>
          </p:txBody>
        </p:sp>
        <p:sp>
          <p:nvSpPr>
            <p:cNvPr id="86" name="Text Box 239"/>
            <p:cNvSpPr txBox="1">
              <a:spLocks noChangeArrowheads="1"/>
            </p:cNvSpPr>
            <p:nvPr/>
          </p:nvSpPr>
          <p:spPr bwMode="auto">
            <a:xfrm>
              <a:off x="101" y="4090"/>
              <a:ext cx="2459" cy="252"/>
            </a:xfrm>
            <a:prstGeom prst="rect">
              <a:avLst/>
            </a:prstGeom>
            <a:noFill/>
            <a:ln w="9525">
              <a:noFill/>
              <a:miter lim="800000"/>
            </a:ln>
          </p:spPr>
          <p:txBody>
            <a:bodyPr wrap="none">
              <a:spAutoFit/>
            </a:bodyPr>
            <a:lstStyle/>
            <a:p>
              <a:r>
                <a:rPr lang="en-US" sz="2000" dirty="0">
                  <a:latin typeface="楷体" panose="02010609060101010101" pitchFamily="49" charset="-122"/>
                  <a:ea typeface="楷体" panose="02010609060101010101" pitchFamily="49" charset="-122"/>
                  <a:cs typeface="Times New Roman" panose="02020603050405020304" pitchFamily="18" charset="0"/>
                </a:rPr>
                <a:t>Track 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主要起到做标记的作用。</a:t>
              </a:r>
              <a:endParaRPr lang="en-US" sz="2000" dirty="0">
                <a:latin typeface="楷体" panose="02010609060101010101" pitchFamily="49" charset="-122"/>
                <a:ea typeface="楷体" panose="02010609060101010101" pitchFamily="49" charset="-122"/>
                <a:cs typeface="Times New Roman" panose="02020603050405020304" pitchFamily="18" charset="0"/>
              </a:endParaRPr>
            </a:p>
          </p:txBody>
        </p:sp>
      </p:grpSp>
      <p:sp>
        <p:nvSpPr>
          <p:cNvPr id="144" name="TextBox 143"/>
          <p:cNvSpPr txBox="1"/>
          <p:nvPr/>
        </p:nvSpPr>
        <p:spPr>
          <a:xfrm>
            <a:off x="4905294" y="3392092"/>
            <a:ext cx="365204" cy="369332"/>
          </a:xfrm>
          <a:prstGeom prst="rect">
            <a:avLst/>
          </a:prstGeom>
          <a:noFill/>
        </p:spPr>
        <p:txBody>
          <a:bodyPr wrap="square">
            <a:spAutoFit/>
          </a:bodyPr>
          <a:lstStyle/>
          <a:p>
            <a:pPr eaLnBrk="1" hangingPunct="1">
              <a:spcBef>
                <a:spcPct val="20000"/>
              </a:spcBef>
              <a:buClr>
                <a:schemeClr val="folHlink"/>
              </a:buClr>
              <a:buSzPct val="60000"/>
              <a:buFont typeface="Wingdings" panose="05000000000000000000" pitchFamily="2" charset="2"/>
              <a:buNone/>
            </a:pPr>
            <a:r>
              <a:rPr lang="en-US" dirty="0">
                <a:solidFill>
                  <a:schemeClr val="hlink"/>
                </a:solidFill>
              </a:rPr>
              <a:t>a</a:t>
            </a:r>
            <a:endParaRPr lang="en-US" dirty="0"/>
          </a:p>
        </p:txBody>
      </p:sp>
      <p:sp>
        <p:nvSpPr>
          <p:cNvPr id="5" name="TextBox 4"/>
          <p:cNvSpPr txBox="1"/>
          <p:nvPr/>
        </p:nvSpPr>
        <p:spPr>
          <a:xfrm>
            <a:off x="4444174" y="4190088"/>
            <a:ext cx="343364" cy="369332"/>
          </a:xfrm>
          <a:prstGeom prst="rect">
            <a:avLst/>
          </a:prstGeom>
          <a:noFill/>
        </p:spPr>
        <p:txBody>
          <a:bodyPr wrap="none" rtlCol="0">
            <a:spAutoFit/>
          </a:bodyPr>
          <a:lstStyle/>
          <a:p>
            <a:r>
              <a:rPr lang="en-AU"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sz="2400" dirty="0"/>
                  <a:t>例</a:t>
                </a:r>
                <a:r>
                  <a:rPr lang="en-AU" altLang="zh-CN" sz="2400" dirty="0"/>
                  <a:t>:</a:t>
                </a:r>
                <a:r>
                  <a:rPr lang="zh-CN" altLang="en-US" sz="2400" dirty="0"/>
                  <a:t>利用状态中存储与多道设计</a:t>
                </a:r>
                <a:r>
                  <a:rPr lang="en-AU" altLang="zh-CN" sz="2400" dirty="0">
                    <a:latin typeface="Times New Roman" panose="02020603050405020304" pitchFamily="18" charset="0"/>
                    <a:cs typeface="Times New Roman" panose="02020603050405020304" pitchFamily="18" charset="0"/>
                  </a:rPr>
                  <a:t>TM</a:t>
                </a:r>
                <a:r>
                  <a:rPr lang="zh-CN" altLang="en-US" sz="2400" dirty="0"/>
                  <a:t>识别</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en-AU" sz="2400" b="0" i="1">
                          <a:latin typeface="Cambria Math" panose="02040503050406030204" pitchFamily="18" charset="0"/>
                        </a:rPr>
                        <m:t>𝐿</m:t>
                      </m:r>
                      <m:r>
                        <a:rPr lang="en-AU" sz="2400" b="0" i="1">
                          <a:latin typeface="Cambria Math" panose="02040503050406030204" pitchFamily="18" charset="0"/>
                        </a:rPr>
                        <m:t>={</m:t>
                      </m:r>
                      <m:r>
                        <a:rPr lang="en-AU" sz="2400" b="0" i="1">
                          <a:latin typeface="Cambria Math" panose="02040503050406030204" pitchFamily="18" charset="0"/>
                        </a:rPr>
                        <m:t>𝑤𝑐𝑤</m:t>
                      </m:r>
                      <m:r>
                        <a:rPr lang="en-AU" sz="2400" b="0" i="1">
                          <a:latin typeface="Cambria Math" panose="02040503050406030204" pitchFamily="18" charset="0"/>
                        </a:rPr>
                        <m:t>|</m:t>
                      </m:r>
                      <m:r>
                        <a:rPr lang="en-AU" sz="2400" b="0" i="1">
                          <a:latin typeface="Cambria Math" panose="02040503050406030204" pitchFamily="18" charset="0"/>
                        </a:rPr>
                        <m:t>𝑤</m:t>
                      </m:r>
                      <m:r>
                        <a:rPr lang="en-AU" sz="2400" b="0" i="1">
                          <a:latin typeface="Cambria Math" panose="02040503050406030204" pitchFamily="18" charset="0"/>
                          <a:ea typeface="Cambria Math" panose="02040503050406030204" pitchFamily="18" charset="0"/>
                        </a:rPr>
                        <m:t>∈</m:t>
                      </m:r>
                      <m:sSup>
                        <m:sSupPr>
                          <m:ctrlPr>
                            <a:rPr lang="en-AU" sz="2400" b="0" i="1">
                              <a:latin typeface="Cambria Math" panose="02040503050406030204" pitchFamily="18" charset="0"/>
                              <a:ea typeface="Cambria Math" panose="02040503050406030204" pitchFamily="18" charset="0"/>
                            </a:rPr>
                          </m:ctrlPr>
                        </m:sSupPr>
                        <m:e>
                          <m:r>
                            <a:rPr lang="en-AU" sz="2400" b="0" i="1">
                              <a:latin typeface="Cambria Math" panose="02040503050406030204" pitchFamily="18" charset="0"/>
                              <a:ea typeface="Cambria Math" panose="02040503050406030204" pitchFamily="18" charset="0"/>
                            </a:rPr>
                            <m:t>{</m:t>
                          </m:r>
                          <m:r>
                            <a:rPr lang="en-AU" sz="2400" b="0" i="1">
                              <a:latin typeface="Cambria Math" panose="02040503050406030204" pitchFamily="18" charset="0"/>
                              <a:ea typeface="Cambria Math" panose="02040503050406030204" pitchFamily="18" charset="0"/>
                            </a:rPr>
                            <m:t>𝑎</m:t>
                          </m:r>
                          <m:r>
                            <a:rPr lang="en-AU" sz="2400" b="0" i="1">
                              <a:latin typeface="Cambria Math" panose="02040503050406030204" pitchFamily="18" charset="0"/>
                              <a:ea typeface="Cambria Math" panose="02040503050406030204" pitchFamily="18" charset="0"/>
                            </a:rPr>
                            <m:t>,</m:t>
                          </m:r>
                          <m:r>
                            <a:rPr lang="en-AU" sz="2400" b="0" i="1">
                              <a:latin typeface="Cambria Math" panose="02040503050406030204" pitchFamily="18" charset="0"/>
                              <a:ea typeface="Cambria Math" panose="02040503050406030204" pitchFamily="18" charset="0"/>
                            </a:rPr>
                            <m:t>𝑏</m:t>
                          </m:r>
                          <m:r>
                            <a:rPr lang="en-AU" sz="2400" b="0" i="1">
                              <a:latin typeface="Cambria Math" panose="02040503050406030204" pitchFamily="18" charset="0"/>
                              <a:ea typeface="Cambria Math" panose="02040503050406030204" pitchFamily="18" charset="0"/>
                            </a:rPr>
                            <m:t>}</m:t>
                          </m:r>
                        </m:e>
                        <m:sup>
                          <m:r>
                            <a:rPr lang="en-AU" sz="2400" b="0" i="1">
                              <a:latin typeface="Cambria Math" panose="02040503050406030204" pitchFamily="18" charset="0"/>
                              <a:ea typeface="Cambria Math" panose="02040503050406030204" pitchFamily="18" charset="0"/>
                            </a:rPr>
                            <m:t>∗</m:t>
                          </m:r>
                        </m:sup>
                      </m:sSup>
                      <m:r>
                        <a:rPr lang="en-AU" sz="2400" b="0" i="1">
                          <a:latin typeface="Cambria Math" panose="02040503050406030204" pitchFamily="18" charset="0"/>
                        </a:rPr>
                        <m:t>}</m:t>
                      </m:r>
                    </m:oMath>
                  </m:oMathPara>
                </a14:m>
                <a:endParaRPr lang="en-AU" sz="2400" dirty="0"/>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3"/>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21</a:t>
            </a:fld>
            <a:endParaRPr lang="en-AU"/>
          </a:p>
        </p:txBody>
      </p:sp>
      <p:grpSp>
        <p:nvGrpSpPr>
          <p:cNvPr id="73" name="Group 241"/>
          <p:cNvGrpSpPr/>
          <p:nvPr/>
        </p:nvGrpSpPr>
        <p:grpSpPr bwMode="auto">
          <a:xfrm>
            <a:off x="2451099" y="3024822"/>
            <a:ext cx="4592639" cy="3311526"/>
            <a:chOff x="-121" y="2256"/>
            <a:chExt cx="2893" cy="2086"/>
          </a:xfrm>
        </p:grpSpPr>
        <p:sp>
          <p:nvSpPr>
            <p:cNvPr id="74" name="Rectangle 4"/>
            <p:cNvSpPr>
              <a:spLocks noChangeArrowheads="1"/>
            </p:cNvSpPr>
            <p:nvPr/>
          </p:nvSpPr>
          <p:spPr bwMode="auto">
            <a:xfrm>
              <a:off x="743" y="2256"/>
              <a:ext cx="912" cy="480"/>
            </a:xfrm>
            <a:prstGeom prst="rect">
              <a:avLst/>
            </a:prstGeom>
            <a:solidFill>
              <a:srgbClr val="92D050"/>
            </a:solidFill>
            <a:ln w="9525">
              <a:solidFill>
                <a:schemeClr val="tx1"/>
              </a:solidFill>
              <a:miter lim="800000"/>
            </a:ln>
          </p:spPr>
          <p:txBody>
            <a:bodyPr wrap="none" anchor="ctr"/>
            <a:lstStyle/>
            <a:p>
              <a:pPr algn="ctr"/>
              <a:r>
                <a:rPr lang="zh-CN" altLang="en-US" dirty="0"/>
                <a:t>有穷控制器</a:t>
              </a:r>
              <a:endParaRPr lang="en-US" dirty="0"/>
            </a:p>
          </p:txBody>
        </p:sp>
        <p:grpSp>
          <p:nvGrpSpPr>
            <p:cNvPr id="76" name="Group 8"/>
            <p:cNvGrpSpPr/>
            <p:nvPr/>
          </p:nvGrpSpPr>
          <p:grpSpPr bwMode="auto">
            <a:xfrm>
              <a:off x="-121" y="3312"/>
              <a:ext cx="2544" cy="288"/>
              <a:chOff x="3168" y="3024"/>
              <a:chExt cx="2832" cy="288"/>
            </a:xfrm>
          </p:grpSpPr>
          <p:sp>
            <p:nvSpPr>
              <p:cNvPr id="115" name="Rectangle 9"/>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16" name="Rectangle 10"/>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FF0000"/>
                    </a:solidFill>
                  </a:rPr>
                  <a:t>c</a:t>
                </a:r>
              </a:p>
            </p:txBody>
          </p:sp>
          <p:sp>
            <p:nvSpPr>
              <p:cNvPr id="117" name="Rectangle 11"/>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18" name="Rectangle 12"/>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p>
            </p:txBody>
          </p:sp>
          <p:sp>
            <p:nvSpPr>
              <p:cNvPr id="119" name="Rectangle 13"/>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p>
            </p:txBody>
          </p:sp>
          <p:sp>
            <p:nvSpPr>
              <p:cNvPr id="120" name="Rectangle 14"/>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p>
            </p:txBody>
          </p:sp>
          <p:sp>
            <p:nvSpPr>
              <p:cNvPr id="121" name="Rectangle 15"/>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22" name="Rectangle 16"/>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3" name="Rectangle 17"/>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4" name="Rectangle 18"/>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5" name="Line 19"/>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26" name="Line 20"/>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27" name="Line 21"/>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28" name="Line 22"/>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29" name="Line 23"/>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30" name="Line 24"/>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31" name="Line 25"/>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32" name="Line 26"/>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33" name="Line 27"/>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34" name="Line 28"/>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35" name="Line 29"/>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36" name="Line 30"/>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37" name="Line 31"/>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38" name="Line 32"/>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39" name="Line 33"/>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40" name="Line 34"/>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41" name="Line 35"/>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42" name="Text Box 36"/>
              <p:cNvSpPr txBox="1">
                <a:spLocks noChangeArrowheads="1"/>
              </p:cNvSpPr>
              <p:nvPr/>
            </p:nvSpPr>
            <p:spPr bwMode="auto">
              <a:xfrm>
                <a:off x="5676" y="3053"/>
                <a:ext cx="228" cy="213"/>
              </a:xfrm>
              <a:prstGeom prst="rect">
                <a:avLst/>
              </a:prstGeom>
              <a:noFill/>
              <a:ln w="9525">
                <a:noFill/>
                <a:miter lim="800000"/>
              </a:ln>
            </p:spPr>
            <p:txBody>
              <a:bodyPr wrap="none">
                <a:spAutoFit/>
              </a:bodyPr>
              <a:lstStyle/>
              <a:p>
                <a:r>
                  <a:rPr lang="en-US" sz="1600"/>
                  <a:t>…</a:t>
                </a:r>
              </a:p>
            </p:txBody>
          </p:sp>
        </p:grpSp>
        <p:sp>
          <p:nvSpPr>
            <p:cNvPr id="77" name="Text Box 124"/>
            <p:cNvSpPr txBox="1">
              <a:spLocks noChangeArrowheads="1"/>
            </p:cNvSpPr>
            <p:nvPr/>
          </p:nvSpPr>
          <p:spPr bwMode="auto">
            <a:xfrm>
              <a:off x="-36" y="3324"/>
              <a:ext cx="216" cy="233"/>
            </a:xfrm>
            <a:prstGeom prst="rect">
              <a:avLst/>
            </a:prstGeom>
            <a:noFill/>
            <a:ln w="9525">
              <a:noFill/>
              <a:miter lim="800000"/>
            </a:ln>
          </p:spPr>
          <p:txBody>
            <a:bodyPr wrap="none">
              <a:spAutoFit/>
            </a:bodyPr>
            <a:lstStyle/>
            <a:p>
              <a:r>
                <a:rPr lang="en-US"/>
                <a:t>…</a:t>
              </a:r>
            </a:p>
          </p:txBody>
        </p:sp>
        <p:sp>
          <p:nvSpPr>
            <p:cNvPr id="78" name="Text Box 127"/>
            <p:cNvSpPr txBox="1">
              <a:spLocks noChangeArrowheads="1"/>
            </p:cNvSpPr>
            <p:nvPr/>
          </p:nvSpPr>
          <p:spPr bwMode="auto">
            <a:xfrm>
              <a:off x="2279" y="3312"/>
              <a:ext cx="483" cy="213"/>
            </a:xfrm>
            <a:prstGeom prst="rect">
              <a:avLst/>
            </a:prstGeom>
            <a:noFill/>
            <a:ln w="9525">
              <a:noFill/>
              <a:miter lim="800000"/>
            </a:ln>
          </p:spPr>
          <p:txBody>
            <a:bodyPr wrap="none">
              <a:spAutoFit/>
            </a:bodyPr>
            <a:lstStyle/>
            <a:p>
              <a:r>
                <a:rPr lang="en-US" sz="1600"/>
                <a:t>Track 1</a:t>
              </a:r>
            </a:p>
          </p:txBody>
        </p:sp>
        <p:sp>
          <p:nvSpPr>
            <p:cNvPr id="79" name="Rectangle 130"/>
            <p:cNvSpPr>
              <a:spLocks noChangeArrowheads="1"/>
            </p:cNvSpPr>
            <p:nvPr/>
          </p:nvSpPr>
          <p:spPr bwMode="auto">
            <a:xfrm>
              <a:off x="726" y="3215"/>
              <a:ext cx="288" cy="720"/>
            </a:xfrm>
            <a:prstGeom prst="rect">
              <a:avLst/>
            </a:prstGeom>
            <a:noFill/>
            <a:ln w="9525">
              <a:solidFill>
                <a:schemeClr val="tx1"/>
              </a:solidFill>
              <a:prstDash val="dash"/>
              <a:miter lim="800000"/>
            </a:ln>
          </p:spPr>
          <p:txBody>
            <a:bodyPr wrap="none" anchor="ctr"/>
            <a:lstStyle/>
            <a:p>
              <a:endParaRPr lang="en-US"/>
            </a:p>
          </p:txBody>
        </p:sp>
        <p:grpSp>
          <p:nvGrpSpPr>
            <p:cNvPr id="80" name="Group 135"/>
            <p:cNvGrpSpPr/>
            <p:nvPr/>
          </p:nvGrpSpPr>
          <p:grpSpPr bwMode="auto">
            <a:xfrm>
              <a:off x="-111" y="3600"/>
              <a:ext cx="2544" cy="288"/>
              <a:chOff x="3168" y="3024"/>
              <a:chExt cx="2832" cy="288"/>
            </a:xfrm>
          </p:grpSpPr>
          <p:sp>
            <p:nvSpPr>
              <p:cNvPr id="87" name="Rectangle 136"/>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88" name="Rectangle 137"/>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c</a:t>
                </a:r>
              </a:p>
            </p:txBody>
          </p:sp>
          <p:sp>
            <p:nvSpPr>
              <p:cNvPr id="89" name="Rectangle 138"/>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p>
            </p:txBody>
          </p:sp>
          <p:sp>
            <p:nvSpPr>
              <p:cNvPr id="90" name="Rectangle 139"/>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1" name="Rectangle 140"/>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2" name="Rectangle 141"/>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p>
            </p:txBody>
          </p:sp>
          <p:sp>
            <p:nvSpPr>
              <p:cNvPr id="93" name="Rectangle 142"/>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4" name="Rectangle 143"/>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5" name="Rectangle 144"/>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6" name="Rectangle 145"/>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7" name="Line 146"/>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98" name="Line 147"/>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99" name="Line 148"/>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00" name="Line 149"/>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01" name="Line 150"/>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02" name="Line 151"/>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03" name="Line 152"/>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04" name="Line 153"/>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05" name="Line 154"/>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06" name="Line 155"/>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07" name="Line 156"/>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08" name="Line 157"/>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09" name="Line 158"/>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10" name="Line 159"/>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11" name="Line 160"/>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12" name="Line 161"/>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13" name="Line 162"/>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14" name="Text Box 163"/>
              <p:cNvSpPr txBox="1">
                <a:spLocks noChangeArrowheads="1"/>
              </p:cNvSpPr>
              <p:nvPr/>
            </p:nvSpPr>
            <p:spPr bwMode="auto">
              <a:xfrm>
                <a:off x="5676" y="3053"/>
                <a:ext cx="228" cy="213"/>
              </a:xfrm>
              <a:prstGeom prst="rect">
                <a:avLst/>
              </a:prstGeom>
              <a:noFill/>
              <a:ln w="9525">
                <a:noFill/>
                <a:miter lim="800000"/>
              </a:ln>
            </p:spPr>
            <p:txBody>
              <a:bodyPr wrap="none">
                <a:spAutoFit/>
              </a:bodyPr>
              <a:lstStyle/>
              <a:p>
                <a:r>
                  <a:rPr lang="en-US" sz="1600"/>
                  <a:t>…</a:t>
                </a:r>
              </a:p>
            </p:txBody>
          </p:sp>
        </p:grpSp>
        <p:sp>
          <p:nvSpPr>
            <p:cNvPr id="81" name="Text Box 164"/>
            <p:cNvSpPr txBox="1">
              <a:spLocks noChangeArrowheads="1"/>
            </p:cNvSpPr>
            <p:nvPr/>
          </p:nvSpPr>
          <p:spPr bwMode="auto">
            <a:xfrm>
              <a:off x="-36" y="3612"/>
              <a:ext cx="216" cy="233"/>
            </a:xfrm>
            <a:prstGeom prst="rect">
              <a:avLst/>
            </a:prstGeom>
            <a:noFill/>
            <a:ln w="9525">
              <a:noFill/>
              <a:miter lim="800000"/>
            </a:ln>
          </p:spPr>
          <p:txBody>
            <a:bodyPr wrap="none">
              <a:spAutoFit/>
            </a:bodyPr>
            <a:lstStyle/>
            <a:p>
              <a:r>
                <a:rPr lang="en-US"/>
                <a:t>…</a:t>
              </a:r>
            </a:p>
          </p:txBody>
        </p:sp>
        <p:sp>
          <p:nvSpPr>
            <p:cNvPr id="82" name="Text Box 165"/>
            <p:cNvSpPr txBox="1">
              <a:spLocks noChangeArrowheads="1"/>
            </p:cNvSpPr>
            <p:nvPr/>
          </p:nvSpPr>
          <p:spPr bwMode="auto">
            <a:xfrm>
              <a:off x="2289" y="3600"/>
              <a:ext cx="483" cy="213"/>
            </a:xfrm>
            <a:prstGeom prst="rect">
              <a:avLst/>
            </a:prstGeom>
            <a:noFill/>
            <a:ln w="9525">
              <a:noFill/>
              <a:miter lim="800000"/>
            </a:ln>
          </p:spPr>
          <p:txBody>
            <a:bodyPr wrap="none">
              <a:spAutoFit/>
            </a:bodyPr>
            <a:lstStyle/>
            <a:p>
              <a:r>
                <a:rPr lang="en-US" sz="1600"/>
                <a:t>Track 2</a:t>
              </a:r>
            </a:p>
          </p:txBody>
        </p:sp>
        <p:sp>
          <p:nvSpPr>
            <p:cNvPr id="83" name="Freeform 166"/>
            <p:cNvSpPr/>
            <p:nvPr/>
          </p:nvSpPr>
          <p:spPr bwMode="auto">
            <a:xfrm>
              <a:off x="868" y="2736"/>
              <a:ext cx="147" cy="560"/>
            </a:xfrm>
            <a:custGeom>
              <a:avLst/>
              <a:gdLst>
                <a:gd name="T0" fmla="*/ 352 w 352"/>
                <a:gd name="T1" fmla="*/ 0 h 560"/>
                <a:gd name="T2" fmla="*/ 344 w 352"/>
                <a:gd name="T3" fmla="*/ 96 h 560"/>
                <a:gd name="T4" fmla="*/ 152 w 352"/>
                <a:gd name="T5" fmla="*/ 176 h 560"/>
                <a:gd name="T6" fmla="*/ 88 w 352"/>
                <a:gd name="T7" fmla="*/ 184 h 560"/>
                <a:gd name="T8" fmla="*/ 0 w 352"/>
                <a:gd name="T9" fmla="*/ 240 h 560"/>
                <a:gd name="T10" fmla="*/ 8 w 352"/>
                <a:gd name="T11" fmla="*/ 472 h 560"/>
                <a:gd name="T12" fmla="*/ 16 w 352"/>
                <a:gd name="T13" fmla="*/ 560 h 560"/>
                <a:gd name="T14" fmla="*/ 0 60000 65536"/>
                <a:gd name="T15" fmla="*/ 0 60000 65536"/>
                <a:gd name="T16" fmla="*/ 0 60000 65536"/>
                <a:gd name="T17" fmla="*/ 0 60000 65536"/>
                <a:gd name="T18" fmla="*/ 0 60000 65536"/>
                <a:gd name="T19" fmla="*/ 0 60000 65536"/>
                <a:gd name="T20" fmla="*/ 0 60000 65536"/>
                <a:gd name="T21" fmla="*/ 0 w 352"/>
                <a:gd name="T22" fmla="*/ 0 h 560"/>
                <a:gd name="T23" fmla="*/ 352 w 352"/>
                <a:gd name="T24" fmla="*/ 560 h 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2" h="560">
                  <a:moveTo>
                    <a:pt x="352" y="0"/>
                  </a:moveTo>
                  <a:cubicBezTo>
                    <a:pt x="349" y="32"/>
                    <a:pt x="351" y="64"/>
                    <a:pt x="344" y="96"/>
                  </a:cubicBezTo>
                  <a:cubicBezTo>
                    <a:pt x="326" y="166"/>
                    <a:pt x="195" y="171"/>
                    <a:pt x="152" y="176"/>
                  </a:cubicBezTo>
                  <a:cubicBezTo>
                    <a:pt x="130" y="178"/>
                    <a:pt x="109" y="181"/>
                    <a:pt x="88" y="184"/>
                  </a:cubicBezTo>
                  <a:cubicBezTo>
                    <a:pt x="57" y="208"/>
                    <a:pt x="36" y="227"/>
                    <a:pt x="0" y="240"/>
                  </a:cubicBezTo>
                  <a:cubicBezTo>
                    <a:pt x="15" y="334"/>
                    <a:pt x="14" y="352"/>
                    <a:pt x="8" y="472"/>
                  </a:cubicBezTo>
                  <a:cubicBezTo>
                    <a:pt x="10" y="501"/>
                    <a:pt x="16" y="560"/>
                    <a:pt x="16" y="560"/>
                  </a:cubicBezTo>
                </a:path>
              </a:pathLst>
            </a:custGeom>
            <a:noFill/>
            <a:ln w="9525">
              <a:solidFill>
                <a:schemeClr val="tx1"/>
              </a:solidFill>
              <a:round/>
              <a:tailEnd type="arrow" w="med" len="med"/>
            </a:ln>
          </p:spPr>
          <p:txBody>
            <a:bodyPr wrap="none" anchor="ctr"/>
            <a:lstStyle/>
            <a:p>
              <a:endParaRPr lang="en-US"/>
            </a:p>
          </p:txBody>
        </p:sp>
        <p:sp>
          <p:nvSpPr>
            <p:cNvPr id="86" name="Text Box 239"/>
            <p:cNvSpPr txBox="1">
              <a:spLocks noChangeArrowheads="1"/>
            </p:cNvSpPr>
            <p:nvPr/>
          </p:nvSpPr>
          <p:spPr bwMode="auto">
            <a:xfrm>
              <a:off x="101" y="4090"/>
              <a:ext cx="2459" cy="252"/>
            </a:xfrm>
            <a:prstGeom prst="rect">
              <a:avLst/>
            </a:prstGeom>
            <a:noFill/>
            <a:ln w="9525">
              <a:noFill/>
              <a:miter lim="800000"/>
            </a:ln>
          </p:spPr>
          <p:txBody>
            <a:bodyPr wrap="none">
              <a:spAutoFit/>
            </a:bodyPr>
            <a:lstStyle/>
            <a:p>
              <a:r>
                <a:rPr lang="en-US" sz="2000" dirty="0">
                  <a:latin typeface="楷体" panose="02010609060101010101" pitchFamily="49" charset="-122"/>
                  <a:ea typeface="楷体" panose="02010609060101010101" pitchFamily="49" charset="-122"/>
                  <a:cs typeface="Times New Roman" panose="02020603050405020304" pitchFamily="18" charset="0"/>
                </a:rPr>
                <a:t>Track 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主要起到做标记的作用。</a:t>
              </a:r>
              <a:endParaRPr lang="en-US" sz="2000" dirty="0">
                <a:latin typeface="楷体" panose="02010609060101010101" pitchFamily="49" charset="-122"/>
                <a:ea typeface="楷体" panose="02010609060101010101" pitchFamily="49" charset="-122"/>
                <a:cs typeface="Times New Roman" panose="02020603050405020304" pitchFamily="18" charset="0"/>
              </a:endParaRPr>
            </a:p>
          </p:txBody>
        </p:sp>
      </p:grpSp>
      <p:sp>
        <p:nvSpPr>
          <p:cNvPr id="144" name="TextBox 143"/>
          <p:cNvSpPr txBox="1"/>
          <p:nvPr/>
        </p:nvSpPr>
        <p:spPr>
          <a:xfrm>
            <a:off x="4905294" y="3392092"/>
            <a:ext cx="365204" cy="369332"/>
          </a:xfrm>
          <a:prstGeom prst="rect">
            <a:avLst/>
          </a:prstGeom>
          <a:noFill/>
        </p:spPr>
        <p:txBody>
          <a:bodyPr wrap="square">
            <a:spAutoFit/>
          </a:bodyPr>
          <a:lstStyle/>
          <a:p>
            <a:pPr eaLnBrk="1" hangingPunct="1">
              <a:spcBef>
                <a:spcPct val="20000"/>
              </a:spcBef>
              <a:buClr>
                <a:schemeClr val="folHlink"/>
              </a:buClr>
              <a:buSzPct val="60000"/>
              <a:buFont typeface="Wingdings" panose="05000000000000000000" pitchFamily="2" charset="2"/>
              <a:buNone/>
            </a:pPr>
            <a:r>
              <a:rPr lang="en-US" dirty="0">
                <a:solidFill>
                  <a:schemeClr val="hlink"/>
                </a:solidFill>
              </a:rPr>
              <a:t>a</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sz="2400" dirty="0"/>
                  <a:t>例</a:t>
                </a:r>
                <a:r>
                  <a:rPr lang="en-AU" altLang="zh-CN" sz="2400" dirty="0"/>
                  <a:t>:</a:t>
                </a:r>
                <a:r>
                  <a:rPr lang="zh-CN" altLang="en-US" sz="2400" dirty="0"/>
                  <a:t>利用状态中存储与多道设计</a:t>
                </a:r>
                <a:r>
                  <a:rPr lang="en-AU" altLang="zh-CN" sz="2400" dirty="0">
                    <a:latin typeface="Times New Roman" panose="02020603050405020304" pitchFamily="18" charset="0"/>
                    <a:cs typeface="Times New Roman" panose="02020603050405020304" pitchFamily="18" charset="0"/>
                  </a:rPr>
                  <a:t>TM</a:t>
                </a:r>
                <a:r>
                  <a:rPr lang="zh-CN" altLang="en-US" sz="2400" dirty="0"/>
                  <a:t>识别</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en-AU" sz="2400" b="0" i="1">
                          <a:latin typeface="Cambria Math" panose="02040503050406030204" pitchFamily="18" charset="0"/>
                        </a:rPr>
                        <m:t>𝐿</m:t>
                      </m:r>
                      <m:r>
                        <a:rPr lang="en-AU" sz="2400" b="0" i="1">
                          <a:latin typeface="Cambria Math" panose="02040503050406030204" pitchFamily="18" charset="0"/>
                        </a:rPr>
                        <m:t>={</m:t>
                      </m:r>
                      <m:r>
                        <a:rPr lang="en-AU" sz="2400" b="0" i="1">
                          <a:latin typeface="Cambria Math" panose="02040503050406030204" pitchFamily="18" charset="0"/>
                        </a:rPr>
                        <m:t>𝑤𝑐𝑤</m:t>
                      </m:r>
                      <m:r>
                        <a:rPr lang="en-AU" sz="2400" b="0" i="1">
                          <a:latin typeface="Cambria Math" panose="02040503050406030204" pitchFamily="18" charset="0"/>
                        </a:rPr>
                        <m:t>|</m:t>
                      </m:r>
                      <m:r>
                        <a:rPr lang="en-AU" sz="2400" b="0" i="1">
                          <a:latin typeface="Cambria Math" panose="02040503050406030204" pitchFamily="18" charset="0"/>
                        </a:rPr>
                        <m:t>𝑤</m:t>
                      </m:r>
                      <m:r>
                        <a:rPr lang="en-AU" sz="2400" b="0" i="1">
                          <a:latin typeface="Cambria Math" panose="02040503050406030204" pitchFamily="18" charset="0"/>
                          <a:ea typeface="Cambria Math" panose="02040503050406030204" pitchFamily="18" charset="0"/>
                        </a:rPr>
                        <m:t>∈</m:t>
                      </m:r>
                      <m:sSup>
                        <m:sSupPr>
                          <m:ctrlPr>
                            <a:rPr lang="en-AU" sz="2400" b="0" i="1">
                              <a:latin typeface="Cambria Math" panose="02040503050406030204" pitchFamily="18" charset="0"/>
                              <a:ea typeface="Cambria Math" panose="02040503050406030204" pitchFamily="18" charset="0"/>
                            </a:rPr>
                          </m:ctrlPr>
                        </m:sSupPr>
                        <m:e>
                          <m:r>
                            <a:rPr lang="en-AU" sz="2400" b="0" i="1">
                              <a:latin typeface="Cambria Math" panose="02040503050406030204" pitchFamily="18" charset="0"/>
                              <a:ea typeface="Cambria Math" panose="02040503050406030204" pitchFamily="18" charset="0"/>
                            </a:rPr>
                            <m:t>{</m:t>
                          </m:r>
                          <m:r>
                            <a:rPr lang="en-AU" sz="2400" b="0" i="1">
                              <a:latin typeface="Cambria Math" panose="02040503050406030204" pitchFamily="18" charset="0"/>
                              <a:ea typeface="Cambria Math" panose="02040503050406030204" pitchFamily="18" charset="0"/>
                            </a:rPr>
                            <m:t>𝑎</m:t>
                          </m:r>
                          <m:r>
                            <a:rPr lang="en-AU" sz="2400" b="0" i="1">
                              <a:latin typeface="Cambria Math" panose="02040503050406030204" pitchFamily="18" charset="0"/>
                              <a:ea typeface="Cambria Math" panose="02040503050406030204" pitchFamily="18" charset="0"/>
                            </a:rPr>
                            <m:t>,</m:t>
                          </m:r>
                          <m:r>
                            <a:rPr lang="en-AU" sz="2400" b="0" i="1">
                              <a:latin typeface="Cambria Math" panose="02040503050406030204" pitchFamily="18" charset="0"/>
                              <a:ea typeface="Cambria Math" panose="02040503050406030204" pitchFamily="18" charset="0"/>
                            </a:rPr>
                            <m:t>𝑏</m:t>
                          </m:r>
                          <m:r>
                            <a:rPr lang="en-AU" sz="2400" b="0" i="1">
                              <a:latin typeface="Cambria Math" panose="02040503050406030204" pitchFamily="18" charset="0"/>
                              <a:ea typeface="Cambria Math" panose="02040503050406030204" pitchFamily="18" charset="0"/>
                            </a:rPr>
                            <m:t>}</m:t>
                          </m:r>
                        </m:e>
                        <m:sup>
                          <m:r>
                            <a:rPr lang="en-AU" sz="2400" b="0" i="1">
                              <a:latin typeface="Cambria Math" panose="02040503050406030204" pitchFamily="18" charset="0"/>
                              <a:ea typeface="Cambria Math" panose="02040503050406030204" pitchFamily="18" charset="0"/>
                            </a:rPr>
                            <m:t>∗</m:t>
                          </m:r>
                        </m:sup>
                      </m:sSup>
                      <m:r>
                        <a:rPr lang="en-AU" sz="2400" b="0" i="1">
                          <a:latin typeface="Cambria Math" panose="02040503050406030204" pitchFamily="18" charset="0"/>
                        </a:rPr>
                        <m:t>}</m:t>
                      </m:r>
                    </m:oMath>
                  </m:oMathPara>
                </a14:m>
                <a:endParaRPr lang="en-AU" sz="2400" dirty="0"/>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3"/>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22</a:t>
            </a:fld>
            <a:endParaRPr lang="en-AU"/>
          </a:p>
        </p:txBody>
      </p:sp>
      <p:grpSp>
        <p:nvGrpSpPr>
          <p:cNvPr id="73" name="Group 241"/>
          <p:cNvGrpSpPr/>
          <p:nvPr/>
        </p:nvGrpSpPr>
        <p:grpSpPr bwMode="auto">
          <a:xfrm>
            <a:off x="2451099" y="3024822"/>
            <a:ext cx="4592639" cy="3311526"/>
            <a:chOff x="-121" y="2256"/>
            <a:chExt cx="2893" cy="2086"/>
          </a:xfrm>
        </p:grpSpPr>
        <p:sp>
          <p:nvSpPr>
            <p:cNvPr id="74" name="Rectangle 4"/>
            <p:cNvSpPr>
              <a:spLocks noChangeArrowheads="1"/>
            </p:cNvSpPr>
            <p:nvPr/>
          </p:nvSpPr>
          <p:spPr bwMode="auto">
            <a:xfrm>
              <a:off x="743" y="2256"/>
              <a:ext cx="912" cy="480"/>
            </a:xfrm>
            <a:prstGeom prst="rect">
              <a:avLst/>
            </a:prstGeom>
            <a:solidFill>
              <a:srgbClr val="92D050"/>
            </a:solidFill>
            <a:ln w="9525">
              <a:solidFill>
                <a:schemeClr val="tx1"/>
              </a:solidFill>
              <a:miter lim="800000"/>
            </a:ln>
          </p:spPr>
          <p:txBody>
            <a:bodyPr wrap="none" anchor="ctr"/>
            <a:lstStyle/>
            <a:p>
              <a:pPr algn="ctr"/>
              <a:r>
                <a:rPr lang="zh-CN" altLang="en-US" dirty="0"/>
                <a:t>有穷控制器</a:t>
              </a:r>
              <a:endParaRPr lang="en-US" dirty="0"/>
            </a:p>
          </p:txBody>
        </p:sp>
        <p:grpSp>
          <p:nvGrpSpPr>
            <p:cNvPr id="76" name="Group 8"/>
            <p:cNvGrpSpPr/>
            <p:nvPr/>
          </p:nvGrpSpPr>
          <p:grpSpPr bwMode="auto">
            <a:xfrm>
              <a:off x="-121" y="3312"/>
              <a:ext cx="2544" cy="288"/>
              <a:chOff x="3168" y="3024"/>
              <a:chExt cx="2832" cy="288"/>
            </a:xfrm>
          </p:grpSpPr>
          <p:sp>
            <p:nvSpPr>
              <p:cNvPr id="115" name="Rectangle 9"/>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16" name="Rectangle 10"/>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FF0000"/>
                    </a:solidFill>
                  </a:rPr>
                  <a:t>c</a:t>
                </a:r>
              </a:p>
            </p:txBody>
          </p:sp>
          <p:sp>
            <p:nvSpPr>
              <p:cNvPr id="117" name="Rectangle 11"/>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18" name="Rectangle 12"/>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p>
            </p:txBody>
          </p:sp>
          <p:sp>
            <p:nvSpPr>
              <p:cNvPr id="119" name="Rectangle 13"/>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p>
            </p:txBody>
          </p:sp>
          <p:sp>
            <p:nvSpPr>
              <p:cNvPr id="120" name="Rectangle 14"/>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p>
            </p:txBody>
          </p:sp>
          <p:sp>
            <p:nvSpPr>
              <p:cNvPr id="121" name="Rectangle 15"/>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22" name="Rectangle 16"/>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3" name="Rectangle 17"/>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4" name="Rectangle 18"/>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5" name="Line 19"/>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26" name="Line 20"/>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27" name="Line 21"/>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28" name="Line 22"/>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29" name="Line 23"/>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30" name="Line 24"/>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31" name="Line 25"/>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32" name="Line 26"/>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33" name="Line 27"/>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34" name="Line 28"/>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35" name="Line 29"/>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36" name="Line 30"/>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37" name="Line 31"/>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38" name="Line 32"/>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39" name="Line 33"/>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40" name="Line 34"/>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41" name="Line 35"/>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42" name="Text Box 36"/>
              <p:cNvSpPr txBox="1">
                <a:spLocks noChangeArrowheads="1"/>
              </p:cNvSpPr>
              <p:nvPr/>
            </p:nvSpPr>
            <p:spPr bwMode="auto">
              <a:xfrm>
                <a:off x="5676" y="3053"/>
                <a:ext cx="228" cy="213"/>
              </a:xfrm>
              <a:prstGeom prst="rect">
                <a:avLst/>
              </a:prstGeom>
              <a:noFill/>
              <a:ln w="9525">
                <a:noFill/>
                <a:miter lim="800000"/>
              </a:ln>
            </p:spPr>
            <p:txBody>
              <a:bodyPr wrap="none">
                <a:spAutoFit/>
              </a:bodyPr>
              <a:lstStyle/>
              <a:p>
                <a:r>
                  <a:rPr lang="en-US" sz="1600"/>
                  <a:t>…</a:t>
                </a:r>
              </a:p>
            </p:txBody>
          </p:sp>
        </p:grpSp>
        <p:sp>
          <p:nvSpPr>
            <p:cNvPr id="77" name="Text Box 124"/>
            <p:cNvSpPr txBox="1">
              <a:spLocks noChangeArrowheads="1"/>
            </p:cNvSpPr>
            <p:nvPr/>
          </p:nvSpPr>
          <p:spPr bwMode="auto">
            <a:xfrm>
              <a:off x="-36" y="3324"/>
              <a:ext cx="216" cy="233"/>
            </a:xfrm>
            <a:prstGeom prst="rect">
              <a:avLst/>
            </a:prstGeom>
            <a:noFill/>
            <a:ln w="9525">
              <a:noFill/>
              <a:miter lim="800000"/>
            </a:ln>
          </p:spPr>
          <p:txBody>
            <a:bodyPr wrap="none">
              <a:spAutoFit/>
            </a:bodyPr>
            <a:lstStyle/>
            <a:p>
              <a:r>
                <a:rPr lang="en-US"/>
                <a:t>…</a:t>
              </a:r>
            </a:p>
          </p:txBody>
        </p:sp>
        <p:sp>
          <p:nvSpPr>
            <p:cNvPr id="78" name="Text Box 127"/>
            <p:cNvSpPr txBox="1">
              <a:spLocks noChangeArrowheads="1"/>
            </p:cNvSpPr>
            <p:nvPr/>
          </p:nvSpPr>
          <p:spPr bwMode="auto">
            <a:xfrm>
              <a:off x="2279" y="3312"/>
              <a:ext cx="483" cy="213"/>
            </a:xfrm>
            <a:prstGeom prst="rect">
              <a:avLst/>
            </a:prstGeom>
            <a:noFill/>
            <a:ln w="9525">
              <a:noFill/>
              <a:miter lim="800000"/>
            </a:ln>
          </p:spPr>
          <p:txBody>
            <a:bodyPr wrap="none">
              <a:spAutoFit/>
            </a:bodyPr>
            <a:lstStyle/>
            <a:p>
              <a:r>
                <a:rPr lang="en-US" sz="1600"/>
                <a:t>Track 1</a:t>
              </a:r>
            </a:p>
          </p:txBody>
        </p:sp>
        <p:sp>
          <p:nvSpPr>
            <p:cNvPr id="79" name="Rectangle 130"/>
            <p:cNvSpPr>
              <a:spLocks noChangeArrowheads="1"/>
            </p:cNvSpPr>
            <p:nvPr/>
          </p:nvSpPr>
          <p:spPr bwMode="auto">
            <a:xfrm>
              <a:off x="726" y="3215"/>
              <a:ext cx="288" cy="720"/>
            </a:xfrm>
            <a:prstGeom prst="rect">
              <a:avLst/>
            </a:prstGeom>
            <a:noFill/>
            <a:ln w="9525">
              <a:solidFill>
                <a:schemeClr val="tx1"/>
              </a:solidFill>
              <a:prstDash val="dash"/>
              <a:miter lim="800000"/>
            </a:ln>
          </p:spPr>
          <p:txBody>
            <a:bodyPr wrap="none" anchor="ctr"/>
            <a:lstStyle/>
            <a:p>
              <a:endParaRPr lang="en-US"/>
            </a:p>
          </p:txBody>
        </p:sp>
        <p:grpSp>
          <p:nvGrpSpPr>
            <p:cNvPr id="80" name="Group 135"/>
            <p:cNvGrpSpPr/>
            <p:nvPr/>
          </p:nvGrpSpPr>
          <p:grpSpPr bwMode="auto">
            <a:xfrm>
              <a:off x="-111" y="3600"/>
              <a:ext cx="2544" cy="288"/>
              <a:chOff x="3168" y="3024"/>
              <a:chExt cx="2832" cy="288"/>
            </a:xfrm>
          </p:grpSpPr>
          <p:sp>
            <p:nvSpPr>
              <p:cNvPr id="87" name="Rectangle 136"/>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88" name="Rectangle 137"/>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c</a:t>
                </a:r>
              </a:p>
            </p:txBody>
          </p:sp>
          <p:sp>
            <p:nvSpPr>
              <p:cNvPr id="89" name="Rectangle 138"/>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p>
            </p:txBody>
          </p:sp>
          <p:sp>
            <p:nvSpPr>
              <p:cNvPr id="90" name="Rectangle 139"/>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1" name="Rectangle 140"/>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p>
            </p:txBody>
          </p:sp>
          <p:sp>
            <p:nvSpPr>
              <p:cNvPr id="92" name="Rectangle 141"/>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p>
            </p:txBody>
          </p:sp>
          <p:sp>
            <p:nvSpPr>
              <p:cNvPr id="93" name="Rectangle 142"/>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4" name="Rectangle 143"/>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5" name="Rectangle 144"/>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6" name="Rectangle 145"/>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7" name="Line 146"/>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98" name="Line 147"/>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99" name="Line 148"/>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00" name="Line 149"/>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01" name="Line 150"/>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02" name="Line 151"/>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03" name="Line 152"/>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04" name="Line 153"/>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05" name="Line 154"/>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06" name="Line 155"/>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07" name="Line 156"/>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08" name="Line 157"/>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09" name="Line 158"/>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10" name="Line 159"/>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11" name="Line 160"/>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12" name="Line 161"/>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13" name="Line 162"/>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14" name="Text Box 163"/>
              <p:cNvSpPr txBox="1">
                <a:spLocks noChangeArrowheads="1"/>
              </p:cNvSpPr>
              <p:nvPr/>
            </p:nvSpPr>
            <p:spPr bwMode="auto">
              <a:xfrm>
                <a:off x="5676" y="3053"/>
                <a:ext cx="228" cy="213"/>
              </a:xfrm>
              <a:prstGeom prst="rect">
                <a:avLst/>
              </a:prstGeom>
              <a:noFill/>
              <a:ln w="9525">
                <a:noFill/>
                <a:miter lim="800000"/>
              </a:ln>
            </p:spPr>
            <p:txBody>
              <a:bodyPr wrap="none">
                <a:spAutoFit/>
              </a:bodyPr>
              <a:lstStyle/>
              <a:p>
                <a:r>
                  <a:rPr lang="en-US" sz="1600"/>
                  <a:t>…</a:t>
                </a:r>
              </a:p>
            </p:txBody>
          </p:sp>
        </p:grpSp>
        <p:sp>
          <p:nvSpPr>
            <p:cNvPr id="81" name="Text Box 164"/>
            <p:cNvSpPr txBox="1">
              <a:spLocks noChangeArrowheads="1"/>
            </p:cNvSpPr>
            <p:nvPr/>
          </p:nvSpPr>
          <p:spPr bwMode="auto">
            <a:xfrm>
              <a:off x="-36" y="3612"/>
              <a:ext cx="216" cy="233"/>
            </a:xfrm>
            <a:prstGeom prst="rect">
              <a:avLst/>
            </a:prstGeom>
            <a:noFill/>
            <a:ln w="9525">
              <a:noFill/>
              <a:miter lim="800000"/>
            </a:ln>
          </p:spPr>
          <p:txBody>
            <a:bodyPr wrap="none">
              <a:spAutoFit/>
            </a:bodyPr>
            <a:lstStyle/>
            <a:p>
              <a:r>
                <a:rPr lang="en-US"/>
                <a:t>…</a:t>
              </a:r>
            </a:p>
          </p:txBody>
        </p:sp>
        <p:sp>
          <p:nvSpPr>
            <p:cNvPr id="82" name="Text Box 165"/>
            <p:cNvSpPr txBox="1">
              <a:spLocks noChangeArrowheads="1"/>
            </p:cNvSpPr>
            <p:nvPr/>
          </p:nvSpPr>
          <p:spPr bwMode="auto">
            <a:xfrm>
              <a:off x="2289" y="3600"/>
              <a:ext cx="483" cy="213"/>
            </a:xfrm>
            <a:prstGeom prst="rect">
              <a:avLst/>
            </a:prstGeom>
            <a:noFill/>
            <a:ln w="9525">
              <a:noFill/>
              <a:miter lim="800000"/>
            </a:ln>
          </p:spPr>
          <p:txBody>
            <a:bodyPr wrap="none">
              <a:spAutoFit/>
            </a:bodyPr>
            <a:lstStyle/>
            <a:p>
              <a:r>
                <a:rPr lang="en-US" sz="1600"/>
                <a:t>Track 2</a:t>
              </a:r>
            </a:p>
          </p:txBody>
        </p:sp>
        <p:sp>
          <p:nvSpPr>
            <p:cNvPr id="83" name="Freeform 166"/>
            <p:cNvSpPr/>
            <p:nvPr/>
          </p:nvSpPr>
          <p:spPr bwMode="auto">
            <a:xfrm>
              <a:off x="868" y="2736"/>
              <a:ext cx="147" cy="560"/>
            </a:xfrm>
            <a:custGeom>
              <a:avLst/>
              <a:gdLst>
                <a:gd name="T0" fmla="*/ 352 w 352"/>
                <a:gd name="T1" fmla="*/ 0 h 560"/>
                <a:gd name="T2" fmla="*/ 344 w 352"/>
                <a:gd name="T3" fmla="*/ 96 h 560"/>
                <a:gd name="T4" fmla="*/ 152 w 352"/>
                <a:gd name="T5" fmla="*/ 176 h 560"/>
                <a:gd name="T6" fmla="*/ 88 w 352"/>
                <a:gd name="T7" fmla="*/ 184 h 560"/>
                <a:gd name="T8" fmla="*/ 0 w 352"/>
                <a:gd name="T9" fmla="*/ 240 h 560"/>
                <a:gd name="T10" fmla="*/ 8 w 352"/>
                <a:gd name="T11" fmla="*/ 472 h 560"/>
                <a:gd name="T12" fmla="*/ 16 w 352"/>
                <a:gd name="T13" fmla="*/ 560 h 560"/>
                <a:gd name="T14" fmla="*/ 0 60000 65536"/>
                <a:gd name="T15" fmla="*/ 0 60000 65536"/>
                <a:gd name="T16" fmla="*/ 0 60000 65536"/>
                <a:gd name="T17" fmla="*/ 0 60000 65536"/>
                <a:gd name="T18" fmla="*/ 0 60000 65536"/>
                <a:gd name="T19" fmla="*/ 0 60000 65536"/>
                <a:gd name="T20" fmla="*/ 0 60000 65536"/>
                <a:gd name="T21" fmla="*/ 0 w 352"/>
                <a:gd name="T22" fmla="*/ 0 h 560"/>
                <a:gd name="T23" fmla="*/ 352 w 352"/>
                <a:gd name="T24" fmla="*/ 560 h 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2" h="560">
                  <a:moveTo>
                    <a:pt x="352" y="0"/>
                  </a:moveTo>
                  <a:cubicBezTo>
                    <a:pt x="349" y="32"/>
                    <a:pt x="351" y="64"/>
                    <a:pt x="344" y="96"/>
                  </a:cubicBezTo>
                  <a:cubicBezTo>
                    <a:pt x="326" y="166"/>
                    <a:pt x="195" y="171"/>
                    <a:pt x="152" y="176"/>
                  </a:cubicBezTo>
                  <a:cubicBezTo>
                    <a:pt x="130" y="178"/>
                    <a:pt x="109" y="181"/>
                    <a:pt x="88" y="184"/>
                  </a:cubicBezTo>
                  <a:cubicBezTo>
                    <a:pt x="57" y="208"/>
                    <a:pt x="36" y="227"/>
                    <a:pt x="0" y="240"/>
                  </a:cubicBezTo>
                  <a:cubicBezTo>
                    <a:pt x="15" y="334"/>
                    <a:pt x="14" y="352"/>
                    <a:pt x="8" y="472"/>
                  </a:cubicBezTo>
                  <a:cubicBezTo>
                    <a:pt x="10" y="501"/>
                    <a:pt x="16" y="560"/>
                    <a:pt x="16" y="560"/>
                  </a:cubicBezTo>
                </a:path>
              </a:pathLst>
            </a:custGeom>
            <a:noFill/>
            <a:ln w="9525">
              <a:solidFill>
                <a:schemeClr val="tx1"/>
              </a:solidFill>
              <a:round/>
              <a:tailEnd type="arrow" w="med" len="med"/>
            </a:ln>
          </p:spPr>
          <p:txBody>
            <a:bodyPr wrap="none" anchor="ctr"/>
            <a:lstStyle/>
            <a:p>
              <a:endParaRPr lang="en-US"/>
            </a:p>
          </p:txBody>
        </p:sp>
        <p:sp>
          <p:nvSpPr>
            <p:cNvPr id="86" name="Text Box 239"/>
            <p:cNvSpPr txBox="1">
              <a:spLocks noChangeArrowheads="1"/>
            </p:cNvSpPr>
            <p:nvPr/>
          </p:nvSpPr>
          <p:spPr bwMode="auto">
            <a:xfrm>
              <a:off x="101" y="4090"/>
              <a:ext cx="2459" cy="252"/>
            </a:xfrm>
            <a:prstGeom prst="rect">
              <a:avLst/>
            </a:prstGeom>
            <a:noFill/>
            <a:ln w="9525">
              <a:noFill/>
              <a:miter lim="800000"/>
            </a:ln>
          </p:spPr>
          <p:txBody>
            <a:bodyPr wrap="none">
              <a:spAutoFit/>
            </a:bodyPr>
            <a:lstStyle/>
            <a:p>
              <a:r>
                <a:rPr lang="en-US" sz="2000" dirty="0">
                  <a:latin typeface="楷体" panose="02010609060101010101" pitchFamily="49" charset="-122"/>
                  <a:ea typeface="楷体" panose="02010609060101010101" pitchFamily="49" charset="-122"/>
                  <a:cs typeface="Times New Roman" panose="02020603050405020304" pitchFamily="18" charset="0"/>
                </a:rPr>
                <a:t>Track 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主要起到做标记的作用。</a:t>
              </a:r>
              <a:endParaRPr lang="en-US" sz="2000" dirty="0">
                <a:latin typeface="楷体" panose="02010609060101010101" pitchFamily="49" charset="-122"/>
                <a:ea typeface="楷体" panose="02010609060101010101" pitchFamily="49" charset="-122"/>
                <a:cs typeface="Times New Roman" panose="02020603050405020304" pitchFamily="18" charset="0"/>
              </a:endParaRPr>
            </a:p>
          </p:txBody>
        </p:sp>
      </p:grpSp>
      <p:sp>
        <p:nvSpPr>
          <p:cNvPr id="75" name="TextBox 74"/>
          <p:cNvSpPr txBox="1"/>
          <p:nvPr/>
        </p:nvSpPr>
        <p:spPr>
          <a:xfrm>
            <a:off x="4907367" y="3405609"/>
            <a:ext cx="442911" cy="369332"/>
          </a:xfrm>
          <a:prstGeom prst="rect">
            <a:avLst/>
          </a:prstGeom>
          <a:noFill/>
        </p:spPr>
        <p:txBody>
          <a:bodyPr wrap="square">
            <a:spAutoFit/>
          </a:bodyPr>
          <a:lstStyle/>
          <a:p>
            <a:pPr eaLnBrk="1" hangingPunct="1">
              <a:spcBef>
                <a:spcPct val="20000"/>
              </a:spcBef>
              <a:buClr>
                <a:schemeClr val="folHlink"/>
              </a:buClr>
              <a:buSzPct val="60000"/>
              <a:buFont typeface="Wingdings" panose="05000000000000000000" pitchFamily="2" charset="2"/>
              <a:buNone/>
            </a:pPr>
            <a:r>
              <a:rPr lang="en-US" dirty="0">
                <a:solidFill>
                  <a:schemeClr val="folHlink"/>
                </a:solidFill>
              </a:rPr>
              <a:t>b</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sz="2400" dirty="0"/>
                  <a:t>例</a:t>
                </a:r>
                <a:r>
                  <a:rPr lang="en-AU" altLang="zh-CN" sz="2400" dirty="0"/>
                  <a:t>:</a:t>
                </a:r>
                <a:r>
                  <a:rPr lang="zh-CN" altLang="en-US" sz="2400" dirty="0"/>
                  <a:t>利用状态中存储与多道设计</a:t>
                </a:r>
                <a:r>
                  <a:rPr lang="en-AU" altLang="zh-CN" sz="2400" dirty="0">
                    <a:latin typeface="Times New Roman" panose="02020603050405020304" pitchFamily="18" charset="0"/>
                    <a:cs typeface="Times New Roman" panose="02020603050405020304" pitchFamily="18" charset="0"/>
                  </a:rPr>
                  <a:t>TM</a:t>
                </a:r>
                <a:r>
                  <a:rPr lang="zh-CN" altLang="en-US" sz="2400" dirty="0"/>
                  <a:t>识别</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en-AU" sz="2400" b="0" i="1">
                          <a:latin typeface="Cambria Math" panose="02040503050406030204" pitchFamily="18" charset="0"/>
                        </a:rPr>
                        <m:t>𝐿</m:t>
                      </m:r>
                      <m:r>
                        <a:rPr lang="en-AU" sz="2400" b="0" i="1">
                          <a:latin typeface="Cambria Math" panose="02040503050406030204" pitchFamily="18" charset="0"/>
                        </a:rPr>
                        <m:t>={</m:t>
                      </m:r>
                      <m:r>
                        <a:rPr lang="en-AU" sz="2400" b="0" i="1">
                          <a:latin typeface="Cambria Math" panose="02040503050406030204" pitchFamily="18" charset="0"/>
                        </a:rPr>
                        <m:t>𝑤𝑐𝑤</m:t>
                      </m:r>
                      <m:r>
                        <a:rPr lang="en-AU" sz="2400" b="0" i="1">
                          <a:latin typeface="Cambria Math" panose="02040503050406030204" pitchFamily="18" charset="0"/>
                        </a:rPr>
                        <m:t>|</m:t>
                      </m:r>
                      <m:r>
                        <a:rPr lang="en-AU" sz="2400" b="0" i="1">
                          <a:latin typeface="Cambria Math" panose="02040503050406030204" pitchFamily="18" charset="0"/>
                        </a:rPr>
                        <m:t>𝑤</m:t>
                      </m:r>
                      <m:r>
                        <a:rPr lang="en-AU" sz="2400" b="0" i="1">
                          <a:latin typeface="Cambria Math" panose="02040503050406030204" pitchFamily="18" charset="0"/>
                          <a:ea typeface="Cambria Math" panose="02040503050406030204" pitchFamily="18" charset="0"/>
                        </a:rPr>
                        <m:t>∈</m:t>
                      </m:r>
                      <m:sSup>
                        <m:sSupPr>
                          <m:ctrlPr>
                            <a:rPr lang="en-AU" sz="2400" b="0" i="1">
                              <a:latin typeface="Cambria Math" panose="02040503050406030204" pitchFamily="18" charset="0"/>
                              <a:ea typeface="Cambria Math" panose="02040503050406030204" pitchFamily="18" charset="0"/>
                            </a:rPr>
                          </m:ctrlPr>
                        </m:sSupPr>
                        <m:e>
                          <m:r>
                            <a:rPr lang="en-AU" sz="2400" b="0" i="1">
                              <a:latin typeface="Cambria Math" panose="02040503050406030204" pitchFamily="18" charset="0"/>
                              <a:ea typeface="Cambria Math" panose="02040503050406030204" pitchFamily="18" charset="0"/>
                            </a:rPr>
                            <m:t>{</m:t>
                          </m:r>
                          <m:r>
                            <a:rPr lang="en-AU" sz="2400" b="0" i="1">
                              <a:latin typeface="Cambria Math" panose="02040503050406030204" pitchFamily="18" charset="0"/>
                              <a:ea typeface="Cambria Math" panose="02040503050406030204" pitchFamily="18" charset="0"/>
                            </a:rPr>
                            <m:t>𝑎</m:t>
                          </m:r>
                          <m:r>
                            <a:rPr lang="en-AU" sz="2400" b="0" i="1">
                              <a:latin typeface="Cambria Math" panose="02040503050406030204" pitchFamily="18" charset="0"/>
                              <a:ea typeface="Cambria Math" panose="02040503050406030204" pitchFamily="18" charset="0"/>
                            </a:rPr>
                            <m:t>,</m:t>
                          </m:r>
                          <m:r>
                            <a:rPr lang="en-AU" sz="2400" b="0" i="1">
                              <a:latin typeface="Cambria Math" panose="02040503050406030204" pitchFamily="18" charset="0"/>
                              <a:ea typeface="Cambria Math" panose="02040503050406030204" pitchFamily="18" charset="0"/>
                            </a:rPr>
                            <m:t>𝑏</m:t>
                          </m:r>
                          <m:r>
                            <a:rPr lang="en-AU" sz="2400" b="0" i="1">
                              <a:latin typeface="Cambria Math" panose="02040503050406030204" pitchFamily="18" charset="0"/>
                              <a:ea typeface="Cambria Math" panose="02040503050406030204" pitchFamily="18" charset="0"/>
                            </a:rPr>
                            <m:t>}</m:t>
                          </m:r>
                        </m:e>
                        <m:sup>
                          <m:r>
                            <a:rPr lang="en-AU" sz="2400" b="0" i="1">
                              <a:latin typeface="Cambria Math" panose="02040503050406030204" pitchFamily="18" charset="0"/>
                              <a:ea typeface="Cambria Math" panose="02040503050406030204" pitchFamily="18" charset="0"/>
                            </a:rPr>
                            <m:t>∗</m:t>
                          </m:r>
                        </m:sup>
                      </m:sSup>
                      <m:r>
                        <a:rPr lang="en-AU" sz="2400" b="0" i="1">
                          <a:latin typeface="Cambria Math" panose="02040503050406030204" pitchFamily="18" charset="0"/>
                        </a:rPr>
                        <m:t>}</m:t>
                      </m:r>
                    </m:oMath>
                  </m:oMathPara>
                </a14:m>
                <a:endParaRPr lang="en-AU" sz="2400" dirty="0"/>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3"/>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23</a:t>
            </a:fld>
            <a:endParaRPr lang="en-AU"/>
          </a:p>
        </p:txBody>
      </p:sp>
      <p:grpSp>
        <p:nvGrpSpPr>
          <p:cNvPr id="73" name="Group 241"/>
          <p:cNvGrpSpPr/>
          <p:nvPr/>
        </p:nvGrpSpPr>
        <p:grpSpPr bwMode="auto">
          <a:xfrm>
            <a:off x="2451099" y="3024822"/>
            <a:ext cx="4592639" cy="3311526"/>
            <a:chOff x="-121" y="2256"/>
            <a:chExt cx="2893" cy="2086"/>
          </a:xfrm>
        </p:grpSpPr>
        <p:sp>
          <p:nvSpPr>
            <p:cNvPr id="74" name="Rectangle 4"/>
            <p:cNvSpPr>
              <a:spLocks noChangeArrowheads="1"/>
            </p:cNvSpPr>
            <p:nvPr/>
          </p:nvSpPr>
          <p:spPr bwMode="auto">
            <a:xfrm>
              <a:off x="743" y="2256"/>
              <a:ext cx="912" cy="480"/>
            </a:xfrm>
            <a:prstGeom prst="rect">
              <a:avLst/>
            </a:prstGeom>
            <a:solidFill>
              <a:srgbClr val="92D050"/>
            </a:solidFill>
            <a:ln w="9525">
              <a:solidFill>
                <a:schemeClr val="tx1"/>
              </a:solidFill>
              <a:miter lim="800000"/>
            </a:ln>
          </p:spPr>
          <p:txBody>
            <a:bodyPr wrap="none" anchor="ctr"/>
            <a:lstStyle/>
            <a:p>
              <a:pPr algn="ctr"/>
              <a:r>
                <a:rPr lang="zh-CN" altLang="en-US" dirty="0"/>
                <a:t>有穷控制器</a:t>
              </a:r>
              <a:endParaRPr lang="en-US" dirty="0"/>
            </a:p>
          </p:txBody>
        </p:sp>
        <p:grpSp>
          <p:nvGrpSpPr>
            <p:cNvPr id="76" name="Group 8"/>
            <p:cNvGrpSpPr/>
            <p:nvPr/>
          </p:nvGrpSpPr>
          <p:grpSpPr bwMode="auto">
            <a:xfrm>
              <a:off x="-121" y="3312"/>
              <a:ext cx="2544" cy="288"/>
              <a:chOff x="3168" y="3024"/>
              <a:chExt cx="2832" cy="288"/>
            </a:xfrm>
          </p:grpSpPr>
          <p:sp>
            <p:nvSpPr>
              <p:cNvPr id="115" name="Rectangle 9"/>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16" name="Rectangle 10"/>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FF0000"/>
                    </a:solidFill>
                  </a:rPr>
                  <a:t>c</a:t>
                </a:r>
              </a:p>
            </p:txBody>
          </p:sp>
          <p:sp>
            <p:nvSpPr>
              <p:cNvPr id="117" name="Rectangle 11"/>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18" name="Rectangle 12"/>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p>
            </p:txBody>
          </p:sp>
          <p:sp>
            <p:nvSpPr>
              <p:cNvPr id="119" name="Rectangle 13"/>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p>
            </p:txBody>
          </p:sp>
          <p:sp>
            <p:nvSpPr>
              <p:cNvPr id="120" name="Rectangle 14"/>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p>
            </p:txBody>
          </p:sp>
          <p:sp>
            <p:nvSpPr>
              <p:cNvPr id="121" name="Rectangle 15"/>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22" name="Rectangle 16"/>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006600"/>
                    </a:solidFill>
                  </a:rPr>
                  <a:t>B</a:t>
                </a:r>
              </a:p>
            </p:txBody>
          </p:sp>
          <p:sp>
            <p:nvSpPr>
              <p:cNvPr id="123" name="Rectangle 17"/>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4" name="Rectangle 18"/>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5" name="Line 19"/>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26" name="Line 20"/>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27" name="Line 21"/>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28" name="Line 22"/>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29" name="Line 23"/>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30" name="Line 24"/>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31" name="Line 25"/>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32" name="Line 26"/>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33" name="Line 27"/>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34" name="Line 28"/>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35" name="Line 29"/>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36" name="Line 30"/>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37" name="Line 31"/>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38" name="Line 32"/>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39" name="Line 33"/>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40" name="Line 34"/>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41" name="Line 35"/>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42" name="Text Box 36"/>
              <p:cNvSpPr txBox="1">
                <a:spLocks noChangeArrowheads="1"/>
              </p:cNvSpPr>
              <p:nvPr/>
            </p:nvSpPr>
            <p:spPr bwMode="auto">
              <a:xfrm>
                <a:off x="5676" y="3053"/>
                <a:ext cx="228" cy="213"/>
              </a:xfrm>
              <a:prstGeom prst="rect">
                <a:avLst/>
              </a:prstGeom>
              <a:noFill/>
              <a:ln w="9525">
                <a:noFill/>
                <a:miter lim="800000"/>
              </a:ln>
            </p:spPr>
            <p:txBody>
              <a:bodyPr wrap="none">
                <a:spAutoFit/>
              </a:bodyPr>
              <a:lstStyle/>
              <a:p>
                <a:r>
                  <a:rPr lang="en-US" sz="1600"/>
                  <a:t>…</a:t>
                </a:r>
              </a:p>
            </p:txBody>
          </p:sp>
        </p:grpSp>
        <p:sp>
          <p:nvSpPr>
            <p:cNvPr id="77" name="Text Box 124"/>
            <p:cNvSpPr txBox="1">
              <a:spLocks noChangeArrowheads="1"/>
            </p:cNvSpPr>
            <p:nvPr/>
          </p:nvSpPr>
          <p:spPr bwMode="auto">
            <a:xfrm>
              <a:off x="-36" y="3324"/>
              <a:ext cx="216" cy="233"/>
            </a:xfrm>
            <a:prstGeom prst="rect">
              <a:avLst/>
            </a:prstGeom>
            <a:noFill/>
            <a:ln w="9525">
              <a:noFill/>
              <a:miter lim="800000"/>
            </a:ln>
          </p:spPr>
          <p:txBody>
            <a:bodyPr wrap="none">
              <a:spAutoFit/>
            </a:bodyPr>
            <a:lstStyle/>
            <a:p>
              <a:r>
                <a:rPr lang="en-US"/>
                <a:t>…</a:t>
              </a:r>
            </a:p>
          </p:txBody>
        </p:sp>
        <p:sp>
          <p:nvSpPr>
            <p:cNvPr id="78" name="Text Box 127"/>
            <p:cNvSpPr txBox="1">
              <a:spLocks noChangeArrowheads="1"/>
            </p:cNvSpPr>
            <p:nvPr/>
          </p:nvSpPr>
          <p:spPr bwMode="auto">
            <a:xfrm>
              <a:off x="2279" y="3312"/>
              <a:ext cx="483" cy="213"/>
            </a:xfrm>
            <a:prstGeom prst="rect">
              <a:avLst/>
            </a:prstGeom>
            <a:noFill/>
            <a:ln w="9525">
              <a:noFill/>
              <a:miter lim="800000"/>
            </a:ln>
          </p:spPr>
          <p:txBody>
            <a:bodyPr wrap="none">
              <a:spAutoFit/>
            </a:bodyPr>
            <a:lstStyle/>
            <a:p>
              <a:r>
                <a:rPr lang="en-US" sz="1600"/>
                <a:t>Track 1</a:t>
              </a:r>
            </a:p>
          </p:txBody>
        </p:sp>
        <p:sp>
          <p:nvSpPr>
            <p:cNvPr id="79" name="Rectangle 130"/>
            <p:cNvSpPr>
              <a:spLocks noChangeArrowheads="1"/>
            </p:cNvSpPr>
            <p:nvPr/>
          </p:nvSpPr>
          <p:spPr bwMode="auto">
            <a:xfrm>
              <a:off x="1461" y="3214"/>
              <a:ext cx="288" cy="720"/>
            </a:xfrm>
            <a:prstGeom prst="rect">
              <a:avLst/>
            </a:prstGeom>
            <a:noFill/>
            <a:ln w="9525">
              <a:solidFill>
                <a:schemeClr val="tx1"/>
              </a:solidFill>
              <a:prstDash val="dash"/>
              <a:miter lim="800000"/>
            </a:ln>
          </p:spPr>
          <p:txBody>
            <a:bodyPr wrap="none" anchor="ctr"/>
            <a:lstStyle/>
            <a:p>
              <a:endParaRPr lang="en-US"/>
            </a:p>
          </p:txBody>
        </p:sp>
        <p:grpSp>
          <p:nvGrpSpPr>
            <p:cNvPr id="80" name="Group 135"/>
            <p:cNvGrpSpPr/>
            <p:nvPr/>
          </p:nvGrpSpPr>
          <p:grpSpPr bwMode="auto">
            <a:xfrm>
              <a:off x="-111" y="3600"/>
              <a:ext cx="2544" cy="288"/>
              <a:chOff x="3168" y="3024"/>
              <a:chExt cx="2832" cy="288"/>
            </a:xfrm>
          </p:grpSpPr>
          <p:sp>
            <p:nvSpPr>
              <p:cNvPr id="87" name="Rectangle 136"/>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88" name="Rectangle 137"/>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c</a:t>
                </a:r>
              </a:p>
            </p:txBody>
          </p:sp>
          <p:sp>
            <p:nvSpPr>
              <p:cNvPr id="89" name="Rectangle 138"/>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p>
            </p:txBody>
          </p:sp>
          <p:sp>
            <p:nvSpPr>
              <p:cNvPr id="90" name="Rectangle 139"/>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p>
            </p:txBody>
          </p:sp>
          <p:sp>
            <p:nvSpPr>
              <p:cNvPr id="91" name="Rectangle 140"/>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p>
            </p:txBody>
          </p:sp>
          <p:sp>
            <p:nvSpPr>
              <p:cNvPr id="92" name="Rectangle 141"/>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p>
            </p:txBody>
          </p:sp>
          <p:sp>
            <p:nvSpPr>
              <p:cNvPr id="93" name="Rectangle 142"/>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4" name="Rectangle 143"/>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5" name="Rectangle 144"/>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6" name="Rectangle 145"/>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7" name="Line 146"/>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98" name="Line 147"/>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99" name="Line 148"/>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00" name="Line 149"/>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01" name="Line 150"/>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02" name="Line 151"/>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03" name="Line 152"/>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04" name="Line 153"/>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05" name="Line 154"/>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06" name="Line 155"/>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07" name="Line 156"/>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08" name="Line 157"/>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09" name="Line 158"/>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10" name="Line 159"/>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11" name="Line 160"/>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12" name="Line 161"/>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13" name="Line 162"/>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14" name="Text Box 163"/>
              <p:cNvSpPr txBox="1">
                <a:spLocks noChangeArrowheads="1"/>
              </p:cNvSpPr>
              <p:nvPr/>
            </p:nvSpPr>
            <p:spPr bwMode="auto">
              <a:xfrm>
                <a:off x="5676" y="3053"/>
                <a:ext cx="228" cy="213"/>
              </a:xfrm>
              <a:prstGeom prst="rect">
                <a:avLst/>
              </a:prstGeom>
              <a:noFill/>
              <a:ln w="9525">
                <a:noFill/>
                <a:miter lim="800000"/>
              </a:ln>
            </p:spPr>
            <p:txBody>
              <a:bodyPr wrap="none">
                <a:spAutoFit/>
              </a:bodyPr>
              <a:lstStyle/>
              <a:p>
                <a:r>
                  <a:rPr lang="en-US" sz="1600"/>
                  <a:t>…</a:t>
                </a:r>
              </a:p>
            </p:txBody>
          </p:sp>
        </p:grpSp>
        <p:sp>
          <p:nvSpPr>
            <p:cNvPr id="81" name="Text Box 164"/>
            <p:cNvSpPr txBox="1">
              <a:spLocks noChangeArrowheads="1"/>
            </p:cNvSpPr>
            <p:nvPr/>
          </p:nvSpPr>
          <p:spPr bwMode="auto">
            <a:xfrm>
              <a:off x="-36" y="3612"/>
              <a:ext cx="216" cy="233"/>
            </a:xfrm>
            <a:prstGeom prst="rect">
              <a:avLst/>
            </a:prstGeom>
            <a:noFill/>
            <a:ln w="9525">
              <a:noFill/>
              <a:miter lim="800000"/>
            </a:ln>
          </p:spPr>
          <p:txBody>
            <a:bodyPr wrap="none">
              <a:spAutoFit/>
            </a:bodyPr>
            <a:lstStyle/>
            <a:p>
              <a:r>
                <a:rPr lang="en-US"/>
                <a:t>…</a:t>
              </a:r>
            </a:p>
          </p:txBody>
        </p:sp>
        <p:sp>
          <p:nvSpPr>
            <p:cNvPr id="82" name="Text Box 165"/>
            <p:cNvSpPr txBox="1">
              <a:spLocks noChangeArrowheads="1"/>
            </p:cNvSpPr>
            <p:nvPr/>
          </p:nvSpPr>
          <p:spPr bwMode="auto">
            <a:xfrm>
              <a:off x="2289" y="3600"/>
              <a:ext cx="483" cy="213"/>
            </a:xfrm>
            <a:prstGeom prst="rect">
              <a:avLst/>
            </a:prstGeom>
            <a:noFill/>
            <a:ln w="9525">
              <a:noFill/>
              <a:miter lim="800000"/>
            </a:ln>
          </p:spPr>
          <p:txBody>
            <a:bodyPr wrap="none">
              <a:spAutoFit/>
            </a:bodyPr>
            <a:lstStyle/>
            <a:p>
              <a:r>
                <a:rPr lang="en-US" sz="1600"/>
                <a:t>Track 2</a:t>
              </a:r>
            </a:p>
          </p:txBody>
        </p:sp>
        <p:sp>
          <p:nvSpPr>
            <p:cNvPr id="83" name="Freeform 166"/>
            <p:cNvSpPr/>
            <p:nvPr/>
          </p:nvSpPr>
          <p:spPr bwMode="auto">
            <a:xfrm flipH="1">
              <a:off x="1015" y="2736"/>
              <a:ext cx="604" cy="560"/>
            </a:xfrm>
            <a:custGeom>
              <a:avLst/>
              <a:gdLst>
                <a:gd name="T0" fmla="*/ 352 w 352"/>
                <a:gd name="T1" fmla="*/ 0 h 560"/>
                <a:gd name="T2" fmla="*/ 344 w 352"/>
                <a:gd name="T3" fmla="*/ 96 h 560"/>
                <a:gd name="T4" fmla="*/ 152 w 352"/>
                <a:gd name="T5" fmla="*/ 176 h 560"/>
                <a:gd name="T6" fmla="*/ 88 w 352"/>
                <a:gd name="T7" fmla="*/ 184 h 560"/>
                <a:gd name="T8" fmla="*/ 0 w 352"/>
                <a:gd name="T9" fmla="*/ 240 h 560"/>
                <a:gd name="T10" fmla="*/ 8 w 352"/>
                <a:gd name="T11" fmla="*/ 472 h 560"/>
                <a:gd name="T12" fmla="*/ 16 w 352"/>
                <a:gd name="T13" fmla="*/ 560 h 560"/>
                <a:gd name="T14" fmla="*/ 0 60000 65536"/>
                <a:gd name="T15" fmla="*/ 0 60000 65536"/>
                <a:gd name="T16" fmla="*/ 0 60000 65536"/>
                <a:gd name="T17" fmla="*/ 0 60000 65536"/>
                <a:gd name="T18" fmla="*/ 0 60000 65536"/>
                <a:gd name="T19" fmla="*/ 0 60000 65536"/>
                <a:gd name="T20" fmla="*/ 0 60000 65536"/>
                <a:gd name="T21" fmla="*/ 0 w 352"/>
                <a:gd name="T22" fmla="*/ 0 h 560"/>
                <a:gd name="T23" fmla="*/ 352 w 352"/>
                <a:gd name="T24" fmla="*/ 560 h 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2" h="560">
                  <a:moveTo>
                    <a:pt x="352" y="0"/>
                  </a:moveTo>
                  <a:cubicBezTo>
                    <a:pt x="349" y="32"/>
                    <a:pt x="351" y="64"/>
                    <a:pt x="344" y="96"/>
                  </a:cubicBezTo>
                  <a:cubicBezTo>
                    <a:pt x="326" y="166"/>
                    <a:pt x="195" y="171"/>
                    <a:pt x="152" y="176"/>
                  </a:cubicBezTo>
                  <a:cubicBezTo>
                    <a:pt x="130" y="178"/>
                    <a:pt x="109" y="181"/>
                    <a:pt x="88" y="184"/>
                  </a:cubicBezTo>
                  <a:cubicBezTo>
                    <a:pt x="57" y="208"/>
                    <a:pt x="36" y="227"/>
                    <a:pt x="0" y="240"/>
                  </a:cubicBezTo>
                  <a:cubicBezTo>
                    <a:pt x="15" y="334"/>
                    <a:pt x="14" y="352"/>
                    <a:pt x="8" y="472"/>
                  </a:cubicBezTo>
                  <a:cubicBezTo>
                    <a:pt x="10" y="501"/>
                    <a:pt x="16" y="560"/>
                    <a:pt x="16" y="560"/>
                  </a:cubicBezTo>
                </a:path>
              </a:pathLst>
            </a:custGeom>
            <a:noFill/>
            <a:ln w="9525">
              <a:solidFill>
                <a:schemeClr val="tx1"/>
              </a:solidFill>
              <a:round/>
              <a:tailEnd type="arrow" w="med" len="med"/>
            </a:ln>
          </p:spPr>
          <p:txBody>
            <a:bodyPr wrap="none" anchor="ctr"/>
            <a:lstStyle/>
            <a:p>
              <a:endParaRPr lang="en-US"/>
            </a:p>
          </p:txBody>
        </p:sp>
        <p:sp>
          <p:nvSpPr>
            <p:cNvPr id="86" name="Text Box 239"/>
            <p:cNvSpPr txBox="1">
              <a:spLocks noChangeArrowheads="1"/>
            </p:cNvSpPr>
            <p:nvPr/>
          </p:nvSpPr>
          <p:spPr bwMode="auto">
            <a:xfrm>
              <a:off x="101" y="4090"/>
              <a:ext cx="2459" cy="252"/>
            </a:xfrm>
            <a:prstGeom prst="rect">
              <a:avLst/>
            </a:prstGeom>
            <a:noFill/>
            <a:ln w="9525">
              <a:noFill/>
              <a:miter lim="800000"/>
            </a:ln>
          </p:spPr>
          <p:txBody>
            <a:bodyPr wrap="none">
              <a:spAutoFit/>
            </a:bodyPr>
            <a:lstStyle/>
            <a:p>
              <a:r>
                <a:rPr lang="en-US" sz="2000" dirty="0">
                  <a:latin typeface="楷体" panose="02010609060101010101" pitchFamily="49" charset="-122"/>
                  <a:ea typeface="楷体" panose="02010609060101010101" pitchFamily="49" charset="-122"/>
                  <a:cs typeface="Times New Roman" panose="02020603050405020304" pitchFamily="18" charset="0"/>
                </a:rPr>
                <a:t>Track 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主要起到做标记的作用。</a:t>
              </a:r>
              <a:endParaRPr lang="en-US" sz="2000" dirty="0">
                <a:latin typeface="楷体" panose="02010609060101010101" pitchFamily="49" charset="-122"/>
                <a:ea typeface="楷体" panose="02010609060101010101" pitchFamily="49" charset="-122"/>
                <a:cs typeface="Times New Roman" panose="02020603050405020304" pitchFamily="18" charset="0"/>
              </a:endParaRPr>
            </a:p>
          </p:txBody>
        </p:sp>
      </p:grpSp>
      <p:sp>
        <p:nvSpPr>
          <p:cNvPr id="75" name="TextBox 74"/>
          <p:cNvSpPr txBox="1"/>
          <p:nvPr/>
        </p:nvSpPr>
        <p:spPr>
          <a:xfrm>
            <a:off x="4907367" y="3405609"/>
            <a:ext cx="442911" cy="369332"/>
          </a:xfrm>
          <a:prstGeom prst="rect">
            <a:avLst/>
          </a:prstGeom>
          <a:noFill/>
        </p:spPr>
        <p:txBody>
          <a:bodyPr wrap="square">
            <a:spAutoFit/>
          </a:bodyPr>
          <a:lstStyle/>
          <a:p>
            <a:pPr eaLnBrk="1" hangingPunct="1">
              <a:spcBef>
                <a:spcPct val="20000"/>
              </a:spcBef>
              <a:buClr>
                <a:schemeClr val="folHlink"/>
              </a:buClr>
              <a:buSzPct val="60000"/>
              <a:buFont typeface="Wingdings" panose="05000000000000000000" pitchFamily="2" charset="2"/>
              <a:buNone/>
            </a:pPr>
            <a:r>
              <a:rPr lang="en-US" dirty="0">
                <a:solidFill>
                  <a:schemeClr val="folHlink"/>
                </a:solidFill>
              </a:rPr>
              <a:t>b</a:t>
            </a:r>
          </a:p>
        </p:txBody>
      </p:sp>
      <p:sp>
        <p:nvSpPr>
          <p:cNvPr id="84" name="TextBox 83"/>
          <p:cNvSpPr txBox="1"/>
          <p:nvPr/>
        </p:nvSpPr>
        <p:spPr>
          <a:xfrm>
            <a:off x="4735684" y="4164434"/>
            <a:ext cx="343364" cy="369332"/>
          </a:xfrm>
          <a:prstGeom prst="rect">
            <a:avLst/>
          </a:prstGeom>
          <a:noFill/>
        </p:spPr>
        <p:txBody>
          <a:bodyPr wrap="none" rtlCol="0">
            <a:spAutoFit/>
          </a:bodyPr>
          <a:lstStyle/>
          <a:p>
            <a:r>
              <a:rPr lang="en-AU"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sz="2400" dirty="0"/>
                  <a:t>例</a:t>
                </a:r>
                <a:r>
                  <a:rPr lang="en-AU" altLang="zh-CN" sz="2400" dirty="0"/>
                  <a:t>:</a:t>
                </a:r>
                <a:r>
                  <a:rPr lang="zh-CN" altLang="en-US" sz="2400" dirty="0"/>
                  <a:t>利用状态中存储与多道设计</a:t>
                </a:r>
                <a:r>
                  <a:rPr lang="en-AU" altLang="zh-CN" sz="2400" dirty="0">
                    <a:latin typeface="Times New Roman" panose="02020603050405020304" pitchFamily="18" charset="0"/>
                    <a:cs typeface="Times New Roman" panose="02020603050405020304" pitchFamily="18" charset="0"/>
                  </a:rPr>
                  <a:t>TM</a:t>
                </a:r>
                <a:r>
                  <a:rPr lang="zh-CN" altLang="en-US" sz="2400" dirty="0"/>
                  <a:t>识别</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en-AU" sz="2400" b="0" i="1">
                          <a:latin typeface="Cambria Math" panose="02040503050406030204" pitchFamily="18" charset="0"/>
                        </a:rPr>
                        <m:t>𝐿</m:t>
                      </m:r>
                      <m:r>
                        <a:rPr lang="en-AU" sz="2400" b="0" i="1">
                          <a:latin typeface="Cambria Math" panose="02040503050406030204" pitchFamily="18" charset="0"/>
                        </a:rPr>
                        <m:t>={</m:t>
                      </m:r>
                      <m:r>
                        <a:rPr lang="en-AU" sz="2400" b="0" i="1">
                          <a:latin typeface="Cambria Math" panose="02040503050406030204" pitchFamily="18" charset="0"/>
                        </a:rPr>
                        <m:t>𝑤𝑐𝑤</m:t>
                      </m:r>
                      <m:r>
                        <a:rPr lang="en-AU" sz="2400" b="0" i="1">
                          <a:latin typeface="Cambria Math" panose="02040503050406030204" pitchFamily="18" charset="0"/>
                        </a:rPr>
                        <m:t>|</m:t>
                      </m:r>
                      <m:r>
                        <a:rPr lang="en-AU" sz="2400" b="0" i="1">
                          <a:latin typeface="Cambria Math" panose="02040503050406030204" pitchFamily="18" charset="0"/>
                        </a:rPr>
                        <m:t>𝑤</m:t>
                      </m:r>
                      <m:r>
                        <a:rPr lang="en-AU" sz="2400" b="0" i="1">
                          <a:latin typeface="Cambria Math" panose="02040503050406030204" pitchFamily="18" charset="0"/>
                          <a:ea typeface="Cambria Math" panose="02040503050406030204" pitchFamily="18" charset="0"/>
                        </a:rPr>
                        <m:t>∈</m:t>
                      </m:r>
                      <m:sSup>
                        <m:sSupPr>
                          <m:ctrlPr>
                            <a:rPr lang="en-AU" sz="2400" b="0" i="1">
                              <a:latin typeface="Cambria Math" panose="02040503050406030204" pitchFamily="18" charset="0"/>
                              <a:ea typeface="Cambria Math" panose="02040503050406030204" pitchFamily="18" charset="0"/>
                            </a:rPr>
                          </m:ctrlPr>
                        </m:sSupPr>
                        <m:e>
                          <m:r>
                            <a:rPr lang="en-AU" sz="2400" b="0" i="1">
                              <a:latin typeface="Cambria Math" panose="02040503050406030204" pitchFamily="18" charset="0"/>
                              <a:ea typeface="Cambria Math" panose="02040503050406030204" pitchFamily="18" charset="0"/>
                            </a:rPr>
                            <m:t>{</m:t>
                          </m:r>
                          <m:r>
                            <a:rPr lang="en-AU" sz="2400" b="0" i="1">
                              <a:latin typeface="Cambria Math" panose="02040503050406030204" pitchFamily="18" charset="0"/>
                              <a:ea typeface="Cambria Math" panose="02040503050406030204" pitchFamily="18" charset="0"/>
                            </a:rPr>
                            <m:t>𝑎</m:t>
                          </m:r>
                          <m:r>
                            <a:rPr lang="en-AU" sz="2400" b="0" i="1">
                              <a:latin typeface="Cambria Math" panose="02040503050406030204" pitchFamily="18" charset="0"/>
                              <a:ea typeface="Cambria Math" panose="02040503050406030204" pitchFamily="18" charset="0"/>
                            </a:rPr>
                            <m:t>,</m:t>
                          </m:r>
                          <m:r>
                            <a:rPr lang="en-AU" sz="2400" b="0" i="1">
                              <a:latin typeface="Cambria Math" panose="02040503050406030204" pitchFamily="18" charset="0"/>
                              <a:ea typeface="Cambria Math" panose="02040503050406030204" pitchFamily="18" charset="0"/>
                            </a:rPr>
                            <m:t>𝑏</m:t>
                          </m:r>
                          <m:r>
                            <a:rPr lang="en-AU" sz="2400" b="0" i="1">
                              <a:latin typeface="Cambria Math" panose="02040503050406030204" pitchFamily="18" charset="0"/>
                              <a:ea typeface="Cambria Math" panose="02040503050406030204" pitchFamily="18" charset="0"/>
                            </a:rPr>
                            <m:t>}</m:t>
                          </m:r>
                        </m:e>
                        <m:sup>
                          <m:r>
                            <a:rPr lang="en-AU" sz="2400" b="0" i="1">
                              <a:latin typeface="Cambria Math" panose="02040503050406030204" pitchFamily="18" charset="0"/>
                              <a:ea typeface="Cambria Math" panose="02040503050406030204" pitchFamily="18" charset="0"/>
                            </a:rPr>
                            <m:t>∗</m:t>
                          </m:r>
                        </m:sup>
                      </m:sSup>
                      <m:r>
                        <a:rPr lang="en-AU" sz="2400" b="0" i="1">
                          <a:latin typeface="Cambria Math" panose="02040503050406030204" pitchFamily="18" charset="0"/>
                        </a:rPr>
                        <m:t>}</m:t>
                      </m:r>
                    </m:oMath>
                  </m:oMathPara>
                </a14:m>
                <a:endParaRPr lang="en-AU" sz="2400" dirty="0"/>
              </a:p>
              <a:p>
                <a:endParaRPr lang="en-AU"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3"/>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24</a:t>
            </a:fld>
            <a:endParaRPr lang="en-AU"/>
          </a:p>
        </p:txBody>
      </p:sp>
      <p:grpSp>
        <p:nvGrpSpPr>
          <p:cNvPr id="73" name="Group 241"/>
          <p:cNvGrpSpPr/>
          <p:nvPr/>
        </p:nvGrpSpPr>
        <p:grpSpPr bwMode="auto">
          <a:xfrm>
            <a:off x="2451099" y="3024822"/>
            <a:ext cx="4592639" cy="3311526"/>
            <a:chOff x="-121" y="2256"/>
            <a:chExt cx="2893" cy="2086"/>
          </a:xfrm>
        </p:grpSpPr>
        <p:sp>
          <p:nvSpPr>
            <p:cNvPr id="74" name="Rectangle 4"/>
            <p:cNvSpPr>
              <a:spLocks noChangeArrowheads="1"/>
            </p:cNvSpPr>
            <p:nvPr/>
          </p:nvSpPr>
          <p:spPr bwMode="auto">
            <a:xfrm>
              <a:off x="743" y="2256"/>
              <a:ext cx="912" cy="480"/>
            </a:xfrm>
            <a:prstGeom prst="rect">
              <a:avLst/>
            </a:prstGeom>
            <a:solidFill>
              <a:srgbClr val="92D050"/>
            </a:solidFill>
            <a:ln w="9525">
              <a:solidFill>
                <a:schemeClr val="tx1"/>
              </a:solidFill>
              <a:miter lim="800000"/>
            </a:ln>
          </p:spPr>
          <p:txBody>
            <a:bodyPr wrap="none" anchor="ctr"/>
            <a:lstStyle/>
            <a:p>
              <a:pPr algn="ctr"/>
              <a:r>
                <a:rPr lang="zh-CN" altLang="en-US" dirty="0"/>
                <a:t>有穷控制器</a:t>
              </a:r>
              <a:endParaRPr lang="en-US" dirty="0"/>
            </a:p>
          </p:txBody>
        </p:sp>
        <p:grpSp>
          <p:nvGrpSpPr>
            <p:cNvPr id="76" name="Group 8"/>
            <p:cNvGrpSpPr/>
            <p:nvPr/>
          </p:nvGrpSpPr>
          <p:grpSpPr bwMode="auto">
            <a:xfrm>
              <a:off x="-121" y="3312"/>
              <a:ext cx="2544" cy="288"/>
              <a:chOff x="3168" y="3024"/>
              <a:chExt cx="2832" cy="288"/>
            </a:xfrm>
          </p:grpSpPr>
          <p:sp>
            <p:nvSpPr>
              <p:cNvPr id="115" name="Rectangle 9"/>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16" name="Rectangle 10"/>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FF0000"/>
                    </a:solidFill>
                  </a:rPr>
                  <a:t>c</a:t>
                </a:r>
              </a:p>
            </p:txBody>
          </p:sp>
          <p:sp>
            <p:nvSpPr>
              <p:cNvPr id="117" name="Rectangle 11"/>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18" name="Rectangle 12"/>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p>
            </p:txBody>
          </p:sp>
          <p:sp>
            <p:nvSpPr>
              <p:cNvPr id="119" name="Rectangle 13"/>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p>
            </p:txBody>
          </p:sp>
          <p:sp>
            <p:nvSpPr>
              <p:cNvPr id="120" name="Rectangle 14"/>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p>
            </p:txBody>
          </p:sp>
          <p:sp>
            <p:nvSpPr>
              <p:cNvPr id="121" name="Rectangle 15"/>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p>
            </p:txBody>
          </p:sp>
          <p:sp>
            <p:nvSpPr>
              <p:cNvPr id="122" name="Rectangle 16"/>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006600"/>
                    </a:solidFill>
                  </a:rPr>
                  <a:t>B</a:t>
                </a:r>
              </a:p>
            </p:txBody>
          </p:sp>
          <p:sp>
            <p:nvSpPr>
              <p:cNvPr id="123" name="Rectangle 17"/>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4" name="Rectangle 18"/>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125" name="Line 19"/>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26" name="Line 20"/>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27" name="Line 21"/>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28" name="Line 22"/>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29" name="Line 23"/>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30" name="Line 24"/>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31" name="Line 25"/>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32" name="Line 26"/>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33" name="Line 27"/>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34" name="Line 28"/>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35" name="Line 29"/>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36" name="Line 30"/>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37" name="Line 31"/>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38" name="Line 32"/>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39" name="Line 33"/>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40" name="Line 34"/>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41" name="Line 35"/>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42" name="Text Box 36"/>
              <p:cNvSpPr txBox="1">
                <a:spLocks noChangeArrowheads="1"/>
              </p:cNvSpPr>
              <p:nvPr/>
            </p:nvSpPr>
            <p:spPr bwMode="auto">
              <a:xfrm>
                <a:off x="5676" y="3053"/>
                <a:ext cx="228" cy="213"/>
              </a:xfrm>
              <a:prstGeom prst="rect">
                <a:avLst/>
              </a:prstGeom>
              <a:noFill/>
              <a:ln w="9525">
                <a:noFill/>
                <a:miter lim="800000"/>
              </a:ln>
            </p:spPr>
            <p:txBody>
              <a:bodyPr wrap="none">
                <a:spAutoFit/>
              </a:bodyPr>
              <a:lstStyle/>
              <a:p>
                <a:r>
                  <a:rPr lang="en-US" sz="1600"/>
                  <a:t>…</a:t>
                </a:r>
              </a:p>
            </p:txBody>
          </p:sp>
        </p:grpSp>
        <p:sp>
          <p:nvSpPr>
            <p:cNvPr id="77" name="Text Box 124"/>
            <p:cNvSpPr txBox="1">
              <a:spLocks noChangeArrowheads="1"/>
            </p:cNvSpPr>
            <p:nvPr/>
          </p:nvSpPr>
          <p:spPr bwMode="auto">
            <a:xfrm>
              <a:off x="-36" y="3324"/>
              <a:ext cx="216" cy="233"/>
            </a:xfrm>
            <a:prstGeom prst="rect">
              <a:avLst/>
            </a:prstGeom>
            <a:noFill/>
            <a:ln w="9525">
              <a:noFill/>
              <a:miter lim="800000"/>
            </a:ln>
          </p:spPr>
          <p:txBody>
            <a:bodyPr wrap="none">
              <a:spAutoFit/>
            </a:bodyPr>
            <a:lstStyle/>
            <a:p>
              <a:r>
                <a:rPr lang="en-US"/>
                <a:t>…</a:t>
              </a:r>
            </a:p>
          </p:txBody>
        </p:sp>
        <p:sp>
          <p:nvSpPr>
            <p:cNvPr id="78" name="Text Box 127"/>
            <p:cNvSpPr txBox="1">
              <a:spLocks noChangeArrowheads="1"/>
            </p:cNvSpPr>
            <p:nvPr/>
          </p:nvSpPr>
          <p:spPr bwMode="auto">
            <a:xfrm>
              <a:off x="2279" y="3312"/>
              <a:ext cx="483" cy="213"/>
            </a:xfrm>
            <a:prstGeom prst="rect">
              <a:avLst/>
            </a:prstGeom>
            <a:noFill/>
            <a:ln w="9525">
              <a:noFill/>
              <a:miter lim="800000"/>
            </a:ln>
          </p:spPr>
          <p:txBody>
            <a:bodyPr wrap="none">
              <a:spAutoFit/>
            </a:bodyPr>
            <a:lstStyle/>
            <a:p>
              <a:r>
                <a:rPr lang="en-US" sz="1600"/>
                <a:t>Track 1</a:t>
              </a:r>
            </a:p>
          </p:txBody>
        </p:sp>
        <p:sp>
          <p:nvSpPr>
            <p:cNvPr id="79" name="Rectangle 130"/>
            <p:cNvSpPr>
              <a:spLocks noChangeArrowheads="1"/>
            </p:cNvSpPr>
            <p:nvPr/>
          </p:nvSpPr>
          <p:spPr bwMode="auto">
            <a:xfrm>
              <a:off x="1851" y="3218"/>
              <a:ext cx="288" cy="720"/>
            </a:xfrm>
            <a:prstGeom prst="rect">
              <a:avLst/>
            </a:prstGeom>
            <a:noFill/>
            <a:ln w="9525">
              <a:solidFill>
                <a:schemeClr val="tx1"/>
              </a:solidFill>
              <a:prstDash val="dash"/>
              <a:miter lim="800000"/>
            </a:ln>
          </p:spPr>
          <p:txBody>
            <a:bodyPr wrap="none" anchor="ctr"/>
            <a:lstStyle/>
            <a:p>
              <a:endParaRPr lang="en-US"/>
            </a:p>
          </p:txBody>
        </p:sp>
        <p:grpSp>
          <p:nvGrpSpPr>
            <p:cNvPr id="80" name="Group 135"/>
            <p:cNvGrpSpPr/>
            <p:nvPr/>
          </p:nvGrpSpPr>
          <p:grpSpPr bwMode="auto">
            <a:xfrm>
              <a:off x="-111" y="3600"/>
              <a:ext cx="2544" cy="288"/>
              <a:chOff x="3168" y="3024"/>
              <a:chExt cx="2832" cy="288"/>
            </a:xfrm>
          </p:grpSpPr>
          <p:sp>
            <p:nvSpPr>
              <p:cNvPr id="87" name="Rectangle 136"/>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p>
            </p:txBody>
          </p:sp>
          <p:sp>
            <p:nvSpPr>
              <p:cNvPr id="88" name="Rectangle 137"/>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c</a:t>
                </a:r>
              </a:p>
            </p:txBody>
          </p:sp>
          <p:sp>
            <p:nvSpPr>
              <p:cNvPr id="89" name="Rectangle 138"/>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p>
            </p:txBody>
          </p:sp>
          <p:sp>
            <p:nvSpPr>
              <p:cNvPr id="90" name="Rectangle 139"/>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p>
            </p:txBody>
          </p:sp>
          <p:sp>
            <p:nvSpPr>
              <p:cNvPr id="91" name="Rectangle 140"/>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p>
            </p:txBody>
          </p:sp>
          <p:sp>
            <p:nvSpPr>
              <p:cNvPr id="92" name="Rectangle 141"/>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p>
            </p:txBody>
          </p:sp>
          <p:sp>
            <p:nvSpPr>
              <p:cNvPr id="93" name="Rectangle 142"/>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p>
            </p:txBody>
          </p:sp>
          <p:sp>
            <p:nvSpPr>
              <p:cNvPr id="94" name="Rectangle 143"/>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5" name="Rectangle 144"/>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6" name="Rectangle 145"/>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p>
            </p:txBody>
          </p:sp>
          <p:sp>
            <p:nvSpPr>
              <p:cNvPr id="97" name="Line 146"/>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98" name="Line 147"/>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99" name="Line 148"/>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00" name="Line 149"/>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01" name="Line 150"/>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02" name="Line 151"/>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03" name="Line 152"/>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04" name="Line 153"/>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05" name="Line 154"/>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06" name="Line 155"/>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07" name="Line 156"/>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08" name="Line 157"/>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09" name="Line 158"/>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10" name="Line 159"/>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11" name="Line 160"/>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12" name="Line 161"/>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13" name="Line 162"/>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14" name="Text Box 163"/>
              <p:cNvSpPr txBox="1">
                <a:spLocks noChangeArrowheads="1"/>
              </p:cNvSpPr>
              <p:nvPr/>
            </p:nvSpPr>
            <p:spPr bwMode="auto">
              <a:xfrm>
                <a:off x="5676" y="3053"/>
                <a:ext cx="228" cy="213"/>
              </a:xfrm>
              <a:prstGeom prst="rect">
                <a:avLst/>
              </a:prstGeom>
              <a:noFill/>
              <a:ln w="9525">
                <a:noFill/>
                <a:miter lim="800000"/>
              </a:ln>
            </p:spPr>
            <p:txBody>
              <a:bodyPr wrap="none">
                <a:spAutoFit/>
              </a:bodyPr>
              <a:lstStyle/>
              <a:p>
                <a:r>
                  <a:rPr lang="en-US" sz="1600"/>
                  <a:t>…</a:t>
                </a:r>
              </a:p>
            </p:txBody>
          </p:sp>
        </p:grpSp>
        <p:sp>
          <p:nvSpPr>
            <p:cNvPr id="81" name="Text Box 164"/>
            <p:cNvSpPr txBox="1">
              <a:spLocks noChangeArrowheads="1"/>
            </p:cNvSpPr>
            <p:nvPr/>
          </p:nvSpPr>
          <p:spPr bwMode="auto">
            <a:xfrm>
              <a:off x="-36" y="3612"/>
              <a:ext cx="216" cy="233"/>
            </a:xfrm>
            <a:prstGeom prst="rect">
              <a:avLst/>
            </a:prstGeom>
            <a:noFill/>
            <a:ln w="9525">
              <a:noFill/>
              <a:miter lim="800000"/>
            </a:ln>
          </p:spPr>
          <p:txBody>
            <a:bodyPr wrap="none">
              <a:spAutoFit/>
            </a:bodyPr>
            <a:lstStyle/>
            <a:p>
              <a:r>
                <a:rPr lang="en-US"/>
                <a:t>…</a:t>
              </a:r>
            </a:p>
          </p:txBody>
        </p:sp>
        <p:sp>
          <p:nvSpPr>
            <p:cNvPr id="82" name="Text Box 165"/>
            <p:cNvSpPr txBox="1">
              <a:spLocks noChangeArrowheads="1"/>
            </p:cNvSpPr>
            <p:nvPr/>
          </p:nvSpPr>
          <p:spPr bwMode="auto">
            <a:xfrm>
              <a:off x="2289" y="3600"/>
              <a:ext cx="483" cy="213"/>
            </a:xfrm>
            <a:prstGeom prst="rect">
              <a:avLst/>
            </a:prstGeom>
            <a:noFill/>
            <a:ln w="9525">
              <a:noFill/>
              <a:miter lim="800000"/>
            </a:ln>
          </p:spPr>
          <p:txBody>
            <a:bodyPr wrap="none">
              <a:spAutoFit/>
            </a:bodyPr>
            <a:lstStyle/>
            <a:p>
              <a:r>
                <a:rPr lang="en-US" sz="1600"/>
                <a:t>Track 2</a:t>
              </a:r>
            </a:p>
          </p:txBody>
        </p:sp>
        <p:sp>
          <p:nvSpPr>
            <p:cNvPr id="83" name="Freeform 166"/>
            <p:cNvSpPr/>
            <p:nvPr/>
          </p:nvSpPr>
          <p:spPr bwMode="auto">
            <a:xfrm flipH="1">
              <a:off x="1015" y="2736"/>
              <a:ext cx="971" cy="560"/>
            </a:xfrm>
            <a:custGeom>
              <a:avLst/>
              <a:gdLst>
                <a:gd name="T0" fmla="*/ 352 w 352"/>
                <a:gd name="T1" fmla="*/ 0 h 560"/>
                <a:gd name="T2" fmla="*/ 344 w 352"/>
                <a:gd name="T3" fmla="*/ 96 h 560"/>
                <a:gd name="T4" fmla="*/ 152 w 352"/>
                <a:gd name="T5" fmla="*/ 176 h 560"/>
                <a:gd name="T6" fmla="*/ 88 w 352"/>
                <a:gd name="T7" fmla="*/ 184 h 560"/>
                <a:gd name="T8" fmla="*/ 0 w 352"/>
                <a:gd name="T9" fmla="*/ 240 h 560"/>
                <a:gd name="T10" fmla="*/ 8 w 352"/>
                <a:gd name="T11" fmla="*/ 472 h 560"/>
                <a:gd name="T12" fmla="*/ 16 w 352"/>
                <a:gd name="T13" fmla="*/ 560 h 560"/>
                <a:gd name="T14" fmla="*/ 0 60000 65536"/>
                <a:gd name="T15" fmla="*/ 0 60000 65536"/>
                <a:gd name="T16" fmla="*/ 0 60000 65536"/>
                <a:gd name="T17" fmla="*/ 0 60000 65536"/>
                <a:gd name="T18" fmla="*/ 0 60000 65536"/>
                <a:gd name="T19" fmla="*/ 0 60000 65536"/>
                <a:gd name="T20" fmla="*/ 0 60000 65536"/>
                <a:gd name="T21" fmla="*/ 0 w 352"/>
                <a:gd name="T22" fmla="*/ 0 h 560"/>
                <a:gd name="T23" fmla="*/ 352 w 352"/>
                <a:gd name="T24" fmla="*/ 560 h 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2" h="560">
                  <a:moveTo>
                    <a:pt x="352" y="0"/>
                  </a:moveTo>
                  <a:cubicBezTo>
                    <a:pt x="349" y="32"/>
                    <a:pt x="351" y="64"/>
                    <a:pt x="344" y="96"/>
                  </a:cubicBezTo>
                  <a:cubicBezTo>
                    <a:pt x="326" y="166"/>
                    <a:pt x="195" y="171"/>
                    <a:pt x="152" y="176"/>
                  </a:cubicBezTo>
                  <a:cubicBezTo>
                    <a:pt x="130" y="178"/>
                    <a:pt x="109" y="181"/>
                    <a:pt x="88" y="184"/>
                  </a:cubicBezTo>
                  <a:cubicBezTo>
                    <a:pt x="57" y="208"/>
                    <a:pt x="36" y="227"/>
                    <a:pt x="0" y="240"/>
                  </a:cubicBezTo>
                  <a:cubicBezTo>
                    <a:pt x="15" y="334"/>
                    <a:pt x="14" y="352"/>
                    <a:pt x="8" y="472"/>
                  </a:cubicBezTo>
                  <a:cubicBezTo>
                    <a:pt x="10" y="501"/>
                    <a:pt x="16" y="560"/>
                    <a:pt x="16" y="560"/>
                  </a:cubicBezTo>
                </a:path>
              </a:pathLst>
            </a:custGeom>
            <a:noFill/>
            <a:ln w="9525">
              <a:solidFill>
                <a:schemeClr val="tx1"/>
              </a:solidFill>
              <a:round/>
              <a:tailEnd type="arrow" w="med" len="med"/>
            </a:ln>
          </p:spPr>
          <p:txBody>
            <a:bodyPr wrap="none" anchor="ctr"/>
            <a:lstStyle/>
            <a:p>
              <a:endParaRPr lang="en-US"/>
            </a:p>
          </p:txBody>
        </p:sp>
        <p:sp>
          <p:nvSpPr>
            <p:cNvPr id="86" name="Text Box 239"/>
            <p:cNvSpPr txBox="1">
              <a:spLocks noChangeArrowheads="1"/>
            </p:cNvSpPr>
            <p:nvPr/>
          </p:nvSpPr>
          <p:spPr bwMode="auto">
            <a:xfrm>
              <a:off x="101" y="4090"/>
              <a:ext cx="2459" cy="252"/>
            </a:xfrm>
            <a:prstGeom prst="rect">
              <a:avLst/>
            </a:prstGeom>
            <a:noFill/>
            <a:ln w="9525">
              <a:noFill/>
              <a:miter lim="800000"/>
            </a:ln>
          </p:spPr>
          <p:txBody>
            <a:bodyPr wrap="none">
              <a:spAutoFit/>
            </a:bodyPr>
            <a:lstStyle/>
            <a:p>
              <a:r>
                <a:rPr lang="en-US" sz="2000" dirty="0">
                  <a:latin typeface="楷体" panose="02010609060101010101" pitchFamily="49" charset="-122"/>
                  <a:ea typeface="楷体" panose="02010609060101010101" pitchFamily="49" charset="-122"/>
                  <a:cs typeface="Times New Roman" panose="02020603050405020304" pitchFamily="18" charset="0"/>
                </a:rPr>
                <a:t>Track 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主要起到做标记的作用。</a:t>
              </a:r>
              <a:endParaRPr lang="en-US" sz="2000" dirty="0">
                <a:latin typeface="楷体" panose="02010609060101010101" pitchFamily="49" charset="-122"/>
                <a:ea typeface="楷体" panose="02010609060101010101" pitchFamily="49" charset="-122"/>
                <a:cs typeface="Times New Roman" panose="02020603050405020304" pitchFamily="18" charset="0"/>
              </a:endParaRPr>
            </a:p>
          </p:txBody>
        </p:sp>
      </p:grpSp>
      <p:sp>
        <p:nvSpPr>
          <p:cNvPr id="84" name="TextBox 83"/>
          <p:cNvSpPr txBox="1"/>
          <p:nvPr/>
        </p:nvSpPr>
        <p:spPr>
          <a:xfrm>
            <a:off x="5385937" y="4211518"/>
            <a:ext cx="343364" cy="369332"/>
          </a:xfrm>
          <a:prstGeom prst="rect">
            <a:avLst/>
          </a:prstGeom>
          <a:noFill/>
        </p:spPr>
        <p:txBody>
          <a:bodyPr wrap="none" rtlCol="0">
            <a:spAutoFit/>
          </a:bodyPr>
          <a:lstStyle/>
          <a:p>
            <a:r>
              <a:rPr lang="en-AU" dirty="0"/>
              <a:t>…</a:t>
            </a:r>
          </a:p>
        </p:txBody>
      </p:sp>
      <p:sp>
        <p:nvSpPr>
          <p:cNvPr id="143" name="TextBox 142"/>
          <p:cNvSpPr txBox="1"/>
          <p:nvPr/>
        </p:nvSpPr>
        <p:spPr>
          <a:xfrm>
            <a:off x="4925501" y="3405861"/>
            <a:ext cx="381079" cy="369332"/>
          </a:xfrm>
          <a:prstGeom prst="rect">
            <a:avLst/>
          </a:prstGeom>
          <a:noFill/>
        </p:spPr>
        <p:txBody>
          <a:bodyPr wrap="square">
            <a:spAutoFit/>
          </a:bodyPr>
          <a:lstStyle/>
          <a:p>
            <a:pPr eaLnBrk="1" hangingPunct="1">
              <a:spcBef>
                <a:spcPct val="20000"/>
              </a:spcBef>
              <a:buClr>
                <a:schemeClr val="folHlink"/>
              </a:buClr>
              <a:buSzPct val="60000"/>
              <a:buFont typeface="Wingdings" panose="05000000000000000000" pitchFamily="2" charset="2"/>
              <a:buNone/>
            </a:pPr>
            <a:r>
              <a:rPr lang="en-US" dirty="0">
                <a:solidFill>
                  <a:srgbClr val="006600"/>
                </a:solidFill>
              </a:rPr>
              <a:t>B</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4400" dirty="0"/>
              <a:t>多带图灵机</a:t>
            </a:r>
            <a:endParaRPr lang="en-AU" dirty="0"/>
          </a:p>
        </p:txBody>
      </p:sp>
      <p:sp>
        <p:nvSpPr>
          <p:cNvPr id="3" name="Content Placeholder 2"/>
          <p:cNvSpPr>
            <a:spLocks noGrp="1"/>
          </p:cNvSpPr>
          <p:nvPr>
            <p:ph idx="1"/>
          </p:nvPr>
        </p:nvSpPr>
        <p:spPr>
          <a:xfrm>
            <a:off x="2231815" y="1168154"/>
            <a:ext cx="8229600" cy="4525963"/>
          </a:xfrm>
        </p:spPr>
        <p:txBody>
          <a:bodyPr/>
          <a:lstStyle/>
          <a:p>
            <a:r>
              <a:rPr lang="zh-CN" altLang="en-US" sz="2400" dirty="0"/>
              <a:t>多带</a:t>
            </a:r>
            <a:r>
              <a:rPr lang="en-AU" altLang="zh-CN" sz="2400" dirty="0"/>
              <a:t>(</a:t>
            </a:r>
            <a:r>
              <a:rPr lang="en-AU" altLang="zh-CN" sz="2400" dirty="0">
                <a:latin typeface="Times New Roman" panose="02020603050405020304" pitchFamily="18" charset="0"/>
                <a:cs typeface="Times New Roman" panose="02020603050405020304" pitchFamily="18" charset="0"/>
              </a:rPr>
              <a:t>multi-tape</a:t>
            </a:r>
            <a:r>
              <a:rPr lang="en-AU" altLang="zh-CN" sz="2400" dirty="0"/>
              <a:t>)</a:t>
            </a:r>
            <a:r>
              <a:rPr lang="zh-CN" altLang="en-US" sz="2400" dirty="0"/>
              <a:t>图灵机：有穷控制器、 </a:t>
            </a:r>
            <a:r>
              <a:rPr lang="en-US" altLang="zh-CN" sz="2400" dirty="0"/>
              <a:t>k </a:t>
            </a:r>
            <a:r>
              <a:rPr lang="zh-CN" altLang="en-US" sz="2400" dirty="0"/>
              <a:t>个带头和 </a:t>
            </a:r>
            <a:r>
              <a:rPr lang="en-US" altLang="zh-CN" sz="2400" dirty="0"/>
              <a:t>k </a:t>
            </a:r>
            <a:r>
              <a:rPr lang="zh-CN" altLang="en-US" sz="2400" dirty="0"/>
              <a:t>条带组成。每个动作</a:t>
            </a:r>
            <a:r>
              <a:rPr lang="en-US" altLang="zh-CN" sz="2400" dirty="0"/>
              <a:t>, </a:t>
            </a:r>
            <a:r>
              <a:rPr lang="zh-CN" altLang="en-US" sz="2400" dirty="0"/>
              <a:t>根据状态和每个带头符号</a:t>
            </a:r>
            <a:r>
              <a:rPr lang="en-AU" altLang="zh-CN" sz="2400" dirty="0"/>
              <a:t>:</a:t>
            </a:r>
            <a:endParaRPr lang="en-US" altLang="zh-CN" sz="2400" dirty="0"/>
          </a:p>
          <a:p>
            <a:pPr lvl="1"/>
            <a:r>
              <a:rPr lang="zh-CN" altLang="en-US" sz="2200" dirty="0"/>
              <a:t>改变控制器中的状态</a:t>
            </a:r>
            <a:r>
              <a:rPr lang="en-US" altLang="zh-CN" sz="2200" dirty="0"/>
              <a:t>;</a:t>
            </a:r>
          </a:p>
          <a:p>
            <a:pPr lvl="1"/>
            <a:r>
              <a:rPr lang="zh-CN" altLang="en-US" sz="2200" dirty="0"/>
              <a:t>修改每个带头单元格中的符号</a:t>
            </a:r>
            <a:r>
              <a:rPr lang="en-US" altLang="zh-CN" sz="2200" dirty="0"/>
              <a:t>;</a:t>
            </a:r>
          </a:p>
          <a:p>
            <a:pPr lvl="1"/>
            <a:r>
              <a:rPr lang="zh-CN" altLang="en-US" sz="2200" dirty="0"/>
              <a:t>每个带头独立的向左或右移动一个格</a:t>
            </a:r>
            <a:r>
              <a:rPr lang="en-US" altLang="zh-CN" sz="2200" dirty="0"/>
              <a:t>, </a:t>
            </a:r>
            <a:r>
              <a:rPr lang="zh-CN" altLang="en-US" sz="2200" dirty="0"/>
              <a:t>或保持不动。</a:t>
            </a:r>
            <a:endParaRPr lang="en-AU" altLang="zh-CN" sz="2200" dirty="0"/>
          </a:p>
        </p:txBody>
      </p:sp>
      <p:sp>
        <p:nvSpPr>
          <p:cNvPr id="4" name="Slide Number Placeholder 3"/>
          <p:cNvSpPr>
            <a:spLocks noGrp="1"/>
          </p:cNvSpPr>
          <p:nvPr>
            <p:ph type="sldNum" sz="quarter" idx="12"/>
          </p:nvPr>
        </p:nvSpPr>
        <p:spPr/>
        <p:txBody>
          <a:bodyPr/>
          <a:lstStyle/>
          <a:p>
            <a:fld id="{0662E1F6-9BD6-474C-A82E-E07C3DB67AAE}" type="slidenum">
              <a:rPr lang="en-AU" smtClean="0"/>
              <a:t>25</a:t>
            </a:fld>
            <a:endParaRPr lang="en-AU"/>
          </a:p>
        </p:txBody>
      </p:sp>
      <p:sp>
        <p:nvSpPr>
          <p:cNvPr id="5" name="Rectangle 4"/>
          <p:cNvSpPr>
            <a:spLocks noChangeArrowheads="1"/>
          </p:cNvSpPr>
          <p:nvPr/>
        </p:nvSpPr>
        <p:spPr bwMode="auto">
          <a:xfrm>
            <a:off x="3670090" y="3429001"/>
            <a:ext cx="1600200" cy="614379"/>
          </a:xfrm>
          <a:prstGeom prst="rect">
            <a:avLst/>
          </a:prstGeom>
          <a:solidFill>
            <a:srgbClr val="92D050"/>
          </a:solidFill>
          <a:ln w="9525">
            <a:solidFill>
              <a:schemeClr val="tx1"/>
            </a:solidFill>
            <a:miter lim="800000"/>
          </a:ln>
        </p:spPr>
        <p:txBody>
          <a:bodyPr wrap="none" anchor="ctr"/>
          <a:lstStyle/>
          <a:p>
            <a:pPr algn="ctr"/>
            <a:r>
              <a:rPr lang="zh-CN" altLang="en-US" dirty="0"/>
              <a:t>有穷控制器</a:t>
            </a:r>
            <a:endParaRPr lang="en-US" dirty="0"/>
          </a:p>
        </p:txBody>
      </p:sp>
      <p:graphicFrame>
        <p:nvGraphicFramePr>
          <p:cNvPr id="6" name="Group 25"/>
          <p:cNvGraphicFramePr>
            <a:graphicFrameLocks noGrp="1"/>
          </p:cNvGraphicFramePr>
          <p:nvPr/>
        </p:nvGraphicFramePr>
        <p:xfrm>
          <a:off x="2984290" y="4729180"/>
          <a:ext cx="3124200" cy="365760"/>
        </p:xfrm>
        <a:graphic>
          <a:graphicData uri="http://schemas.openxmlformats.org/drawingml/2006/table">
            <a:tbl>
              <a:tblPr/>
              <a:tblGrid>
                <a:gridCol w="520700">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2070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7" name="Text Box 26"/>
          <p:cNvSpPr txBox="1">
            <a:spLocks noChangeArrowheads="1"/>
          </p:cNvSpPr>
          <p:nvPr/>
        </p:nvSpPr>
        <p:spPr bwMode="auto">
          <a:xfrm>
            <a:off x="2469940" y="4672030"/>
            <a:ext cx="343364" cy="369332"/>
          </a:xfrm>
          <a:prstGeom prst="rect">
            <a:avLst/>
          </a:prstGeom>
          <a:noFill/>
          <a:ln w="9525">
            <a:noFill/>
            <a:miter lim="800000"/>
          </a:ln>
        </p:spPr>
        <p:txBody>
          <a:bodyPr wrap="none">
            <a:spAutoFit/>
          </a:bodyPr>
          <a:lstStyle/>
          <a:p>
            <a:r>
              <a:rPr lang="en-US"/>
              <a:t>…</a:t>
            </a:r>
          </a:p>
        </p:txBody>
      </p:sp>
      <p:sp>
        <p:nvSpPr>
          <p:cNvPr id="8" name="Line 28"/>
          <p:cNvSpPr>
            <a:spLocks noChangeShapeType="1"/>
          </p:cNvSpPr>
          <p:nvPr/>
        </p:nvSpPr>
        <p:spPr bwMode="auto">
          <a:xfrm>
            <a:off x="2374690" y="4729180"/>
            <a:ext cx="609600" cy="0"/>
          </a:xfrm>
          <a:prstGeom prst="line">
            <a:avLst/>
          </a:prstGeom>
          <a:noFill/>
          <a:ln w="9525">
            <a:solidFill>
              <a:schemeClr val="tx1"/>
            </a:solidFill>
            <a:round/>
          </a:ln>
        </p:spPr>
        <p:txBody>
          <a:bodyPr wrap="none" anchor="ctr"/>
          <a:lstStyle/>
          <a:p>
            <a:endParaRPr lang="en-US"/>
          </a:p>
        </p:txBody>
      </p:sp>
      <p:sp>
        <p:nvSpPr>
          <p:cNvPr id="9" name="Line 29"/>
          <p:cNvSpPr>
            <a:spLocks noChangeShapeType="1"/>
          </p:cNvSpPr>
          <p:nvPr/>
        </p:nvSpPr>
        <p:spPr bwMode="auto">
          <a:xfrm>
            <a:off x="2374690" y="5186380"/>
            <a:ext cx="609600" cy="0"/>
          </a:xfrm>
          <a:prstGeom prst="line">
            <a:avLst/>
          </a:prstGeom>
          <a:noFill/>
          <a:ln w="9525">
            <a:solidFill>
              <a:schemeClr val="tx1"/>
            </a:solidFill>
            <a:round/>
          </a:ln>
        </p:spPr>
        <p:txBody>
          <a:bodyPr wrap="none" anchor="ctr"/>
          <a:lstStyle/>
          <a:p>
            <a:endParaRPr lang="en-US"/>
          </a:p>
        </p:txBody>
      </p:sp>
      <p:sp>
        <p:nvSpPr>
          <p:cNvPr id="10" name="Text Box 30"/>
          <p:cNvSpPr txBox="1">
            <a:spLocks noChangeArrowheads="1"/>
          </p:cNvSpPr>
          <p:nvPr/>
        </p:nvSpPr>
        <p:spPr bwMode="auto">
          <a:xfrm>
            <a:off x="6127540" y="4652980"/>
            <a:ext cx="343364" cy="369332"/>
          </a:xfrm>
          <a:prstGeom prst="rect">
            <a:avLst/>
          </a:prstGeom>
          <a:noFill/>
          <a:ln w="9525">
            <a:noFill/>
            <a:miter lim="800000"/>
          </a:ln>
        </p:spPr>
        <p:txBody>
          <a:bodyPr wrap="none">
            <a:spAutoFit/>
          </a:bodyPr>
          <a:lstStyle/>
          <a:p>
            <a:r>
              <a:rPr lang="en-US"/>
              <a:t>…</a:t>
            </a:r>
          </a:p>
        </p:txBody>
      </p:sp>
      <p:sp>
        <p:nvSpPr>
          <p:cNvPr id="11" name="Line 31"/>
          <p:cNvSpPr>
            <a:spLocks noChangeShapeType="1"/>
          </p:cNvSpPr>
          <p:nvPr/>
        </p:nvSpPr>
        <p:spPr bwMode="auto">
          <a:xfrm>
            <a:off x="6032290" y="4710130"/>
            <a:ext cx="609600" cy="0"/>
          </a:xfrm>
          <a:prstGeom prst="line">
            <a:avLst/>
          </a:prstGeom>
          <a:noFill/>
          <a:ln w="9525">
            <a:solidFill>
              <a:schemeClr val="tx1"/>
            </a:solidFill>
            <a:round/>
          </a:ln>
        </p:spPr>
        <p:txBody>
          <a:bodyPr wrap="none" anchor="ctr"/>
          <a:lstStyle/>
          <a:p>
            <a:endParaRPr lang="en-US"/>
          </a:p>
        </p:txBody>
      </p:sp>
      <p:sp>
        <p:nvSpPr>
          <p:cNvPr id="12" name="Line 32"/>
          <p:cNvSpPr>
            <a:spLocks noChangeShapeType="1"/>
          </p:cNvSpPr>
          <p:nvPr/>
        </p:nvSpPr>
        <p:spPr bwMode="auto">
          <a:xfrm>
            <a:off x="6032290" y="5167330"/>
            <a:ext cx="609600" cy="0"/>
          </a:xfrm>
          <a:prstGeom prst="line">
            <a:avLst/>
          </a:prstGeom>
          <a:noFill/>
          <a:ln w="9525">
            <a:solidFill>
              <a:schemeClr val="tx1"/>
            </a:solidFill>
            <a:round/>
          </a:ln>
        </p:spPr>
        <p:txBody>
          <a:bodyPr wrap="none" anchor="ctr"/>
          <a:lstStyle/>
          <a:p>
            <a:endParaRPr lang="en-US"/>
          </a:p>
        </p:txBody>
      </p:sp>
      <p:graphicFrame>
        <p:nvGraphicFramePr>
          <p:cNvPr id="13" name="Group 33"/>
          <p:cNvGraphicFramePr>
            <a:graphicFrameLocks noGrp="1"/>
          </p:cNvGraphicFramePr>
          <p:nvPr/>
        </p:nvGraphicFramePr>
        <p:xfrm>
          <a:off x="2984290" y="5186380"/>
          <a:ext cx="3124200" cy="365760"/>
        </p:xfrm>
        <a:graphic>
          <a:graphicData uri="http://schemas.openxmlformats.org/drawingml/2006/table">
            <a:tbl>
              <a:tblPr/>
              <a:tblGrid>
                <a:gridCol w="520700">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2070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4" name="Text Box 49"/>
          <p:cNvSpPr txBox="1">
            <a:spLocks noChangeArrowheads="1"/>
          </p:cNvSpPr>
          <p:nvPr/>
        </p:nvSpPr>
        <p:spPr bwMode="auto">
          <a:xfrm>
            <a:off x="2469940" y="5129230"/>
            <a:ext cx="343364" cy="369332"/>
          </a:xfrm>
          <a:prstGeom prst="rect">
            <a:avLst/>
          </a:prstGeom>
          <a:noFill/>
          <a:ln w="9525">
            <a:noFill/>
            <a:miter lim="800000"/>
          </a:ln>
        </p:spPr>
        <p:txBody>
          <a:bodyPr wrap="none">
            <a:spAutoFit/>
          </a:bodyPr>
          <a:lstStyle/>
          <a:p>
            <a:r>
              <a:rPr lang="en-US"/>
              <a:t>…</a:t>
            </a:r>
          </a:p>
        </p:txBody>
      </p:sp>
      <p:sp>
        <p:nvSpPr>
          <p:cNvPr id="15" name="Line 50"/>
          <p:cNvSpPr>
            <a:spLocks noChangeShapeType="1"/>
          </p:cNvSpPr>
          <p:nvPr/>
        </p:nvSpPr>
        <p:spPr bwMode="auto">
          <a:xfrm>
            <a:off x="2374690" y="5110180"/>
            <a:ext cx="609600" cy="0"/>
          </a:xfrm>
          <a:prstGeom prst="line">
            <a:avLst/>
          </a:prstGeom>
          <a:noFill/>
          <a:ln w="9525">
            <a:solidFill>
              <a:schemeClr val="tx1"/>
            </a:solidFill>
            <a:round/>
          </a:ln>
        </p:spPr>
        <p:txBody>
          <a:bodyPr wrap="none" anchor="ctr"/>
          <a:lstStyle/>
          <a:p>
            <a:endParaRPr lang="en-US"/>
          </a:p>
        </p:txBody>
      </p:sp>
      <p:sp>
        <p:nvSpPr>
          <p:cNvPr id="16" name="Line 51"/>
          <p:cNvSpPr>
            <a:spLocks noChangeShapeType="1"/>
          </p:cNvSpPr>
          <p:nvPr/>
        </p:nvSpPr>
        <p:spPr bwMode="auto">
          <a:xfrm>
            <a:off x="2374690" y="5567380"/>
            <a:ext cx="609600" cy="0"/>
          </a:xfrm>
          <a:prstGeom prst="line">
            <a:avLst/>
          </a:prstGeom>
          <a:noFill/>
          <a:ln w="9525">
            <a:solidFill>
              <a:schemeClr val="tx1"/>
            </a:solidFill>
            <a:round/>
          </a:ln>
        </p:spPr>
        <p:txBody>
          <a:bodyPr wrap="none" anchor="ctr"/>
          <a:lstStyle/>
          <a:p>
            <a:endParaRPr lang="en-US"/>
          </a:p>
        </p:txBody>
      </p:sp>
      <p:sp>
        <p:nvSpPr>
          <p:cNvPr id="17" name="Text Box 52"/>
          <p:cNvSpPr txBox="1">
            <a:spLocks noChangeArrowheads="1"/>
          </p:cNvSpPr>
          <p:nvPr/>
        </p:nvSpPr>
        <p:spPr bwMode="auto">
          <a:xfrm>
            <a:off x="6127540" y="5033980"/>
            <a:ext cx="343364" cy="369332"/>
          </a:xfrm>
          <a:prstGeom prst="rect">
            <a:avLst/>
          </a:prstGeom>
          <a:noFill/>
          <a:ln w="9525">
            <a:noFill/>
            <a:miter lim="800000"/>
          </a:ln>
        </p:spPr>
        <p:txBody>
          <a:bodyPr wrap="none">
            <a:spAutoFit/>
          </a:bodyPr>
          <a:lstStyle/>
          <a:p>
            <a:r>
              <a:rPr lang="en-US"/>
              <a:t>…</a:t>
            </a:r>
          </a:p>
        </p:txBody>
      </p:sp>
      <p:sp>
        <p:nvSpPr>
          <p:cNvPr id="18" name="Line 53"/>
          <p:cNvSpPr>
            <a:spLocks noChangeShapeType="1"/>
          </p:cNvSpPr>
          <p:nvPr/>
        </p:nvSpPr>
        <p:spPr bwMode="auto">
          <a:xfrm>
            <a:off x="6032290" y="5110180"/>
            <a:ext cx="609600" cy="0"/>
          </a:xfrm>
          <a:prstGeom prst="line">
            <a:avLst/>
          </a:prstGeom>
          <a:noFill/>
          <a:ln w="9525">
            <a:solidFill>
              <a:schemeClr val="tx1"/>
            </a:solidFill>
            <a:round/>
          </a:ln>
        </p:spPr>
        <p:txBody>
          <a:bodyPr wrap="none" anchor="ctr"/>
          <a:lstStyle/>
          <a:p>
            <a:endParaRPr lang="en-US"/>
          </a:p>
        </p:txBody>
      </p:sp>
      <p:sp>
        <p:nvSpPr>
          <p:cNvPr id="19" name="Line 54"/>
          <p:cNvSpPr>
            <a:spLocks noChangeShapeType="1"/>
          </p:cNvSpPr>
          <p:nvPr/>
        </p:nvSpPr>
        <p:spPr bwMode="auto">
          <a:xfrm>
            <a:off x="6032290" y="5548330"/>
            <a:ext cx="609600" cy="0"/>
          </a:xfrm>
          <a:prstGeom prst="line">
            <a:avLst/>
          </a:prstGeom>
          <a:noFill/>
          <a:ln w="9525">
            <a:solidFill>
              <a:schemeClr val="tx1"/>
            </a:solidFill>
            <a:round/>
          </a:ln>
        </p:spPr>
        <p:txBody>
          <a:bodyPr wrap="none" anchor="ctr"/>
          <a:lstStyle/>
          <a:p>
            <a:endParaRPr lang="en-US"/>
          </a:p>
        </p:txBody>
      </p:sp>
      <p:graphicFrame>
        <p:nvGraphicFramePr>
          <p:cNvPr id="20" name="Group 55"/>
          <p:cNvGraphicFramePr>
            <a:graphicFrameLocks noGrp="1"/>
          </p:cNvGraphicFramePr>
          <p:nvPr/>
        </p:nvGraphicFramePr>
        <p:xfrm>
          <a:off x="2984290" y="5872180"/>
          <a:ext cx="3124200" cy="365760"/>
        </p:xfrm>
        <a:graphic>
          <a:graphicData uri="http://schemas.openxmlformats.org/drawingml/2006/table">
            <a:tbl>
              <a:tblPr/>
              <a:tblGrid>
                <a:gridCol w="520700">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2070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1" name="Text Box 71"/>
          <p:cNvSpPr txBox="1">
            <a:spLocks noChangeArrowheads="1"/>
          </p:cNvSpPr>
          <p:nvPr/>
        </p:nvSpPr>
        <p:spPr bwMode="auto">
          <a:xfrm>
            <a:off x="2469940" y="5815030"/>
            <a:ext cx="343364" cy="369332"/>
          </a:xfrm>
          <a:prstGeom prst="rect">
            <a:avLst/>
          </a:prstGeom>
          <a:noFill/>
          <a:ln w="9525">
            <a:noFill/>
            <a:miter lim="800000"/>
          </a:ln>
        </p:spPr>
        <p:txBody>
          <a:bodyPr wrap="none">
            <a:spAutoFit/>
          </a:bodyPr>
          <a:lstStyle/>
          <a:p>
            <a:r>
              <a:rPr lang="en-US"/>
              <a:t>…</a:t>
            </a:r>
          </a:p>
        </p:txBody>
      </p:sp>
      <p:sp>
        <p:nvSpPr>
          <p:cNvPr id="22" name="Line 72"/>
          <p:cNvSpPr>
            <a:spLocks noChangeShapeType="1"/>
          </p:cNvSpPr>
          <p:nvPr/>
        </p:nvSpPr>
        <p:spPr bwMode="auto">
          <a:xfrm>
            <a:off x="2374690" y="5872180"/>
            <a:ext cx="609600" cy="0"/>
          </a:xfrm>
          <a:prstGeom prst="line">
            <a:avLst/>
          </a:prstGeom>
          <a:noFill/>
          <a:ln w="9525">
            <a:solidFill>
              <a:schemeClr val="tx1"/>
            </a:solidFill>
            <a:round/>
          </a:ln>
        </p:spPr>
        <p:txBody>
          <a:bodyPr wrap="none" anchor="ctr"/>
          <a:lstStyle/>
          <a:p>
            <a:endParaRPr lang="en-US"/>
          </a:p>
        </p:txBody>
      </p:sp>
      <p:sp>
        <p:nvSpPr>
          <p:cNvPr id="23" name="Line 73"/>
          <p:cNvSpPr>
            <a:spLocks noChangeShapeType="1"/>
          </p:cNvSpPr>
          <p:nvPr/>
        </p:nvSpPr>
        <p:spPr bwMode="auto">
          <a:xfrm>
            <a:off x="2374690" y="6253180"/>
            <a:ext cx="609600" cy="0"/>
          </a:xfrm>
          <a:prstGeom prst="line">
            <a:avLst/>
          </a:prstGeom>
          <a:noFill/>
          <a:ln w="9525">
            <a:solidFill>
              <a:schemeClr val="tx1"/>
            </a:solidFill>
            <a:round/>
          </a:ln>
        </p:spPr>
        <p:txBody>
          <a:bodyPr wrap="none" anchor="ctr"/>
          <a:lstStyle/>
          <a:p>
            <a:endParaRPr lang="en-US"/>
          </a:p>
        </p:txBody>
      </p:sp>
      <p:sp>
        <p:nvSpPr>
          <p:cNvPr id="24" name="Text Box 74"/>
          <p:cNvSpPr txBox="1">
            <a:spLocks noChangeArrowheads="1"/>
          </p:cNvSpPr>
          <p:nvPr/>
        </p:nvSpPr>
        <p:spPr bwMode="auto">
          <a:xfrm>
            <a:off x="6127540" y="5795980"/>
            <a:ext cx="343364" cy="369332"/>
          </a:xfrm>
          <a:prstGeom prst="rect">
            <a:avLst/>
          </a:prstGeom>
          <a:noFill/>
          <a:ln w="9525">
            <a:noFill/>
            <a:miter lim="800000"/>
          </a:ln>
        </p:spPr>
        <p:txBody>
          <a:bodyPr wrap="none">
            <a:spAutoFit/>
          </a:bodyPr>
          <a:lstStyle/>
          <a:p>
            <a:r>
              <a:rPr lang="en-US"/>
              <a:t>…</a:t>
            </a:r>
          </a:p>
        </p:txBody>
      </p:sp>
      <p:sp>
        <p:nvSpPr>
          <p:cNvPr id="25" name="Line 75"/>
          <p:cNvSpPr>
            <a:spLocks noChangeShapeType="1"/>
          </p:cNvSpPr>
          <p:nvPr/>
        </p:nvSpPr>
        <p:spPr bwMode="auto">
          <a:xfrm>
            <a:off x="6032290" y="5853130"/>
            <a:ext cx="609600" cy="0"/>
          </a:xfrm>
          <a:prstGeom prst="line">
            <a:avLst/>
          </a:prstGeom>
          <a:noFill/>
          <a:ln w="9525">
            <a:solidFill>
              <a:schemeClr val="tx1"/>
            </a:solidFill>
            <a:round/>
          </a:ln>
        </p:spPr>
        <p:txBody>
          <a:bodyPr wrap="none" anchor="ctr"/>
          <a:lstStyle/>
          <a:p>
            <a:endParaRPr lang="en-US"/>
          </a:p>
        </p:txBody>
      </p:sp>
      <p:sp>
        <p:nvSpPr>
          <p:cNvPr id="26" name="Line 76"/>
          <p:cNvSpPr>
            <a:spLocks noChangeShapeType="1"/>
          </p:cNvSpPr>
          <p:nvPr/>
        </p:nvSpPr>
        <p:spPr bwMode="auto">
          <a:xfrm>
            <a:off x="6032290" y="6234130"/>
            <a:ext cx="609600" cy="0"/>
          </a:xfrm>
          <a:prstGeom prst="line">
            <a:avLst/>
          </a:prstGeom>
          <a:noFill/>
          <a:ln w="9525">
            <a:solidFill>
              <a:schemeClr val="tx1"/>
            </a:solidFill>
            <a:round/>
          </a:ln>
        </p:spPr>
        <p:txBody>
          <a:bodyPr wrap="none" anchor="ctr"/>
          <a:lstStyle/>
          <a:p>
            <a:endParaRPr lang="en-US"/>
          </a:p>
        </p:txBody>
      </p:sp>
      <p:sp>
        <p:nvSpPr>
          <p:cNvPr id="27" name="Freeform 77"/>
          <p:cNvSpPr/>
          <p:nvPr/>
        </p:nvSpPr>
        <p:spPr bwMode="auto">
          <a:xfrm>
            <a:off x="4328904" y="4043380"/>
            <a:ext cx="369887" cy="685800"/>
          </a:xfrm>
          <a:custGeom>
            <a:avLst/>
            <a:gdLst>
              <a:gd name="T0" fmla="*/ 2147483647 w 233"/>
              <a:gd name="T1" fmla="*/ 0 h 432"/>
              <a:gd name="T2" fmla="*/ 2147483647 w 233"/>
              <a:gd name="T3" fmla="*/ 2147483647 h 432"/>
              <a:gd name="T4" fmla="*/ 2147483647 w 233"/>
              <a:gd name="T5" fmla="*/ 2147483647 h 432"/>
              <a:gd name="T6" fmla="*/ 2147483647 w 233"/>
              <a:gd name="T7" fmla="*/ 2147483647 h 432"/>
              <a:gd name="T8" fmla="*/ 2147483647 w 233"/>
              <a:gd name="T9" fmla="*/ 2147483647 h 432"/>
              <a:gd name="T10" fmla="*/ 2147483647 w 233"/>
              <a:gd name="T11" fmla="*/ 2147483647 h 432"/>
              <a:gd name="T12" fmla="*/ 0 60000 65536"/>
              <a:gd name="T13" fmla="*/ 0 60000 65536"/>
              <a:gd name="T14" fmla="*/ 0 60000 65536"/>
              <a:gd name="T15" fmla="*/ 0 60000 65536"/>
              <a:gd name="T16" fmla="*/ 0 60000 65536"/>
              <a:gd name="T17" fmla="*/ 0 60000 65536"/>
              <a:gd name="T18" fmla="*/ 0 w 233"/>
              <a:gd name="T19" fmla="*/ 0 h 432"/>
              <a:gd name="T20" fmla="*/ 233 w 233"/>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233" h="432">
                <a:moveTo>
                  <a:pt x="1" y="0"/>
                </a:moveTo>
                <a:cubicBezTo>
                  <a:pt x="3" y="37"/>
                  <a:pt x="0" y="75"/>
                  <a:pt x="9" y="112"/>
                </a:cubicBezTo>
                <a:cubicBezTo>
                  <a:pt x="19" y="157"/>
                  <a:pt x="112" y="171"/>
                  <a:pt x="145" y="176"/>
                </a:cubicBezTo>
                <a:cubicBezTo>
                  <a:pt x="164" y="204"/>
                  <a:pt x="180" y="205"/>
                  <a:pt x="209" y="224"/>
                </a:cubicBezTo>
                <a:cubicBezTo>
                  <a:pt x="226" y="277"/>
                  <a:pt x="227" y="336"/>
                  <a:pt x="233" y="392"/>
                </a:cubicBezTo>
                <a:cubicBezTo>
                  <a:pt x="224" y="427"/>
                  <a:pt x="217" y="416"/>
                  <a:pt x="233" y="432"/>
                </a:cubicBezTo>
              </a:path>
            </a:pathLst>
          </a:custGeom>
          <a:noFill/>
          <a:ln w="9525">
            <a:solidFill>
              <a:schemeClr val="tx1"/>
            </a:solidFill>
            <a:round/>
            <a:tailEnd type="arrow" w="med" len="med"/>
          </a:ln>
        </p:spPr>
        <p:txBody>
          <a:bodyPr wrap="none" anchor="ctr"/>
          <a:lstStyle/>
          <a:p>
            <a:endParaRPr lang="en-US"/>
          </a:p>
        </p:txBody>
      </p:sp>
      <p:sp>
        <p:nvSpPr>
          <p:cNvPr id="28" name="Freeform 78"/>
          <p:cNvSpPr/>
          <p:nvPr/>
        </p:nvSpPr>
        <p:spPr bwMode="auto">
          <a:xfrm>
            <a:off x="4393991" y="4068780"/>
            <a:ext cx="982663" cy="1206500"/>
          </a:xfrm>
          <a:custGeom>
            <a:avLst/>
            <a:gdLst>
              <a:gd name="T0" fmla="*/ 0 w 619"/>
              <a:gd name="T1" fmla="*/ 0 h 760"/>
              <a:gd name="T2" fmla="*/ 2147483647 w 619"/>
              <a:gd name="T3" fmla="*/ 2147483647 h 760"/>
              <a:gd name="T4" fmla="*/ 2147483647 w 619"/>
              <a:gd name="T5" fmla="*/ 2147483647 h 760"/>
              <a:gd name="T6" fmla="*/ 2147483647 w 619"/>
              <a:gd name="T7" fmla="*/ 2147483647 h 760"/>
              <a:gd name="T8" fmla="*/ 2147483647 w 619"/>
              <a:gd name="T9" fmla="*/ 2147483647 h 760"/>
              <a:gd name="T10" fmla="*/ 2147483647 w 619"/>
              <a:gd name="T11" fmla="*/ 2147483647 h 760"/>
              <a:gd name="T12" fmla="*/ 2147483647 w 619"/>
              <a:gd name="T13" fmla="*/ 2147483647 h 760"/>
              <a:gd name="T14" fmla="*/ 2147483647 w 619"/>
              <a:gd name="T15" fmla="*/ 2147483647 h 760"/>
              <a:gd name="T16" fmla="*/ 2147483647 w 619"/>
              <a:gd name="T17" fmla="*/ 2147483647 h 760"/>
              <a:gd name="T18" fmla="*/ 2147483647 w 619"/>
              <a:gd name="T19" fmla="*/ 2147483647 h 7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19"/>
              <a:gd name="T31" fmla="*/ 0 h 760"/>
              <a:gd name="T32" fmla="*/ 619 w 619"/>
              <a:gd name="T33" fmla="*/ 760 h 7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19" h="760">
                <a:moveTo>
                  <a:pt x="0" y="0"/>
                </a:moveTo>
                <a:cubicBezTo>
                  <a:pt x="7" y="9"/>
                  <a:pt x="40" y="53"/>
                  <a:pt x="56" y="64"/>
                </a:cubicBezTo>
                <a:cubicBezTo>
                  <a:pt x="81" y="81"/>
                  <a:pt x="123" y="91"/>
                  <a:pt x="152" y="104"/>
                </a:cubicBezTo>
                <a:cubicBezTo>
                  <a:pt x="231" y="139"/>
                  <a:pt x="313" y="163"/>
                  <a:pt x="400" y="176"/>
                </a:cubicBezTo>
                <a:cubicBezTo>
                  <a:pt x="446" y="191"/>
                  <a:pt x="481" y="198"/>
                  <a:pt x="520" y="224"/>
                </a:cubicBezTo>
                <a:cubicBezTo>
                  <a:pt x="537" y="277"/>
                  <a:pt x="508" y="317"/>
                  <a:pt x="496" y="368"/>
                </a:cubicBezTo>
                <a:cubicBezTo>
                  <a:pt x="530" y="385"/>
                  <a:pt x="548" y="405"/>
                  <a:pt x="568" y="440"/>
                </a:cubicBezTo>
                <a:cubicBezTo>
                  <a:pt x="580" y="460"/>
                  <a:pt x="600" y="504"/>
                  <a:pt x="600" y="504"/>
                </a:cubicBezTo>
                <a:cubicBezTo>
                  <a:pt x="608" y="563"/>
                  <a:pt x="619" y="597"/>
                  <a:pt x="600" y="656"/>
                </a:cubicBezTo>
                <a:cubicBezTo>
                  <a:pt x="597" y="690"/>
                  <a:pt x="592" y="760"/>
                  <a:pt x="592" y="760"/>
                </a:cubicBezTo>
              </a:path>
            </a:pathLst>
          </a:custGeom>
          <a:noFill/>
          <a:ln w="9525">
            <a:solidFill>
              <a:schemeClr val="tx1"/>
            </a:solidFill>
            <a:round/>
            <a:tailEnd type="arrow" w="med" len="med"/>
          </a:ln>
        </p:spPr>
        <p:txBody>
          <a:bodyPr wrap="none" anchor="ctr"/>
          <a:lstStyle/>
          <a:p>
            <a:endParaRPr lang="en-US"/>
          </a:p>
        </p:txBody>
      </p:sp>
      <p:sp>
        <p:nvSpPr>
          <p:cNvPr id="29" name="Freeform 79"/>
          <p:cNvSpPr/>
          <p:nvPr/>
        </p:nvSpPr>
        <p:spPr bwMode="auto">
          <a:xfrm>
            <a:off x="3733590" y="4043380"/>
            <a:ext cx="622300" cy="1778000"/>
          </a:xfrm>
          <a:custGeom>
            <a:avLst/>
            <a:gdLst>
              <a:gd name="T0" fmla="*/ 2147483647 w 392"/>
              <a:gd name="T1" fmla="*/ 0 h 1120"/>
              <a:gd name="T2" fmla="*/ 2147483647 w 392"/>
              <a:gd name="T3" fmla="*/ 2147483647 h 1120"/>
              <a:gd name="T4" fmla="*/ 2147483647 w 392"/>
              <a:gd name="T5" fmla="*/ 2147483647 h 1120"/>
              <a:gd name="T6" fmla="*/ 2147483647 w 392"/>
              <a:gd name="T7" fmla="*/ 2147483647 h 1120"/>
              <a:gd name="T8" fmla="*/ 2147483647 w 392"/>
              <a:gd name="T9" fmla="*/ 2147483647 h 1120"/>
              <a:gd name="T10" fmla="*/ 2147483647 w 392"/>
              <a:gd name="T11" fmla="*/ 2147483647 h 1120"/>
              <a:gd name="T12" fmla="*/ 2147483647 w 392"/>
              <a:gd name="T13" fmla="*/ 2147483647 h 1120"/>
              <a:gd name="T14" fmla="*/ 2147483647 w 392"/>
              <a:gd name="T15" fmla="*/ 2147483647 h 1120"/>
              <a:gd name="T16" fmla="*/ 2147483647 w 392"/>
              <a:gd name="T17" fmla="*/ 2147483647 h 1120"/>
              <a:gd name="T18" fmla="*/ 0 w 392"/>
              <a:gd name="T19" fmla="*/ 2147483647 h 1120"/>
              <a:gd name="T20" fmla="*/ 2147483647 w 392"/>
              <a:gd name="T21" fmla="*/ 2147483647 h 11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2"/>
              <a:gd name="T34" fmla="*/ 0 h 1120"/>
              <a:gd name="T35" fmla="*/ 392 w 392"/>
              <a:gd name="T36" fmla="*/ 1120 h 11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2" h="1120">
                <a:moveTo>
                  <a:pt x="392" y="0"/>
                </a:moveTo>
                <a:cubicBezTo>
                  <a:pt x="373" y="6"/>
                  <a:pt x="352" y="6"/>
                  <a:pt x="336" y="16"/>
                </a:cubicBezTo>
                <a:cubicBezTo>
                  <a:pt x="326" y="21"/>
                  <a:pt x="321" y="33"/>
                  <a:pt x="312" y="40"/>
                </a:cubicBezTo>
                <a:cubicBezTo>
                  <a:pt x="304" y="44"/>
                  <a:pt x="295" y="43"/>
                  <a:pt x="288" y="48"/>
                </a:cubicBezTo>
                <a:cubicBezTo>
                  <a:pt x="271" y="57"/>
                  <a:pt x="240" y="80"/>
                  <a:pt x="240" y="80"/>
                </a:cubicBezTo>
                <a:cubicBezTo>
                  <a:pt x="220" y="138"/>
                  <a:pt x="178" y="188"/>
                  <a:pt x="144" y="240"/>
                </a:cubicBezTo>
                <a:cubicBezTo>
                  <a:pt x="121" y="274"/>
                  <a:pt x="136" y="267"/>
                  <a:pt x="112" y="296"/>
                </a:cubicBezTo>
                <a:cubicBezTo>
                  <a:pt x="102" y="307"/>
                  <a:pt x="89" y="316"/>
                  <a:pt x="80" y="328"/>
                </a:cubicBezTo>
                <a:cubicBezTo>
                  <a:pt x="62" y="348"/>
                  <a:pt x="32" y="392"/>
                  <a:pt x="32" y="392"/>
                </a:cubicBezTo>
                <a:cubicBezTo>
                  <a:pt x="19" y="428"/>
                  <a:pt x="9" y="466"/>
                  <a:pt x="0" y="504"/>
                </a:cubicBezTo>
                <a:cubicBezTo>
                  <a:pt x="6" y="709"/>
                  <a:pt x="16" y="914"/>
                  <a:pt x="16" y="1120"/>
                </a:cubicBezTo>
              </a:path>
            </a:pathLst>
          </a:custGeom>
          <a:noFill/>
          <a:ln w="9525">
            <a:solidFill>
              <a:schemeClr val="tx1"/>
            </a:solidFill>
            <a:round/>
            <a:tailEnd type="arrow" w="med" len="med"/>
          </a:ln>
        </p:spPr>
        <p:txBody>
          <a:bodyPr wrap="none" anchor="ctr"/>
          <a:lstStyle/>
          <a:p>
            <a:endParaRPr lang="en-US"/>
          </a:p>
        </p:txBody>
      </p:sp>
      <p:sp>
        <p:nvSpPr>
          <p:cNvPr id="30" name="Text Box 80"/>
          <p:cNvSpPr txBox="1">
            <a:spLocks noChangeArrowheads="1"/>
          </p:cNvSpPr>
          <p:nvPr/>
        </p:nvSpPr>
        <p:spPr bwMode="auto">
          <a:xfrm>
            <a:off x="1823122" y="4740848"/>
            <a:ext cx="532518" cy="369332"/>
          </a:xfrm>
          <a:prstGeom prst="rect">
            <a:avLst/>
          </a:prstGeom>
          <a:noFill/>
          <a:ln w="9525">
            <a:noFill/>
            <a:miter lim="800000"/>
          </a:ln>
        </p:spPr>
        <p:txBody>
          <a:bodyPr wrap="none">
            <a:spAutoFit/>
          </a:bodyPr>
          <a:lstStyle/>
          <a:p>
            <a:r>
              <a:rPr lang="zh-CN" altLang="en-US" dirty="0"/>
              <a:t>带</a:t>
            </a:r>
            <a:r>
              <a:rPr lang="en-AU" altLang="zh-CN" dirty="0"/>
              <a:t>1</a:t>
            </a:r>
            <a:endParaRPr lang="en-US" dirty="0"/>
          </a:p>
        </p:txBody>
      </p:sp>
      <p:sp>
        <p:nvSpPr>
          <p:cNvPr id="31" name="Text Box 81"/>
          <p:cNvSpPr txBox="1">
            <a:spLocks noChangeArrowheads="1"/>
          </p:cNvSpPr>
          <p:nvPr/>
        </p:nvSpPr>
        <p:spPr bwMode="auto">
          <a:xfrm>
            <a:off x="1827179" y="5266580"/>
            <a:ext cx="532518" cy="369332"/>
          </a:xfrm>
          <a:prstGeom prst="rect">
            <a:avLst/>
          </a:prstGeom>
          <a:noFill/>
          <a:ln w="9525">
            <a:noFill/>
            <a:miter lim="800000"/>
          </a:ln>
        </p:spPr>
        <p:txBody>
          <a:bodyPr wrap="none">
            <a:spAutoFit/>
          </a:bodyPr>
          <a:lstStyle/>
          <a:p>
            <a:r>
              <a:rPr lang="zh-CN" altLang="en-US" dirty="0"/>
              <a:t>带</a:t>
            </a:r>
            <a:r>
              <a:rPr lang="en-AU" altLang="zh-CN" dirty="0"/>
              <a:t>2</a:t>
            </a:r>
            <a:endParaRPr lang="en-US" dirty="0"/>
          </a:p>
        </p:txBody>
      </p:sp>
      <p:sp>
        <p:nvSpPr>
          <p:cNvPr id="32" name="Text Box 82"/>
          <p:cNvSpPr txBox="1">
            <a:spLocks noChangeArrowheads="1"/>
          </p:cNvSpPr>
          <p:nvPr/>
        </p:nvSpPr>
        <p:spPr bwMode="auto">
          <a:xfrm>
            <a:off x="1812967" y="5908754"/>
            <a:ext cx="519694" cy="369332"/>
          </a:xfrm>
          <a:prstGeom prst="rect">
            <a:avLst/>
          </a:prstGeom>
          <a:noFill/>
          <a:ln w="9525">
            <a:noFill/>
            <a:miter lim="800000"/>
          </a:ln>
        </p:spPr>
        <p:txBody>
          <a:bodyPr wrap="none">
            <a:spAutoFit/>
          </a:bodyPr>
          <a:lstStyle/>
          <a:p>
            <a:r>
              <a:rPr lang="zh-CN" altLang="en-US" dirty="0"/>
              <a:t>带</a:t>
            </a:r>
            <a:r>
              <a:rPr lang="en-AU" altLang="zh-CN" dirty="0"/>
              <a:t>k</a:t>
            </a:r>
            <a:endParaRPr lang="en-US" dirty="0"/>
          </a:p>
        </p:txBody>
      </p:sp>
      <p:sp>
        <p:nvSpPr>
          <p:cNvPr id="33" name="Text Box 83"/>
          <p:cNvSpPr txBox="1">
            <a:spLocks noChangeArrowheads="1"/>
          </p:cNvSpPr>
          <p:nvPr/>
        </p:nvSpPr>
        <p:spPr bwMode="auto">
          <a:xfrm rot="5400000">
            <a:off x="2004571" y="5544638"/>
            <a:ext cx="343364" cy="369332"/>
          </a:xfrm>
          <a:prstGeom prst="rect">
            <a:avLst/>
          </a:prstGeom>
          <a:noFill/>
          <a:ln w="9525">
            <a:noFill/>
            <a:miter lim="800000"/>
          </a:ln>
        </p:spPr>
        <p:txBody>
          <a:bodyPr wrap="none">
            <a:spAutoFit/>
          </a:bodyPr>
          <a:lstStyle/>
          <a:p>
            <a:r>
              <a:rPr lang="en-US"/>
              <a:t>…</a:t>
            </a:r>
          </a:p>
        </p:txBody>
      </p:sp>
      <p:sp>
        <p:nvSpPr>
          <p:cNvPr id="34" name="Text Box 84"/>
          <p:cNvSpPr txBox="1">
            <a:spLocks noChangeArrowheads="1"/>
          </p:cNvSpPr>
          <p:nvPr/>
        </p:nvSpPr>
        <p:spPr bwMode="auto">
          <a:xfrm>
            <a:off x="5575091" y="3890980"/>
            <a:ext cx="1034257" cy="369332"/>
          </a:xfrm>
          <a:prstGeom prst="rect">
            <a:avLst/>
          </a:prstGeom>
          <a:noFill/>
          <a:ln w="9525">
            <a:noFill/>
            <a:miter lim="800000"/>
          </a:ln>
        </p:spPr>
        <p:txBody>
          <a:bodyPr wrap="none">
            <a:spAutoFit/>
          </a:bodyPr>
          <a:lstStyle/>
          <a:p>
            <a:r>
              <a:rPr lang="en-US" dirty="0"/>
              <a:t>k </a:t>
            </a:r>
            <a:r>
              <a:rPr lang="zh-CN" altLang="en-US" dirty="0"/>
              <a:t>个读头</a:t>
            </a:r>
            <a:endParaRPr lang="en-US" dirty="0"/>
          </a:p>
        </p:txBody>
      </p:sp>
      <p:sp>
        <p:nvSpPr>
          <p:cNvPr id="35" name="Freeform 85"/>
          <p:cNvSpPr/>
          <p:nvPr/>
        </p:nvSpPr>
        <p:spPr bwMode="auto">
          <a:xfrm>
            <a:off x="3670090" y="4195780"/>
            <a:ext cx="1828800" cy="228600"/>
          </a:xfrm>
          <a:custGeom>
            <a:avLst/>
            <a:gdLst>
              <a:gd name="T0" fmla="*/ 0 w 1152"/>
              <a:gd name="T1" fmla="*/ 0 h 144"/>
              <a:gd name="T2" fmla="*/ 2147483647 w 1152"/>
              <a:gd name="T3" fmla="*/ 2147483647 h 144"/>
              <a:gd name="T4" fmla="*/ 2147483647 w 1152"/>
              <a:gd name="T5" fmla="*/ 0 h 144"/>
              <a:gd name="T6" fmla="*/ 0 60000 65536"/>
              <a:gd name="T7" fmla="*/ 0 60000 65536"/>
              <a:gd name="T8" fmla="*/ 0 60000 65536"/>
              <a:gd name="T9" fmla="*/ 0 w 1152"/>
              <a:gd name="T10" fmla="*/ 0 h 144"/>
              <a:gd name="T11" fmla="*/ 1152 w 1152"/>
              <a:gd name="T12" fmla="*/ 144 h 144"/>
            </a:gdLst>
            <a:ahLst/>
            <a:cxnLst>
              <a:cxn ang="T6">
                <a:pos x="T0" y="T1"/>
              </a:cxn>
              <a:cxn ang="T7">
                <a:pos x="T2" y="T3"/>
              </a:cxn>
              <a:cxn ang="T8">
                <a:pos x="T4" y="T5"/>
              </a:cxn>
            </a:cxnLst>
            <a:rect l="T9" t="T10" r="T11" b="T12"/>
            <a:pathLst>
              <a:path w="1152" h="144">
                <a:moveTo>
                  <a:pt x="0" y="0"/>
                </a:moveTo>
                <a:cubicBezTo>
                  <a:pt x="144" y="72"/>
                  <a:pt x="288" y="144"/>
                  <a:pt x="480" y="144"/>
                </a:cubicBezTo>
                <a:cubicBezTo>
                  <a:pt x="672" y="144"/>
                  <a:pt x="912" y="72"/>
                  <a:pt x="1152" y="0"/>
                </a:cubicBezTo>
              </a:path>
            </a:pathLst>
          </a:custGeom>
          <a:noFill/>
          <a:ln w="9525" cap="flat">
            <a:solidFill>
              <a:schemeClr val="tx1"/>
            </a:solidFill>
            <a:prstDash val="dash"/>
            <a:round/>
          </a:ln>
        </p:spPr>
        <p:txBody>
          <a:bodyPr wrap="none" anchor="ctr"/>
          <a:lstStyle/>
          <a:p>
            <a:endParaRPr lang="en-US"/>
          </a:p>
        </p:txBody>
      </p:sp>
      <p:sp>
        <p:nvSpPr>
          <p:cNvPr id="36" name="TextBox 35"/>
          <p:cNvSpPr txBox="1"/>
          <p:nvPr/>
        </p:nvSpPr>
        <p:spPr>
          <a:xfrm>
            <a:off x="7502525" y="4224741"/>
            <a:ext cx="2609162" cy="1200329"/>
          </a:xfrm>
          <a:prstGeom prst="rect">
            <a:avLst/>
          </a:prstGeom>
          <a:solidFill>
            <a:srgbClr val="FFC000"/>
          </a:solidFill>
        </p:spPr>
        <p:txBody>
          <a:bodyPr wrap="square" rtlCol="0">
            <a:spAutoFit/>
          </a:bodyPr>
          <a:lstStyle/>
          <a:p>
            <a:r>
              <a:rPr lang="zh-CN" altLang="en-US" dirty="0"/>
              <a:t>开始时，输入在第一条带上，其他带上都是空格符。</a:t>
            </a:r>
            <a:endParaRPr lang="en-AU" altLang="zh-CN" dirty="0"/>
          </a:p>
          <a:p>
            <a:endParaRPr lang="en-AU"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4400" dirty="0"/>
              <a:t>多带图灵机</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46074" y="984548"/>
                <a:ext cx="8229600" cy="4525963"/>
              </a:xfrm>
            </p:spPr>
            <p:txBody>
              <a:bodyPr>
                <a:normAutofit/>
              </a:bodyPr>
              <a:lstStyle/>
              <a:p>
                <a:r>
                  <a:rPr lang="zh-CN" altLang="en-US" sz="2600" dirty="0"/>
                  <a:t>定理</a:t>
                </a:r>
                <a:r>
                  <a:rPr lang="en-AU" altLang="zh-CN" sz="2600" dirty="0"/>
                  <a:t>:</a:t>
                </a:r>
                <a:r>
                  <a:rPr lang="zh-CN" altLang="en-US" sz="2600" dirty="0"/>
                  <a:t>多带图灵机接受的语言</a:t>
                </a:r>
                <a14:m>
                  <m:oMath xmlns:m="http://schemas.openxmlformats.org/officeDocument/2006/math">
                    <m:r>
                      <a:rPr lang="en-US" altLang="zh-CN" sz="2600" i="1" dirty="0">
                        <a:latin typeface="Cambria Math" panose="02040503050406030204" pitchFamily="18" charset="0"/>
                      </a:rPr>
                      <m:t>𝐿</m:t>
                    </m:r>
                  </m:oMath>
                </a14:m>
                <a:r>
                  <a:rPr lang="en-US" altLang="zh-CN" sz="2600" dirty="0"/>
                  <a:t>, </a:t>
                </a:r>
                <a:r>
                  <a:rPr lang="zh-CN" altLang="en-US" sz="2600" dirty="0"/>
                  <a:t>可被单带图灵机接受。</a:t>
                </a:r>
                <a:endParaRPr lang="en-AU" altLang="zh-CN" sz="2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46074" y="984548"/>
                <a:ext cx="8229600" cy="4525963"/>
              </a:xfrm>
              <a:blipFill>
                <a:blip r:embed="rId3"/>
                <a:stretch>
                  <a:fillRect l="-1233" t="-1401" r="-5239"/>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26</a:t>
            </a:fld>
            <a:endParaRPr lang="en-AU"/>
          </a:p>
        </p:txBody>
      </p:sp>
      <p:graphicFrame>
        <p:nvGraphicFramePr>
          <p:cNvPr id="8" name="Group 5"/>
          <p:cNvGraphicFramePr>
            <a:graphicFrameLocks noGrp="1"/>
          </p:cNvGraphicFramePr>
          <p:nvPr/>
        </p:nvGraphicFramePr>
        <p:xfrm>
          <a:off x="2917624" y="3819969"/>
          <a:ext cx="3124200" cy="365760"/>
        </p:xfrm>
        <a:graphic>
          <a:graphicData uri="http://schemas.openxmlformats.org/drawingml/2006/table">
            <a:tbl>
              <a:tblPr/>
              <a:tblGrid>
                <a:gridCol w="520700">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2070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 name="Text Box 21"/>
          <p:cNvSpPr txBox="1">
            <a:spLocks noChangeArrowheads="1"/>
          </p:cNvSpPr>
          <p:nvPr/>
        </p:nvSpPr>
        <p:spPr bwMode="auto">
          <a:xfrm>
            <a:off x="2403274" y="3762819"/>
            <a:ext cx="343364" cy="369332"/>
          </a:xfrm>
          <a:prstGeom prst="rect">
            <a:avLst/>
          </a:prstGeom>
          <a:noFill/>
          <a:ln w="9525">
            <a:noFill/>
            <a:miter lim="800000"/>
          </a:ln>
        </p:spPr>
        <p:txBody>
          <a:bodyPr wrap="none">
            <a:spAutoFit/>
          </a:bodyPr>
          <a:lstStyle/>
          <a:p>
            <a:r>
              <a:rPr lang="en-US"/>
              <a:t>…</a:t>
            </a:r>
          </a:p>
        </p:txBody>
      </p:sp>
      <p:sp>
        <p:nvSpPr>
          <p:cNvPr id="10" name="Line 22"/>
          <p:cNvSpPr>
            <a:spLocks noChangeShapeType="1"/>
          </p:cNvSpPr>
          <p:nvPr/>
        </p:nvSpPr>
        <p:spPr bwMode="auto">
          <a:xfrm>
            <a:off x="2308024" y="3819969"/>
            <a:ext cx="609600" cy="0"/>
          </a:xfrm>
          <a:prstGeom prst="line">
            <a:avLst/>
          </a:prstGeom>
          <a:noFill/>
          <a:ln w="9525">
            <a:solidFill>
              <a:schemeClr val="tx1"/>
            </a:solidFill>
            <a:round/>
          </a:ln>
        </p:spPr>
        <p:txBody>
          <a:bodyPr wrap="none" anchor="ctr"/>
          <a:lstStyle/>
          <a:p>
            <a:endParaRPr lang="en-US"/>
          </a:p>
        </p:txBody>
      </p:sp>
      <p:sp>
        <p:nvSpPr>
          <p:cNvPr id="11" name="Line 23"/>
          <p:cNvSpPr>
            <a:spLocks noChangeShapeType="1"/>
          </p:cNvSpPr>
          <p:nvPr/>
        </p:nvSpPr>
        <p:spPr bwMode="auto">
          <a:xfrm>
            <a:off x="2308024" y="4200969"/>
            <a:ext cx="609600" cy="0"/>
          </a:xfrm>
          <a:prstGeom prst="line">
            <a:avLst/>
          </a:prstGeom>
          <a:noFill/>
          <a:ln w="9525">
            <a:solidFill>
              <a:schemeClr val="tx1"/>
            </a:solidFill>
            <a:round/>
          </a:ln>
        </p:spPr>
        <p:txBody>
          <a:bodyPr wrap="none" anchor="ctr"/>
          <a:lstStyle/>
          <a:p>
            <a:endParaRPr lang="en-US"/>
          </a:p>
        </p:txBody>
      </p:sp>
      <p:sp>
        <p:nvSpPr>
          <p:cNvPr id="12" name="Text Box 24"/>
          <p:cNvSpPr txBox="1">
            <a:spLocks noChangeArrowheads="1"/>
          </p:cNvSpPr>
          <p:nvPr/>
        </p:nvSpPr>
        <p:spPr bwMode="auto">
          <a:xfrm>
            <a:off x="6060874" y="3743769"/>
            <a:ext cx="343364" cy="369332"/>
          </a:xfrm>
          <a:prstGeom prst="rect">
            <a:avLst/>
          </a:prstGeom>
          <a:noFill/>
          <a:ln w="9525">
            <a:noFill/>
            <a:miter lim="800000"/>
          </a:ln>
        </p:spPr>
        <p:txBody>
          <a:bodyPr wrap="none">
            <a:spAutoFit/>
          </a:bodyPr>
          <a:lstStyle/>
          <a:p>
            <a:r>
              <a:rPr lang="en-US"/>
              <a:t>…</a:t>
            </a:r>
          </a:p>
        </p:txBody>
      </p:sp>
      <p:sp>
        <p:nvSpPr>
          <p:cNvPr id="13" name="Line 25"/>
          <p:cNvSpPr>
            <a:spLocks noChangeShapeType="1"/>
          </p:cNvSpPr>
          <p:nvPr/>
        </p:nvSpPr>
        <p:spPr bwMode="auto">
          <a:xfrm>
            <a:off x="5965624" y="3800919"/>
            <a:ext cx="609600" cy="0"/>
          </a:xfrm>
          <a:prstGeom prst="line">
            <a:avLst/>
          </a:prstGeom>
          <a:noFill/>
          <a:ln w="9525">
            <a:solidFill>
              <a:schemeClr val="tx1"/>
            </a:solidFill>
            <a:round/>
          </a:ln>
        </p:spPr>
        <p:txBody>
          <a:bodyPr wrap="none" anchor="ctr"/>
          <a:lstStyle/>
          <a:p>
            <a:endParaRPr lang="en-US"/>
          </a:p>
        </p:txBody>
      </p:sp>
      <p:sp>
        <p:nvSpPr>
          <p:cNvPr id="14" name="Line 26"/>
          <p:cNvSpPr>
            <a:spLocks noChangeShapeType="1"/>
          </p:cNvSpPr>
          <p:nvPr/>
        </p:nvSpPr>
        <p:spPr bwMode="auto">
          <a:xfrm>
            <a:off x="5965624" y="4181919"/>
            <a:ext cx="609600" cy="0"/>
          </a:xfrm>
          <a:prstGeom prst="line">
            <a:avLst/>
          </a:prstGeom>
          <a:noFill/>
          <a:ln w="9525">
            <a:solidFill>
              <a:schemeClr val="tx1"/>
            </a:solidFill>
            <a:round/>
          </a:ln>
        </p:spPr>
        <p:txBody>
          <a:bodyPr wrap="none" anchor="ctr"/>
          <a:lstStyle/>
          <a:p>
            <a:endParaRPr lang="en-US"/>
          </a:p>
        </p:txBody>
      </p:sp>
      <p:graphicFrame>
        <p:nvGraphicFramePr>
          <p:cNvPr id="15" name="Group 27"/>
          <p:cNvGraphicFramePr>
            <a:graphicFrameLocks noGrp="1"/>
          </p:cNvGraphicFramePr>
          <p:nvPr/>
        </p:nvGraphicFramePr>
        <p:xfrm>
          <a:off x="2917624" y="4200969"/>
          <a:ext cx="3124200" cy="365760"/>
        </p:xfrm>
        <a:graphic>
          <a:graphicData uri="http://schemas.openxmlformats.org/drawingml/2006/table">
            <a:tbl>
              <a:tblPr/>
              <a:tblGrid>
                <a:gridCol w="520700">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2070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A</a:t>
                      </a:r>
                      <a:r>
                        <a:rPr kumimoji="0" lang="en-US" sz="1800" b="0" i="0" u="none" strike="noStrike" cap="none" normalizeH="0" baseline="-25000">
                          <a:ln>
                            <a:noFill/>
                          </a:ln>
                          <a:solidFill>
                            <a:schemeClr val="tx1"/>
                          </a:solidFill>
                          <a:effectLst/>
                          <a:latin typeface="Arial" panose="020B0604020202020204"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A</a:t>
                      </a:r>
                      <a:r>
                        <a:rPr kumimoji="0" lang="en-US" sz="1800" b="0" i="0" u="none" strike="noStrike" cap="none" normalizeH="0" baseline="-25000">
                          <a:ln>
                            <a:noFill/>
                          </a:ln>
                          <a:solidFill>
                            <a:schemeClr val="tx1"/>
                          </a:solidFill>
                          <a:effectLst/>
                          <a:latin typeface="Arial" panose="020B0604020202020204" pitchFamily="34" charset="0"/>
                        </a:rPr>
                        <a:t>2</a:t>
                      </a: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A</a:t>
                      </a:r>
                      <a:r>
                        <a:rPr kumimoji="0" lang="en-US" sz="1800" b="0" i="0" u="none" strike="noStrike" cap="none" normalizeH="0" baseline="-25000">
                          <a:ln>
                            <a:noFill/>
                          </a:ln>
                          <a:solidFill>
                            <a:schemeClr val="tx1"/>
                          </a:solidFill>
                          <a:effectLst/>
                          <a:latin typeface="Arial" panose="020B0604020202020204" pitchFamily="34" charset="0"/>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6" name="Text Box 43"/>
          <p:cNvSpPr txBox="1">
            <a:spLocks noChangeArrowheads="1"/>
          </p:cNvSpPr>
          <p:nvPr/>
        </p:nvSpPr>
        <p:spPr bwMode="auto">
          <a:xfrm>
            <a:off x="2403274" y="4143819"/>
            <a:ext cx="343364" cy="369332"/>
          </a:xfrm>
          <a:prstGeom prst="rect">
            <a:avLst/>
          </a:prstGeom>
          <a:noFill/>
          <a:ln w="9525">
            <a:noFill/>
            <a:miter lim="800000"/>
          </a:ln>
        </p:spPr>
        <p:txBody>
          <a:bodyPr wrap="none">
            <a:spAutoFit/>
          </a:bodyPr>
          <a:lstStyle/>
          <a:p>
            <a:r>
              <a:rPr lang="en-US"/>
              <a:t>…</a:t>
            </a:r>
          </a:p>
        </p:txBody>
      </p:sp>
      <p:sp>
        <p:nvSpPr>
          <p:cNvPr id="17" name="Line 44"/>
          <p:cNvSpPr>
            <a:spLocks noChangeShapeType="1"/>
          </p:cNvSpPr>
          <p:nvPr/>
        </p:nvSpPr>
        <p:spPr bwMode="auto">
          <a:xfrm>
            <a:off x="2384224" y="4200969"/>
            <a:ext cx="609600" cy="0"/>
          </a:xfrm>
          <a:prstGeom prst="line">
            <a:avLst/>
          </a:prstGeom>
          <a:noFill/>
          <a:ln w="9525">
            <a:solidFill>
              <a:schemeClr val="tx1"/>
            </a:solidFill>
            <a:round/>
          </a:ln>
        </p:spPr>
        <p:txBody>
          <a:bodyPr wrap="none" anchor="ctr"/>
          <a:lstStyle/>
          <a:p>
            <a:endParaRPr lang="en-US"/>
          </a:p>
        </p:txBody>
      </p:sp>
      <p:sp>
        <p:nvSpPr>
          <p:cNvPr id="18" name="Line 45"/>
          <p:cNvSpPr>
            <a:spLocks noChangeShapeType="1"/>
          </p:cNvSpPr>
          <p:nvPr/>
        </p:nvSpPr>
        <p:spPr bwMode="auto">
          <a:xfrm>
            <a:off x="2308024" y="4581969"/>
            <a:ext cx="609600" cy="0"/>
          </a:xfrm>
          <a:prstGeom prst="line">
            <a:avLst/>
          </a:prstGeom>
          <a:noFill/>
          <a:ln w="9525">
            <a:solidFill>
              <a:schemeClr val="tx1"/>
            </a:solidFill>
            <a:round/>
          </a:ln>
        </p:spPr>
        <p:txBody>
          <a:bodyPr wrap="none" anchor="ctr"/>
          <a:lstStyle/>
          <a:p>
            <a:endParaRPr lang="en-US"/>
          </a:p>
        </p:txBody>
      </p:sp>
      <p:sp>
        <p:nvSpPr>
          <p:cNvPr id="19" name="Text Box 46"/>
          <p:cNvSpPr txBox="1">
            <a:spLocks noChangeArrowheads="1"/>
          </p:cNvSpPr>
          <p:nvPr/>
        </p:nvSpPr>
        <p:spPr bwMode="auto">
          <a:xfrm>
            <a:off x="6060874" y="4108894"/>
            <a:ext cx="343364" cy="369332"/>
          </a:xfrm>
          <a:prstGeom prst="rect">
            <a:avLst/>
          </a:prstGeom>
          <a:noFill/>
          <a:ln w="9525">
            <a:noFill/>
            <a:miter lim="800000"/>
          </a:ln>
        </p:spPr>
        <p:txBody>
          <a:bodyPr wrap="none">
            <a:spAutoFit/>
          </a:bodyPr>
          <a:lstStyle/>
          <a:p>
            <a:r>
              <a:rPr lang="en-US"/>
              <a:t>…</a:t>
            </a:r>
          </a:p>
        </p:txBody>
      </p:sp>
      <p:sp>
        <p:nvSpPr>
          <p:cNvPr id="20" name="Line 47"/>
          <p:cNvSpPr>
            <a:spLocks noChangeShapeType="1"/>
          </p:cNvSpPr>
          <p:nvPr/>
        </p:nvSpPr>
        <p:spPr bwMode="auto">
          <a:xfrm>
            <a:off x="5965624" y="4200969"/>
            <a:ext cx="609600" cy="0"/>
          </a:xfrm>
          <a:prstGeom prst="line">
            <a:avLst/>
          </a:prstGeom>
          <a:noFill/>
          <a:ln w="9525">
            <a:solidFill>
              <a:schemeClr val="tx1"/>
            </a:solidFill>
            <a:round/>
          </a:ln>
        </p:spPr>
        <p:txBody>
          <a:bodyPr wrap="none" anchor="ctr"/>
          <a:lstStyle/>
          <a:p>
            <a:endParaRPr lang="en-US"/>
          </a:p>
        </p:txBody>
      </p:sp>
      <p:sp>
        <p:nvSpPr>
          <p:cNvPr id="21" name="Line 48"/>
          <p:cNvSpPr>
            <a:spLocks noChangeShapeType="1"/>
          </p:cNvSpPr>
          <p:nvPr/>
        </p:nvSpPr>
        <p:spPr bwMode="auto">
          <a:xfrm>
            <a:off x="5965624" y="4562919"/>
            <a:ext cx="609600" cy="0"/>
          </a:xfrm>
          <a:prstGeom prst="line">
            <a:avLst/>
          </a:prstGeom>
          <a:noFill/>
          <a:ln w="9525">
            <a:solidFill>
              <a:schemeClr val="tx1"/>
            </a:solidFill>
            <a:round/>
          </a:ln>
        </p:spPr>
        <p:txBody>
          <a:bodyPr wrap="none" anchor="ctr"/>
          <a:lstStyle/>
          <a:p>
            <a:endParaRPr lang="en-US"/>
          </a:p>
        </p:txBody>
      </p:sp>
      <p:sp>
        <p:nvSpPr>
          <p:cNvPr id="22" name="Freeform 71"/>
          <p:cNvSpPr/>
          <p:nvPr/>
        </p:nvSpPr>
        <p:spPr bwMode="auto">
          <a:xfrm>
            <a:off x="4262238" y="3362769"/>
            <a:ext cx="560387" cy="457200"/>
          </a:xfrm>
          <a:custGeom>
            <a:avLst/>
            <a:gdLst>
              <a:gd name="T0" fmla="*/ 2147483647 w 233"/>
              <a:gd name="T1" fmla="*/ 0 h 432"/>
              <a:gd name="T2" fmla="*/ 2147483647 w 233"/>
              <a:gd name="T3" fmla="*/ 2147483647 h 432"/>
              <a:gd name="T4" fmla="*/ 2147483647 w 233"/>
              <a:gd name="T5" fmla="*/ 2147483647 h 432"/>
              <a:gd name="T6" fmla="*/ 2147483647 w 233"/>
              <a:gd name="T7" fmla="*/ 2147483647 h 432"/>
              <a:gd name="T8" fmla="*/ 2147483647 w 233"/>
              <a:gd name="T9" fmla="*/ 2147483647 h 432"/>
              <a:gd name="T10" fmla="*/ 2147483647 w 233"/>
              <a:gd name="T11" fmla="*/ 2147483647 h 432"/>
              <a:gd name="T12" fmla="*/ 0 60000 65536"/>
              <a:gd name="T13" fmla="*/ 0 60000 65536"/>
              <a:gd name="T14" fmla="*/ 0 60000 65536"/>
              <a:gd name="T15" fmla="*/ 0 60000 65536"/>
              <a:gd name="T16" fmla="*/ 0 60000 65536"/>
              <a:gd name="T17" fmla="*/ 0 60000 65536"/>
              <a:gd name="T18" fmla="*/ 0 w 233"/>
              <a:gd name="T19" fmla="*/ 0 h 432"/>
              <a:gd name="T20" fmla="*/ 233 w 233"/>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233" h="432">
                <a:moveTo>
                  <a:pt x="1" y="0"/>
                </a:moveTo>
                <a:cubicBezTo>
                  <a:pt x="3" y="37"/>
                  <a:pt x="0" y="75"/>
                  <a:pt x="9" y="112"/>
                </a:cubicBezTo>
                <a:cubicBezTo>
                  <a:pt x="19" y="157"/>
                  <a:pt x="112" y="171"/>
                  <a:pt x="145" y="176"/>
                </a:cubicBezTo>
                <a:cubicBezTo>
                  <a:pt x="164" y="204"/>
                  <a:pt x="180" y="205"/>
                  <a:pt x="209" y="224"/>
                </a:cubicBezTo>
                <a:cubicBezTo>
                  <a:pt x="226" y="277"/>
                  <a:pt x="227" y="336"/>
                  <a:pt x="233" y="392"/>
                </a:cubicBezTo>
                <a:cubicBezTo>
                  <a:pt x="224" y="427"/>
                  <a:pt x="217" y="416"/>
                  <a:pt x="233" y="432"/>
                </a:cubicBezTo>
              </a:path>
            </a:pathLst>
          </a:custGeom>
          <a:noFill/>
          <a:ln w="9525">
            <a:solidFill>
              <a:schemeClr val="tx1"/>
            </a:solidFill>
            <a:round/>
            <a:tailEnd type="arrow" w="med" len="med"/>
          </a:ln>
        </p:spPr>
        <p:txBody>
          <a:bodyPr wrap="none" anchor="ctr"/>
          <a:lstStyle/>
          <a:p>
            <a:endParaRPr lang="en-US"/>
          </a:p>
        </p:txBody>
      </p:sp>
      <p:sp>
        <p:nvSpPr>
          <p:cNvPr id="23" name="Text Box 74"/>
          <p:cNvSpPr txBox="1">
            <a:spLocks noChangeArrowheads="1"/>
          </p:cNvSpPr>
          <p:nvPr/>
        </p:nvSpPr>
        <p:spPr bwMode="auto">
          <a:xfrm>
            <a:off x="1808333" y="3830932"/>
            <a:ext cx="585417" cy="369332"/>
          </a:xfrm>
          <a:prstGeom prst="rect">
            <a:avLst/>
          </a:prstGeom>
          <a:noFill/>
          <a:ln w="9525">
            <a:noFill/>
            <a:miter lim="800000"/>
          </a:ln>
        </p:spPr>
        <p:txBody>
          <a:bodyPr wrap="none">
            <a:spAutoFit/>
          </a:bodyPr>
          <a:lstStyle/>
          <a:p>
            <a:r>
              <a:rPr lang="zh-CN" altLang="en-US" dirty="0"/>
              <a:t>道</a:t>
            </a:r>
            <a:r>
              <a:rPr lang="en-US" dirty="0"/>
              <a:t> 1</a:t>
            </a:r>
          </a:p>
        </p:txBody>
      </p:sp>
      <p:sp>
        <p:nvSpPr>
          <p:cNvPr id="24" name="Text Box 75"/>
          <p:cNvSpPr txBox="1">
            <a:spLocks noChangeArrowheads="1"/>
          </p:cNvSpPr>
          <p:nvPr/>
        </p:nvSpPr>
        <p:spPr bwMode="auto">
          <a:xfrm>
            <a:off x="1808332" y="4227369"/>
            <a:ext cx="585417" cy="369332"/>
          </a:xfrm>
          <a:prstGeom prst="rect">
            <a:avLst/>
          </a:prstGeom>
          <a:noFill/>
          <a:ln w="9525">
            <a:noFill/>
            <a:miter lim="800000"/>
          </a:ln>
        </p:spPr>
        <p:txBody>
          <a:bodyPr wrap="none">
            <a:spAutoFit/>
          </a:bodyPr>
          <a:lstStyle/>
          <a:p>
            <a:r>
              <a:rPr lang="zh-CN" altLang="en-US" dirty="0"/>
              <a:t>道</a:t>
            </a:r>
            <a:r>
              <a:rPr lang="en-US" dirty="0"/>
              <a:t> 2</a:t>
            </a:r>
          </a:p>
        </p:txBody>
      </p:sp>
      <p:sp>
        <p:nvSpPr>
          <p:cNvPr id="25" name="Text Box 77"/>
          <p:cNvSpPr txBox="1">
            <a:spLocks noChangeArrowheads="1"/>
          </p:cNvSpPr>
          <p:nvPr/>
        </p:nvSpPr>
        <p:spPr bwMode="auto">
          <a:xfrm rot="5400000">
            <a:off x="1941713" y="6089133"/>
            <a:ext cx="343364" cy="369332"/>
          </a:xfrm>
          <a:prstGeom prst="rect">
            <a:avLst/>
          </a:prstGeom>
          <a:noFill/>
          <a:ln w="9525">
            <a:noFill/>
            <a:miter lim="800000"/>
          </a:ln>
        </p:spPr>
        <p:txBody>
          <a:bodyPr wrap="none">
            <a:spAutoFit/>
          </a:bodyPr>
          <a:lstStyle/>
          <a:p>
            <a:r>
              <a:rPr lang="en-US" dirty="0"/>
              <a:t>…</a:t>
            </a:r>
          </a:p>
        </p:txBody>
      </p:sp>
      <p:graphicFrame>
        <p:nvGraphicFramePr>
          <p:cNvPr id="26" name="Group 80"/>
          <p:cNvGraphicFramePr>
            <a:graphicFrameLocks noGrp="1"/>
          </p:cNvGraphicFramePr>
          <p:nvPr/>
        </p:nvGraphicFramePr>
        <p:xfrm>
          <a:off x="2917624" y="4581969"/>
          <a:ext cx="3124200" cy="365760"/>
        </p:xfrm>
        <a:graphic>
          <a:graphicData uri="http://schemas.openxmlformats.org/drawingml/2006/table">
            <a:tbl>
              <a:tblPr/>
              <a:tblGrid>
                <a:gridCol w="520700">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2070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7" name="Text Box 96"/>
          <p:cNvSpPr txBox="1">
            <a:spLocks noChangeArrowheads="1"/>
          </p:cNvSpPr>
          <p:nvPr/>
        </p:nvSpPr>
        <p:spPr bwMode="auto">
          <a:xfrm>
            <a:off x="2403274" y="4524819"/>
            <a:ext cx="343364" cy="369332"/>
          </a:xfrm>
          <a:prstGeom prst="rect">
            <a:avLst/>
          </a:prstGeom>
          <a:noFill/>
          <a:ln w="9525">
            <a:noFill/>
            <a:miter lim="800000"/>
          </a:ln>
        </p:spPr>
        <p:txBody>
          <a:bodyPr wrap="none">
            <a:spAutoFit/>
          </a:bodyPr>
          <a:lstStyle/>
          <a:p>
            <a:r>
              <a:rPr lang="en-US"/>
              <a:t>…</a:t>
            </a:r>
          </a:p>
        </p:txBody>
      </p:sp>
      <p:sp>
        <p:nvSpPr>
          <p:cNvPr id="28" name="Line 97"/>
          <p:cNvSpPr>
            <a:spLocks noChangeShapeType="1"/>
          </p:cNvSpPr>
          <p:nvPr/>
        </p:nvSpPr>
        <p:spPr bwMode="auto">
          <a:xfrm>
            <a:off x="2308024" y="4581969"/>
            <a:ext cx="609600" cy="0"/>
          </a:xfrm>
          <a:prstGeom prst="line">
            <a:avLst/>
          </a:prstGeom>
          <a:noFill/>
          <a:ln w="9525">
            <a:solidFill>
              <a:schemeClr val="tx1"/>
            </a:solidFill>
            <a:round/>
          </a:ln>
        </p:spPr>
        <p:txBody>
          <a:bodyPr wrap="none" anchor="ctr"/>
          <a:lstStyle/>
          <a:p>
            <a:endParaRPr lang="en-US"/>
          </a:p>
        </p:txBody>
      </p:sp>
      <p:sp>
        <p:nvSpPr>
          <p:cNvPr id="29" name="Line 98"/>
          <p:cNvSpPr>
            <a:spLocks noChangeShapeType="1"/>
          </p:cNvSpPr>
          <p:nvPr/>
        </p:nvSpPr>
        <p:spPr bwMode="auto">
          <a:xfrm>
            <a:off x="2308024" y="4962969"/>
            <a:ext cx="609600" cy="0"/>
          </a:xfrm>
          <a:prstGeom prst="line">
            <a:avLst/>
          </a:prstGeom>
          <a:noFill/>
          <a:ln w="9525">
            <a:solidFill>
              <a:schemeClr val="tx1"/>
            </a:solidFill>
            <a:round/>
          </a:ln>
        </p:spPr>
        <p:txBody>
          <a:bodyPr wrap="none" anchor="ctr"/>
          <a:lstStyle/>
          <a:p>
            <a:endParaRPr lang="en-US"/>
          </a:p>
        </p:txBody>
      </p:sp>
      <p:sp>
        <p:nvSpPr>
          <p:cNvPr id="30" name="Text Box 99"/>
          <p:cNvSpPr txBox="1">
            <a:spLocks noChangeArrowheads="1"/>
          </p:cNvSpPr>
          <p:nvPr/>
        </p:nvSpPr>
        <p:spPr bwMode="auto">
          <a:xfrm>
            <a:off x="6060874" y="4505769"/>
            <a:ext cx="343364" cy="369332"/>
          </a:xfrm>
          <a:prstGeom prst="rect">
            <a:avLst/>
          </a:prstGeom>
          <a:noFill/>
          <a:ln w="9525">
            <a:noFill/>
            <a:miter lim="800000"/>
          </a:ln>
        </p:spPr>
        <p:txBody>
          <a:bodyPr wrap="none">
            <a:spAutoFit/>
          </a:bodyPr>
          <a:lstStyle/>
          <a:p>
            <a:r>
              <a:rPr lang="en-US"/>
              <a:t>…</a:t>
            </a:r>
          </a:p>
        </p:txBody>
      </p:sp>
      <p:sp>
        <p:nvSpPr>
          <p:cNvPr id="31" name="Line 100"/>
          <p:cNvSpPr>
            <a:spLocks noChangeShapeType="1"/>
          </p:cNvSpPr>
          <p:nvPr/>
        </p:nvSpPr>
        <p:spPr bwMode="auto">
          <a:xfrm>
            <a:off x="5965624" y="4562919"/>
            <a:ext cx="609600" cy="0"/>
          </a:xfrm>
          <a:prstGeom prst="line">
            <a:avLst/>
          </a:prstGeom>
          <a:noFill/>
          <a:ln w="9525">
            <a:solidFill>
              <a:schemeClr val="tx1"/>
            </a:solidFill>
            <a:round/>
          </a:ln>
        </p:spPr>
        <p:txBody>
          <a:bodyPr wrap="none" anchor="ctr"/>
          <a:lstStyle/>
          <a:p>
            <a:endParaRPr lang="en-US"/>
          </a:p>
        </p:txBody>
      </p:sp>
      <p:sp>
        <p:nvSpPr>
          <p:cNvPr id="32" name="Line 101"/>
          <p:cNvSpPr>
            <a:spLocks noChangeShapeType="1"/>
          </p:cNvSpPr>
          <p:nvPr/>
        </p:nvSpPr>
        <p:spPr bwMode="auto">
          <a:xfrm>
            <a:off x="5965624" y="4943919"/>
            <a:ext cx="609600" cy="0"/>
          </a:xfrm>
          <a:prstGeom prst="line">
            <a:avLst/>
          </a:prstGeom>
          <a:noFill/>
          <a:ln w="9525">
            <a:solidFill>
              <a:schemeClr val="tx1"/>
            </a:solidFill>
            <a:round/>
          </a:ln>
        </p:spPr>
        <p:txBody>
          <a:bodyPr wrap="none" anchor="ctr"/>
          <a:lstStyle/>
          <a:p>
            <a:endParaRPr lang="en-US"/>
          </a:p>
        </p:txBody>
      </p:sp>
      <p:graphicFrame>
        <p:nvGraphicFramePr>
          <p:cNvPr id="33" name="Group 127"/>
          <p:cNvGraphicFramePr>
            <a:graphicFrameLocks noGrp="1"/>
          </p:cNvGraphicFramePr>
          <p:nvPr/>
        </p:nvGraphicFramePr>
        <p:xfrm>
          <a:off x="2917624" y="4962969"/>
          <a:ext cx="3124200" cy="365760"/>
        </p:xfrm>
        <a:graphic>
          <a:graphicData uri="http://schemas.openxmlformats.org/drawingml/2006/table">
            <a:tbl>
              <a:tblPr/>
              <a:tblGrid>
                <a:gridCol w="520700">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2070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B</a:t>
                      </a:r>
                      <a:r>
                        <a:rPr kumimoji="0" lang="en-US" sz="1800" b="0" i="0" u="none" strike="noStrike" cap="none" normalizeH="0" baseline="-25000">
                          <a:ln>
                            <a:noFill/>
                          </a:ln>
                          <a:solidFill>
                            <a:schemeClr val="tx1"/>
                          </a:solidFill>
                          <a:effectLst/>
                          <a:latin typeface="Arial" panose="020B0604020202020204"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B</a:t>
                      </a:r>
                      <a:r>
                        <a:rPr kumimoji="0" lang="en-US" sz="1800" b="0" i="0" u="none" strike="noStrike" cap="none" normalizeH="0" baseline="-25000">
                          <a:ln>
                            <a:noFill/>
                          </a:ln>
                          <a:solidFill>
                            <a:schemeClr val="tx1"/>
                          </a:solidFill>
                          <a:effectLst/>
                          <a:latin typeface="Arial" panose="020B0604020202020204" pitchFamily="34" charset="0"/>
                        </a:rPr>
                        <a:t>2</a:t>
                      </a: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B</a:t>
                      </a:r>
                      <a:r>
                        <a:rPr kumimoji="0" lang="en-US" sz="1800" b="0" i="0" u="none" strike="noStrike" cap="none" normalizeH="0" baseline="-25000">
                          <a:ln>
                            <a:noFill/>
                          </a:ln>
                          <a:solidFill>
                            <a:schemeClr val="tx1"/>
                          </a:solidFill>
                          <a:effectLst/>
                          <a:latin typeface="Arial" panose="020B0604020202020204" pitchFamily="34" charset="0"/>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B</a:t>
                      </a:r>
                      <a:r>
                        <a:rPr kumimoji="0" lang="en-US" sz="1800" b="0" i="0" u="none" strike="noStrike" cap="none" normalizeH="0" baseline="-25000">
                          <a:ln>
                            <a:noFill/>
                          </a:ln>
                          <a:solidFill>
                            <a:schemeClr val="tx1"/>
                          </a:solidFill>
                          <a:effectLst/>
                          <a:latin typeface="Arial" panose="020B0604020202020204" pitchFamily="34" charset="0"/>
                        </a:rPr>
                        <a:t>j</a:t>
                      </a: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4" name="Text Box 118"/>
          <p:cNvSpPr txBox="1">
            <a:spLocks noChangeArrowheads="1"/>
          </p:cNvSpPr>
          <p:nvPr/>
        </p:nvSpPr>
        <p:spPr bwMode="auto">
          <a:xfrm>
            <a:off x="2403274" y="4905819"/>
            <a:ext cx="343364" cy="369332"/>
          </a:xfrm>
          <a:prstGeom prst="rect">
            <a:avLst/>
          </a:prstGeom>
          <a:noFill/>
          <a:ln w="9525">
            <a:noFill/>
            <a:miter lim="800000"/>
          </a:ln>
        </p:spPr>
        <p:txBody>
          <a:bodyPr wrap="none">
            <a:spAutoFit/>
          </a:bodyPr>
          <a:lstStyle/>
          <a:p>
            <a:r>
              <a:rPr lang="en-US"/>
              <a:t>…</a:t>
            </a:r>
          </a:p>
        </p:txBody>
      </p:sp>
      <p:sp>
        <p:nvSpPr>
          <p:cNvPr id="35" name="Line 119"/>
          <p:cNvSpPr>
            <a:spLocks noChangeShapeType="1"/>
          </p:cNvSpPr>
          <p:nvPr/>
        </p:nvSpPr>
        <p:spPr bwMode="auto">
          <a:xfrm>
            <a:off x="2384224" y="4962969"/>
            <a:ext cx="609600" cy="0"/>
          </a:xfrm>
          <a:prstGeom prst="line">
            <a:avLst/>
          </a:prstGeom>
          <a:noFill/>
          <a:ln w="9525">
            <a:solidFill>
              <a:schemeClr val="tx1"/>
            </a:solidFill>
            <a:round/>
          </a:ln>
        </p:spPr>
        <p:txBody>
          <a:bodyPr wrap="none" anchor="ctr"/>
          <a:lstStyle/>
          <a:p>
            <a:endParaRPr lang="en-US"/>
          </a:p>
        </p:txBody>
      </p:sp>
      <p:sp>
        <p:nvSpPr>
          <p:cNvPr id="36" name="Line 120"/>
          <p:cNvSpPr>
            <a:spLocks noChangeShapeType="1"/>
          </p:cNvSpPr>
          <p:nvPr/>
        </p:nvSpPr>
        <p:spPr bwMode="auto">
          <a:xfrm>
            <a:off x="2308024" y="5343969"/>
            <a:ext cx="609600" cy="0"/>
          </a:xfrm>
          <a:prstGeom prst="line">
            <a:avLst/>
          </a:prstGeom>
          <a:noFill/>
          <a:ln w="9525">
            <a:solidFill>
              <a:schemeClr val="tx1"/>
            </a:solidFill>
            <a:round/>
          </a:ln>
        </p:spPr>
        <p:txBody>
          <a:bodyPr wrap="none" anchor="ctr"/>
          <a:lstStyle/>
          <a:p>
            <a:endParaRPr lang="en-US"/>
          </a:p>
        </p:txBody>
      </p:sp>
      <p:sp>
        <p:nvSpPr>
          <p:cNvPr id="37" name="Text Box 121"/>
          <p:cNvSpPr txBox="1">
            <a:spLocks noChangeArrowheads="1"/>
          </p:cNvSpPr>
          <p:nvPr/>
        </p:nvSpPr>
        <p:spPr bwMode="auto">
          <a:xfrm>
            <a:off x="6060874" y="4870894"/>
            <a:ext cx="343364" cy="369332"/>
          </a:xfrm>
          <a:prstGeom prst="rect">
            <a:avLst/>
          </a:prstGeom>
          <a:noFill/>
          <a:ln w="9525">
            <a:noFill/>
            <a:miter lim="800000"/>
          </a:ln>
        </p:spPr>
        <p:txBody>
          <a:bodyPr wrap="none">
            <a:spAutoFit/>
          </a:bodyPr>
          <a:lstStyle/>
          <a:p>
            <a:r>
              <a:rPr lang="en-US"/>
              <a:t>…</a:t>
            </a:r>
          </a:p>
        </p:txBody>
      </p:sp>
      <p:sp>
        <p:nvSpPr>
          <p:cNvPr id="38" name="Line 122"/>
          <p:cNvSpPr>
            <a:spLocks noChangeShapeType="1"/>
          </p:cNvSpPr>
          <p:nvPr/>
        </p:nvSpPr>
        <p:spPr bwMode="auto">
          <a:xfrm>
            <a:off x="5965624" y="4962969"/>
            <a:ext cx="609600" cy="0"/>
          </a:xfrm>
          <a:prstGeom prst="line">
            <a:avLst/>
          </a:prstGeom>
          <a:noFill/>
          <a:ln w="9525">
            <a:solidFill>
              <a:schemeClr val="tx1"/>
            </a:solidFill>
            <a:round/>
          </a:ln>
        </p:spPr>
        <p:txBody>
          <a:bodyPr wrap="none" anchor="ctr"/>
          <a:lstStyle/>
          <a:p>
            <a:endParaRPr lang="en-US"/>
          </a:p>
        </p:txBody>
      </p:sp>
      <p:sp>
        <p:nvSpPr>
          <p:cNvPr id="39" name="Line 123"/>
          <p:cNvSpPr>
            <a:spLocks noChangeShapeType="1"/>
          </p:cNvSpPr>
          <p:nvPr/>
        </p:nvSpPr>
        <p:spPr bwMode="auto">
          <a:xfrm>
            <a:off x="5965624" y="5324919"/>
            <a:ext cx="609600" cy="0"/>
          </a:xfrm>
          <a:prstGeom prst="line">
            <a:avLst/>
          </a:prstGeom>
          <a:noFill/>
          <a:ln w="9525">
            <a:solidFill>
              <a:schemeClr val="tx1"/>
            </a:solidFill>
            <a:round/>
          </a:ln>
        </p:spPr>
        <p:txBody>
          <a:bodyPr wrap="none" anchor="ctr"/>
          <a:lstStyle/>
          <a:p>
            <a:endParaRPr lang="en-US"/>
          </a:p>
        </p:txBody>
      </p:sp>
      <p:sp>
        <p:nvSpPr>
          <p:cNvPr id="40" name="Text Box 124"/>
          <p:cNvSpPr txBox="1">
            <a:spLocks noChangeArrowheads="1"/>
          </p:cNvSpPr>
          <p:nvPr/>
        </p:nvSpPr>
        <p:spPr bwMode="auto">
          <a:xfrm>
            <a:off x="1827143" y="4633178"/>
            <a:ext cx="585417" cy="369332"/>
          </a:xfrm>
          <a:prstGeom prst="rect">
            <a:avLst/>
          </a:prstGeom>
          <a:noFill/>
          <a:ln w="9525">
            <a:noFill/>
            <a:miter lim="800000"/>
          </a:ln>
        </p:spPr>
        <p:txBody>
          <a:bodyPr wrap="none">
            <a:spAutoFit/>
          </a:bodyPr>
          <a:lstStyle/>
          <a:p>
            <a:r>
              <a:rPr lang="zh-CN" altLang="en-US" dirty="0"/>
              <a:t>道 </a:t>
            </a:r>
            <a:r>
              <a:rPr lang="en-US" dirty="0"/>
              <a:t>3</a:t>
            </a:r>
          </a:p>
        </p:txBody>
      </p:sp>
      <p:sp>
        <p:nvSpPr>
          <p:cNvPr id="41" name="Text Box 125"/>
          <p:cNvSpPr txBox="1">
            <a:spLocks noChangeArrowheads="1"/>
          </p:cNvSpPr>
          <p:nvPr/>
        </p:nvSpPr>
        <p:spPr bwMode="auto">
          <a:xfrm>
            <a:off x="1808332" y="5002510"/>
            <a:ext cx="585417" cy="369332"/>
          </a:xfrm>
          <a:prstGeom prst="rect">
            <a:avLst/>
          </a:prstGeom>
          <a:noFill/>
          <a:ln w="9525">
            <a:noFill/>
            <a:miter lim="800000"/>
          </a:ln>
        </p:spPr>
        <p:txBody>
          <a:bodyPr wrap="none">
            <a:spAutoFit/>
          </a:bodyPr>
          <a:lstStyle/>
          <a:p>
            <a:r>
              <a:rPr lang="zh-CN" altLang="en-US" dirty="0"/>
              <a:t>道</a:t>
            </a:r>
            <a:r>
              <a:rPr lang="en-US" dirty="0"/>
              <a:t> 4</a:t>
            </a:r>
          </a:p>
        </p:txBody>
      </p:sp>
      <p:sp>
        <p:nvSpPr>
          <p:cNvPr id="42" name="Text Box 128"/>
          <p:cNvSpPr txBox="1">
            <a:spLocks noChangeArrowheads="1"/>
          </p:cNvSpPr>
          <p:nvPr/>
        </p:nvSpPr>
        <p:spPr bwMode="auto">
          <a:xfrm>
            <a:off x="4822625" y="2933862"/>
            <a:ext cx="646331" cy="369332"/>
          </a:xfrm>
          <a:prstGeom prst="rect">
            <a:avLst/>
          </a:prstGeom>
          <a:noFill/>
          <a:ln w="9525">
            <a:solidFill>
              <a:schemeClr val="folHlink"/>
            </a:solidFill>
            <a:miter lim="800000"/>
          </a:ln>
        </p:spPr>
        <p:txBody>
          <a:bodyPr wrap="none">
            <a:spAutoFit/>
          </a:bodyPr>
          <a:lstStyle/>
          <a:p>
            <a:r>
              <a:rPr lang="zh-CN" altLang="en-US" dirty="0"/>
              <a:t>存储</a:t>
            </a:r>
            <a:endParaRPr lang="en-US" dirty="0"/>
          </a:p>
        </p:txBody>
      </p:sp>
      <p:sp>
        <p:nvSpPr>
          <p:cNvPr id="43" name="Rectangle 42"/>
          <p:cNvSpPr>
            <a:spLocks noChangeArrowheads="1"/>
          </p:cNvSpPr>
          <p:nvPr/>
        </p:nvSpPr>
        <p:spPr bwMode="auto">
          <a:xfrm>
            <a:off x="3206906" y="2733151"/>
            <a:ext cx="1600200" cy="614379"/>
          </a:xfrm>
          <a:prstGeom prst="rect">
            <a:avLst/>
          </a:prstGeom>
          <a:solidFill>
            <a:srgbClr val="92D050"/>
          </a:solidFill>
          <a:ln w="9525">
            <a:solidFill>
              <a:schemeClr val="tx1"/>
            </a:solidFill>
            <a:miter lim="800000"/>
          </a:ln>
        </p:spPr>
        <p:txBody>
          <a:bodyPr wrap="none" anchor="ctr"/>
          <a:lstStyle/>
          <a:p>
            <a:pPr algn="ctr"/>
            <a:r>
              <a:rPr lang="zh-CN" altLang="en-US" dirty="0"/>
              <a:t>有穷控制器</a:t>
            </a:r>
            <a:endParaRPr lang="en-US" dirty="0"/>
          </a:p>
        </p:txBody>
      </p:sp>
      <p:sp>
        <p:nvSpPr>
          <p:cNvPr id="49" name="TextBox 48"/>
          <p:cNvSpPr txBox="1"/>
          <p:nvPr/>
        </p:nvSpPr>
        <p:spPr>
          <a:xfrm>
            <a:off x="6751718" y="2179977"/>
            <a:ext cx="3733800" cy="3477875"/>
          </a:xfrm>
          <a:prstGeom prst="rect">
            <a:avLst/>
          </a:prstGeom>
          <a:solidFill>
            <a:srgbClr val="FFC000"/>
          </a:solidFill>
        </p:spPr>
        <p:txBody>
          <a:bodyPr wrap="square">
            <a:spAutoFit/>
          </a:bodyPr>
          <a:lstStyle/>
          <a:p>
            <a:r>
              <a:rPr lang="en-AU"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用</a:t>
            </a:r>
            <a:r>
              <a:rPr lang="en-US" altLang="zh-CN" sz="2200" dirty="0">
                <a:latin typeface="楷体" panose="02010609060101010101" pitchFamily="49" charset="-122"/>
                <a:ea typeface="楷体" panose="02010609060101010101" pitchFamily="49" charset="-122"/>
              </a:rPr>
              <a:t>2k</a:t>
            </a:r>
            <a:r>
              <a:rPr lang="zh-CN" altLang="en-US" sz="2200" dirty="0">
                <a:latin typeface="楷体" panose="02010609060101010101" pitchFamily="49" charset="-122"/>
                <a:ea typeface="楷体" panose="02010609060101010101" pitchFamily="49" charset="-122"/>
              </a:rPr>
              <a:t>道的单带图灵机𝐷模拟</a:t>
            </a:r>
            <a:r>
              <a:rPr lang="en-US" altLang="zh-CN" sz="2200" dirty="0">
                <a:latin typeface="楷体" panose="02010609060101010101" pitchFamily="49" charset="-122"/>
                <a:ea typeface="楷体" panose="02010609060101010101" pitchFamily="49" charset="-122"/>
              </a:rPr>
              <a:t>k</a:t>
            </a:r>
            <a:r>
              <a:rPr lang="zh-CN" altLang="en-US" sz="2200" dirty="0">
                <a:latin typeface="楷体" panose="02010609060101010101" pitchFamily="49" charset="-122"/>
                <a:ea typeface="楷体" panose="02010609060101010101" pitchFamily="49" charset="-122"/>
              </a:rPr>
              <a:t>带图灵机𝑀</a:t>
            </a:r>
            <a:r>
              <a:rPr lang="en-US" altLang="zh-CN" sz="2200" dirty="0">
                <a:latin typeface="楷体" panose="02010609060101010101" pitchFamily="49" charset="-122"/>
                <a:ea typeface="楷体" panose="02010609060101010101" pitchFamily="49" charset="-122"/>
              </a:rPr>
              <a:t>;</a:t>
            </a:r>
          </a:p>
          <a:p>
            <a:r>
              <a:rPr lang="en-AU"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𝐷用两道模拟𝑀一带</a:t>
            </a:r>
            <a:r>
              <a:rPr lang="en-US"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一道放置内容</a:t>
            </a:r>
            <a:r>
              <a:rPr lang="en-US"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一道标记带头</a:t>
            </a:r>
            <a:r>
              <a:rPr lang="en-US" altLang="zh-CN" sz="2200" dirty="0">
                <a:latin typeface="楷体" panose="02010609060101010101" pitchFamily="49" charset="-122"/>
                <a:ea typeface="楷体" panose="02010609060101010101" pitchFamily="49" charset="-122"/>
              </a:rPr>
              <a:t>;</a:t>
            </a:r>
          </a:p>
          <a:p>
            <a:r>
              <a:rPr lang="en-AU"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为模拟𝑀的一个动作</a:t>
            </a:r>
            <a:r>
              <a:rPr lang="en-US"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𝐷需要从左至右</a:t>
            </a:r>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再从右至左</a:t>
            </a:r>
            <a:r>
              <a:rPr lang="en-US"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各扫描一次</a:t>
            </a:r>
            <a:r>
              <a:rPr lang="en-US" altLang="zh-CN" sz="2200" dirty="0">
                <a:latin typeface="楷体" panose="02010609060101010101" pitchFamily="49" charset="-122"/>
                <a:ea typeface="楷体" panose="02010609060101010101" pitchFamily="49" charset="-122"/>
              </a:rPr>
              <a:t>;</a:t>
            </a:r>
          </a:p>
          <a:p>
            <a:r>
              <a:rPr lang="en-AU"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第一次扫描收集各带头处符号</a:t>
            </a:r>
            <a:r>
              <a:rPr lang="en-US"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第二次更新带头符号和位置。</a:t>
            </a:r>
          </a:p>
        </p:txBody>
      </p:sp>
      <p:sp>
        <p:nvSpPr>
          <p:cNvPr id="51" name="TextBox 50"/>
          <p:cNvSpPr txBox="1"/>
          <p:nvPr/>
        </p:nvSpPr>
        <p:spPr>
          <a:xfrm>
            <a:off x="6716382" y="1718312"/>
            <a:ext cx="3094640"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模拟多带图灵机：</a:t>
            </a:r>
            <a:endParaRPr lang="en-AU"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非确定图灵机</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84300" y="1432719"/>
                <a:ext cx="10668000" cy="4525963"/>
              </a:xfrm>
            </p:spPr>
            <p:txBody>
              <a:bodyPr>
                <a:normAutofit fontScale="92500"/>
              </a:bodyPr>
              <a:lstStyle/>
              <a:p>
                <a:r>
                  <a:rPr lang="zh-CN" altLang="en-US" dirty="0"/>
                  <a:t>图灵机在每组状态</a:t>
                </a:r>
                <a14:m>
                  <m:oMath xmlns:m="http://schemas.openxmlformats.org/officeDocument/2006/math">
                    <m:r>
                      <a:rPr lang="en-US" altLang="zh-CN" i="1" dirty="0" smtClean="0">
                        <a:latin typeface="Cambria Math" panose="02040503050406030204" pitchFamily="18" charset="0"/>
                      </a:rPr>
                      <m:t>𝑞</m:t>
                    </m:r>
                  </m:oMath>
                </a14:m>
                <a:r>
                  <a:rPr lang="zh-CN" altLang="en-US" dirty="0"/>
                  <a:t>和带符号</a:t>
                </a:r>
                <a14:m>
                  <m:oMath xmlns:m="http://schemas.openxmlformats.org/officeDocument/2006/math">
                    <m:r>
                      <a:rPr lang="en-AU" altLang="zh-CN" b="0" i="1" smtClean="0">
                        <a:latin typeface="Cambria Math" panose="02040503050406030204" pitchFamily="18" charset="0"/>
                      </a:rPr>
                      <m:t>𝑋</m:t>
                    </m:r>
                  </m:oMath>
                </a14:m>
                <a:r>
                  <a:rPr lang="zh-CN" altLang="en-US" dirty="0"/>
                  <a:t>的转移 </a:t>
                </a:r>
                <a14:m>
                  <m:oMath xmlns:m="http://schemas.openxmlformats.org/officeDocument/2006/math">
                    <m:r>
                      <a:rPr lang="en-US" altLang="zh-CN" i="1" dirty="0" smtClean="0">
                        <a:latin typeface="Cambria Math" panose="02040503050406030204" pitchFamily="18" charset="0"/>
                      </a:rPr>
                      <m:t>𝛿</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𝑞</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𝑋</m:t>
                    </m:r>
                    <m:r>
                      <a:rPr lang="en-US" altLang="zh-CN" i="1" dirty="0" smtClean="0">
                        <a:latin typeface="Cambria Math" panose="02040503050406030204" pitchFamily="18" charset="0"/>
                      </a:rPr>
                      <m:t>), </m:t>
                    </m:r>
                  </m:oMath>
                </a14:m>
                <a:r>
                  <a:rPr lang="zh-CN" altLang="en-US" dirty="0"/>
                  <a:t>可以有有穷个选择</a:t>
                </a:r>
                <a:r>
                  <a:rPr lang="en-US" altLang="zh-CN" dirty="0"/>
                  <a:t>:</a:t>
                </a:r>
              </a:p>
              <a:p>
                <a:pPr marL="0" indent="0">
                  <a:buNone/>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𝛿</m:t>
                      </m:r>
                      <m:r>
                        <a:rPr lang="es-ES" i="1" dirty="0" smtClean="0">
                          <a:latin typeface="Cambria Math" panose="02040503050406030204" pitchFamily="18" charset="0"/>
                        </a:rPr>
                        <m:t>(</m:t>
                      </m:r>
                      <m:r>
                        <a:rPr lang="es-ES" i="1" dirty="0" smtClean="0">
                          <a:latin typeface="Cambria Math" panose="02040503050406030204" pitchFamily="18" charset="0"/>
                        </a:rPr>
                        <m:t>𝑞</m:t>
                      </m:r>
                      <m:r>
                        <a:rPr lang="es-ES" i="1" dirty="0" smtClean="0">
                          <a:latin typeface="Cambria Math" panose="02040503050406030204" pitchFamily="18" charset="0"/>
                        </a:rPr>
                        <m:t>, </m:t>
                      </m:r>
                      <m:r>
                        <a:rPr lang="es-ES" i="1" dirty="0" smtClean="0">
                          <a:latin typeface="Cambria Math" panose="02040503050406030204" pitchFamily="18" charset="0"/>
                        </a:rPr>
                        <m:t>𝑋</m:t>
                      </m:r>
                      <m:r>
                        <a:rPr lang="es-ES" i="1" dirty="0" smtClean="0">
                          <a:latin typeface="Cambria Math" panose="02040503050406030204" pitchFamily="18" charset="0"/>
                        </a:rPr>
                        <m:t>) = {(</m:t>
                      </m:r>
                      <m:sSub>
                        <m:sSubPr>
                          <m:ctrlPr>
                            <a:rPr lang="es-ES" i="1" dirty="0" smtClean="0">
                              <a:latin typeface="Cambria Math" panose="02040503050406030204" pitchFamily="18" charset="0"/>
                            </a:rPr>
                          </m:ctrlPr>
                        </m:sSubPr>
                        <m:e>
                          <m:r>
                            <a:rPr lang="en-AU" b="0" i="1" dirty="0" smtClean="0">
                              <a:latin typeface="Cambria Math" panose="02040503050406030204" pitchFamily="18" charset="0"/>
                            </a:rPr>
                            <m:t>𝑞</m:t>
                          </m:r>
                        </m:e>
                        <m:sub>
                          <m:r>
                            <a:rPr lang="en-AU" b="0" i="1" dirty="0" smtClean="0">
                              <a:latin typeface="Cambria Math" panose="02040503050406030204" pitchFamily="18" charset="0"/>
                            </a:rPr>
                            <m:t>1</m:t>
                          </m:r>
                        </m:sub>
                      </m:sSub>
                      <m:r>
                        <a:rPr lang="es-ES" i="1" dirty="0" smtClean="0">
                          <a:latin typeface="Cambria Math" panose="02040503050406030204" pitchFamily="18" charset="0"/>
                        </a:rPr>
                        <m:t>,</m:t>
                      </m:r>
                      <m:sSub>
                        <m:sSubPr>
                          <m:ctrlPr>
                            <a:rPr lang="es-ES" i="1" dirty="0">
                              <a:latin typeface="Cambria Math" panose="02040503050406030204" pitchFamily="18" charset="0"/>
                            </a:rPr>
                          </m:ctrlPr>
                        </m:sSubPr>
                        <m:e>
                          <m:r>
                            <a:rPr lang="en-AU" b="0" i="1" dirty="0" smtClean="0">
                              <a:latin typeface="Cambria Math" panose="02040503050406030204" pitchFamily="18" charset="0"/>
                            </a:rPr>
                            <m:t>𝑌</m:t>
                          </m:r>
                        </m:e>
                        <m:sub>
                          <m:r>
                            <a:rPr lang="en-AU" i="1" dirty="0">
                              <a:latin typeface="Cambria Math" panose="02040503050406030204" pitchFamily="18" charset="0"/>
                            </a:rPr>
                            <m:t>1</m:t>
                          </m:r>
                        </m:sub>
                      </m:sSub>
                      <m:r>
                        <a:rPr lang="es-ES" i="1" dirty="0" smtClean="0">
                          <a:latin typeface="Cambria Math" panose="02040503050406030204" pitchFamily="18" charset="0"/>
                        </a:rPr>
                        <m:t>,</m:t>
                      </m:r>
                      <m:sSub>
                        <m:sSubPr>
                          <m:ctrlPr>
                            <a:rPr lang="es-ES" i="1" dirty="0">
                              <a:latin typeface="Cambria Math" panose="02040503050406030204" pitchFamily="18" charset="0"/>
                            </a:rPr>
                          </m:ctrlPr>
                        </m:sSubPr>
                        <m:e>
                          <m:r>
                            <a:rPr lang="en-AU" b="0" i="1" dirty="0" smtClean="0">
                              <a:latin typeface="Cambria Math" panose="02040503050406030204" pitchFamily="18" charset="0"/>
                            </a:rPr>
                            <m:t>𝐷</m:t>
                          </m:r>
                        </m:e>
                        <m:sub>
                          <m:r>
                            <a:rPr lang="en-AU" i="1" dirty="0">
                              <a:latin typeface="Cambria Math" panose="02040503050406030204" pitchFamily="18" charset="0"/>
                            </a:rPr>
                            <m:t>1</m:t>
                          </m:r>
                        </m:sub>
                      </m:sSub>
                      <m:r>
                        <a:rPr lang="es-ES" i="1" dirty="0" smtClean="0">
                          <a:latin typeface="Cambria Math" panose="02040503050406030204" pitchFamily="18" charset="0"/>
                        </a:rPr>
                        <m:t>), (</m:t>
                      </m:r>
                      <m:sSub>
                        <m:sSubPr>
                          <m:ctrlPr>
                            <a:rPr lang="es-ES" i="1" dirty="0">
                              <a:latin typeface="Cambria Math" panose="02040503050406030204" pitchFamily="18" charset="0"/>
                            </a:rPr>
                          </m:ctrlPr>
                        </m:sSubPr>
                        <m:e>
                          <m:r>
                            <a:rPr lang="en-AU" i="1" dirty="0">
                              <a:latin typeface="Cambria Math" panose="02040503050406030204" pitchFamily="18" charset="0"/>
                            </a:rPr>
                            <m:t>𝑞</m:t>
                          </m:r>
                        </m:e>
                        <m:sub>
                          <m:r>
                            <a:rPr lang="en-AU" b="0" i="1" dirty="0" smtClean="0">
                              <a:latin typeface="Cambria Math" panose="02040503050406030204" pitchFamily="18" charset="0"/>
                            </a:rPr>
                            <m:t>2</m:t>
                          </m:r>
                        </m:sub>
                      </m:sSub>
                      <m:r>
                        <a:rPr lang="es-ES" i="1" dirty="0">
                          <a:latin typeface="Cambria Math" panose="02040503050406030204" pitchFamily="18" charset="0"/>
                        </a:rPr>
                        <m:t>,</m:t>
                      </m:r>
                      <m:sSub>
                        <m:sSubPr>
                          <m:ctrlPr>
                            <a:rPr lang="es-ES" i="1" dirty="0">
                              <a:latin typeface="Cambria Math" panose="02040503050406030204" pitchFamily="18" charset="0"/>
                            </a:rPr>
                          </m:ctrlPr>
                        </m:sSubPr>
                        <m:e>
                          <m:r>
                            <a:rPr lang="en-AU" i="1" dirty="0">
                              <a:latin typeface="Cambria Math" panose="02040503050406030204" pitchFamily="18" charset="0"/>
                            </a:rPr>
                            <m:t>𝑌</m:t>
                          </m:r>
                        </m:e>
                        <m:sub>
                          <m:r>
                            <a:rPr lang="en-AU" b="0" i="1" dirty="0" smtClean="0">
                              <a:latin typeface="Cambria Math" panose="02040503050406030204" pitchFamily="18" charset="0"/>
                            </a:rPr>
                            <m:t>2</m:t>
                          </m:r>
                        </m:sub>
                      </m:sSub>
                      <m:r>
                        <a:rPr lang="es-ES" i="1" dirty="0">
                          <a:latin typeface="Cambria Math" panose="02040503050406030204" pitchFamily="18" charset="0"/>
                        </a:rPr>
                        <m:t>,</m:t>
                      </m:r>
                      <m:sSub>
                        <m:sSubPr>
                          <m:ctrlPr>
                            <a:rPr lang="es-ES" i="1" dirty="0">
                              <a:latin typeface="Cambria Math" panose="02040503050406030204" pitchFamily="18" charset="0"/>
                            </a:rPr>
                          </m:ctrlPr>
                        </m:sSubPr>
                        <m:e>
                          <m:r>
                            <a:rPr lang="en-AU" i="1" dirty="0">
                              <a:latin typeface="Cambria Math" panose="02040503050406030204" pitchFamily="18" charset="0"/>
                            </a:rPr>
                            <m:t>𝐷</m:t>
                          </m:r>
                        </m:e>
                        <m:sub>
                          <m:r>
                            <a:rPr lang="en-AU" b="0" i="1" dirty="0" smtClean="0">
                              <a:latin typeface="Cambria Math" panose="02040503050406030204" pitchFamily="18" charset="0"/>
                            </a:rPr>
                            <m:t>2</m:t>
                          </m:r>
                        </m:sub>
                      </m:sSub>
                      <m:r>
                        <a:rPr lang="es-ES" i="1" dirty="0" smtClean="0">
                          <a:latin typeface="Cambria Math" panose="02040503050406030204" pitchFamily="18" charset="0"/>
                        </a:rPr>
                        <m:t>), · · · , (</m:t>
                      </m:r>
                      <m:sSub>
                        <m:sSubPr>
                          <m:ctrlPr>
                            <a:rPr lang="es-ES" i="1" dirty="0">
                              <a:latin typeface="Cambria Math" panose="02040503050406030204" pitchFamily="18" charset="0"/>
                            </a:rPr>
                          </m:ctrlPr>
                        </m:sSubPr>
                        <m:e>
                          <m:r>
                            <a:rPr lang="en-AU" i="1" dirty="0">
                              <a:latin typeface="Cambria Math" panose="02040503050406030204" pitchFamily="18" charset="0"/>
                            </a:rPr>
                            <m:t>𝑞</m:t>
                          </m:r>
                        </m:e>
                        <m:sub>
                          <m:r>
                            <a:rPr lang="en-AU" b="0" i="1" dirty="0" smtClean="0">
                              <a:latin typeface="Cambria Math" panose="02040503050406030204" pitchFamily="18" charset="0"/>
                            </a:rPr>
                            <m:t>𝑘</m:t>
                          </m:r>
                        </m:sub>
                      </m:sSub>
                      <m:r>
                        <a:rPr lang="es-ES" i="1" dirty="0">
                          <a:latin typeface="Cambria Math" panose="02040503050406030204" pitchFamily="18" charset="0"/>
                        </a:rPr>
                        <m:t>,</m:t>
                      </m:r>
                      <m:sSub>
                        <m:sSubPr>
                          <m:ctrlPr>
                            <a:rPr lang="es-ES" i="1" dirty="0">
                              <a:latin typeface="Cambria Math" panose="02040503050406030204" pitchFamily="18" charset="0"/>
                            </a:rPr>
                          </m:ctrlPr>
                        </m:sSubPr>
                        <m:e>
                          <m:r>
                            <a:rPr lang="en-AU" i="1" dirty="0">
                              <a:latin typeface="Cambria Math" panose="02040503050406030204" pitchFamily="18" charset="0"/>
                            </a:rPr>
                            <m:t>𝑌</m:t>
                          </m:r>
                        </m:e>
                        <m:sub>
                          <m:r>
                            <a:rPr lang="en-AU" b="0" i="1" dirty="0" smtClean="0">
                              <a:latin typeface="Cambria Math" panose="02040503050406030204" pitchFamily="18" charset="0"/>
                            </a:rPr>
                            <m:t>𝑘</m:t>
                          </m:r>
                        </m:sub>
                      </m:sSub>
                      <m:r>
                        <a:rPr lang="es-ES" i="1" dirty="0">
                          <a:latin typeface="Cambria Math" panose="02040503050406030204" pitchFamily="18" charset="0"/>
                        </a:rPr>
                        <m:t>,</m:t>
                      </m:r>
                      <m:sSub>
                        <m:sSubPr>
                          <m:ctrlPr>
                            <a:rPr lang="es-ES" i="1" dirty="0">
                              <a:latin typeface="Cambria Math" panose="02040503050406030204" pitchFamily="18" charset="0"/>
                            </a:rPr>
                          </m:ctrlPr>
                        </m:sSubPr>
                        <m:e>
                          <m:r>
                            <a:rPr lang="en-AU" i="1" dirty="0">
                              <a:latin typeface="Cambria Math" panose="02040503050406030204" pitchFamily="18" charset="0"/>
                            </a:rPr>
                            <m:t>𝐷</m:t>
                          </m:r>
                        </m:e>
                        <m:sub>
                          <m:r>
                            <a:rPr lang="en-AU" b="0" i="1" dirty="0" smtClean="0">
                              <a:latin typeface="Cambria Math" panose="02040503050406030204" pitchFamily="18" charset="0"/>
                            </a:rPr>
                            <m:t>𝑘</m:t>
                          </m:r>
                        </m:sub>
                      </m:sSub>
                      <m:r>
                        <a:rPr lang="es-ES" i="1" dirty="0" smtClean="0">
                          <a:latin typeface="Cambria Math" panose="02040503050406030204" pitchFamily="18" charset="0"/>
                        </a:rPr>
                        <m:t>)}</m:t>
                      </m:r>
                    </m:oMath>
                  </m:oMathPara>
                </a14:m>
                <a:endParaRPr lang="en-AU" dirty="0"/>
              </a:p>
              <a:p>
                <a:pPr marL="0" indent="0">
                  <a:buNone/>
                </a:pPr>
                <a:endParaRPr lang="en-US" altLang="zh-CN" dirty="0"/>
              </a:p>
              <a:p>
                <a:pPr marL="400050" lvl="1" indent="0">
                  <a:buNone/>
                </a:pPr>
                <a:r>
                  <a:rPr lang="en-US" altLang="zh-CN" dirty="0"/>
                  <a:t>(1)</a:t>
                </a:r>
                <a:r>
                  <a:rPr lang="en-US" altLang="zh-CN" dirty="0">
                    <a:latin typeface="Times New Roman" panose="02020603050405020304" pitchFamily="18" charset="0"/>
                    <a:cs typeface="Times New Roman" panose="02020603050405020304" pitchFamily="18" charset="0"/>
                  </a:rPr>
                  <a:t>NTM</a:t>
                </a:r>
                <a:r>
                  <a:rPr lang="zh-CN" altLang="en-US" dirty="0"/>
                  <a:t>接受语言的方式</a:t>
                </a:r>
                <a:r>
                  <a:rPr lang="en-US" altLang="zh-CN" dirty="0"/>
                  <a:t>, </a:t>
                </a:r>
                <a:r>
                  <a:rPr lang="zh-CN" altLang="en-US" dirty="0"/>
                  <a:t>与</a:t>
                </a:r>
                <a:r>
                  <a:rPr lang="en-US" altLang="zh-CN" dirty="0">
                    <a:latin typeface="Times New Roman" panose="02020603050405020304" pitchFamily="18" charset="0"/>
                    <a:cs typeface="Times New Roman" panose="02020603050405020304" pitchFamily="18" charset="0"/>
                  </a:rPr>
                  <a:t>NFA</a:t>
                </a:r>
                <a:r>
                  <a:rPr lang="zh-CN" altLang="en-US" dirty="0"/>
                  <a:t>和</a:t>
                </a:r>
                <a:r>
                  <a:rPr lang="en-US" altLang="zh-CN" dirty="0">
                    <a:latin typeface="Times New Roman" panose="02020603050405020304" pitchFamily="18" charset="0"/>
                    <a:cs typeface="Times New Roman" panose="02020603050405020304" pitchFamily="18" charset="0"/>
                  </a:rPr>
                  <a:t>PDA</a:t>
                </a:r>
                <a:r>
                  <a:rPr lang="zh-CN" altLang="en-US" dirty="0"/>
                  <a:t>是类似的</a:t>
                </a:r>
              </a:p>
              <a:p>
                <a:pPr marL="400050" lvl="1" indent="0">
                  <a:buNone/>
                </a:pPr>
                <a:r>
                  <a:rPr lang="en-US" altLang="zh-CN" dirty="0"/>
                  <a:t>(2)</a:t>
                </a:r>
                <a:r>
                  <a:rPr lang="zh-CN" altLang="en-US" dirty="0"/>
                  <a:t>只要存在从初始</a:t>
                </a:r>
                <a:r>
                  <a:rPr lang="en-US" altLang="zh-CN" dirty="0">
                    <a:latin typeface="Times New Roman" panose="02020603050405020304" pitchFamily="18" charset="0"/>
                    <a:cs typeface="Times New Roman" panose="02020603050405020304" pitchFamily="18" charset="0"/>
                  </a:rPr>
                  <a:t>ID</a:t>
                </a:r>
                <a:r>
                  <a:rPr lang="zh-CN" altLang="en-US" dirty="0"/>
                  <a:t>到某接受状态</a:t>
                </a:r>
                <a:r>
                  <a:rPr lang="en-US" altLang="zh-CN" dirty="0">
                    <a:latin typeface="Times New Roman" panose="02020603050405020304" pitchFamily="18" charset="0"/>
                    <a:cs typeface="Times New Roman" panose="02020603050405020304" pitchFamily="18" charset="0"/>
                  </a:rPr>
                  <a:t>ID</a:t>
                </a:r>
                <a:r>
                  <a:rPr lang="zh-CN" altLang="en-US" dirty="0"/>
                  <a:t>的转移</a:t>
                </a:r>
                <a:r>
                  <a:rPr lang="en-US" altLang="zh-CN" dirty="0"/>
                  <a:t>, </a:t>
                </a:r>
                <a:r>
                  <a:rPr lang="zh-CN" altLang="en-US" dirty="0"/>
                  <a:t>其他选择可以忽略</a:t>
                </a:r>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84300" y="1432719"/>
                <a:ext cx="10668000" cy="4525963"/>
              </a:xfrm>
              <a:blipFill>
                <a:blip r:embed="rId3"/>
                <a:stretch>
                  <a:fillRect l="-832" t="-140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27</a:t>
            </a:fld>
            <a:endParaRPr lang="en-AU"/>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非确定图灵机</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81200" y="1098551"/>
                <a:ext cx="8229600" cy="4525963"/>
              </a:xfrm>
            </p:spPr>
            <p:txBody>
              <a:bodyPr/>
              <a:lstStyle/>
              <a:p>
                <a:r>
                  <a:rPr lang="zh-CN" altLang="en-US" dirty="0"/>
                  <a:t>定理</a:t>
                </a:r>
                <a:r>
                  <a:rPr lang="en-AU" altLang="zh-CN" dirty="0"/>
                  <a:t>: </a:t>
                </a:r>
                <a:r>
                  <a:rPr lang="zh-CN" altLang="en-US" dirty="0"/>
                  <a:t>如果</a:t>
                </a:r>
                <a14:m>
                  <m:oMath xmlns:m="http://schemas.openxmlformats.org/officeDocument/2006/math">
                    <m:r>
                      <a:rPr lang="en-US" altLang="zh-CN" i="1" dirty="0" smtClean="0">
                        <a:latin typeface="Cambria Math" panose="02040503050406030204" pitchFamily="18" charset="0"/>
                      </a:rPr>
                      <m:t>𝐿</m:t>
                    </m:r>
                  </m:oMath>
                </a14:m>
                <a:r>
                  <a:rPr lang="zh-CN" altLang="en-US" dirty="0"/>
                  <a:t>被非确定图灵机</a:t>
                </a:r>
                <a14:m>
                  <m:oMath xmlns:m="http://schemas.openxmlformats.org/officeDocument/2006/math">
                    <m:r>
                      <a:rPr lang="en-AU" altLang="zh-CN" b="0" i="1" smtClean="0">
                        <a:latin typeface="Cambria Math" panose="02040503050406030204" pitchFamily="18" charset="0"/>
                      </a:rPr>
                      <m:t>𝑁</m:t>
                    </m:r>
                  </m:oMath>
                </a14:m>
                <a:r>
                  <a:rPr lang="zh-CN" altLang="en-US" dirty="0"/>
                  <a:t>接受</a:t>
                </a:r>
                <a:r>
                  <a:rPr lang="en-US" altLang="zh-CN" dirty="0"/>
                  <a:t>, </a:t>
                </a:r>
                <a:r>
                  <a:rPr lang="zh-CN" altLang="en-US" dirty="0"/>
                  <a:t>那么</a:t>
                </a:r>
                <a14:m>
                  <m:oMath xmlns:m="http://schemas.openxmlformats.org/officeDocument/2006/math">
                    <m:r>
                      <a:rPr lang="en-US" altLang="zh-CN" i="1" dirty="0" smtClean="0">
                        <a:latin typeface="Cambria Math" panose="02040503050406030204" pitchFamily="18" charset="0"/>
                      </a:rPr>
                      <m:t>𝐿</m:t>
                    </m:r>
                  </m:oMath>
                </a14:m>
                <a:r>
                  <a:rPr lang="zh-CN" altLang="en-US" dirty="0"/>
                  <a:t>被某个确定的图灵机</a:t>
                </a:r>
                <a14:m>
                  <m:oMath xmlns:m="http://schemas.openxmlformats.org/officeDocument/2006/math">
                    <m:r>
                      <a:rPr lang="en-AU" altLang="zh-CN" b="0" i="1" smtClean="0">
                        <a:latin typeface="Cambria Math" panose="02040503050406030204" pitchFamily="18" charset="0"/>
                      </a:rPr>
                      <m:t>𝑀</m:t>
                    </m:r>
                  </m:oMath>
                </a14:m>
                <a:r>
                  <a:rPr lang="zh-CN" altLang="en-US" dirty="0"/>
                  <a:t>接受。</a:t>
                </a:r>
                <a:endParaRPr lang="en-AU" altLang="zh-CN" dirty="0"/>
              </a:p>
              <a:p>
                <a:r>
                  <a:rPr lang="zh-CN" altLang="en-US" dirty="0"/>
                  <a:t>证明要点</a:t>
                </a:r>
                <a:r>
                  <a:rPr lang="en-AU" altLang="zh-CN" dirty="0"/>
                  <a:t>:</a:t>
                </a:r>
              </a:p>
              <a:p>
                <a:pPr lvl="1"/>
                <a:r>
                  <a:rPr lang="zh-CN" altLang="en-US" dirty="0">
                    <a:latin typeface="Times New Roman" panose="02020603050405020304" pitchFamily="18" charset="0"/>
                    <a:cs typeface="Times New Roman" panose="02020603050405020304" pitchFamily="18" charset="0"/>
                  </a:rPr>
                  <a:t>让等价的基本</a:t>
                </a:r>
                <a:r>
                  <a:rPr lang="en-US" altLang="zh-CN" dirty="0">
                    <a:latin typeface="Times New Roman" panose="02020603050405020304" pitchFamily="18" charset="0"/>
                    <a:cs typeface="Times New Roman" panose="02020603050405020304" pitchFamily="18" charset="0"/>
                  </a:rPr>
                  <a:t>TM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𝑀</m:t>
                    </m:r>
                  </m:oMath>
                </a14:m>
                <a:r>
                  <a:rPr lang="zh-CN" altLang="en-US" dirty="0">
                    <a:latin typeface="Times New Roman" panose="02020603050405020304" pitchFamily="18" charset="0"/>
                    <a:cs typeface="Times New Roman" panose="02020603050405020304" pitchFamily="18" charset="0"/>
                  </a:rPr>
                  <a:t>具有</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条带。</a:t>
                </a:r>
              </a:p>
              <a:p>
                <a:pPr lvl="1"/>
                <a:r>
                  <a:rPr lang="zh-CN" altLang="en-US" dirty="0">
                    <a:latin typeface="Times New Roman" panose="02020603050405020304" pitchFamily="18" charset="0"/>
                    <a:cs typeface="Times New Roman" panose="02020603050405020304" pitchFamily="18" charset="0"/>
                  </a:rPr>
                  <a:t>第</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条带用来存放输入。</a:t>
                </a:r>
              </a:p>
              <a:p>
                <a:pPr lvl="1"/>
                <a:r>
                  <a:rPr lang="zh-CN" altLang="en-US" dirty="0">
                    <a:latin typeface="Times New Roman" panose="02020603050405020304" pitchFamily="18" charset="0"/>
                    <a:cs typeface="Times New Roman" panose="02020603050405020304" pitchFamily="18" charset="0"/>
                  </a:rPr>
                  <a:t>第</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条带上系统地生成</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的各种可能的移动序列 </a:t>
                </a:r>
              </a:p>
              <a:p>
                <a:pPr lvl="1"/>
                <a14:m>
                  <m:oMath xmlns:m="http://schemas.openxmlformats.org/officeDocument/2006/math">
                    <m:r>
                      <a:rPr lang="en-AU" altLang="zh-CN" b="0" i="1" smtClean="0">
                        <a:latin typeface="Cambria Math" panose="02040503050406030204" pitchFamily="18" charset="0"/>
                        <a:cs typeface="Times New Roman" panose="02020603050405020304" pitchFamily="18" charset="0"/>
                      </a:rPr>
                      <m:t>𝑀</m:t>
                    </m:r>
                  </m:oMath>
                </a14:m>
                <a:r>
                  <a:rPr lang="zh-CN" altLang="en-US" dirty="0">
                    <a:latin typeface="Times New Roman" panose="02020603050405020304" pitchFamily="18" charset="0"/>
                    <a:cs typeface="Times New Roman" panose="02020603050405020304" pitchFamily="18" charset="0"/>
                  </a:rPr>
                  <a:t>在第</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条带上按照第</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条带上给出的移动系列处理输入串，如果成功，则接受之，如果不成功，则在第</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条带上生成下一个可能的移动系列，开始新一轮的“试处理”。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81200" y="1098551"/>
                <a:ext cx="8229600" cy="4525963"/>
              </a:xfrm>
              <a:blipFill>
                <a:blip r:embed="rId3"/>
                <a:stretch>
                  <a:fillRect l="-1387" t="-1676" r="-5547" b="-8939"/>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28</a:t>
            </a:fld>
            <a:endParaRPr lang="en-AU"/>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p:txBody>
          <a:bodyPr/>
          <a:lstStyle/>
          <a:p>
            <a:r>
              <a:rPr lang="zh-CN" altLang="en-US" dirty="0">
                <a:solidFill>
                  <a:schemeClr val="bg1">
                    <a:lumMod val="65000"/>
                  </a:schemeClr>
                </a:solidFill>
              </a:rPr>
              <a:t>图灵机简介、形式化定义</a:t>
            </a:r>
            <a:endParaRPr lang="en-AU" altLang="zh-CN" dirty="0">
              <a:solidFill>
                <a:schemeClr val="bg1">
                  <a:lumMod val="65000"/>
                </a:schemeClr>
              </a:solidFill>
            </a:endParaRPr>
          </a:p>
          <a:p>
            <a:r>
              <a:rPr lang="zh-CN" altLang="en-US" dirty="0">
                <a:solidFill>
                  <a:schemeClr val="bg1">
                    <a:lumMod val="65000"/>
                  </a:schemeClr>
                </a:solidFill>
              </a:rPr>
              <a:t>图灵机的表示能力：语言、停机与整数运算</a:t>
            </a:r>
            <a:endParaRPr lang="en-AU" altLang="zh-CN" dirty="0">
              <a:solidFill>
                <a:schemeClr val="bg1">
                  <a:lumMod val="65000"/>
                </a:schemeClr>
              </a:solidFill>
            </a:endParaRPr>
          </a:p>
          <a:p>
            <a:r>
              <a:rPr lang="zh-CN" altLang="en-US" dirty="0">
                <a:solidFill>
                  <a:schemeClr val="bg1">
                    <a:lumMod val="65000"/>
                  </a:schemeClr>
                </a:solidFill>
              </a:rPr>
              <a:t>扩展图灵机</a:t>
            </a:r>
            <a:endParaRPr lang="en-AU" altLang="zh-CN" dirty="0">
              <a:solidFill>
                <a:schemeClr val="bg1">
                  <a:lumMod val="65000"/>
                </a:schemeClr>
              </a:solidFill>
            </a:endParaRPr>
          </a:p>
          <a:p>
            <a:r>
              <a:rPr lang="zh-CN" altLang="en-US" dirty="0"/>
              <a:t>受限图灵机</a:t>
            </a:r>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t>29</a:t>
            </a:fld>
            <a:endParaRPr lang="en-AU"/>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4400" dirty="0"/>
              <a:t>半无穷带图灵机</a:t>
            </a:r>
            <a:endParaRPr lang="en-AU" dirty="0"/>
          </a:p>
        </p:txBody>
      </p:sp>
      <p:sp>
        <p:nvSpPr>
          <p:cNvPr id="3" name="Content Placeholder 2"/>
          <p:cNvSpPr>
            <a:spLocks noGrp="1"/>
          </p:cNvSpPr>
          <p:nvPr>
            <p:ph idx="1"/>
          </p:nvPr>
        </p:nvSpPr>
        <p:spPr/>
        <p:txBody>
          <a:bodyPr>
            <a:normAutofit/>
          </a:bodyPr>
          <a:lstStyle/>
          <a:p>
            <a:r>
              <a:rPr lang="zh-CN" altLang="en-US" dirty="0"/>
              <a:t>半无穷带图灵机：图灵机输入输出带只有一侧是无穷的。</a:t>
            </a:r>
            <a:endParaRPr lang="en-AU" altLang="zh-CN" dirty="0"/>
          </a:p>
          <a:p>
            <a:pPr lvl="1"/>
            <a:r>
              <a:rPr lang="zh-CN" altLang="en-US" dirty="0"/>
              <a:t>定理</a:t>
            </a:r>
            <a:r>
              <a:rPr lang="en-AU" altLang="zh-CN" dirty="0"/>
              <a:t>:</a:t>
            </a:r>
            <a:r>
              <a:rPr lang="zh-CN" altLang="en-US" dirty="0"/>
              <a:t>半无穷带图灵机，与图灵机等价。</a:t>
            </a:r>
          </a:p>
          <a:p>
            <a:endParaRPr lang="en-AU" altLang="zh-CN" sz="3200" dirty="0"/>
          </a:p>
        </p:txBody>
      </p:sp>
      <p:sp>
        <p:nvSpPr>
          <p:cNvPr id="4" name="Slide Number Placeholder 3"/>
          <p:cNvSpPr>
            <a:spLocks noGrp="1"/>
          </p:cNvSpPr>
          <p:nvPr>
            <p:ph type="sldNum" sz="quarter" idx="12"/>
          </p:nvPr>
        </p:nvSpPr>
        <p:spPr/>
        <p:txBody>
          <a:bodyPr/>
          <a:lstStyle/>
          <a:p>
            <a:fld id="{0662E1F6-9BD6-474C-A82E-E07C3DB67AAE}" type="slidenum">
              <a:rPr lang="en-AU" smtClean="0"/>
              <a:t>30</a:t>
            </a:fld>
            <a:endParaRPr lang="en-AU"/>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4400" dirty="0"/>
              <a:t>半无穷带图灵机</a:t>
            </a:r>
            <a:endParaRPr lang="en-AU" dirty="0"/>
          </a:p>
        </p:txBody>
      </p:sp>
      <p:sp>
        <p:nvSpPr>
          <p:cNvPr id="3" name="Content Placeholder 2"/>
          <p:cNvSpPr>
            <a:spLocks noGrp="1"/>
          </p:cNvSpPr>
          <p:nvPr>
            <p:ph idx="1"/>
          </p:nvPr>
        </p:nvSpPr>
        <p:spPr/>
        <p:txBody>
          <a:bodyPr/>
          <a:lstStyle/>
          <a:p>
            <a:r>
              <a:rPr lang="zh-CN" altLang="en-US" dirty="0"/>
              <a:t>证明方法：让一侧无穷的图灵机带使用多道技术，模拟双侧无穷的图灵机带。</a:t>
            </a:r>
          </a:p>
          <a:p>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t>31</a:t>
            </a:fld>
            <a:endParaRPr lang="en-AU" dirty="0"/>
          </a:p>
        </p:txBody>
      </p:sp>
      <mc:AlternateContent xmlns:mc="http://schemas.openxmlformats.org/markup-compatibility/2006" xmlns:a14="http://schemas.microsoft.com/office/drawing/2010/main">
        <mc:Choice Requires="a14">
          <p:sp>
            <p:nvSpPr>
              <p:cNvPr id="5" name="Rectangle 4"/>
              <p:cNvSpPr/>
              <p:nvPr/>
            </p:nvSpPr>
            <p:spPr>
              <a:xfrm>
                <a:off x="3029434" y="3318213"/>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−2</m:t>
                          </m:r>
                        </m:sub>
                      </m:sSub>
                    </m:oMath>
                  </m:oMathPara>
                </a14:m>
                <a:endParaRPr lang="en-AU" dirty="0"/>
              </a:p>
            </p:txBody>
          </p:sp>
        </mc:Choice>
        <mc:Fallback xmlns="">
          <p:sp>
            <p:nvSpPr>
              <p:cNvPr id="5" name="Rectangle 4"/>
              <p:cNvSpPr>
                <a:spLocks noRot="1" noChangeAspect="1" noMove="1" noResize="1" noEditPoints="1" noAdjustHandles="1" noChangeArrowheads="1" noChangeShapeType="1" noTextEdit="1"/>
              </p:cNvSpPr>
              <p:nvPr/>
            </p:nvSpPr>
            <p:spPr>
              <a:xfrm>
                <a:off x="3029434" y="3318213"/>
                <a:ext cx="642551" cy="461319"/>
              </a:xfrm>
              <a:prstGeom prst="rect">
                <a:avLst/>
              </a:prstGeom>
              <a:blipFill>
                <a:blip r:embed="rId3"/>
                <a:stretch>
                  <a:fillRect/>
                </a:stretch>
              </a:blipFill>
              <a:ln w="19050">
                <a:solidFill>
                  <a:srgbClr val="7030A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3671985" y="3318213"/>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−1</m:t>
                          </m:r>
                        </m:sub>
                      </m:sSub>
                    </m:oMath>
                  </m:oMathPara>
                </a14:m>
                <a:endParaRPr lang="en-AU" dirty="0"/>
              </a:p>
            </p:txBody>
          </p:sp>
        </mc:Choice>
        <mc:Fallback xmlns="">
          <p:sp>
            <p:nvSpPr>
              <p:cNvPr id="6" name="Rectangle 5"/>
              <p:cNvSpPr>
                <a:spLocks noRot="1" noChangeAspect="1" noMove="1" noResize="1" noEditPoints="1" noAdjustHandles="1" noChangeArrowheads="1" noChangeShapeType="1" noTextEdit="1"/>
              </p:cNvSpPr>
              <p:nvPr/>
            </p:nvSpPr>
            <p:spPr>
              <a:xfrm>
                <a:off x="3671985" y="3318213"/>
                <a:ext cx="642551" cy="461319"/>
              </a:xfrm>
              <a:prstGeom prst="rect">
                <a:avLst/>
              </a:prstGeom>
              <a:blipFill>
                <a:blip r:embed="rId4"/>
                <a:stretch>
                  <a:fillRect/>
                </a:stretch>
              </a:blipFill>
              <a:ln w="19050">
                <a:solidFill>
                  <a:srgbClr val="7030A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4314536" y="3318213"/>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0</m:t>
                          </m:r>
                        </m:sub>
                      </m:sSub>
                    </m:oMath>
                  </m:oMathPara>
                </a14:m>
                <a:endParaRPr lang="en-AU" dirty="0"/>
              </a:p>
            </p:txBody>
          </p:sp>
        </mc:Choice>
        <mc:Fallback xmlns="">
          <p:sp>
            <p:nvSpPr>
              <p:cNvPr id="7" name="Rectangle 6"/>
              <p:cNvSpPr>
                <a:spLocks noRot="1" noChangeAspect="1" noMove="1" noResize="1" noEditPoints="1" noAdjustHandles="1" noChangeArrowheads="1" noChangeShapeType="1" noTextEdit="1"/>
              </p:cNvSpPr>
              <p:nvPr/>
            </p:nvSpPr>
            <p:spPr>
              <a:xfrm>
                <a:off x="4314536" y="3318213"/>
                <a:ext cx="642551" cy="461319"/>
              </a:xfrm>
              <a:prstGeom prst="rect">
                <a:avLst/>
              </a:prstGeom>
              <a:blipFill>
                <a:blip r:embed="rId5"/>
                <a:stretch>
                  <a:fillRect/>
                </a:stretch>
              </a:blipFill>
              <a:ln w="19050">
                <a:solidFill>
                  <a:srgbClr val="7030A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4957087" y="3318213"/>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1</m:t>
                          </m:r>
                        </m:sub>
                      </m:sSub>
                    </m:oMath>
                  </m:oMathPara>
                </a14:m>
                <a:endParaRPr lang="en-AU" dirty="0"/>
              </a:p>
            </p:txBody>
          </p:sp>
        </mc:Choice>
        <mc:Fallback xmlns="">
          <p:sp>
            <p:nvSpPr>
              <p:cNvPr id="8" name="Rectangle 7"/>
              <p:cNvSpPr>
                <a:spLocks noRot="1" noChangeAspect="1" noMove="1" noResize="1" noEditPoints="1" noAdjustHandles="1" noChangeArrowheads="1" noChangeShapeType="1" noTextEdit="1"/>
              </p:cNvSpPr>
              <p:nvPr/>
            </p:nvSpPr>
            <p:spPr>
              <a:xfrm>
                <a:off x="4957087" y="3318213"/>
                <a:ext cx="642551" cy="461319"/>
              </a:xfrm>
              <a:prstGeom prst="rect">
                <a:avLst/>
              </a:prstGeom>
              <a:blipFill>
                <a:blip r:embed="rId6"/>
                <a:stretch>
                  <a:fillRect/>
                </a:stretch>
              </a:blipFill>
              <a:ln w="19050">
                <a:solidFill>
                  <a:srgbClr val="7030A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5599638" y="3318213"/>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2</m:t>
                          </m:r>
                        </m:sub>
                      </m:sSub>
                    </m:oMath>
                  </m:oMathPara>
                </a14:m>
                <a:endParaRPr lang="en-AU" dirty="0"/>
              </a:p>
            </p:txBody>
          </p:sp>
        </mc:Choice>
        <mc:Fallback xmlns="">
          <p:sp>
            <p:nvSpPr>
              <p:cNvPr id="9" name="Rectangle 8"/>
              <p:cNvSpPr>
                <a:spLocks noRot="1" noChangeAspect="1" noMove="1" noResize="1" noEditPoints="1" noAdjustHandles="1" noChangeArrowheads="1" noChangeShapeType="1" noTextEdit="1"/>
              </p:cNvSpPr>
              <p:nvPr/>
            </p:nvSpPr>
            <p:spPr>
              <a:xfrm>
                <a:off x="5599638" y="3318213"/>
                <a:ext cx="642551" cy="461319"/>
              </a:xfrm>
              <a:prstGeom prst="rect">
                <a:avLst/>
              </a:prstGeom>
              <a:blipFill>
                <a:blip r:embed="rId7"/>
                <a:stretch>
                  <a:fillRect/>
                </a:stretch>
              </a:blipFill>
              <a:ln w="19050">
                <a:solidFill>
                  <a:srgbClr val="7030A0"/>
                </a:solidFill>
              </a:ln>
            </p:spPr>
            <p:txBody>
              <a:bodyPr/>
              <a:lstStyle/>
              <a:p>
                <a:r>
                  <a:rPr lang="zh-CN" altLang="en-US">
                    <a:noFill/>
                  </a:rPr>
                  <a:t> </a:t>
                </a:r>
              </a:p>
            </p:txBody>
          </p:sp>
        </mc:Fallback>
      </mc:AlternateContent>
      <p:cxnSp>
        <p:nvCxnSpPr>
          <p:cNvPr id="10" name="Straight Connector 9"/>
          <p:cNvCxnSpPr/>
          <p:nvPr/>
        </p:nvCxnSpPr>
        <p:spPr>
          <a:xfrm>
            <a:off x="6242189" y="3318212"/>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242189" y="3779531"/>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449077" y="3318212"/>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479146" y="3779531"/>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597641" y="3342731"/>
            <a:ext cx="343364" cy="369332"/>
          </a:xfrm>
          <a:prstGeom prst="rect">
            <a:avLst/>
          </a:prstGeom>
          <a:noFill/>
        </p:spPr>
        <p:txBody>
          <a:bodyPr wrap="square" rtlCol="0">
            <a:spAutoFit/>
          </a:bodyPr>
          <a:lstStyle/>
          <a:p>
            <a:r>
              <a:rPr lang="en-AU" dirty="0"/>
              <a:t>…</a:t>
            </a:r>
          </a:p>
        </p:txBody>
      </p:sp>
      <p:sp>
        <p:nvSpPr>
          <p:cNvPr id="15" name="TextBox 14"/>
          <p:cNvSpPr txBox="1"/>
          <p:nvPr/>
        </p:nvSpPr>
        <p:spPr>
          <a:xfrm>
            <a:off x="6360684" y="3318212"/>
            <a:ext cx="343364" cy="369332"/>
          </a:xfrm>
          <a:prstGeom prst="rect">
            <a:avLst/>
          </a:prstGeom>
          <a:noFill/>
        </p:spPr>
        <p:txBody>
          <a:bodyPr wrap="square" rtlCol="0">
            <a:spAutoFit/>
          </a:bodyPr>
          <a:lstStyle/>
          <a:p>
            <a:r>
              <a:rPr lang="en-AU" dirty="0"/>
              <a:t>…</a:t>
            </a:r>
          </a:p>
        </p:txBody>
      </p:sp>
      <mc:AlternateContent xmlns:mc="http://schemas.openxmlformats.org/markup-compatibility/2006" xmlns:a14="http://schemas.microsoft.com/office/drawing/2010/main">
        <mc:Choice Requires="a14">
          <p:sp>
            <p:nvSpPr>
              <p:cNvPr id="16" name="Rectangle 15"/>
              <p:cNvSpPr/>
              <p:nvPr/>
            </p:nvSpPr>
            <p:spPr>
              <a:xfrm>
                <a:off x="2762129" y="4164528"/>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0</m:t>
                          </m:r>
                        </m:sub>
                      </m:sSub>
                    </m:oMath>
                  </m:oMathPara>
                </a14:m>
                <a:endParaRPr lang="en-AU" dirty="0"/>
              </a:p>
            </p:txBody>
          </p:sp>
        </mc:Choice>
        <mc:Fallback xmlns="">
          <p:sp>
            <p:nvSpPr>
              <p:cNvPr id="16" name="Rectangle 15"/>
              <p:cNvSpPr>
                <a:spLocks noRot="1" noChangeAspect="1" noMove="1" noResize="1" noEditPoints="1" noAdjustHandles="1" noChangeArrowheads="1" noChangeShapeType="1" noTextEdit="1"/>
              </p:cNvSpPr>
              <p:nvPr/>
            </p:nvSpPr>
            <p:spPr>
              <a:xfrm>
                <a:off x="2762129" y="4164528"/>
                <a:ext cx="642551" cy="461319"/>
              </a:xfrm>
              <a:prstGeom prst="rect">
                <a:avLst/>
              </a:prstGeom>
              <a:blipFill>
                <a:blip r:embed="rId8"/>
                <a:stretch>
                  <a:fillRect/>
                </a:stretch>
              </a:blipFill>
              <a:ln w="19050">
                <a:solidFill>
                  <a:srgbClr val="7030A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404680" y="4164528"/>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1</m:t>
                          </m:r>
                        </m:sub>
                      </m:sSub>
                    </m:oMath>
                  </m:oMathPara>
                </a14:m>
                <a:endParaRPr lang="en-AU" dirty="0"/>
              </a:p>
            </p:txBody>
          </p:sp>
        </mc:Choice>
        <mc:Fallback xmlns="">
          <p:sp>
            <p:nvSpPr>
              <p:cNvPr id="17" name="Rectangle 16"/>
              <p:cNvSpPr>
                <a:spLocks noRot="1" noChangeAspect="1" noMove="1" noResize="1" noEditPoints="1" noAdjustHandles="1" noChangeArrowheads="1" noChangeShapeType="1" noTextEdit="1"/>
              </p:cNvSpPr>
              <p:nvPr/>
            </p:nvSpPr>
            <p:spPr>
              <a:xfrm>
                <a:off x="3404680" y="4164528"/>
                <a:ext cx="642551" cy="461319"/>
              </a:xfrm>
              <a:prstGeom prst="rect">
                <a:avLst/>
              </a:prstGeom>
              <a:blipFill>
                <a:blip r:embed="rId9"/>
                <a:stretch>
                  <a:fillRect/>
                </a:stretch>
              </a:blipFill>
              <a:ln w="19050">
                <a:solidFill>
                  <a:srgbClr val="7030A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4047231" y="4164528"/>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2</m:t>
                          </m:r>
                        </m:sub>
                      </m:sSub>
                    </m:oMath>
                  </m:oMathPara>
                </a14:m>
                <a:endParaRPr lang="en-AU" dirty="0"/>
              </a:p>
            </p:txBody>
          </p:sp>
        </mc:Choice>
        <mc:Fallback xmlns="">
          <p:sp>
            <p:nvSpPr>
              <p:cNvPr id="18" name="Rectangle 17"/>
              <p:cNvSpPr>
                <a:spLocks noRot="1" noChangeAspect="1" noMove="1" noResize="1" noEditPoints="1" noAdjustHandles="1" noChangeArrowheads="1" noChangeShapeType="1" noTextEdit="1"/>
              </p:cNvSpPr>
              <p:nvPr/>
            </p:nvSpPr>
            <p:spPr>
              <a:xfrm>
                <a:off x="4047231" y="4164528"/>
                <a:ext cx="642551" cy="461319"/>
              </a:xfrm>
              <a:prstGeom prst="rect">
                <a:avLst/>
              </a:prstGeom>
              <a:blipFill>
                <a:blip r:embed="rId10"/>
                <a:stretch>
                  <a:fillRect/>
                </a:stretch>
              </a:blipFill>
              <a:ln w="19050">
                <a:solidFill>
                  <a:srgbClr val="7030A0"/>
                </a:solidFill>
              </a:ln>
            </p:spPr>
            <p:txBody>
              <a:bodyPr/>
              <a:lstStyle/>
              <a:p>
                <a:r>
                  <a:rPr lang="zh-CN" altLang="en-US">
                    <a:noFill/>
                  </a:rPr>
                  <a:t> </a:t>
                </a:r>
              </a:p>
            </p:txBody>
          </p:sp>
        </mc:Fallback>
      </mc:AlternateContent>
      <p:cxnSp>
        <p:nvCxnSpPr>
          <p:cNvPr id="19" name="Straight Connector 18"/>
          <p:cNvCxnSpPr/>
          <p:nvPr/>
        </p:nvCxnSpPr>
        <p:spPr>
          <a:xfrm>
            <a:off x="4698007" y="4165462"/>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698007" y="4626781"/>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816502" y="4165462"/>
            <a:ext cx="343364" cy="369332"/>
          </a:xfrm>
          <a:prstGeom prst="rect">
            <a:avLst/>
          </a:prstGeom>
          <a:noFill/>
        </p:spPr>
        <p:txBody>
          <a:bodyPr wrap="square" rtlCol="0">
            <a:spAutoFit/>
          </a:bodyPr>
          <a:lstStyle/>
          <a:p>
            <a:r>
              <a:rPr lang="en-AU" dirty="0"/>
              <a:t>…</a:t>
            </a:r>
          </a:p>
        </p:txBody>
      </p:sp>
      <mc:AlternateContent xmlns:mc="http://schemas.openxmlformats.org/markup-compatibility/2006" xmlns:a14="http://schemas.microsoft.com/office/drawing/2010/main">
        <mc:Choice Requires="a14">
          <p:sp>
            <p:nvSpPr>
              <p:cNvPr id="22" name="Rectangle 21"/>
              <p:cNvSpPr/>
              <p:nvPr/>
            </p:nvSpPr>
            <p:spPr>
              <a:xfrm>
                <a:off x="2762129" y="4624208"/>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m:t>
                      </m:r>
                    </m:oMath>
                  </m:oMathPara>
                </a14:m>
                <a:endParaRPr lang="en-AU" dirty="0"/>
              </a:p>
            </p:txBody>
          </p:sp>
        </mc:Choice>
        <mc:Fallback xmlns="">
          <p:sp>
            <p:nvSpPr>
              <p:cNvPr id="22" name="Rectangle 21"/>
              <p:cNvSpPr>
                <a:spLocks noRot="1" noChangeAspect="1" noMove="1" noResize="1" noEditPoints="1" noAdjustHandles="1" noChangeArrowheads="1" noChangeShapeType="1" noTextEdit="1"/>
              </p:cNvSpPr>
              <p:nvPr/>
            </p:nvSpPr>
            <p:spPr>
              <a:xfrm>
                <a:off x="2762129" y="4624208"/>
                <a:ext cx="642551" cy="461319"/>
              </a:xfrm>
              <a:prstGeom prst="rect">
                <a:avLst/>
              </a:prstGeom>
              <a:blipFill>
                <a:blip r:embed="rId11"/>
                <a:stretch>
                  <a:fillRect/>
                </a:stretch>
              </a:blipFill>
              <a:ln w="19050">
                <a:solidFill>
                  <a:srgbClr val="7030A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404680" y="4624208"/>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−1</m:t>
                          </m:r>
                        </m:sub>
                      </m:sSub>
                    </m:oMath>
                  </m:oMathPara>
                </a14:m>
                <a:endParaRPr lang="en-AU" dirty="0"/>
              </a:p>
            </p:txBody>
          </p:sp>
        </mc:Choice>
        <mc:Fallback xmlns="">
          <p:sp>
            <p:nvSpPr>
              <p:cNvPr id="23" name="Rectangle 22"/>
              <p:cNvSpPr>
                <a:spLocks noRot="1" noChangeAspect="1" noMove="1" noResize="1" noEditPoints="1" noAdjustHandles="1" noChangeArrowheads="1" noChangeShapeType="1" noTextEdit="1"/>
              </p:cNvSpPr>
              <p:nvPr/>
            </p:nvSpPr>
            <p:spPr>
              <a:xfrm>
                <a:off x="3404680" y="4624208"/>
                <a:ext cx="642551" cy="461319"/>
              </a:xfrm>
              <a:prstGeom prst="rect">
                <a:avLst/>
              </a:prstGeom>
              <a:blipFill>
                <a:blip r:embed="rId12"/>
                <a:stretch>
                  <a:fillRect/>
                </a:stretch>
              </a:blipFill>
              <a:ln w="19050">
                <a:solidFill>
                  <a:srgbClr val="7030A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4047231" y="4624208"/>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i="1">
                              <a:latin typeface="Cambria Math" panose="02040503050406030204" pitchFamily="18" charset="0"/>
                            </a:rPr>
                            <m:t>𝐴</m:t>
                          </m:r>
                        </m:e>
                        <m:sub>
                          <m:r>
                            <a:rPr lang="en-US" altLang="zh-CN" b="0" i="1" smtClean="0">
                              <a:latin typeface="Cambria Math" panose="02040503050406030204" pitchFamily="18" charset="0"/>
                            </a:rPr>
                            <m:t>−2</m:t>
                          </m:r>
                        </m:sub>
                      </m:sSub>
                    </m:oMath>
                  </m:oMathPara>
                </a14:m>
                <a:endParaRPr lang="en-AU" dirty="0"/>
              </a:p>
            </p:txBody>
          </p:sp>
        </mc:Choice>
        <mc:Fallback xmlns="">
          <p:sp>
            <p:nvSpPr>
              <p:cNvPr id="24" name="Rectangle 23"/>
              <p:cNvSpPr>
                <a:spLocks noRot="1" noChangeAspect="1" noMove="1" noResize="1" noEditPoints="1" noAdjustHandles="1" noChangeArrowheads="1" noChangeShapeType="1" noTextEdit="1"/>
              </p:cNvSpPr>
              <p:nvPr/>
            </p:nvSpPr>
            <p:spPr>
              <a:xfrm>
                <a:off x="4047231" y="4624208"/>
                <a:ext cx="642551" cy="461319"/>
              </a:xfrm>
              <a:prstGeom prst="rect">
                <a:avLst/>
              </a:prstGeom>
              <a:blipFill>
                <a:blip r:embed="rId13"/>
                <a:stretch>
                  <a:fillRect/>
                </a:stretch>
              </a:blipFill>
              <a:ln w="19050">
                <a:solidFill>
                  <a:srgbClr val="7030A0"/>
                </a:solidFill>
              </a:ln>
            </p:spPr>
            <p:txBody>
              <a:bodyPr/>
              <a:lstStyle/>
              <a:p>
                <a:r>
                  <a:rPr lang="zh-CN" altLang="en-US">
                    <a:noFill/>
                  </a:rPr>
                  <a:t> </a:t>
                </a:r>
              </a:p>
            </p:txBody>
          </p:sp>
        </mc:Fallback>
      </mc:AlternateContent>
      <p:cxnSp>
        <p:nvCxnSpPr>
          <p:cNvPr id="25" name="Straight Connector 24"/>
          <p:cNvCxnSpPr/>
          <p:nvPr/>
        </p:nvCxnSpPr>
        <p:spPr>
          <a:xfrm>
            <a:off x="4698007" y="4625142"/>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698007" y="5086461"/>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816502" y="4625142"/>
            <a:ext cx="343364" cy="369332"/>
          </a:xfrm>
          <a:prstGeom prst="rect">
            <a:avLst/>
          </a:prstGeom>
          <a:noFill/>
        </p:spPr>
        <p:txBody>
          <a:bodyPr wrap="square" rtlCol="0">
            <a:spAutoFit/>
          </a:bodyPr>
          <a:lstStyle/>
          <a:p>
            <a:r>
              <a:rPr lang="en-AU" dirty="0"/>
              <a:t>…</a:t>
            </a:r>
          </a:p>
        </p:txBody>
      </p:sp>
      <p:sp>
        <p:nvSpPr>
          <p:cNvPr id="28" name="TextBox 27"/>
          <p:cNvSpPr txBox="1"/>
          <p:nvPr/>
        </p:nvSpPr>
        <p:spPr>
          <a:xfrm>
            <a:off x="1593868" y="4431450"/>
            <a:ext cx="1104900" cy="369332"/>
          </a:xfrm>
          <a:prstGeom prst="rect">
            <a:avLst/>
          </a:prstGeom>
          <a:noFill/>
        </p:spPr>
        <p:txBody>
          <a:bodyPr wrap="square">
            <a:spAutoFit/>
          </a:bodyPr>
          <a:lstStyle/>
          <a:p>
            <a:r>
              <a:rPr lang="zh-CN" altLang="en-US" dirty="0"/>
              <a:t>半无穷带</a:t>
            </a:r>
            <a:endParaRPr lang="en-AU" dirty="0"/>
          </a:p>
        </p:txBody>
      </p:sp>
      <p:sp>
        <p:nvSpPr>
          <p:cNvPr id="29" name="TextBox 28"/>
          <p:cNvSpPr txBox="1"/>
          <p:nvPr/>
        </p:nvSpPr>
        <p:spPr>
          <a:xfrm>
            <a:off x="1389927" y="3180014"/>
            <a:ext cx="1465793" cy="646331"/>
          </a:xfrm>
          <a:prstGeom prst="rect">
            <a:avLst/>
          </a:prstGeom>
          <a:noFill/>
        </p:spPr>
        <p:txBody>
          <a:bodyPr wrap="square">
            <a:spAutoFit/>
          </a:bodyPr>
          <a:lstStyle/>
          <a:p>
            <a:pPr algn="ctr"/>
            <a:r>
              <a:rPr lang="zh-CN" altLang="en-US" dirty="0"/>
              <a:t>双侧</a:t>
            </a:r>
            <a:endParaRPr lang="en-AU" altLang="zh-CN" dirty="0"/>
          </a:p>
          <a:p>
            <a:pPr algn="ctr"/>
            <a:r>
              <a:rPr lang="zh-CN" altLang="en-US" dirty="0"/>
              <a:t>无穷带</a:t>
            </a:r>
            <a:endParaRPr lang="en-AU" dirty="0"/>
          </a:p>
        </p:txBody>
      </p:sp>
      <p:sp>
        <p:nvSpPr>
          <p:cNvPr id="30" name="TextBox 29"/>
          <p:cNvSpPr txBox="1"/>
          <p:nvPr/>
        </p:nvSpPr>
        <p:spPr>
          <a:xfrm>
            <a:off x="7496219" y="2934098"/>
            <a:ext cx="4478774" cy="2554545"/>
          </a:xfrm>
          <a:prstGeom prst="rect">
            <a:avLst/>
          </a:prstGeom>
          <a:solidFill>
            <a:srgbClr val="FFC000"/>
          </a:solidFill>
        </p:spPr>
        <p:txBody>
          <a:bodyPr wrap="square">
            <a:spAutoFit/>
          </a:bodyPr>
          <a:lstStyle/>
          <a:p>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 当双侧无穷图灵机向右移动时，半无穷带图灵机也正常向右移动。</a:t>
            </a:r>
          </a:p>
          <a:p>
            <a:endParaRPr lang="zh-CN" altLang="en-US"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 当双侧无穷图灵机向左移动时，半无穷带图灵机正常也向左移动，需要越过左边边界位置的时候，通过特定的符号，让半无穷带图灵机进行跳转，向右移动，且使用另一条道即可。</a:t>
            </a:r>
          </a:p>
        </p:txBody>
      </p:sp>
      <p:sp>
        <p:nvSpPr>
          <p:cNvPr id="31" name="文本框 30">
            <a:extLst>
              <a:ext uri="{FF2B5EF4-FFF2-40B4-BE49-F238E27FC236}">
                <a16:creationId xmlns:a16="http://schemas.microsoft.com/office/drawing/2014/main" id="{990ECAD7-6C81-2D4F-8E15-E0E13B1C7C70}"/>
              </a:ext>
            </a:extLst>
          </p:cNvPr>
          <p:cNvSpPr txBox="1"/>
          <p:nvPr/>
        </p:nvSpPr>
        <p:spPr>
          <a:xfrm>
            <a:off x="2273300" y="5488643"/>
            <a:ext cx="6769100" cy="954107"/>
          </a:xfrm>
          <a:prstGeom prst="rect">
            <a:avLst/>
          </a:prstGeom>
          <a:noFill/>
        </p:spPr>
        <p:txBody>
          <a:bodyPr wrap="square" rtlCol="0">
            <a:spAutoFit/>
          </a:bodyPr>
          <a:lstStyle/>
          <a:p>
            <a:r>
              <a:rPr kumimoji="1" lang="en-US" altLang="zh-CN" sz="2800" dirty="0"/>
              <a:t>✨</a:t>
            </a:r>
            <a:r>
              <a:rPr kumimoji="1" lang="zh-CN" altLang="en-US" sz="2800" dirty="0">
                <a:solidFill>
                  <a:srgbClr val="800080"/>
                </a:solidFill>
                <a:latin typeface="KaiTi_GB2312" panose="02010609030101010101" pitchFamily="49" charset="-122"/>
                <a:ea typeface="KaiTi_GB2312" panose="02010609030101010101" pitchFamily="49" charset="-122"/>
              </a:rPr>
              <a:t>思考如何实现？</a:t>
            </a:r>
            <a:endParaRPr kumimoji="1" lang="en-US" altLang="zh-CN" sz="2800" dirty="0">
              <a:solidFill>
                <a:srgbClr val="800080"/>
              </a:solidFill>
              <a:latin typeface="KaiTi_GB2312" panose="02010609030101010101" pitchFamily="49" charset="-122"/>
              <a:ea typeface="KaiTi_GB2312" panose="02010609030101010101" pitchFamily="49" charset="-122"/>
            </a:endParaRPr>
          </a:p>
          <a:p>
            <a:r>
              <a:rPr kumimoji="1" lang="zh-CN" altLang="en-US" sz="2800" dirty="0">
                <a:solidFill>
                  <a:srgbClr val="800080"/>
                </a:solidFill>
                <a:latin typeface="KaiTi_GB2312" panose="02010609030101010101" pitchFamily="49" charset="-122"/>
                <a:ea typeface="KaiTi_GB2312" panose="02010609030101010101" pitchFamily="49" charset="-122"/>
              </a:rPr>
              <a:t>  </a:t>
            </a:r>
            <a:r>
              <a:rPr kumimoji="1" lang="zh-CN" altLang="en-US" sz="2800" dirty="0">
                <a:solidFill>
                  <a:srgbClr val="800080"/>
                </a:solidFill>
                <a:latin typeface="Cambria Math" panose="02040503050406030204" pitchFamily="18" charset="0"/>
                <a:ea typeface="KaiTi_GB2312" panose="02010609030101010101" pitchFamily="49" charset="-122"/>
              </a:rPr>
              <a:t>状态用二元组的形式（</a:t>
            </a:r>
            <a:r>
              <a:rPr kumimoji="1" lang="en-US" altLang="zh-CN" sz="2800" dirty="0">
                <a:solidFill>
                  <a:srgbClr val="800080"/>
                </a:solidFill>
                <a:latin typeface="Cambria Math" panose="02040503050406030204" pitchFamily="18" charset="0"/>
                <a:ea typeface="Cambria Math" panose="02040503050406030204" pitchFamily="18" charset="0"/>
              </a:rPr>
              <a:t>q,</a:t>
            </a:r>
            <a:r>
              <a:rPr kumimoji="1" lang="zh-CN" altLang="en-US" sz="2800" dirty="0">
                <a:solidFill>
                  <a:srgbClr val="800080"/>
                </a:solidFill>
                <a:latin typeface="Cambria Math" panose="02040503050406030204" pitchFamily="18" charset="0"/>
                <a:ea typeface="Cambria Math" panose="02040503050406030204" pitchFamily="18" charset="0"/>
              </a:rPr>
              <a:t> </a:t>
            </a:r>
            <a:r>
              <a:rPr kumimoji="1" lang="en-US" altLang="zh-CN" sz="2800" dirty="0">
                <a:solidFill>
                  <a:srgbClr val="800080"/>
                </a:solidFill>
                <a:latin typeface="Cambria Math" panose="02040503050406030204" pitchFamily="18" charset="0"/>
                <a:ea typeface="Cambria Math" panose="02040503050406030204" pitchFamily="18" charset="0"/>
              </a:rPr>
              <a:t>L)</a:t>
            </a:r>
            <a:r>
              <a:rPr kumimoji="1" lang="zh-CN" altLang="en-US" sz="2800" dirty="0">
                <a:solidFill>
                  <a:srgbClr val="800080"/>
                </a:solidFill>
                <a:latin typeface="Cambria Math" panose="02040503050406030204" pitchFamily="18" charset="0"/>
                <a:ea typeface="KaiTi_GB2312" panose="02010609030101010101" pitchFamily="49" charset="-122"/>
              </a:rPr>
              <a:t>和（</a:t>
            </a:r>
            <a:r>
              <a:rPr kumimoji="1" lang="en-US" altLang="zh-CN" sz="2800" dirty="0">
                <a:solidFill>
                  <a:srgbClr val="800080"/>
                </a:solidFill>
                <a:latin typeface="Cambria Math" panose="02040503050406030204" pitchFamily="18" charset="0"/>
                <a:ea typeface="Cambria Math" panose="02040503050406030204" pitchFamily="18" charset="0"/>
              </a:rPr>
              <a:t>q,</a:t>
            </a:r>
            <a:r>
              <a:rPr kumimoji="1" lang="zh-CN" altLang="en-US" sz="2800" dirty="0">
                <a:solidFill>
                  <a:srgbClr val="800080"/>
                </a:solidFill>
                <a:latin typeface="Cambria Math" panose="02040503050406030204" pitchFamily="18" charset="0"/>
                <a:ea typeface="Cambria Math" panose="02040503050406030204" pitchFamily="18" charset="0"/>
              </a:rPr>
              <a:t> </a:t>
            </a:r>
            <a:r>
              <a:rPr kumimoji="1" lang="en-US" altLang="zh-CN" sz="2800" dirty="0">
                <a:solidFill>
                  <a:srgbClr val="800080"/>
                </a:solidFill>
                <a:latin typeface="Cambria Math" panose="02040503050406030204" pitchFamily="18" charset="0"/>
                <a:ea typeface="Cambria Math" panose="02040503050406030204" pitchFamily="18" charset="0"/>
              </a:rPr>
              <a:t>R</a:t>
            </a:r>
            <a:r>
              <a:rPr kumimoji="1" lang="zh-CN" altLang="en-US" sz="2800" dirty="0">
                <a:solidFill>
                  <a:srgbClr val="800080"/>
                </a:solidFill>
                <a:latin typeface="Cambria Math" panose="02040503050406030204" pitchFamily="18" charset="0"/>
                <a:ea typeface="KaiTi_GB2312" panose="0201060903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多栈机器</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b="1" dirty="0"/>
                  <a:t>多栈机器</a:t>
                </a:r>
                <a:r>
                  <a:rPr lang="zh-CN" altLang="en-US" dirty="0"/>
                  <a:t>：基于下推自动机的扩展，</a:t>
                </a:r>
                <a14:m>
                  <m:oMath xmlns:m="http://schemas.openxmlformats.org/officeDocument/2006/math">
                    <m:r>
                      <a:rPr lang="en-US" altLang="zh-CN" i="1" dirty="0" smtClean="0">
                        <a:latin typeface="Cambria Math" panose="02040503050406030204" pitchFamily="18" charset="0"/>
                      </a:rPr>
                      <m:t>𝑘</m:t>
                    </m:r>
                  </m:oMath>
                </a14:m>
                <a:r>
                  <a:rPr lang="zh-CN" altLang="en-US" dirty="0"/>
                  <a:t>栈机器是具有</a:t>
                </a:r>
                <a14:m>
                  <m:oMath xmlns:m="http://schemas.openxmlformats.org/officeDocument/2006/math">
                    <m:r>
                      <a:rPr lang="en-US" altLang="zh-CN" i="1" dirty="0" smtClean="0">
                        <a:latin typeface="Cambria Math" panose="02040503050406030204" pitchFamily="18" charset="0"/>
                      </a:rPr>
                      <m:t>𝑘</m:t>
                    </m:r>
                  </m:oMath>
                </a14:m>
                <a:r>
                  <a:rPr lang="zh-CN" altLang="en-US" dirty="0"/>
                  <a:t>个栈的确定型下推自动机。</a:t>
                </a:r>
                <a:endParaRPr lang="en-US" altLang="zh-CN" dirty="0"/>
              </a:p>
              <a:p>
                <a:pPr lvl="1">
                  <a:buFont typeface="Symbol" pitchFamily="18" charset="2"/>
                  <a:buChar char="-"/>
                </a:pPr>
                <a:r>
                  <a:rPr lang="zh-CN" altLang="en-US" dirty="0">
                    <a:latin typeface="Arial" pitchFamily="34" charset="0"/>
                  </a:rPr>
                  <a:t>具有多个下推栈的 </a:t>
                </a:r>
                <a:r>
                  <a:rPr lang="en-US" altLang="zh-CN" dirty="0">
                    <a:latin typeface="Arial" pitchFamily="34" charset="0"/>
                  </a:rPr>
                  <a:t>PDA</a:t>
                </a:r>
                <a:r>
                  <a:rPr lang="zh-CN" altLang="en-US" dirty="0">
                    <a:latin typeface="Arial" pitchFamily="34" charset="0"/>
                  </a:rPr>
                  <a:t>，包含 </a:t>
                </a:r>
                <a:r>
                  <a:rPr lang="en-US" altLang="zh-CN" dirty="0">
                    <a:latin typeface="Arial" pitchFamily="34" charset="0"/>
                  </a:rPr>
                  <a:t>k </a:t>
                </a:r>
                <a:r>
                  <a:rPr lang="zh-CN" altLang="en-US" dirty="0">
                    <a:latin typeface="Arial" pitchFamily="34" charset="0"/>
                  </a:rPr>
                  <a:t>个下推栈的一步转移</a:t>
                </a:r>
                <a:endParaRPr lang="en-US" altLang="zh-CN" dirty="0">
                  <a:latin typeface="Arial" pitchFamily="34" charset="0"/>
                </a:endParaRPr>
              </a:p>
              <a:p>
                <a:pPr marL="457200" lvl="1" indent="0">
                  <a:buNone/>
                </a:pPr>
                <a:r>
                  <a:rPr lang="zh-CN" altLang="en-US" dirty="0">
                    <a:latin typeface="Arial" pitchFamily="34" charset="0"/>
                  </a:rPr>
                  <a:t>    可表达为 </a:t>
                </a:r>
                <a:r>
                  <a:rPr lang="en-US" altLang="zh-CN" dirty="0">
                    <a:latin typeface="Arial" pitchFamily="34" charset="0"/>
                    <a:sym typeface="Symbol" pitchFamily="18" charset="2"/>
                  </a:rPr>
                  <a:t>(p, </a:t>
                </a:r>
                <a:r>
                  <a:rPr lang="en-US" altLang="zh-CN" baseline="-25000" dirty="0">
                    <a:latin typeface="Arial" pitchFamily="34" charset="0"/>
                    <a:sym typeface="Symbol" pitchFamily="18" charset="2"/>
                  </a:rPr>
                  <a:t>1</a:t>
                </a:r>
                <a:r>
                  <a:rPr lang="en-US" altLang="zh-CN" dirty="0">
                    <a:latin typeface="Arial" pitchFamily="34" charset="0"/>
                    <a:sym typeface="Symbol" pitchFamily="18" charset="2"/>
                  </a:rPr>
                  <a:t>, </a:t>
                </a:r>
                <a:r>
                  <a:rPr lang="en-US" altLang="zh-CN" baseline="-25000" dirty="0">
                    <a:latin typeface="Arial" pitchFamily="34" charset="0"/>
                    <a:sym typeface="Symbol" pitchFamily="18" charset="2"/>
                  </a:rPr>
                  <a:t>2</a:t>
                </a:r>
                <a:r>
                  <a:rPr lang="en-US" altLang="zh-CN" dirty="0">
                    <a:latin typeface="Arial" pitchFamily="34" charset="0"/>
                    <a:sym typeface="Symbol" pitchFamily="18" charset="2"/>
                  </a:rPr>
                  <a:t>, …, </a:t>
                </a:r>
                <a:r>
                  <a:rPr lang="en-US" altLang="zh-CN" baseline="-25000" dirty="0">
                    <a:latin typeface="Arial" pitchFamily="34" charset="0"/>
                    <a:sym typeface="Symbol" pitchFamily="18" charset="2"/>
                  </a:rPr>
                  <a:t>k</a:t>
                </a:r>
                <a:r>
                  <a:rPr lang="en-US" altLang="zh-CN" dirty="0">
                    <a:latin typeface="Arial" pitchFamily="34" charset="0"/>
                    <a:sym typeface="Symbol" pitchFamily="18" charset="2"/>
                  </a:rPr>
                  <a:t>) </a:t>
                </a:r>
                <a:r>
                  <a:rPr lang="en-US" altLang="zh-CN" dirty="0">
                    <a:latin typeface="Arial" pitchFamily="34" charset="0"/>
                    <a:sym typeface="Symbol"/>
                  </a:rPr>
                  <a:t> </a:t>
                </a:r>
                <a:r>
                  <a:rPr lang="zh-CN" altLang="en-US" dirty="0">
                    <a:latin typeface="Arial" pitchFamily="34" charset="0"/>
                    <a:sym typeface="Symbol" pitchFamily="18" charset="2"/>
                  </a:rPr>
                  <a:t></a:t>
                </a:r>
                <a:r>
                  <a:rPr lang="en-US" altLang="zh-CN" dirty="0">
                    <a:latin typeface="Arial" pitchFamily="34" charset="0"/>
                    <a:sym typeface="Symbol" pitchFamily="18" charset="2"/>
                  </a:rPr>
                  <a:t>(q, a, X</a:t>
                </a:r>
                <a:r>
                  <a:rPr lang="en-US" altLang="zh-CN" baseline="-25000" dirty="0">
                    <a:latin typeface="Arial" pitchFamily="34" charset="0"/>
                    <a:sym typeface="Symbol" pitchFamily="18" charset="2"/>
                  </a:rPr>
                  <a:t>1</a:t>
                </a:r>
                <a:r>
                  <a:rPr lang="en-US" altLang="zh-CN" dirty="0">
                    <a:latin typeface="Arial" pitchFamily="34" charset="0"/>
                    <a:sym typeface="Symbol" pitchFamily="18" charset="2"/>
                  </a:rPr>
                  <a:t>, X</a:t>
                </a:r>
                <a:r>
                  <a:rPr lang="en-US" altLang="zh-CN" baseline="-25000" dirty="0">
                    <a:latin typeface="Arial" pitchFamily="34" charset="0"/>
                    <a:sym typeface="Symbol" pitchFamily="18" charset="2"/>
                  </a:rPr>
                  <a:t>2</a:t>
                </a:r>
                <a:r>
                  <a:rPr lang="en-US" altLang="zh-CN" dirty="0">
                    <a:latin typeface="Arial" pitchFamily="34" charset="0"/>
                    <a:sym typeface="Symbol" pitchFamily="18" charset="2"/>
                  </a:rPr>
                  <a:t>, …, </a:t>
                </a:r>
                <a:r>
                  <a:rPr lang="en-US" altLang="zh-CN" dirty="0" err="1">
                    <a:latin typeface="Arial" pitchFamily="34" charset="0"/>
                    <a:sym typeface="Symbol" pitchFamily="18" charset="2"/>
                  </a:rPr>
                  <a:t>X</a:t>
                </a:r>
                <a:r>
                  <a:rPr lang="en-US" altLang="zh-CN" baseline="-25000" dirty="0" err="1">
                    <a:latin typeface="Arial" pitchFamily="34" charset="0"/>
                    <a:sym typeface="Symbol" pitchFamily="18" charset="2"/>
                  </a:rPr>
                  <a:t>k</a:t>
                </a:r>
                <a:r>
                  <a:rPr lang="en-US" altLang="zh-CN" dirty="0">
                    <a:latin typeface="Arial" pitchFamily="34" charset="0"/>
                    <a:sym typeface="Symbol" pitchFamily="18" charset="2"/>
                  </a:rPr>
                  <a:t>)</a:t>
                </a:r>
                <a:r>
                  <a:rPr lang="en-US" altLang="zh-CN" dirty="0">
                    <a:latin typeface="Arial" pitchFamily="34" charset="0"/>
                  </a:rPr>
                  <a:t>.</a:t>
                </a:r>
                <a:endParaRPr lang="en-AU" altLang="zh-CN" dirty="0"/>
              </a:p>
              <a:p>
                <a:pPr lvl="1"/>
                <a:r>
                  <a:rPr lang="zh-CN" altLang="en-US" dirty="0"/>
                  <a:t>定理</a:t>
                </a:r>
                <a:r>
                  <a:rPr lang="en-AU" altLang="zh-CN" dirty="0"/>
                  <a:t>: </a:t>
                </a:r>
                <a:r>
                  <a:rPr lang="zh-CN" altLang="en-US" dirty="0"/>
                  <a:t>如果图灵机接受</a:t>
                </a:r>
                <a14:m>
                  <m:oMath xmlns:m="http://schemas.openxmlformats.org/officeDocument/2006/math">
                    <m:r>
                      <a:rPr lang="en-US" altLang="zh-CN" i="1" dirty="0" smtClean="0">
                        <a:latin typeface="Cambria Math" panose="02040503050406030204" pitchFamily="18" charset="0"/>
                      </a:rPr>
                      <m:t>𝐿</m:t>
                    </m:r>
                  </m:oMath>
                </a14:m>
                <a:r>
                  <a:rPr lang="zh-CN" altLang="en-US" dirty="0"/>
                  <a:t>，那么双栈机接受</a:t>
                </a:r>
                <a14:m>
                  <m:oMath xmlns:m="http://schemas.openxmlformats.org/officeDocument/2006/math">
                    <m:r>
                      <a:rPr lang="en-US" altLang="zh-CN" i="1" dirty="0" smtClean="0">
                        <a:latin typeface="Cambria Math" panose="02040503050406030204" pitchFamily="18" charset="0"/>
                      </a:rPr>
                      <m:t>𝐿</m:t>
                    </m:r>
                  </m:oMath>
                </a14:m>
                <a:r>
                  <a:rPr lang="zh-CN" altLang="en-US" dirty="0"/>
                  <a:t>。</a:t>
                </a:r>
                <a:endParaRPr lang="en-US" altLang="zh-CN" dirty="0"/>
              </a:p>
              <a:p>
                <a:pPr marL="457200" lvl="1" indent="0">
                  <a:buNone/>
                </a:pPr>
                <a:endParaRPr lang="en-AU" altLang="zh-CN" dirty="0"/>
              </a:p>
              <a:p>
                <a:endParaRPr lang="zh-CN" altLang="en-US" dirty="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95" t="-1676" r="-930"/>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32</a:t>
            </a:fld>
            <a:endParaRPr lang="en-AU"/>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多栈机器</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81200" y="1166018"/>
                <a:ext cx="8229600" cy="4525963"/>
              </a:xfrm>
            </p:spPr>
            <p:txBody>
              <a:bodyPr/>
              <a:lstStyle/>
              <a:p>
                <a:r>
                  <a:rPr lang="zh-CN" altLang="en-US" sz="2400" dirty="0"/>
                  <a:t>证明要点：</a:t>
                </a:r>
                <a:endParaRPr lang="en-US" altLang="zh-CN" sz="2400" dirty="0"/>
              </a:p>
              <a:p>
                <a:pPr lvl="1"/>
                <a:r>
                  <a:rPr lang="zh-CN" altLang="en-US" sz="2400" dirty="0"/>
                  <a:t>开始时输入在双栈机的输入带，可以先将输入扫描并压入一个栈，然后再依次把每个符号弹出再压入另一个栈，然后进入模拟图灵机的状态。</a:t>
                </a:r>
                <a:endParaRPr lang="en-AU" altLang="zh-CN" sz="2400" dirty="0"/>
              </a:p>
              <a:p>
                <a:pPr lvl="1"/>
                <a:r>
                  <a:rPr lang="zh-CN" altLang="en-US" sz="2400" dirty="0"/>
                  <a:t>用两个堆栈模拟图灵机带，一个堆栈保存带头左边内容，一个堆栈保存带头右边内容，但都不包括无穷的空格符号。</a:t>
                </a:r>
                <a:endParaRPr lang="en-AU" altLang="zh-CN" sz="2400" dirty="0"/>
              </a:p>
              <a:p>
                <a:pPr lvl="1"/>
                <a:r>
                  <a:rPr lang="zh-CN" altLang="en-US" sz="2400" dirty="0"/>
                  <a:t>带头的移动用两个栈分别弹栈和压栈模拟。若带头修改字符</a:t>
                </a:r>
                <a14:m>
                  <m:oMath xmlns:m="http://schemas.openxmlformats.org/officeDocument/2006/math">
                    <m:r>
                      <a:rPr lang="en-US" altLang="zh-CN" sz="2400" i="1" dirty="0">
                        <a:latin typeface="Cambria Math" panose="02040503050406030204" pitchFamily="18" charset="0"/>
                      </a:rPr>
                      <m:t>𝐴</m:t>
                    </m:r>
                  </m:oMath>
                </a14:m>
                <a:r>
                  <a:rPr lang="zh-CN" altLang="en-US" sz="2400" dirty="0"/>
                  <a:t>为</a:t>
                </a:r>
                <a14:m>
                  <m:oMath xmlns:m="http://schemas.openxmlformats.org/officeDocument/2006/math">
                    <m:r>
                      <a:rPr lang="en-US" altLang="zh-CN" sz="2400" i="1" dirty="0">
                        <a:latin typeface="Cambria Math" panose="02040503050406030204" pitchFamily="18" charset="0"/>
                      </a:rPr>
                      <m:t>𝐵</m:t>
                    </m:r>
                  </m:oMath>
                </a14:m>
                <a:r>
                  <a:rPr lang="zh-CN" altLang="en-US" sz="2400" dirty="0"/>
                  <a:t>，用一个栈弹出的字符</a:t>
                </a:r>
                <a14:m>
                  <m:oMath xmlns:m="http://schemas.openxmlformats.org/officeDocument/2006/math">
                    <m:r>
                      <a:rPr lang="en-US" altLang="zh-CN" sz="2400" i="1" dirty="0">
                        <a:latin typeface="Cambria Math" panose="02040503050406030204" pitchFamily="18" charset="0"/>
                      </a:rPr>
                      <m:t>𝐴</m:t>
                    </m:r>
                  </m:oMath>
                </a14:m>
                <a:r>
                  <a:rPr lang="zh-CN" altLang="en-US" sz="2400" dirty="0"/>
                  <a:t>而另一个栈压入</a:t>
                </a:r>
                <a14:m>
                  <m:oMath xmlns:m="http://schemas.openxmlformats.org/officeDocument/2006/math">
                    <m:r>
                      <a:rPr lang="en-US" altLang="zh-CN" sz="2400" i="1" dirty="0">
                        <a:latin typeface="Cambria Math" panose="02040503050406030204" pitchFamily="18" charset="0"/>
                      </a:rPr>
                      <m:t>𝐵</m:t>
                    </m:r>
                  </m:oMath>
                </a14:m>
                <a:r>
                  <a:rPr lang="zh-CN" altLang="en-US" sz="2400" dirty="0"/>
                  <a:t>来模拟。</a:t>
                </a:r>
                <a:endParaRPr lang="en-AU" altLang="zh-CN" sz="2400" dirty="0"/>
              </a:p>
              <a:p>
                <a:endParaRPr lang="en-AU"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81200" y="1166018"/>
                <a:ext cx="8229600" cy="4525963"/>
              </a:xfrm>
              <a:blipFill>
                <a:blip r:embed="rId3"/>
                <a:stretch>
                  <a:fillRect l="-1079" t="-111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t>33</a:t>
            </a:fld>
            <a:endParaRPr lang="en-AU" dirty="0"/>
          </a:p>
        </p:txBody>
      </p:sp>
      <mc:AlternateContent xmlns:mc="http://schemas.openxmlformats.org/markup-compatibility/2006" xmlns:a14="http://schemas.microsoft.com/office/drawing/2010/main">
        <mc:Choice Requires="a14">
          <p:sp>
            <p:nvSpPr>
              <p:cNvPr id="7" name="Rectangle 6"/>
              <p:cNvSpPr/>
              <p:nvPr/>
            </p:nvSpPr>
            <p:spPr>
              <a:xfrm>
                <a:off x="2883246" y="5574580"/>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1</m:t>
                          </m:r>
                        </m:sub>
                      </m:sSub>
                    </m:oMath>
                  </m:oMathPara>
                </a14:m>
                <a:endParaRPr lang="en-AU" dirty="0"/>
              </a:p>
            </p:txBody>
          </p:sp>
        </mc:Choice>
        <mc:Fallback xmlns="">
          <p:sp>
            <p:nvSpPr>
              <p:cNvPr id="7" name="Rectangle 6"/>
              <p:cNvSpPr>
                <a:spLocks noRot="1" noChangeAspect="1" noMove="1" noResize="1" noEditPoints="1" noAdjustHandles="1" noChangeArrowheads="1" noChangeShapeType="1" noTextEdit="1"/>
              </p:cNvSpPr>
              <p:nvPr/>
            </p:nvSpPr>
            <p:spPr>
              <a:xfrm>
                <a:off x="2883246" y="5574580"/>
                <a:ext cx="642551" cy="461319"/>
              </a:xfrm>
              <a:prstGeom prst="rect">
                <a:avLst/>
              </a:prstGeom>
              <a:blipFill>
                <a:blip r:embed="rId4"/>
                <a:stretch>
                  <a:fillRect/>
                </a:stretch>
              </a:blipFill>
              <a:ln w="19050">
                <a:solidFill>
                  <a:srgbClr val="7030A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525797" y="5574580"/>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2</m:t>
                          </m:r>
                        </m:sub>
                      </m:sSub>
                    </m:oMath>
                  </m:oMathPara>
                </a14:m>
                <a:endParaRPr lang="en-AU" dirty="0"/>
              </a:p>
            </p:txBody>
          </p:sp>
        </mc:Choice>
        <mc:Fallback xmlns="">
          <p:sp>
            <p:nvSpPr>
              <p:cNvPr id="8" name="Rectangle 7"/>
              <p:cNvSpPr>
                <a:spLocks noRot="1" noChangeAspect="1" noMove="1" noResize="1" noEditPoints="1" noAdjustHandles="1" noChangeArrowheads="1" noChangeShapeType="1" noTextEdit="1"/>
              </p:cNvSpPr>
              <p:nvPr/>
            </p:nvSpPr>
            <p:spPr>
              <a:xfrm>
                <a:off x="3525797" y="5574580"/>
                <a:ext cx="642551" cy="461319"/>
              </a:xfrm>
              <a:prstGeom prst="rect">
                <a:avLst/>
              </a:prstGeom>
              <a:blipFill>
                <a:blip r:embed="rId5"/>
                <a:stretch>
                  <a:fillRect/>
                </a:stretch>
              </a:blipFill>
              <a:ln w="19050">
                <a:solidFill>
                  <a:srgbClr val="7030A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168348" y="5574580"/>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3</m:t>
                          </m:r>
                        </m:sub>
                      </m:sSub>
                    </m:oMath>
                  </m:oMathPara>
                </a14:m>
                <a:endParaRPr lang="en-AU" dirty="0"/>
              </a:p>
            </p:txBody>
          </p:sp>
        </mc:Choice>
        <mc:Fallback xmlns="">
          <p:sp>
            <p:nvSpPr>
              <p:cNvPr id="9" name="Rectangle 8"/>
              <p:cNvSpPr>
                <a:spLocks noRot="1" noChangeAspect="1" noMove="1" noResize="1" noEditPoints="1" noAdjustHandles="1" noChangeArrowheads="1" noChangeShapeType="1" noTextEdit="1"/>
              </p:cNvSpPr>
              <p:nvPr/>
            </p:nvSpPr>
            <p:spPr>
              <a:xfrm>
                <a:off x="4168348" y="5574580"/>
                <a:ext cx="642551" cy="461319"/>
              </a:xfrm>
              <a:prstGeom prst="rect">
                <a:avLst/>
              </a:prstGeom>
              <a:blipFill>
                <a:blip r:embed="rId6"/>
                <a:stretch>
                  <a:fillRect/>
                </a:stretch>
              </a:blipFill>
              <a:ln w="19050">
                <a:solidFill>
                  <a:srgbClr val="7030A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4810899" y="5574580"/>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4</m:t>
                          </m:r>
                        </m:sub>
                      </m:sSub>
                    </m:oMath>
                  </m:oMathPara>
                </a14:m>
                <a:endParaRPr lang="en-AU" dirty="0"/>
              </a:p>
            </p:txBody>
          </p:sp>
        </mc:Choice>
        <mc:Fallback xmlns="">
          <p:sp>
            <p:nvSpPr>
              <p:cNvPr id="10" name="Rectangle 9"/>
              <p:cNvSpPr>
                <a:spLocks noRot="1" noChangeAspect="1" noMove="1" noResize="1" noEditPoints="1" noAdjustHandles="1" noChangeArrowheads="1" noChangeShapeType="1" noTextEdit="1"/>
              </p:cNvSpPr>
              <p:nvPr/>
            </p:nvSpPr>
            <p:spPr>
              <a:xfrm>
                <a:off x="4810899" y="5574580"/>
                <a:ext cx="642551" cy="461319"/>
              </a:xfrm>
              <a:prstGeom prst="rect">
                <a:avLst/>
              </a:prstGeom>
              <a:blipFill>
                <a:blip r:embed="rId7"/>
                <a:stretch>
                  <a:fillRect/>
                </a:stretch>
              </a:blipFill>
              <a:ln w="19050">
                <a:solidFill>
                  <a:srgbClr val="7030A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5453450" y="5574580"/>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5</m:t>
                          </m:r>
                        </m:sub>
                      </m:sSub>
                    </m:oMath>
                  </m:oMathPara>
                </a14:m>
                <a:endParaRPr lang="en-AU" dirty="0"/>
              </a:p>
            </p:txBody>
          </p:sp>
        </mc:Choice>
        <mc:Fallback xmlns="">
          <p:sp>
            <p:nvSpPr>
              <p:cNvPr id="11" name="Rectangle 10"/>
              <p:cNvSpPr>
                <a:spLocks noRot="1" noChangeAspect="1" noMove="1" noResize="1" noEditPoints="1" noAdjustHandles="1" noChangeArrowheads="1" noChangeShapeType="1" noTextEdit="1"/>
              </p:cNvSpPr>
              <p:nvPr/>
            </p:nvSpPr>
            <p:spPr>
              <a:xfrm>
                <a:off x="5453450" y="5574580"/>
                <a:ext cx="642551" cy="461319"/>
              </a:xfrm>
              <a:prstGeom prst="rect">
                <a:avLst/>
              </a:prstGeom>
              <a:blipFill>
                <a:blip r:embed="rId8"/>
                <a:stretch>
                  <a:fillRect/>
                </a:stretch>
              </a:blipFill>
              <a:ln w="19050">
                <a:solidFill>
                  <a:srgbClr val="7030A0"/>
                </a:solidFill>
              </a:ln>
            </p:spPr>
            <p:txBody>
              <a:bodyPr/>
              <a:lstStyle/>
              <a:p>
                <a:r>
                  <a:rPr lang="zh-CN" altLang="en-US">
                    <a:noFill/>
                  </a:rPr>
                  <a:t> </a:t>
                </a:r>
              </a:p>
            </p:txBody>
          </p:sp>
        </mc:Fallback>
      </mc:AlternateContent>
      <p:cxnSp>
        <p:nvCxnSpPr>
          <p:cNvPr id="12" name="Straight Connector 11"/>
          <p:cNvCxnSpPr/>
          <p:nvPr/>
        </p:nvCxnSpPr>
        <p:spPr>
          <a:xfrm>
            <a:off x="6738552" y="5573987"/>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738552" y="6035306"/>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302889" y="5574579"/>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332958" y="6035898"/>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451453" y="5599098"/>
            <a:ext cx="343364" cy="369332"/>
          </a:xfrm>
          <a:prstGeom prst="rect">
            <a:avLst/>
          </a:prstGeom>
          <a:noFill/>
        </p:spPr>
        <p:txBody>
          <a:bodyPr wrap="none" rtlCol="0">
            <a:spAutoFit/>
          </a:bodyPr>
          <a:lstStyle/>
          <a:p>
            <a:r>
              <a:rPr lang="en-AU" dirty="0"/>
              <a:t>…</a:t>
            </a:r>
          </a:p>
        </p:txBody>
      </p:sp>
      <p:sp>
        <p:nvSpPr>
          <p:cNvPr id="17" name="TextBox 16"/>
          <p:cNvSpPr txBox="1"/>
          <p:nvPr/>
        </p:nvSpPr>
        <p:spPr>
          <a:xfrm>
            <a:off x="6883537" y="5571003"/>
            <a:ext cx="343364" cy="369332"/>
          </a:xfrm>
          <a:prstGeom prst="rect">
            <a:avLst/>
          </a:prstGeom>
          <a:noFill/>
        </p:spPr>
        <p:txBody>
          <a:bodyPr wrap="none" rtlCol="0">
            <a:spAutoFit/>
          </a:bodyPr>
          <a:lstStyle/>
          <a:p>
            <a:r>
              <a:rPr lang="en-AU" dirty="0"/>
              <a:t>…</a:t>
            </a:r>
          </a:p>
        </p:txBody>
      </p:sp>
      <mc:AlternateContent xmlns:mc="http://schemas.openxmlformats.org/markup-compatibility/2006" xmlns:a14="http://schemas.microsoft.com/office/drawing/2010/main">
        <mc:Choice Requires="a14">
          <p:sp>
            <p:nvSpPr>
              <p:cNvPr id="19" name="Rectangle 18"/>
              <p:cNvSpPr/>
              <p:nvPr/>
            </p:nvSpPr>
            <p:spPr>
              <a:xfrm>
                <a:off x="6096001" y="5573988"/>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6</m:t>
                          </m:r>
                        </m:sub>
                      </m:sSub>
                    </m:oMath>
                  </m:oMathPara>
                </a14:m>
                <a:endParaRPr lang="en-AU" dirty="0"/>
              </a:p>
            </p:txBody>
          </p:sp>
        </mc:Choice>
        <mc:Fallback xmlns="">
          <p:sp>
            <p:nvSpPr>
              <p:cNvPr id="19" name="Rectangle 18"/>
              <p:cNvSpPr>
                <a:spLocks noRot="1" noChangeAspect="1" noMove="1" noResize="1" noEditPoints="1" noAdjustHandles="1" noChangeArrowheads="1" noChangeShapeType="1" noTextEdit="1"/>
              </p:cNvSpPr>
              <p:nvPr/>
            </p:nvSpPr>
            <p:spPr>
              <a:xfrm>
                <a:off x="6096001" y="5573988"/>
                <a:ext cx="642551" cy="461319"/>
              </a:xfrm>
              <a:prstGeom prst="rect">
                <a:avLst/>
              </a:prstGeom>
              <a:blipFill>
                <a:blip r:embed="rId9"/>
                <a:stretch>
                  <a:fillRect/>
                </a:stretch>
              </a:blipFill>
              <a:ln w="19050">
                <a:solidFill>
                  <a:srgbClr val="7030A0"/>
                </a:solidFill>
              </a:ln>
            </p:spPr>
            <p:txBody>
              <a:bodyPr/>
              <a:lstStyle/>
              <a:p>
                <a:r>
                  <a:rPr lang="zh-CN" altLang="en-US">
                    <a:noFill/>
                  </a:rPr>
                  <a:t> </a:t>
                </a:r>
              </a:p>
            </p:txBody>
          </p:sp>
        </mc:Fallback>
      </mc:AlternateContent>
      <p:grpSp>
        <p:nvGrpSpPr>
          <p:cNvPr id="27" name="Group 26"/>
          <p:cNvGrpSpPr/>
          <p:nvPr/>
        </p:nvGrpSpPr>
        <p:grpSpPr>
          <a:xfrm>
            <a:off x="7951800" y="5284632"/>
            <a:ext cx="644943" cy="1383133"/>
            <a:chOff x="6136673" y="5386439"/>
            <a:chExt cx="644943" cy="1383133"/>
          </a:xfrm>
        </p:grpSpPr>
        <mc:AlternateContent xmlns:mc="http://schemas.openxmlformats.org/markup-compatibility/2006" xmlns:a14="http://schemas.microsoft.com/office/drawing/2010/main">
          <mc:Choice Requires="a14">
            <p:sp>
              <p:nvSpPr>
                <p:cNvPr id="20" name="Rectangle 19"/>
                <p:cNvSpPr/>
                <p:nvPr/>
              </p:nvSpPr>
              <p:spPr>
                <a:xfrm>
                  <a:off x="6136674" y="5850580"/>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2</m:t>
                            </m:r>
                          </m:sub>
                        </m:sSub>
                      </m:oMath>
                    </m:oMathPara>
                  </a14:m>
                  <a:endParaRPr lang="en-AU" dirty="0"/>
                </a:p>
              </p:txBody>
            </p:sp>
          </mc:Choice>
          <mc:Fallback xmlns="">
            <p:sp>
              <p:nvSpPr>
                <p:cNvPr id="20" name="Rectangle 19"/>
                <p:cNvSpPr>
                  <a:spLocks noRot="1" noChangeAspect="1" noMove="1" noResize="1" noEditPoints="1" noAdjustHandles="1" noChangeArrowheads="1" noChangeShapeType="1" noTextEdit="1"/>
                </p:cNvSpPr>
                <p:nvPr/>
              </p:nvSpPr>
              <p:spPr>
                <a:xfrm>
                  <a:off x="6136674" y="5850580"/>
                  <a:ext cx="642551" cy="461319"/>
                </a:xfrm>
                <a:prstGeom prst="rect">
                  <a:avLst/>
                </a:prstGeom>
                <a:blipFill rotWithShape="1">
                  <a:blip r:embed="rId10"/>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6136673" y="5386439"/>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3</m:t>
                            </m:r>
                          </m:sub>
                        </m:sSub>
                      </m:oMath>
                    </m:oMathPara>
                  </a14:m>
                  <a:endParaRPr lang="en-AU" dirty="0"/>
                </a:p>
              </p:txBody>
            </p:sp>
          </mc:Choice>
          <mc:Fallback xmlns="">
            <p:sp>
              <p:nvSpPr>
                <p:cNvPr id="21" name="Rectangle 20"/>
                <p:cNvSpPr>
                  <a:spLocks noRot="1" noChangeAspect="1" noMove="1" noResize="1" noEditPoints="1" noAdjustHandles="1" noChangeArrowheads="1" noChangeShapeType="1" noTextEdit="1"/>
                </p:cNvSpPr>
                <p:nvPr/>
              </p:nvSpPr>
              <p:spPr>
                <a:xfrm>
                  <a:off x="6136673" y="5386439"/>
                  <a:ext cx="642551" cy="461319"/>
                </a:xfrm>
                <a:prstGeom prst="rect">
                  <a:avLst/>
                </a:prstGeom>
                <a:blipFill rotWithShape="1">
                  <a:blip r:embed="rId11"/>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6139065" y="6308253"/>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1</m:t>
                            </m:r>
                          </m:sub>
                        </m:sSub>
                      </m:oMath>
                    </m:oMathPara>
                  </a14:m>
                  <a:endParaRPr lang="en-AU" dirty="0"/>
                </a:p>
              </p:txBody>
            </p:sp>
          </mc:Choice>
          <mc:Fallback xmlns="">
            <p:sp>
              <p:nvSpPr>
                <p:cNvPr id="22" name="Rectangle 21"/>
                <p:cNvSpPr>
                  <a:spLocks noRot="1" noChangeAspect="1" noMove="1" noResize="1" noEditPoints="1" noAdjustHandles="1" noChangeArrowheads="1" noChangeShapeType="1" noTextEdit="1"/>
                </p:cNvSpPr>
                <p:nvPr/>
              </p:nvSpPr>
              <p:spPr>
                <a:xfrm>
                  <a:off x="6139065" y="6308253"/>
                  <a:ext cx="642551" cy="461319"/>
                </a:xfrm>
                <a:prstGeom prst="rect">
                  <a:avLst/>
                </a:prstGeom>
                <a:blipFill rotWithShape="1">
                  <a:blip r:embed="rId12"/>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p:grpSp>
      <p:grpSp>
        <p:nvGrpSpPr>
          <p:cNvPr id="28" name="Group 27"/>
          <p:cNvGrpSpPr/>
          <p:nvPr/>
        </p:nvGrpSpPr>
        <p:grpSpPr>
          <a:xfrm>
            <a:off x="8736733" y="5281399"/>
            <a:ext cx="644943" cy="1383133"/>
            <a:chOff x="7116093" y="5371389"/>
            <a:chExt cx="644943" cy="1383133"/>
          </a:xfrm>
        </p:grpSpPr>
        <mc:AlternateContent xmlns:mc="http://schemas.openxmlformats.org/markup-compatibility/2006" xmlns:a14="http://schemas.microsoft.com/office/drawing/2010/main">
          <mc:Choice Requires="a14">
            <p:sp>
              <p:nvSpPr>
                <p:cNvPr id="23" name="Rectangle 22"/>
                <p:cNvSpPr/>
                <p:nvPr/>
              </p:nvSpPr>
              <p:spPr>
                <a:xfrm>
                  <a:off x="7116094" y="5835530"/>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5</m:t>
                            </m:r>
                          </m:sub>
                        </m:sSub>
                      </m:oMath>
                    </m:oMathPara>
                  </a14:m>
                  <a:endParaRPr lang="en-AU" dirty="0"/>
                </a:p>
              </p:txBody>
            </p:sp>
          </mc:Choice>
          <mc:Fallback xmlns="">
            <p:sp>
              <p:nvSpPr>
                <p:cNvPr id="23" name="Rectangle 22"/>
                <p:cNvSpPr>
                  <a:spLocks noRot="1" noChangeAspect="1" noMove="1" noResize="1" noEditPoints="1" noAdjustHandles="1" noChangeArrowheads="1" noChangeShapeType="1" noTextEdit="1"/>
                </p:cNvSpPr>
                <p:nvPr/>
              </p:nvSpPr>
              <p:spPr>
                <a:xfrm>
                  <a:off x="7116094" y="5835530"/>
                  <a:ext cx="642551" cy="461319"/>
                </a:xfrm>
                <a:prstGeom prst="rect">
                  <a:avLst/>
                </a:prstGeom>
                <a:blipFill rotWithShape="1">
                  <a:blip r:embed="rId13"/>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7116093" y="5371389"/>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4</m:t>
                            </m:r>
                          </m:sub>
                        </m:sSub>
                      </m:oMath>
                    </m:oMathPara>
                  </a14:m>
                  <a:endParaRPr lang="en-AU" dirty="0"/>
                </a:p>
              </p:txBody>
            </p:sp>
          </mc:Choice>
          <mc:Fallback xmlns="">
            <p:sp>
              <p:nvSpPr>
                <p:cNvPr id="24" name="Rectangle 23"/>
                <p:cNvSpPr>
                  <a:spLocks noRot="1" noChangeAspect="1" noMove="1" noResize="1" noEditPoints="1" noAdjustHandles="1" noChangeArrowheads="1" noChangeShapeType="1" noTextEdit="1"/>
                </p:cNvSpPr>
                <p:nvPr/>
              </p:nvSpPr>
              <p:spPr>
                <a:xfrm>
                  <a:off x="7116093" y="5371389"/>
                  <a:ext cx="642551" cy="461319"/>
                </a:xfrm>
                <a:prstGeom prst="rect">
                  <a:avLst/>
                </a:prstGeom>
                <a:blipFill rotWithShape="1">
                  <a:blip r:embed="rId14"/>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7118485" y="6293203"/>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𝐴</m:t>
                            </m:r>
                          </m:e>
                          <m:sub>
                            <m:r>
                              <a:rPr lang="en-AU" i="1">
                                <a:latin typeface="Cambria Math" panose="02040503050406030204" pitchFamily="18" charset="0"/>
                              </a:rPr>
                              <m:t>6</m:t>
                            </m:r>
                          </m:sub>
                        </m:sSub>
                      </m:oMath>
                    </m:oMathPara>
                  </a14:m>
                  <a:endParaRPr lang="en-AU" dirty="0"/>
                </a:p>
              </p:txBody>
            </p:sp>
          </mc:Choice>
          <mc:Fallback xmlns="">
            <p:sp>
              <p:nvSpPr>
                <p:cNvPr id="25" name="Rectangle 24"/>
                <p:cNvSpPr>
                  <a:spLocks noRot="1" noChangeAspect="1" noMove="1" noResize="1" noEditPoints="1" noAdjustHandles="1" noChangeArrowheads="1" noChangeShapeType="1" noTextEdit="1"/>
                </p:cNvSpPr>
                <p:nvPr/>
              </p:nvSpPr>
              <p:spPr>
                <a:xfrm>
                  <a:off x="7118485" y="6293203"/>
                  <a:ext cx="642551" cy="461319"/>
                </a:xfrm>
                <a:prstGeom prst="rect">
                  <a:avLst/>
                </a:prstGeom>
                <a:blipFill rotWithShape="1">
                  <a:blip r:embed="rId15"/>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p:grpSp>
      <p:sp>
        <p:nvSpPr>
          <p:cNvPr id="26" name="Line 378"/>
          <p:cNvSpPr>
            <a:spLocks noChangeShapeType="1"/>
          </p:cNvSpPr>
          <p:nvPr/>
        </p:nvSpPr>
        <p:spPr bwMode="auto">
          <a:xfrm flipH="1" flipV="1">
            <a:off x="5071085" y="6018363"/>
            <a:ext cx="201" cy="613122"/>
          </a:xfrm>
          <a:prstGeom prst="line">
            <a:avLst/>
          </a:prstGeom>
          <a:noFill/>
          <a:ln w="9525">
            <a:solidFill>
              <a:schemeClr val="tx1"/>
            </a:solidFill>
            <a:round/>
            <a:tailEnd type="triangle" w="med" len="med"/>
          </a:ln>
        </p:spPr>
        <p:txBody>
          <a:bodyPr wrap="none" anchor="ctr"/>
          <a:lstStyle/>
          <a:p>
            <a:endParaRPr lang="en-US"/>
          </a:p>
        </p:txBody>
      </p:sp>
      <p:sp>
        <p:nvSpPr>
          <p:cNvPr id="29" name="TextBox 28"/>
          <p:cNvSpPr txBox="1"/>
          <p:nvPr/>
        </p:nvSpPr>
        <p:spPr>
          <a:xfrm>
            <a:off x="9533716" y="5624340"/>
            <a:ext cx="800219" cy="461665"/>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rPr>
              <a:t>两栈</a:t>
            </a:r>
            <a:endParaRPr lang="en-AU" sz="2400" dirty="0">
              <a:latin typeface="楷体" panose="02010609060101010101" pitchFamily="49" charset="-122"/>
              <a:ea typeface="楷体" panose="02010609060101010101" pitchFamily="49" charset="-122"/>
            </a:endParaRPr>
          </a:p>
        </p:txBody>
      </p:sp>
      <p:sp>
        <p:nvSpPr>
          <p:cNvPr id="30" name="TextBox 29"/>
          <p:cNvSpPr txBox="1"/>
          <p:nvPr/>
        </p:nvSpPr>
        <p:spPr>
          <a:xfrm>
            <a:off x="2215381" y="6053412"/>
            <a:ext cx="2031325" cy="461665"/>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rPr>
              <a:t>图灵机输入带</a:t>
            </a:r>
            <a:endParaRPr lang="en-AU" sz="24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6" grpId="0"/>
      <p:bldP spid="17" grpId="0"/>
      <p:bldP spid="19" grpId="0" animBg="1"/>
      <p:bldP spid="26" grpId="0" animBg="1"/>
      <p:bldP spid="29" grpId="0"/>
      <p:bldP spid="3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多栈机器</a:t>
            </a:r>
            <a:endParaRPr lang="en-AU" dirty="0"/>
          </a:p>
        </p:txBody>
      </p:sp>
      <p:sp>
        <p:nvSpPr>
          <p:cNvPr id="3" name="Content Placeholder 2"/>
          <p:cNvSpPr>
            <a:spLocks noGrp="1"/>
          </p:cNvSpPr>
          <p:nvPr>
            <p:ph idx="1"/>
          </p:nvPr>
        </p:nvSpPr>
        <p:spPr>
          <a:xfrm>
            <a:off x="1930399" y="1328432"/>
            <a:ext cx="9956801" cy="5135868"/>
          </a:xfrm>
        </p:spPr>
        <p:txBody>
          <a:bodyPr/>
          <a:lstStyle/>
          <a:p>
            <a:r>
              <a:rPr lang="zh-CN" altLang="en-US" sz="2400" dirty="0">
                <a:latin typeface="Times New Roman" panose="02020603050405020304" pitchFamily="18" charset="0"/>
                <a:ea typeface="黑体" charset="0"/>
                <a:cs typeface="Times New Roman" panose="02020603050405020304" pitchFamily="18" charset="0"/>
              </a:rPr>
              <a:t>示例：</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利用双栈机器接受</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 </a:t>
            </a:r>
          </a:p>
          <a:p>
            <a:pPr lvl="1"/>
            <a:r>
              <a:rPr lang="zh-CN" altLang="en-AU" dirty="0"/>
              <a:t>方案</a:t>
            </a:r>
            <a:r>
              <a:rPr lang="en-US" altLang="zh-CN" dirty="0"/>
              <a:t>1</a:t>
            </a:r>
          </a:p>
          <a:p>
            <a:pPr lvl="2"/>
            <a:r>
              <a:rPr lang="zh-CN" altLang="en-US" dirty="0"/>
              <a:t>栈</a:t>
            </a:r>
            <a:r>
              <a:rPr lang="en-US" altLang="zh-CN" dirty="0"/>
              <a:t>A</a:t>
            </a:r>
            <a:r>
              <a:rPr lang="zh-CN" altLang="en-US" dirty="0"/>
              <a:t>存所有的</a:t>
            </a:r>
            <a:r>
              <a:rPr lang="en-US" altLang="zh-CN" dirty="0"/>
              <a:t>a</a:t>
            </a:r>
            <a:r>
              <a:rPr lang="zh-CN" altLang="en-US" dirty="0"/>
              <a:t>，栈</a:t>
            </a:r>
            <a:r>
              <a:rPr lang="en-US" altLang="zh-CN" dirty="0"/>
              <a:t>B</a:t>
            </a:r>
            <a:r>
              <a:rPr lang="zh-CN" altLang="en-US" dirty="0"/>
              <a:t>存所有的</a:t>
            </a:r>
            <a:r>
              <a:rPr lang="en-US" altLang="zh-CN" dirty="0"/>
              <a:t>b</a:t>
            </a:r>
          </a:p>
          <a:p>
            <a:pPr lvl="2"/>
            <a:r>
              <a:rPr lang="zh-CN" altLang="en-US" dirty="0"/>
              <a:t>每个</a:t>
            </a:r>
            <a:r>
              <a:rPr lang="en-US" altLang="zh-CN" dirty="0"/>
              <a:t>c</a:t>
            </a:r>
            <a:r>
              <a:rPr lang="zh-CN" altLang="en-US" dirty="0"/>
              <a:t>同时和两个栈顶符号匹配</a:t>
            </a:r>
            <a:endParaRPr lang="en-US" altLang="zh-CN" dirty="0"/>
          </a:p>
          <a:p>
            <a:pPr lvl="1"/>
            <a:r>
              <a:rPr lang="zh-CN" altLang="en-US" dirty="0"/>
              <a:t>方案</a:t>
            </a:r>
            <a:r>
              <a:rPr lang="en-US" altLang="zh-CN" dirty="0"/>
              <a:t>2</a:t>
            </a:r>
          </a:p>
          <a:p>
            <a:pPr lvl="2"/>
            <a:r>
              <a:rPr lang="zh-CN" altLang="en-AU" dirty="0"/>
              <a:t>栈</a:t>
            </a:r>
            <a:r>
              <a:rPr lang="en-US" altLang="zh-CN" dirty="0"/>
              <a:t>A</a:t>
            </a:r>
            <a:r>
              <a:rPr lang="zh-CN" altLang="en-US" dirty="0"/>
              <a:t>存所有的</a:t>
            </a:r>
            <a:r>
              <a:rPr lang="en-US" altLang="zh-CN" dirty="0"/>
              <a:t>a</a:t>
            </a:r>
          </a:p>
          <a:p>
            <a:pPr lvl="2"/>
            <a:r>
              <a:rPr lang="zh-CN" altLang="en-US" dirty="0"/>
              <a:t>栈</a:t>
            </a:r>
            <a:r>
              <a:rPr lang="en-US" altLang="zh-CN" dirty="0"/>
              <a:t>B</a:t>
            </a:r>
            <a:r>
              <a:rPr lang="zh-CN" altLang="en-US" dirty="0"/>
              <a:t>存所有的</a:t>
            </a:r>
            <a:r>
              <a:rPr lang="en-US" altLang="zh-CN" dirty="0"/>
              <a:t>b,</a:t>
            </a:r>
            <a:r>
              <a:rPr lang="zh-CN" altLang="en-US" dirty="0"/>
              <a:t>并匹配清空栈</a:t>
            </a:r>
            <a:r>
              <a:rPr lang="en-US" altLang="zh-CN" dirty="0"/>
              <a:t>A</a:t>
            </a:r>
            <a:r>
              <a:rPr lang="zh-CN" altLang="en-US" dirty="0"/>
              <a:t>中所有的</a:t>
            </a:r>
            <a:r>
              <a:rPr lang="en-US" altLang="zh-CN" dirty="0"/>
              <a:t>a</a:t>
            </a:r>
          </a:p>
          <a:p>
            <a:pPr lvl="2"/>
            <a:r>
              <a:rPr lang="zh-CN" altLang="en-US" dirty="0"/>
              <a:t>当栈</a:t>
            </a:r>
            <a:r>
              <a:rPr lang="en-US" altLang="zh-CN" dirty="0"/>
              <a:t>A</a:t>
            </a:r>
            <a:r>
              <a:rPr lang="zh-CN" altLang="en-US" dirty="0"/>
              <a:t>为空，基于栈</a:t>
            </a:r>
            <a:r>
              <a:rPr lang="en-US" altLang="zh-CN" dirty="0"/>
              <a:t>B</a:t>
            </a:r>
            <a:r>
              <a:rPr lang="zh-CN" altLang="en-US" dirty="0"/>
              <a:t>匹配</a:t>
            </a:r>
            <a:r>
              <a:rPr lang="en-US" altLang="zh-CN" dirty="0"/>
              <a:t>c</a:t>
            </a:r>
          </a:p>
          <a:p>
            <a:pPr lvl="1"/>
            <a:r>
              <a:rPr lang="zh-CN" altLang="en-US" dirty="0"/>
              <a:t>方案</a:t>
            </a:r>
            <a:r>
              <a:rPr lang="en-US" altLang="zh-CN" dirty="0"/>
              <a:t>3</a:t>
            </a:r>
          </a:p>
          <a:p>
            <a:pPr lvl="2"/>
            <a:r>
              <a:rPr lang="zh-CN" altLang="en-AU" dirty="0"/>
              <a:t>完全</a:t>
            </a:r>
            <a:r>
              <a:rPr lang="zh-CN" altLang="en-US" dirty="0"/>
              <a:t>模拟图灵机进行匹配</a:t>
            </a:r>
            <a:endParaRPr lang="en-AU" altLang="zh-CN" dirty="0"/>
          </a:p>
        </p:txBody>
      </p:sp>
      <p:sp>
        <p:nvSpPr>
          <p:cNvPr id="4" name="Slide Number Placeholder 3"/>
          <p:cNvSpPr>
            <a:spLocks noGrp="1"/>
          </p:cNvSpPr>
          <p:nvPr>
            <p:ph type="sldNum" sz="quarter" idx="12"/>
          </p:nvPr>
        </p:nvSpPr>
        <p:spPr/>
        <p:txBody>
          <a:bodyPr/>
          <a:lstStyle/>
          <a:p>
            <a:fld id="{0662E1F6-9BD6-474C-A82E-E07C3DB67AAE}" type="slidenum">
              <a:rPr lang="en-AU" smtClean="0"/>
              <a:t>34</a:t>
            </a:fld>
            <a:endParaRPr lang="en-AU"/>
          </a:p>
        </p:txBody>
      </p:sp>
    </p:spTree>
    <p:extLst>
      <p:ext uri="{BB962C8B-B14F-4D97-AF65-F5344CB8AC3E}">
        <p14:creationId xmlns:p14="http://schemas.microsoft.com/office/powerpoint/2010/main" val="2880419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多栈机器</a:t>
            </a:r>
            <a:endParaRPr lang="en-AU" dirty="0"/>
          </a:p>
        </p:txBody>
      </p:sp>
      <p:sp>
        <p:nvSpPr>
          <p:cNvPr id="3" name="Content Placeholder 2"/>
          <p:cNvSpPr>
            <a:spLocks noGrp="1"/>
          </p:cNvSpPr>
          <p:nvPr>
            <p:ph idx="1"/>
          </p:nvPr>
        </p:nvSpPr>
        <p:spPr>
          <a:xfrm>
            <a:off x="1930400" y="1328432"/>
            <a:ext cx="8229600" cy="4525963"/>
          </a:xfrm>
        </p:spPr>
        <p:txBody>
          <a:bodyPr/>
          <a:lstStyle/>
          <a:p>
            <a:r>
              <a:rPr lang="zh-CN" altLang="en-US" sz="2400" dirty="0">
                <a:latin typeface="Times New Roman" panose="02020603050405020304" pitchFamily="18" charset="0"/>
                <a:ea typeface="黑体" charset="0"/>
                <a:cs typeface="Times New Roman" panose="02020603050405020304" pitchFamily="18" charset="0"/>
              </a:rPr>
              <a:t>示例：</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利用双栈机器接受</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d</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e</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a:t>
            </a:r>
          </a:p>
          <a:p>
            <a:pPr lvl="1"/>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类似上页</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PPT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的方案二和方案三</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en-AU" altLang="zh-CN" sz="2400" dirty="0"/>
          </a:p>
        </p:txBody>
      </p:sp>
      <p:sp>
        <p:nvSpPr>
          <p:cNvPr id="4" name="Slide Number Placeholder 3"/>
          <p:cNvSpPr>
            <a:spLocks noGrp="1"/>
          </p:cNvSpPr>
          <p:nvPr>
            <p:ph type="sldNum" sz="quarter" idx="12"/>
          </p:nvPr>
        </p:nvSpPr>
        <p:spPr/>
        <p:txBody>
          <a:bodyPr/>
          <a:lstStyle/>
          <a:p>
            <a:fld id="{0662E1F6-9BD6-474C-A82E-E07C3DB67AAE}" type="slidenum">
              <a:rPr lang="en-AU" smtClean="0"/>
              <a:t>35</a:t>
            </a:fld>
            <a:endParaRPr lang="en-AU"/>
          </a:p>
        </p:txBody>
      </p:sp>
    </p:spTree>
    <p:extLst>
      <p:ext uri="{BB962C8B-B14F-4D97-AF65-F5344CB8AC3E}">
        <p14:creationId xmlns:p14="http://schemas.microsoft.com/office/powerpoint/2010/main" val="384940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5452740-E6FB-4826-9E6F-BA1D1F71A5C2}"/>
              </a:ext>
            </a:extLst>
          </p:cNvPr>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t>36</a:t>
            </a:fld>
            <a:endParaRPr lang="en-US" altLang="zh-CN" strike="noStrike" noProof="1">
              <a:solidFill>
                <a:prstClr val="black">
                  <a:tint val="75000"/>
                </a:prstClr>
              </a:solidFill>
            </a:endParaRPr>
          </a:p>
        </p:txBody>
      </p:sp>
      <p:sp>
        <p:nvSpPr>
          <p:cNvPr id="7" name="文本框 6">
            <a:extLst>
              <a:ext uri="{FF2B5EF4-FFF2-40B4-BE49-F238E27FC236}">
                <a16:creationId xmlns:a16="http://schemas.microsoft.com/office/drawing/2014/main" id="{30AFEBDA-AC44-44C1-8DB1-F1D1E252607E}"/>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以下哪些机器装置识别语言的能力与基本图灵机等价</a:t>
            </a:r>
          </a:p>
        </p:txBody>
      </p:sp>
      <p:sp>
        <p:nvSpPr>
          <p:cNvPr id="8" name="文本框 7">
            <a:extLst>
              <a:ext uri="{FF2B5EF4-FFF2-40B4-BE49-F238E27FC236}">
                <a16:creationId xmlns:a16="http://schemas.microsoft.com/office/drawing/2014/main" id="{62CD7CA9-954C-4379-8E94-E3CB13EF3546}"/>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非确定图灵机</a:t>
            </a:r>
          </a:p>
        </p:txBody>
      </p:sp>
      <p:sp>
        <p:nvSpPr>
          <p:cNvPr id="9" name="文本框 8">
            <a:extLst>
              <a:ext uri="{FF2B5EF4-FFF2-40B4-BE49-F238E27FC236}">
                <a16:creationId xmlns:a16="http://schemas.microsoft.com/office/drawing/2014/main" id="{94F805F4-F59D-4CC8-A0D5-8BA225E68953}"/>
              </a:ext>
            </a:extLst>
          </p:cNvPr>
          <p:cNvSpPr txBox="1"/>
          <p:nvPr>
            <p:custDataLst>
              <p:tags r:id="rId4"/>
            </p:custDataLst>
          </p:nvPr>
        </p:nvSpPr>
        <p:spPr>
          <a:xfrm>
            <a:off x="2438400" y="3275920"/>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多带图灵机</a:t>
            </a:r>
          </a:p>
        </p:txBody>
      </p:sp>
      <p:sp>
        <p:nvSpPr>
          <p:cNvPr id="10" name="文本框 9">
            <a:extLst>
              <a:ext uri="{FF2B5EF4-FFF2-40B4-BE49-F238E27FC236}">
                <a16:creationId xmlns:a16="http://schemas.microsoft.com/office/drawing/2014/main" id="{EFBB1AE6-6FA8-454D-A7ED-226E33E1AD92}"/>
              </a:ext>
            </a:extLst>
          </p:cNvPr>
          <p:cNvSpPr txBox="1"/>
          <p:nvPr>
            <p:custDataLst>
              <p:tags r:id="rId5"/>
            </p:custDataLst>
          </p:nvPr>
        </p:nvSpPr>
        <p:spPr>
          <a:xfrm>
            <a:off x="2438400" y="3765777"/>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多道图灵机</a:t>
            </a:r>
          </a:p>
        </p:txBody>
      </p:sp>
      <p:sp>
        <p:nvSpPr>
          <p:cNvPr id="11" name="文本框 10">
            <a:extLst>
              <a:ext uri="{FF2B5EF4-FFF2-40B4-BE49-F238E27FC236}">
                <a16:creationId xmlns:a16="http://schemas.microsoft.com/office/drawing/2014/main" id="{FB4DDC26-E856-456D-9D1F-57A2F6AD123F}"/>
              </a:ext>
            </a:extLst>
          </p:cNvPr>
          <p:cNvSpPr txBox="1"/>
          <p:nvPr>
            <p:custDataLst>
              <p:tags r:id="rId6"/>
            </p:custDataLst>
          </p:nvPr>
        </p:nvSpPr>
        <p:spPr>
          <a:xfrm>
            <a:off x="2438400" y="4255634"/>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双栈下推自动机</a:t>
            </a:r>
          </a:p>
        </p:txBody>
      </p:sp>
      <p:sp>
        <p:nvSpPr>
          <p:cNvPr id="12" name="矩形 11">
            <a:extLst>
              <a:ext uri="{FF2B5EF4-FFF2-40B4-BE49-F238E27FC236}">
                <a16:creationId xmlns:a16="http://schemas.microsoft.com/office/drawing/2014/main" id="{09263DE5-E89E-42FD-9C46-9C95019200D6}"/>
              </a:ext>
            </a:extLst>
          </p:cNvPr>
          <p:cNvSpPr>
            <a:spLocks noChangeAspect="1"/>
          </p:cNvSpPr>
          <p:nvPr>
            <p:custDataLst>
              <p:tags r:id="rId7"/>
            </p:custDataLst>
          </p:nvPr>
        </p:nvSpPr>
        <p:spPr>
          <a:xfrm>
            <a:off x="1571625"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a:extLst>
              <a:ext uri="{FF2B5EF4-FFF2-40B4-BE49-F238E27FC236}">
                <a16:creationId xmlns:a16="http://schemas.microsoft.com/office/drawing/2014/main" id="{D067C267-5B5E-4432-B128-D6F5679B5011}"/>
              </a:ext>
            </a:extLst>
          </p:cNvPr>
          <p:cNvSpPr>
            <a:spLocks noChangeAspect="1"/>
          </p:cNvSpPr>
          <p:nvPr>
            <p:custDataLst>
              <p:tags r:id="rId8"/>
            </p:custDataLst>
          </p:nvPr>
        </p:nvSpPr>
        <p:spPr>
          <a:xfrm>
            <a:off x="1571625" y="3340214"/>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13">
            <a:extLst>
              <a:ext uri="{FF2B5EF4-FFF2-40B4-BE49-F238E27FC236}">
                <a16:creationId xmlns:a16="http://schemas.microsoft.com/office/drawing/2014/main" id="{5D9FE821-B3AF-4633-9682-20E64AAFABDE}"/>
              </a:ext>
            </a:extLst>
          </p:cNvPr>
          <p:cNvSpPr>
            <a:spLocks noChangeAspect="1"/>
          </p:cNvSpPr>
          <p:nvPr>
            <p:custDataLst>
              <p:tags r:id="rId9"/>
            </p:custDataLst>
          </p:nvPr>
        </p:nvSpPr>
        <p:spPr>
          <a:xfrm>
            <a:off x="1571625" y="3830071"/>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14">
            <a:extLst>
              <a:ext uri="{FF2B5EF4-FFF2-40B4-BE49-F238E27FC236}">
                <a16:creationId xmlns:a16="http://schemas.microsoft.com/office/drawing/2014/main" id="{54DC656C-1FF6-4256-B6EC-C5084BC13F50}"/>
              </a:ext>
            </a:extLst>
          </p:cNvPr>
          <p:cNvSpPr>
            <a:spLocks noChangeAspect="1"/>
          </p:cNvSpPr>
          <p:nvPr>
            <p:custDataLst>
              <p:tags r:id="rId10"/>
            </p:custDataLst>
          </p:nvPr>
        </p:nvSpPr>
        <p:spPr>
          <a:xfrm>
            <a:off x="1571625" y="4319928"/>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矩形: 圆角 15">
            <a:extLst>
              <a:ext uri="{FF2B5EF4-FFF2-40B4-BE49-F238E27FC236}">
                <a16:creationId xmlns:a16="http://schemas.microsoft.com/office/drawing/2014/main" id="{20339D99-D292-4D40-93C1-20F43190E145}"/>
              </a:ext>
            </a:extLst>
          </p:cNvPr>
          <p:cNvSpPr/>
          <p:nvPr>
            <p:custDataLst>
              <p:tags r:id="rId11"/>
            </p:custDataLst>
          </p:nvPr>
        </p:nvSpPr>
        <p:spPr>
          <a:xfrm>
            <a:off x="8915400" y="6215064"/>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3" name="文本框 22">
            <a:extLst>
              <a:ext uri="{FF2B5EF4-FFF2-40B4-BE49-F238E27FC236}">
                <a16:creationId xmlns:a16="http://schemas.microsoft.com/office/drawing/2014/main" id="{F4C49147-99C2-4DCC-BDB3-F2D3228E4ED4}"/>
              </a:ext>
            </a:extLst>
          </p:cNvPr>
          <p:cNvSpPr txBox="1"/>
          <p:nvPr>
            <p:custDataLst>
              <p:tags r:id="rId12"/>
            </p:custDataLst>
          </p:nvPr>
        </p:nvSpPr>
        <p:spPr>
          <a:xfrm>
            <a:off x="2438400" y="4745492"/>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带状态中储存图灵机</a:t>
            </a:r>
          </a:p>
        </p:txBody>
      </p:sp>
      <p:sp>
        <p:nvSpPr>
          <p:cNvPr id="24" name="矩形 23">
            <a:extLst>
              <a:ext uri="{FF2B5EF4-FFF2-40B4-BE49-F238E27FC236}">
                <a16:creationId xmlns:a16="http://schemas.microsoft.com/office/drawing/2014/main" id="{F32F3B57-1BDB-47AC-B9FC-E5E84323AEF5}"/>
              </a:ext>
            </a:extLst>
          </p:cNvPr>
          <p:cNvSpPr>
            <a:spLocks noChangeAspect="1"/>
          </p:cNvSpPr>
          <p:nvPr>
            <p:custDataLst>
              <p:tags r:id="rId13"/>
            </p:custDataLst>
          </p:nvPr>
        </p:nvSpPr>
        <p:spPr>
          <a:xfrm>
            <a:off x="1571625" y="4809785"/>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E</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5" name="文本框 24">
            <a:extLst>
              <a:ext uri="{FF2B5EF4-FFF2-40B4-BE49-F238E27FC236}">
                <a16:creationId xmlns:a16="http://schemas.microsoft.com/office/drawing/2014/main" id="{63837D8C-1C19-4406-BD52-FB97C95E2B17}"/>
              </a:ext>
            </a:extLst>
          </p:cNvPr>
          <p:cNvSpPr txBox="1"/>
          <p:nvPr>
            <p:custDataLst>
              <p:tags r:id="rId14"/>
            </p:custDataLst>
          </p:nvPr>
        </p:nvSpPr>
        <p:spPr>
          <a:xfrm>
            <a:off x="2438400" y="5235349"/>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半无穷带图灵机</a:t>
            </a:r>
          </a:p>
        </p:txBody>
      </p:sp>
      <p:sp>
        <p:nvSpPr>
          <p:cNvPr id="26" name="矩形 25">
            <a:extLst>
              <a:ext uri="{FF2B5EF4-FFF2-40B4-BE49-F238E27FC236}">
                <a16:creationId xmlns:a16="http://schemas.microsoft.com/office/drawing/2014/main" id="{B9BF7485-57A9-4BD4-8E68-14D2AD1FECA5}"/>
              </a:ext>
            </a:extLst>
          </p:cNvPr>
          <p:cNvSpPr>
            <a:spLocks noChangeAspect="1"/>
          </p:cNvSpPr>
          <p:nvPr>
            <p:custDataLst>
              <p:tags r:id="rId15"/>
            </p:custDataLst>
          </p:nvPr>
        </p:nvSpPr>
        <p:spPr>
          <a:xfrm>
            <a:off x="1571625" y="5299643"/>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F</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7" name="文本框 26">
            <a:extLst>
              <a:ext uri="{FF2B5EF4-FFF2-40B4-BE49-F238E27FC236}">
                <a16:creationId xmlns:a16="http://schemas.microsoft.com/office/drawing/2014/main" id="{8FC546E4-D01C-42C5-ADC5-183C6CEF1151}"/>
              </a:ext>
            </a:extLst>
          </p:cNvPr>
          <p:cNvSpPr txBox="1"/>
          <p:nvPr>
            <p:custDataLst>
              <p:tags r:id="rId16"/>
            </p:custDataLst>
          </p:nvPr>
        </p:nvSpPr>
        <p:spPr>
          <a:xfrm>
            <a:off x="2438400" y="5725206"/>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下推自动机</a:t>
            </a:r>
          </a:p>
        </p:txBody>
      </p:sp>
      <p:sp>
        <p:nvSpPr>
          <p:cNvPr id="28" name="矩形 27">
            <a:extLst>
              <a:ext uri="{FF2B5EF4-FFF2-40B4-BE49-F238E27FC236}">
                <a16:creationId xmlns:a16="http://schemas.microsoft.com/office/drawing/2014/main" id="{3E70099C-A267-4A17-8971-22B6EA786FFB}"/>
              </a:ext>
            </a:extLst>
          </p:cNvPr>
          <p:cNvSpPr>
            <a:spLocks noChangeAspect="1"/>
          </p:cNvSpPr>
          <p:nvPr>
            <p:custDataLst>
              <p:tags r:id="rId17"/>
            </p:custDataLst>
          </p:nvPr>
        </p:nvSpPr>
        <p:spPr>
          <a:xfrm>
            <a:off x="1571625" y="5789500"/>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G</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1" name="组合 20">
            <a:extLst>
              <a:ext uri="{FF2B5EF4-FFF2-40B4-BE49-F238E27FC236}">
                <a16:creationId xmlns:a16="http://schemas.microsoft.com/office/drawing/2014/main" id="{57567B1F-64C9-4195-8D97-61DF7695C785}"/>
              </a:ext>
            </a:extLst>
          </p:cNvPr>
          <p:cNvGrpSpPr/>
          <p:nvPr>
            <p:custDataLst>
              <p:tags r:id="rId18"/>
            </p:custDataLst>
          </p:nvPr>
        </p:nvGrpSpPr>
        <p:grpSpPr>
          <a:xfrm>
            <a:off x="0" y="0"/>
            <a:ext cx="12192000" cy="635000"/>
            <a:chOff x="0" y="0"/>
            <a:chExt cx="12192000" cy="635000"/>
          </a:xfrm>
        </p:grpSpPr>
        <p:sp>
          <p:nvSpPr>
            <p:cNvPr id="17" name="TitleBackground">
              <a:extLst>
                <a:ext uri="{FF2B5EF4-FFF2-40B4-BE49-F238E27FC236}">
                  <a16:creationId xmlns:a16="http://schemas.microsoft.com/office/drawing/2014/main" id="{E5C9106E-4ACA-4D3E-82D1-5AF9CD21CD27}"/>
                </a:ext>
              </a:extLst>
            </p:cNvPr>
            <p:cNvSpPr/>
            <p:nvPr>
              <p:custDataLst>
                <p:tags r:id="rId20"/>
              </p:custDataLst>
            </p:nvPr>
          </p:nvSpPr>
          <p:spPr>
            <a:xfrm>
              <a:off x="0" y="0"/>
              <a:ext cx="12192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a:extLst>
                <a:ext uri="{FF2B5EF4-FFF2-40B4-BE49-F238E27FC236}">
                  <a16:creationId xmlns:a16="http://schemas.microsoft.com/office/drawing/2014/main" id="{8A20307C-C502-49B9-A47B-7FA3A0FAA9BC}"/>
                </a:ext>
              </a:extLst>
            </p:cNvPr>
            <p:cNvSpPr/>
            <p:nvPr>
              <p:custDataLst>
                <p:tags r:id="rId21"/>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a:extLst>
                <a:ext uri="{FF2B5EF4-FFF2-40B4-BE49-F238E27FC236}">
                  <a16:creationId xmlns:a16="http://schemas.microsoft.com/office/drawing/2014/main" id="{CC1D5D40-FEF9-47C3-99D0-37FBE50DF7DE}"/>
                </a:ext>
              </a:extLst>
            </p:cNvPr>
            <p:cNvSpPr txBox="1"/>
            <p:nvPr>
              <p:custDataLst>
                <p:tags r:id="rId2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20" name="TipText">
              <a:extLst>
                <a:ext uri="{FF2B5EF4-FFF2-40B4-BE49-F238E27FC236}">
                  <a16:creationId xmlns:a16="http://schemas.microsoft.com/office/drawing/2014/main" id="{D509321E-3AA8-4E68-9331-C8460DA2E733}"/>
                </a:ext>
              </a:extLst>
            </p:cNvPr>
            <p:cNvSpPr txBox="1"/>
            <p:nvPr>
              <p:custDataLst>
                <p:tags r:id="rId2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34</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6" name="图片 5">
            <a:extLst>
              <a:ext uri="{FF2B5EF4-FFF2-40B4-BE49-F238E27FC236}">
                <a16:creationId xmlns:a16="http://schemas.microsoft.com/office/drawing/2014/main" id="{175BA1CD-34B2-4CE3-9AD9-CB4128B3F467}"/>
              </a:ext>
            </a:extLst>
          </p:cNvPr>
          <p:cNvPicPr>
            <a:picLocks/>
          </p:cNvPicPr>
          <p:nvPr>
            <p:custDataLst>
              <p:tags r:id="rId19"/>
            </p:custDataLst>
          </p:nvPr>
        </p:nvPicPr>
        <p:blipFill>
          <a:blip r:embed="rId26">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888372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小结</a:t>
            </a:r>
            <a:endParaRPr lang="en-AU" dirty="0"/>
          </a:p>
        </p:txBody>
      </p:sp>
      <p:sp>
        <p:nvSpPr>
          <p:cNvPr id="3" name="Content Placeholder 2"/>
          <p:cNvSpPr>
            <a:spLocks noGrp="1"/>
          </p:cNvSpPr>
          <p:nvPr>
            <p:ph idx="1"/>
          </p:nvPr>
        </p:nvSpPr>
        <p:spPr/>
        <p:txBody>
          <a:bodyPr/>
          <a:lstStyle/>
          <a:p>
            <a:r>
              <a:rPr lang="zh-CN" altLang="en-US" dirty="0"/>
              <a:t>图灵机简介、形式化定义</a:t>
            </a:r>
          </a:p>
          <a:p>
            <a:r>
              <a:rPr lang="zh-CN" altLang="en-US" dirty="0"/>
              <a:t>图灵机的表示能力：接受语言、整数运算</a:t>
            </a:r>
          </a:p>
          <a:p>
            <a:r>
              <a:rPr lang="zh-CN" altLang="en-US" dirty="0"/>
              <a:t>扩展图灵机</a:t>
            </a:r>
          </a:p>
          <a:p>
            <a:pPr lvl="1"/>
            <a:r>
              <a:rPr lang="zh-CN" altLang="en-US" dirty="0"/>
              <a:t>状态具有有穷存储功能的</a:t>
            </a:r>
            <a:r>
              <a:rPr lang="en-US" altLang="zh-CN" dirty="0">
                <a:latin typeface="Times New Roman" panose="02020603050405020304" pitchFamily="18" charset="0"/>
                <a:cs typeface="Times New Roman" panose="02020603050405020304" pitchFamily="18" charset="0"/>
              </a:rPr>
              <a:t>TM </a:t>
            </a:r>
            <a:r>
              <a:rPr lang="zh-CN" altLang="en-US" dirty="0"/>
              <a:t>、多道</a:t>
            </a:r>
            <a:r>
              <a:rPr lang="en-US" altLang="zh-CN" dirty="0">
                <a:latin typeface="Times New Roman" panose="02020603050405020304" pitchFamily="18" charset="0"/>
                <a:cs typeface="Times New Roman" panose="02020603050405020304" pitchFamily="18" charset="0"/>
              </a:rPr>
              <a:t>TM </a:t>
            </a:r>
            <a:r>
              <a:rPr lang="zh-CN" altLang="en-US" dirty="0"/>
              <a:t>、多带</a:t>
            </a:r>
            <a:r>
              <a:rPr lang="en-US" altLang="zh-CN" dirty="0">
                <a:latin typeface="Times New Roman" panose="02020603050405020304" pitchFamily="18" charset="0"/>
                <a:cs typeface="Times New Roman" panose="02020603050405020304" pitchFamily="18" charset="0"/>
              </a:rPr>
              <a:t>TM </a:t>
            </a:r>
            <a:r>
              <a:rPr lang="zh-CN" altLang="en-US" dirty="0"/>
              <a:t>、非确定型</a:t>
            </a:r>
            <a:r>
              <a:rPr lang="en-US" altLang="zh-CN" dirty="0">
                <a:latin typeface="Times New Roman" panose="02020603050405020304" pitchFamily="18" charset="0"/>
                <a:cs typeface="Times New Roman" panose="02020603050405020304" pitchFamily="18" charset="0"/>
              </a:rPr>
              <a:t>TM</a:t>
            </a:r>
            <a:endParaRPr lang="zh-CN" altLang="en-US" dirty="0"/>
          </a:p>
          <a:p>
            <a:r>
              <a:rPr lang="zh-CN" altLang="en-US" dirty="0"/>
              <a:t>受限的图灵机</a:t>
            </a:r>
          </a:p>
          <a:p>
            <a:pPr lvl="1"/>
            <a:r>
              <a:rPr lang="zh-CN" altLang="en-US" dirty="0"/>
              <a:t>半无穷带、多栈机器</a:t>
            </a:r>
            <a:endParaRPr lang="en-AU" dirty="0"/>
          </a:p>
          <a:p>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t>37</a:t>
            </a:fld>
            <a:endParaRPr lang="en-AU"/>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Times New Roman" panose="02020603050405020304" pitchFamily="18" charset="0"/>
                <a:cs typeface="Times New Roman" panose="02020603050405020304" pitchFamily="18" charset="0"/>
              </a:rPr>
              <a:t>课程整体内容</a:t>
            </a:r>
            <a:endParaRPr lang="en-AU" dirty="0"/>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662E1F6-9BD6-474C-A82E-E07C3DB67AAE}" type="slidenum">
              <a:rPr kumimoji="0" lang="en-AU"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AU"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6" name="Picture 6">
            <a:extLst>
              <a:ext uri="{FF2B5EF4-FFF2-40B4-BE49-F238E27FC236}">
                <a16:creationId xmlns:a16="http://schemas.microsoft.com/office/drawing/2014/main" id="{A2693BE8-EDCA-DE47-AD2A-9AD968532D47}"/>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5423" y="1153259"/>
            <a:ext cx="7774577" cy="5385654"/>
          </a:xfrm>
          <a:prstGeom prst="roundRect">
            <a:avLst>
              <a:gd name="adj" fmla="val 4167"/>
            </a:avLst>
          </a:prstGeom>
          <a:noFill/>
          <a:ln w="76200" cap="sq">
            <a:solidFill>
              <a:srgbClr val="EAEAEA"/>
            </a:solidFill>
            <a:miter lim="800000"/>
            <a:headEnd/>
            <a:tailEnd/>
          </a:ln>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39125557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33.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34.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apsules">
  <a:themeElements>
    <a:clrScheme name="Capsules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fontScheme name="Capsule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000" b="1" i="1" u="none" strike="noStrike" cap="none" normalizeH="0" baseline="0" smtClean="0">
            <a:ln>
              <a:noFill/>
            </a:ln>
            <a:solidFill>
              <a:srgbClr val="800080"/>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000" b="1" i="1" u="none" strike="noStrike" cap="none" normalizeH="0" baseline="0" smtClean="0">
            <a:ln>
              <a:noFill/>
            </a:ln>
            <a:solidFill>
              <a:srgbClr val="800080"/>
            </a:solidFill>
            <a:effectLst/>
            <a:latin typeface="Times New Roman" pitchFamily="18" charset="0"/>
            <a:ea typeface="楷体_GB2312" pitchFamily="49" charset="-122"/>
          </a:defRPr>
        </a:defPPr>
      </a:lstStyle>
    </a:lnDef>
  </a:objectDefaults>
  <a:extraClrSchemeLst>
    <a:extraClrScheme>
      <a:clrScheme name="Capsules 1">
        <a:dk1>
          <a:srgbClr val="000066"/>
        </a:dk1>
        <a:lt1>
          <a:srgbClr val="FFFFEB"/>
        </a:lt1>
        <a:dk2>
          <a:srgbClr val="336699"/>
        </a:dk2>
        <a:lt2>
          <a:srgbClr val="FFFFEB"/>
        </a:lt2>
        <a:accent1>
          <a:srgbClr val="666699"/>
        </a:accent1>
        <a:accent2>
          <a:srgbClr val="99CCFF"/>
        </a:accent2>
        <a:accent3>
          <a:srgbClr val="ADB8CA"/>
        </a:accent3>
        <a:accent4>
          <a:srgbClr val="DADAC9"/>
        </a:accent4>
        <a:accent5>
          <a:srgbClr val="B8B8CA"/>
        </a:accent5>
        <a:accent6>
          <a:srgbClr val="8AB9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clrMap bg1="lt1" tx1="dk1" bg2="lt2" tx2="dk2" accent1="accent1" accent2="accent2" accent3="accent3" accent4="accent4" accent5="accent5" accent6="accent6" hlink="hlink" folHlink="folHlink"/>
    </a:extraClrScheme>
    <a:extraClrScheme>
      <a:clrScheme name="Capsules 3">
        <a:dk1>
          <a:srgbClr val="000000"/>
        </a:dk1>
        <a:lt1>
          <a:srgbClr val="FFFFFF"/>
        </a:lt1>
        <a:dk2>
          <a:srgbClr val="000000"/>
        </a:dk2>
        <a:lt2>
          <a:srgbClr val="5F5F5F"/>
        </a:lt2>
        <a:accent1>
          <a:srgbClr val="C0C0C0"/>
        </a:accent1>
        <a:accent2>
          <a:srgbClr val="808080"/>
        </a:accent2>
        <a:accent3>
          <a:srgbClr val="FFFFFF"/>
        </a:accent3>
        <a:accent4>
          <a:srgbClr val="00000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33CC"/>
        </a:lt2>
        <a:accent1>
          <a:srgbClr val="FFCC66"/>
        </a:accent1>
        <a:accent2>
          <a:srgbClr val="33CC33"/>
        </a:accent2>
        <a:accent3>
          <a:srgbClr val="FFFFFF"/>
        </a:accent3>
        <a:accent4>
          <a:srgbClr val="000000"/>
        </a:accent4>
        <a:accent5>
          <a:srgbClr val="FFE2B8"/>
        </a:accent5>
        <a:accent6>
          <a:srgbClr val="2DB92D"/>
        </a:accent6>
        <a:hlink>
          <a:srgbClr val="9900CC"/>
        </a:hlink>
        <a:folHlink>
          <a:srgbClr val="9900C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6468</TotalTime>
  <Words>7639</Words>
  <Application>Microsoft Macintosh PowerPoint</Application>
  <PresentationFormat>宽屏</PresentationFormat>
  <Paragraphs>708</Paragraphs>
  <Slides>38</Slides>
  <Notes>32</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38</vt:i4>
      </vt:variant>
    </vt:vector>
  </HeadingPairs>
  <TitlesOfParts>
    <vt:vector size="56" baseType="lpstr">
      <vt:lpstr>华文行楷</vt:lpstr>
      <vt:lpstr>楷体</vt:lpstr>
      <vt:lpstr>KaiTi_GB2312</vt:lpstr>
      <vt:lpstr>宋体</vt:lpstr>
      <vt:lpstr>Microsoft Yahei</vt:lpstr>
      <vt:lpstr>BookAntiqua</vt:lpstr>
      <vt:lpstr>BookAntiqua-Italic</vt:lpstr>
      <vt:lpstr>LMRoman12-Regular-Identity-H</vt:lpstr>
      <vt:lpstr>Söhne</vt:lpstr>
      <vt:lpstr>T3</vt:lpstr>
      <vt:lpstr>Arial</vt:lpstr>
      <vt:lpstr>Calibri</vt:lpstr>
      <vt:lpstr>Cambria Math</vt:lpstr>
      <vt:lpstr>Symbol</vt:lpstr>
      <vt:lpstr>Times New Roman</vt:lpstr>
      <vt:lpstr>Wingdings</vt:lpstr>
      <vt:lpstr>1_Office 主题</vt:lpstr>
      <vt:lpstr>Capsules</vt:lpstr>
      <vt:lpstr>主要内容</vt:lpstr>
      <vt:lpstr>图灵机的语言</vt:lpstr>
      <vt:lpstr>图灵机的语言</vt:lpstr>
      <vt:lpstr>PowerPoint 演示文稿</vt:lpstr>
      <vt:lpstr>整数函数计算器</vt:lpstr>
      <vt:lpstr>整数函数计算器</vt:lpstr>
      <vt:lpstr>整数函数计算器</vt:lpstr>
      <vt:lpstr>PowerPoint 演示文稿</vt:lpstr>
      <vt:lpstr>整数函数计算器</vt:lpstr>
      <vt:lpstr>整数函数计算器</vt:lpstr>
      <vt:lpstr>主要内容</vt:lpstr>
      <vt:lpstr>带状态中存储的图灵机</vt:lpstr>
      <vt:lpstr>PowerPoint 演示文稿</vt:lpstr>
      <vt:lpstr>PowerPoint 演示文稿</vt:lpstr>
      <vt:lpstr>PowerPoint 演示文稿</vt:lpstr>
      <vt:lpstr>PowerPoint 演示文稿</vt:lpstr>
      <vt:lpstr>多道图灵机</vt:lpstr>
      <vt:lpstr>示例</vt:lpstr>
      <vt:lpstr>示例</vt:lpstr>
      <vt:lpstr>示例</vt:lpstr>
      <vt:lpstr>示例</vt:lpstr>
      <vt:lpstr>示例</vt:lpstr>
      <vt:lpstr>示例</vt:lpstr>
      <vt:lpstr>示例</vt:lpstr>
      <vt:lpstr>多带图灵机</vt:lpstr>
      <vt:lpstr>多带图灵机</vt:lpstr>
      <vt:lpstr>非确定图灵机</vt:lpstr>
      <vt:lpstr>非确定图灵机</vt:lpstr>
      <vt:lpstr>主要内容</vt:lpstr>
      <vt:lpstr>半无穷带图灵机</vt:lpstr>
      <vt:lpstr>半无穷带图灵机</vt:lpstr>
      <vt:lpstr>多栈机器</vt:lpstr>
      <vt:lpstr>多栈机器</vt:lpstr>
      <vt:lpstr>多栈机器</vt:lpstr>
      <vt:lpstr>多栈机器</vt:lpstr>
      <vt:lpstr>PowerPoint 演示文稿</vt:lpstr>
      <vt:lpstr>小结</vt:lpstr>
      <vt:lpstr>课程整体内容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Yifeng</dc:creator>
  <cp:lastModifiedBy>Xuebo Liu</cp:lastModifiedBy>
  <cp:revision>770</cp:revision>
  <dcterms:created xsi:type="dcterms:W3CDTF">2021-06-01T10:46:00Z</dcterms:created>
  <dcterms:modified xsi:type="dcterms:W3CDTF">2026-04-28T06:30:34Z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B461908281EF4E5EA388C02DD386BB6E</vt:lpwstr>
  </property>
  <property fmtid="{D5CDD505-2E9C-101B-9397-08002B2CF9AE}" pid="3" name="KSOProductBuildVer">
    <vt:lpwstr>2052-11.1.0.10938</vt:lpwstr>
  </property>
</Properties>
</file>