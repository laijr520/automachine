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21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0"/>
  </p:notesMasterIdLst>
  <p:handoutMasterIdLst>
    <p:handoutMasterId r:id="rId41"/>
  </p:handoutMasterIdLst>
  <p:sldIdLst>
    <p:sldId id="419" r:id="rId2"/>
    <p:sldId id="420" r:id="rId3"/>
    <p:sldId id="421" r:id="rId4"/>
    <p:sldId id="1299" r:id="rId5"/>
    <p:sldId id="1300" r:id="rId6"/>
    <p:sldId id="1301" r:id="rId7"/>
    <p:sldId id="1302" r:id="rId8"/>
    <p:sldId id="1303" r:id="rId9"/>
    <p:sldId id="256" r:id="rId10"/>
    <p:sldId id="378" r:id="rId11"/>
    <p:sldId id="408" r:id="rId12"/>
    <p:sldId id="409" r:id="rId13"/>
    <p:sldId id="410" r:id="rId14"/>
    <p:sldId id="411" r:id="rId15"/>
    <p:sldId id="412" r:id="rId16"/>
    <p:sldId id="413" r:id="rId17"/>
    <p:sldId id="425" r:id="rId18"/>
    <p:sldId id="379" r:id="rId19"/>
    <p:sldId id="1385" r:id="rId20"/>
    <p:sldId id="380" r:id="rId21"/>
    <p:sldId id="381" r:id="rId22"/>
    <p:sldId id="382" r:id="rId23"/>
    <p:sldId id="1387" r:id="rId24"/>
    <p:sldId id="383" r:id="rId25"/>
    <p:sldId id="384" r:id="rId26"/>
    <p:sldId id="385" r:id="rId27"/>
    <p:sldId id="386" r:id="rId28"/>
    <p:sldId id="1381" r:id="rId29"/>
    <p:sldId id="1308" r:id="rId30"/>
    <p:sldId id="387" r:id="rId31"/>
    <p:sldId id="426" r:id="rId32"/>
    <p:sldId id="388" r:id="rId33"/>
    <p:sldId id="1293" r:id="rId34"/>
    <p:sldId id="1294" r:id="rId35"/>
    <p:sldId id="1295" r:id="rId36"/>
    <p:sldId id="1296" r:id="rId37"/>
    <p:sldId id="1386" r:id="rId38"/>
    <p:sldId id="1379" r:id="rId39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000" i="1" kern="1200">
        <a:solidFill>
          <a:srgbClr val="800080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00080"/>
    <a:srgbClr val="333399"/>
    <a:srgbClr val="CC99FF"/>
    <a:srgbClr val="993366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9F1D9-1B5E-C248-9614-ECF7297F9149}" v="29" dt="2025-09-16T07:26:49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28" autoAdjust="0"/>
    <p:restoredTop sz="94711" autoAdjust="0"/>
  </p:normalViewPr>
  <p:slideViewPr>
    <p:cSldViewPr>
      <p:cViewPr varScale="1">
        <p:scale>
          <a:sx n="116" d="100"/>
          <a:sy n="116" d="100"/>
        </p:scale>
        <p:origin x="122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ebo Liu" userId="03ca8e3e-ef5d-4c2c-a759-93b02397f0c8" providerId="ADAL" clId="{022DD2CF-199B-5498-A7B6-9D2C3327383C}"/>
    <pc:docChg chg="undo custSel modSld">
      <pc:chgData name="Xuebo Liu" userId="03ca8e3e-ef5d-4c2c-a759-93b02397f0c8" providerId="ADAL" clId="{022DD2CF-199B-5498-A7B6-9D2C3327383C}" dt="2025-09-16T07:26:49.081" v="102"/>
      <pc:docMkLst>
        <pc:docMk/>
      </pc:docMkLst>
      <pc:sldChg chg="modSp mod">
        <pc:chgData name="Xuebo Liu" userId="03ca8e3e-ef5d-4c2c-a759-93b02397f0c8" providerId="ADAL" clId="{022DD2CF-199B-5498-A7B6-9D2C3327383C}" dt="2025-09-16T07:26:49.081" v="102"/>
        <pc:sldMkLst>
          <pc:docMk/>
          <pc:sldMk cId="3567648404" sldId="1381"/>
        </pc:sldMkLst>
        <pc:spChg chg="mod">
          <ac:chgData name="Xuebo Liu" userId="03ca8e3e-ef5d-4c2c-a759-93b02397f0c8" providerId="ADAL" clId="{022DD2CF-199B-5498-A7B6-9D2C3327383C}" dt="2025-09-16T07:26:49.075" v="95" actId="20577"/>
          <ac:spMkLst>
            <pc:docMk/>
            <pc:sldMk cId="3567648404" sldId="1381"/>
            <ac:spMk id="10" creationId="{DA2844C5-F5A1-45C8-B218-9CD70D94A254}"/>
          </ac:spMkLst>
        </pc:spChg>
        <pc:spChg chg="mod">
          <ac:chgData name="Xuebo Liu" userId="03ca8e3e-ef5d-4c2c-a759-93b02397f0c8" providerId="ADAL" clId="{022DD2CF-199B-5498-A7B6-9D2C3327383C}" dt="2025-09-16T07:26:49.076" v="96" actId="20577"/>
          <ac:spMkLst>
            <pc:docMk/>
            <pc:sldMk cId="3567648404" sldId="1381"/>
            <ac:spMk id="11" creationId="{C161F9F5-39D8-466B-9587-10D9B71DAE92}"/>
          </ac:spMkLst>
        </pc:spChg>
        <pc:spChg chg="mod">
          <ac:chgData name="Xuebo Liu" userId="03ca8e3e-ef5d-4c2c-a759-93b02397f0c8" providerId="ADAL" clId="{022DD2CF-199B-5498-A7B6-9D2C3327383C}" dt="2025-09-16T07:26:49.077" v="97" actId="20577"/>
          <ac:spMkLst>
            <pc:docMk/>
            <pc:sldMk cId="3567648404" sldId="1381"/>
            <ac:spMk id="12" creationId="{9DA8AB81-F431-454B-BA04-55CA717E17F3}"/>
          </ac:spMkLst>
        </pc:spChg>
        <pc:spChg chg="mod">
          <ac:chgData name="Xuebo Liu" userId="03ca8e3e-ef5d-4c2c-a759-93b02397f0c8" providerId="ADAL" clId="{022DD2CF-199B-5498-A7B6-9D2C3327383C}" dt="2025-09-16T07:26:49.078" v="98" actId="20577"/>
          <ac:spMkLst>
            <pc:docMk/>
            <pc:sldMk cId="3567648404" sldId="1381"/>
            <ac:spMk id="13" creationId="{C54AB086-8E9E-493D-82F2-9933F6B4C9BB}"/>
          </ac:spMkLst>
        </pc:spChg>
        <pc:spChg chg="mod">
          <ac:chgData name="Xuebo Liu" userId="03ca8e3e-ef5d-4c2c-a759-93b02397f0c8" providerId="ADAL" clId="{022DD2CF-199B-5498-A7B6-9D2C3327383C}" dt="2025-09-16T07:26:49.081" v="101"/>
          <ac:spMkLst>
            <pc:docMk/>
            <pc:sldMk cId="3567648404" sldId="1381"/>
            <ac:spMk id="15" creationId="{6A470481-54EF-41B4-90B5-284AA5AF3B9C}"/>
          </ac:spMkLst>
        </pc:spChg>
        <pc:spChg chg="mod">
          <ac:chgData name="Xuebo Liu" userId="03ca8e3e-ef5d-4c2c-a759-93b02397f0c8" providerId="ADAL" clId="{022DD2CF-199B-5498-A7B6-9D2C3327383C}" dt="2025-09-16T07:26:49.079" v="99" actId="20577"/>
          <ac:spMkLst>
            <pc:docMk/>
            <pc:sldMk cId="3567648404" sldId="1381"/>
            <ac:spMk id="23" creationId="{B2CD11EF-69A4-404A-AD15-4C22167C9A94}"/>
          </ac:spMkLst>
        </pc:spChg>
        <pc:spChg chg="mod">
          <ac:chgData name="Xuebo Liu" userId="03ca8e3e-ef5d-4c2c-a759-93b02397f0c8" providerId="ADAL" clId="{022DD2CF-199B-5498-A7B6-9D2C3327383C}" dt="2025-09-16T07:26:49.080" v="100" actId="20577"/>
          <ac:spMkLst>
            <pc:docMk/>
            <pc:sldMk cId="3567648404" sldId="1381"/>
            <ac:spMk id="25" creationId="{9C2020A2-2B72-458B-989F-EFFF0844FC67}"/>
          </ac:spMkLst>
        </pc:spChg>
        <pc:picChg chg="mod">
          <ac:chgData name="Xuebo Liu" userId="03ca8e3e-ef5d-4c2c-a759-93b02397f0c8" providerId="ADAL" clId="{022DD2CF-199B-5498-A7B6-9D2C3327383C}" dt="2025-09-16T07:26:49.081" v="102"/>
          <ac:picMkLst>
            <pc:docMk/>
            <pc:sldMk cId="3567648404" sldId="1381"/>
            <ac:picMk id="4" creationId="{FEC6A434-B2B6-491B-BCF6-9A2819D343A6}"/>
          </ac:picMkLst>
        </pc:picChg>
      </pc:sldChg>
      <pc:sldChg chg="addSp modSp mod modAnim">
        <pc:chgData name="Xuebo Liu" userId="03ca8e3e-ef5d-4c2c-a759-93b02397f0c8" providerId="ADAL" clId="{022DD2CF-199B-5498-A7B6-9D2C3327383C}" dt="2025-09-16T04:08:48.905" v="54"/>
        <pc:sldMkLst>
          <pc:docMk/>
          <pc:sldMk cId="4133072995" sldId="1386"/>
        </pc:sldMkLst>
        <pc:spChg chg="add mod">
          <ac:chgData name="Xuebo Liu" userId="03ca8e3e-ef5d-4c2c-a759-93b02397f0c8" providerId="ADAL" clId="{022DD2CF-199B-5498-A7B6-9D2C3327383C}" dt="2025-09-16T04:08:11.509" v="49"/>
          <ac:spMkLst>
            <pc:docMk/>
            <pc:sldMk cId="4133072995" sldId="1386"/>
            <ac:spMk id="10" creationId="{F889A0FD-5FED-5043-0592-D6A834483080}"/>
          </ac:spMkLst>
        </pc:spChg>
        <pc:spChg chg="add mod">
          <ac:chgData name="Xuebo Liu" userId="03ca8e3e-ef5d-4c2c-a759-93b02397f0c8" providerId="ADAL" clId="{022DD2CF-199B-5498-A7B6-9D2C3327383C}" dt="2025-09-16T04:08:48.353" v="53" actId="1076"/>
          <ac:spMkLst>
            <pc:docMk/>
            <pc:sldMk cId="4133072995" sldId="1386"/>
            <ac:spMk id="14" creationId="{276B3E19-94A2-EE25-D266-F4116D344DD3}"/>
          </ac:spMkLst>
        </pc:spChg>
        <pc:cxnChg chg="add mod">
          <ac:chgData name="Xuebo Liu" userId="03ca8e3e-ef5d-4c2c-a759-93b02397f0c8" providerId="ADAL" clId="{022DD2CF-199B-5498-A7B6-9D2C3327383C}" dt="2025-09-16T04:08:11.509" v="49"/>
          <ac:cxnSpMkLst>
            <pc:docMk/>
            <pc:sldMk cId="4133072995" sldId="1386"/>
            <ac:cxnSpMk id="13" creationId="{4C6C1A92-F616-BB20-8632-85DD802A14C0}"/>
          </ac:cxnSpMkLst>
        </pc:cxnChg>
        <pc:cxnChg chg="add mod">
          <ac:chgData name="Xuebo Liu" userId="03ca8e3e-ef5d-4c2c-a759-93b02397f0c8" providerId="ADAL" clId="{022DD2CF-199B-5498-A7B6-9D2C3327383C}" dt="2025-09-16T04:08:48.353" v="53" actId="1076"/>
          <ac:cxnSpMkLst>
            <pc:docMk/>
            <pc:sldMk cId="4133072995" sldId="1386"/>
            <ac:cxnSpMk id="15" creationId="{6528EB47-3998-D305-7486-0CFDBCF6C1E2}"/>
          </ac:cxnSpMkLst>
        </pc:cxnChg>
      </pc:sldChg>
      <pc:sldChg chg="delSp">
        <pc:chgData name="Xuebo Liu" userId="03ca8e3e-ef5d-4c2c-a759-93b02397f0c8" providerId="ADAL" clId="{022DD2CF-199B-5498-A7B6-9D2C3327383C}" dt="2025-09-16T03:50:41.566" v="16" actId="478"/>
        <pc:sldMkLst>
          <pc:docMk/>
          <pc:sldMk cId="1351714633" sldId="1387"/>
        </pc:sldMkLst>
        <pc:picChg chg="del">
          <ac:chgData name="Xuebo Liu" userId="03ca8e3e-ef5d-4c2c-a759-93b02397f0c8" providerId="ADAL" clId="{022DD2CF-199B-5498-A7B6-9D2C3327383C}" dt="2025-09-16T03:50:41.566" v="16" actId="478"/>
          <ac:picMkLst>
            <pc:docMk/>
            <pc:sldMk cId="1351714633" sldId="1387"/>
            <ac:picMk id="1028" creationId="{FD3BE316-5BE5-0795-6947-71891F8D58A7}"/>
          </ac:picMkLst>
        </pc:picChg>
      </pc:sldChg>
    </pc:docChg>
  </pc:docChgLst>
  <pc:docChgLst>
    <pc:chgData name="Jack, Liu Xuebo" userId="0f7f0312-6a9c-43a7-8887-e16a200b5913" providerId="ADAL" clId="{E7027C87-B1E9-461E-B6AB-2DA3B9443060}"/>
    <pc:docChg chg="undo custSel modSld">
      <pc:chgData name="Jack, Liu Xuebo" userId="0f7f0312-6a9c-43a7-8887-e16a200b5913" providerId="ADAL" clId="{E7027C87-B1E9-461E-B6AB-2DA3B9443060}" dt="2022-03-09T17:20:24.294" v="51"/>
      <pc:docMkLst>
        <pc:docMk/>
      </pc:docMkLst>
      <pc:sldChg chg="modTransition">
        <pc:chgData name="Jack, Liu Xuebo" userId="0f7f0312-6a9c-43a7-8887-e16a200b5913" providerId="ADAL" clId="{E7027C87-B1E9-461E-B6AB-2DA3B9443060}" dt="2022-03-09T17:20:24.293" v="49"/>
        <pc:sldMkLst>
          <pc:docMk/>
          <pc:sldMk cId="0" sldId="381"/>
        </pc:sldMkLst>
      </pc:sldChg>
      <pc:sldChg chg="modTransition">
        <pc:chgData name="Jack, Liu Xuebo" userId="0f7f0312-6a9c-43a7-8887-e16a200b5913" providerId="ADAL" clId="{E7027C87-B1E9-461E-B6AB-2DA3B9443060}" dt="2022-03-09T17:20:20.229" v="25"/>
        <pc:sldMkLst>
          <pc:docMk/>
          <pc:sldMk cId="0" sldId="383"/>
        </pc:sldMkLst>
      </pc:sldChg>
      <pc:sldChg chg="addSp modSp mod modTransition">
        <pc:chgData name="Jack, Liu Xuebo" userId="0f7f0312-6a9c-43a7-8887-e16a200b5913" providerId="ADAL" clId="{E7027C87-B1E9-461E-B6AB-2DA3B9443060}" dt="2022-03-09T17:20:21.238" v="29"/>
        <pc:sldMkLst>
          <pc:docMk/>
          <pc:sldMk cId="0" sldId="384"/>
        </pc:sldMkLst>
      </pc:sldChg>
      <pc:sldChg chg="modTransition">
        <pc:chgData name="Jack, Liu Xuebo" userId="0f7f0312-6a9c-43a7-8887-e16a200b5913" providerId="ADAL" clId="{E7027C87-B1E9-461E-B6AB-2DA3B9443060}" dt="2022-03-09T17:20:22.246" v="41"/>
        <pc:sldMkLst>
          <pc:docMk/>
          <pc:sldMk cId="0" sldId="385"/>
        </pc:sldMkLst>
      </pc:sldChg>
      <pc:sldChg chg="modTransition">
        <pc:chgData name="Jack, Liu Xuebo" userId="0f7f0312-6a9c-43a7-8887-e16a200b5913" providerId="ADAL" clId="{E7027C87-B1E9-461E-B6AB-2DA3B9443060}" dt="2022-03-09T17:20:24.294" v="51"/>
        <pc:sldMkLst>
          <pc:docMk/>
          <pc:sldMk cId="0" sldId="411"/>
        </pc:sldMkLst>
      </pc:sldChg>
      <pc:sldChg chg="modSp mod modTransition">
        <pc:chgData name="Jack, Liu Xuebo" userId="0f7f0312-6a9c-43a7-8887-e16a200b5913" providerId="ADAL" clId="{E7027C87-B1E9-461E-B6AB-2DA3B9443060}" dt="2022-03-09T17:20:23.274" v="45"/>
        <pc:sldMkLst>
          <pc:docMk/>
          <pc:sldMk cId="3567648404" sldId="13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</a:defRPr>
            </a:lvl1pPr>
          </a:lstStyle>
          <a:p>
            <a:fld id="{D7A8551F-B77F-4524-A4BA-D932EF22B2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7269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70BB3-3F06-5D44-9D36-B6311B196BF9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D3B25-65E2-C343-BA3F-B99321260A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7041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D3B25-65E2-C343-BA3F-B99321260A6C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4099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AD34F38-063D-4C3E-9508-089EC35437AA}" type="slidenum">
              <a:rPr kumimoji="0" lang="en-US" altLang="zh-CN" sz="1200"/>
              <a:t>33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9DBAA03-400A-4C5D-8691-6AC942E194BE}" type="slidenum">
              <a:rPr kumimoji="0" lang="en-US" altLang="zh-CN" sz="1200"/>
              <a:t>34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>
                <a:ea typeface="黑体" panose="02010609060101010101" pitchFamily="49" charset="-122"/>
              </a:rPr>
              <a:t>对如图所示</a:t>
            </a:r>
            <a:r>
              <a:rPr lang="en-US" altLang="zh-CN" b="1">
                <a:ea typeface="黑体" panose="02010609060101010101" pitchFamily="49" charset="-122"/>
              </a:rPr>
              <a:t>DFA</a:t>
            </a:r>
            <a:r>
              <a:rPr lang="zh-CN" altLang="en-US" b="1">
                <a:ea typeface="黑体" panose="02010609060101010101" pitchFamily="49" charset="-122"/>
              </a:rPr>
              <a:t>，通过状态消除构造正则表达式</a:t>
            </a:r>
            <a:endParaRPr lang="en-US" altLang="zh-CN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7102B36-D5DB-40DC-A9D6-45B3430231C8}" type="slidenum">
              <a:rPr kumimoji="0" lang="en-US" altLang="zh-CN" sz="1200"/>
              <a:t>35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>
                <a:ea typeface="黑体" panose="02010609060101010101" pitchFamily="49" charset="-122"/>
              </a:rPr>
              <a:t>对如图所示</a:t>
            </a:r>
            <a:r>
              <a:rPr lang="en-US" altLang="zh-CN" b="1">
                <a:ea typeface="黑体" panose="02010609060101010101" pitchFamily="49" charset="-122"/>
              </a:rPr>
              <a:t>DFA</a:t>
            </a:r>
            <a:r>
              <a:rPr lang="zh-CN" altLang="en-US" b="1">
                <a:ea typeface="黑体" panose="02010609060101010101" pitchFamily="49" charset="-122"/>
              </a:rPr>
              <a:t>，通过状态消除构造正则表达式</a:t>
            </a:r>
            <a:endParaRPr lang="en-US" altLang="zh-CN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BFFB9C-4B89-4D7D-8F4B-E4551EA59EBC}" type="slidenum">
              <a:rPr kumimoji="0" lang="en-US" altLang="zh-CN" sz="1200"/>
              <a:t>36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D3B25-65E2-C343-BA3F-B99321260A6C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416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ChangeArrowheads="1"/>
          </p:cNvSpPr>
          <p:nvPr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i="0">
              <a:solidFill>
                <a:schemeClr val="tx1"/>
              </a:solidFill>
            </a:endParaRPr>
          </a:p>
        </p:txBody>
      </p:sp>
      <p:sp>
        <p:nvSpPr>
          <p:cNvPr id="6147" name="AutoShape 1027"/>
          <p:cNvSpPr>
            <a:spLocks noChangeArrowheads="1"/>
          </p:cNvSpPr>
          <p:nvPr/>
        </p:nvSpPr>
        <p:spPr bwMode="auto">
          <a:xfrm>
            <a:off x="914400" y="990600"/>
            <a:ext cx="69088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i="0">
              <a:solidFill>
                <a:schemeClr val="tx1"/>
              </a:solidFill>
            </a:endParaRPr>
          </a:p>
        </p:txBody>
      </p:sp>
      <p:sp>
        <p:nvSpPr>
          <p:cNvPr id="6148" name="Rectangle 1028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31467" y="2927350"/>
            <a:ext cx="4876800" cy="1822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6149" name="Group 1029"/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6150" name="AutoShape 1030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6151" name="AutoShape 1031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6152" name="Rectangle 103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3556000" y="6553200"/>
            <a:ext cx="2540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53" name="Rectangle 10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6154" name="Rectangle 10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155" name="Rectangle 103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812800" y="1371601"/>
            <a:ext cx="10363200" cy="6318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6" name="Line 1036"/>
          <p:cNvSpPr>
            <a:spLocks noChangeShapeType="1"/>
          </p:cNvSpPr>
          <p:nvPr userDrawn="1"/>
        </p:nvSpPr>
        <p:spPr bwMode="auto">
          <a:xfrm>
            <a:off x="914400" y="1219200"/>
            <a:ext cx="10202333" cy="0"/>
          </a:xfrm>
          <a:prstGeom prst="line">
            <a:avLst/>
          </a:prstGeom>
          <a:noFill/>
          <a:ln w="47625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158" name="Text Box 1038"/>
          <p:cNvSpPr txBox="1">
            <a:spLocks noChangeArrowheads="1"/>
          </p:cNvSpPr>
          <p:nvPr userDrawn="1"/>
        </p:nvSpPr>
        <p:spPr bwMode="auto">
          <a:xfrm>
            <a:off x="1219201" y="395288"/>
            <a:ext cx="80391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i="0">
                <a:latin typeface="Arial" pitchFamily="34" charset="0"/>
                <a:cs typeface="Times New Roman" pitchFamily="18" charset="0"/>
              </a:rPr>
              <a:t>Formal Languages and Automata</a:t>
            </a:r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544" y="274638"/>
            <a:ext cx="9590856" cy="706090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800080"/>
                </a:solidFill>
                <a:latin typeface="STXingkai" panose="02010800040101010101" pitchFamily="2" charset="-122"/>
                <a:ea typeface="STXingkai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3">
            <a:extLst>
              <a:ext uri="{FF2B5EF4-FFF2-40B4-BE49-F238E27FC236}">
                <a16:creationId xmlns:a16="http://schemas.microsoft.com/office/drawing/2014/main" id="{4B6ADE64-C220-E249-B6E5-00584A087A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5" name="Rectangle 1034">
            <a:extLst>
              <a:ext uri="{FF2B5EF4-FFF2-40B4-BE49-F238E27FC236}">
                <a16:creationId xmlns:a16="http://schemas.microsoft.com/office/drawing/2014/main" id="{C4EAD0DC-18D6-634B-B93A-B40E6F7EA8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3">
            <a:extLst>
              <a:ext uri="{FF2B5EF4-FFF2-40B4-BE49-F238E27FC236}">
                <a16:creationId xmlns:a16="http://schemas.microsoft.com/office/drawing/2014/main" id="{FFD767C7-A846-8444-867A-1F67F72C37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5" name="Rectangle 1034">
            <a:extLst>
              <a:ext uri="{FF2B5EF4-FFF2-40B4-BE49-F238E27FC236}">
                <a16:creationId xmlns:a16="http://schemas.microsoft.com/office/drawing/2014/main" id="{D89F0CDA-13E8-DE40-9579-D30EFF9AD9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3">
            <a:extLst>
              <a:ext uri="{FF2B5EF4-FFF2-40B4-BE49-F238E27FC236}">
                <a16:creationId xmlns:a16="http://schemas.microsoft.com/office/drawing/2014/main" id="{EAB95E94-B307-394B-AE83-910F7ECB19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6" name="Rectangle 1034">
            <a:extLst>
              <a:ext uri="{FF2B5EF4-FFF2-40B4-BE49-F238E27FC236}">
                <a16:creationId xmlns:a16="http://schemas.microsoft.com/office/drawing/2014/main" id="{C3993BDC-F4A3-E94D-927B-B2A076F01E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3">
            <a:extLst>
              <a:ext uri="{FF2B5EF4-FFF2-40B4-BE49-F238E27FC236}">
                <a16:creationId xmlns:a16="http://schemas.microsoft.com/office/drawing/2014/main" id="{A68B0BD0-E2D8-B642-A677-8858AA8BBA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8" name="Rectangle 1034">
            <a:extLst>
              <a:ext uri="{FF2B5EF4-FFF2-40B4-BE49-F238E27FC236}">
                <a16:creationId xmlns:a16="http://schemas.microsoft.com/office/drawing/2014/main" id="{7D906128-8105-3340-A183-041E37B161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3">
            <a:extLst>
              <a:ext uri="{FF2B5EF4-FFF2-40B4-BE49-F238E27FC236}">
                <a16:creationId xmlns:a16="http://schemas.microsoft.com/office/drawing/2014/main" id="{D33E2AB2-4F9B-5A46-9A54-B71AE44E89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4" name="Rectangle 1034">
            <a:extLst>
              <a:ext uri="{FF2B5EF4-FFF2-40B4-BE49-F238E27FC236}">
                <a16:creationId xmlns:a16="http://schemas.microsoft.com/office/drawing/2014/main" id="{FC910ABA-C0F1-2E4E-A2A2-ACBD932031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3">
            <a:extLst>
              <a:ext uri="{FF2B5EF4-FFF2-40B4-BE49-F238E27FC236}">
                <a16:creationId xmlns:a16="http://schemas.microsoft.com/office/drawing/2014/main" id="{BB46D701-4870-D547-A3A2-5A76012712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3" name="Rectangle 1034">
            <a:extLst>
              <a:ext uri="{FF2B5EF4-FFF2-40B4-BE49-F238E27FC236}">
                <a16:creationId xmlns:a16="http://schemas.microsoft.com/office/drawing/2014/main" id="{2176DC0B-463A-4B43-9803-7755AF331F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3">
            <a:extLst>
              <a:ext uri="{FF2B5EF4-FFF2-40B4-BE49-F238E27FC236}">
                <a16:creationId xmlns:a16="http://schemas.microsoft.com/office/drawing/2014/main" id="{7E549B48-9B22-A24A-A3DD-F61A4B5CC8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6" name="Rectangle 1034">
            <a:extLst>
              <a:ext uri="{FF2B5EF4-FFF2-40B4-BE49-F238E27FC236}">
                <a16:creationId xmlns:a16="http://schemas.microsoft.com/office/drawing/2014/main" id="{62E31BDE-1F4C-5D43-8D61-15C1160A56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3">
            <a:extLst>
              <a:ext uri="{FF2B5EF4-FFF2-40B4-BE49-F238E27FC236}">
                <a16:creationId xmlns:a16="http://schemas.microsoft.com/office/drawing/2014/main" id="{BF36F36C-272D-FD41-B0BA-53077162F9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6" name="Rectangle 1034">
            <a:extLst>
              <a:ext uri="{FF2B5EF4-FFF2-40B4-BE49-F238E27FC236}">
                <a16:creationId xmlns:a16="http://schemas.microsoft.com/office/drawing/2014/main" id="{7D7AB110-DEE2-104A-9FD6-38D2F6EF88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3">
            <a:extLst>
              <a:ext uri="{FF2B5EF4-FFF2-40B4-BE49-F238E27FC236}">
                <a16:creationId xmlns:a16="http://schemas.microsoft.com/office/drawing/2014/main" id="{FE0128DD-5CF7-1B44-BD21-B3FFB2ADCD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5" name="Rectangle 1034">
            <a:extLst>
              <a:ext uri="{FF2B5EF4-FFF2-40B4-BE49-F238E27FC236}">
                <a16:creationId xmlns:a16="http://schemas.microsoft.com/office/drawing/2014/main" id="{1ED28E71-4345-A344-A209-01131F8414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3">
            <a:extLst>
              <a:ext uri="{FF2B5EF4-FFF2-40B4-BE49-F238E27FC236}">
                <a16:creationId xmlns:a16="http://schemas.microsoft.com/office/drawing/2014/main" id="{971EE8CC-61BB-C040-999C-FC4C16A95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5" name="Rectangle 1034">
            <a:extLst>
              <a:ext uri="{FF2B5EF4-FFF2-40B4-BE49-F238E27FC236}">
                <a16:creationId xmlns:a16="http://schemas.microsoft.com/office/drawing/2014/main" id="{36A59219-04BB-9E40-B663-70CD662836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7" name="Group 1041"/>
          <p:cNvGrpSpPr>
            <a:grpSpLocks/>
          </p:cNvGrpSpPr>
          <p:nvPr userDrawn="1"/>
        </p:nvGrpSpPr>
        <p:grpSpPr bwMode="auto">
          <a:xfrm>
            <a:off x="-48684" y="0"/>
            <a:ext cx="1968501" cy="6884988"/>
            <a:chOff x="0" y="0"/>
            <a:chExt cx="2016" cy="4320"/>
          </a:xfrm>
        </p:grpSpPr>
        <p:sp>
          <p:nvSpPr>
            <p:cNvPr id="5138" name="Rectangle 1042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139" name="Rectangle 1043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5140" name="Line 1044"/>
          <p:cNvSpPr>
            <a:spLocks noChangeShapeType="1"/>
          </p:cNvSpPr>
          <p:nvPr userDrawn="1"/>
        </p:nvSpPr>
        <p:spPr bwMode="auto">
          <a:xfrm>
            <a:off x="1970618" y="1008064"/>
            <a:ext cx="10020300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143" name="AutoShape 1047"/>
          <p:cNvSpPr>
            <a:spLocks noChangeArrowheads="1"/>
          </p:cNvSpPr>
          <p:nvPr userDrawn="1"/>
        </p:nvSpPr>
        <p:spPr bwMode="auto">
          <a:xfrm>
            <a:off x="1490134" y="215900"/>
            <a:ext cx="4415367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i="0">
              <a:solidFill>
                <a:schemeClr val="tx1"/>
              </a:solidFill>
            </a:endParaRPr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6A24FD2F-6DF5-0C44-932C-C95B38E9CD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 dirty="0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36A0F4B5-80B5-7D43-AA0D-5AE6D872751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08833" y="6369050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b="1" i="0">
                <a:solidFill>
                  <a:srgbClr val="000000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 advClick="0">
    <p:wipe dir="r"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3.emf"/><Relationship Id="rId7" Type="http://schemas.openxmlformats.org/officeDocument/2006/relationships/image" Target="../media/image2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emf"/><Relationship Id="rId5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slide" Target="slide11.xml"/><Relationship Id="rId18" Type="http://schemas.openxmlformats.org/officeDocument/2006/relationships/oleObject" Target="../embeddings/oleObject8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image" Target="../media/image33.wmf"/><Relationship Id="rId17" Type="http://schemas.openxmlformats.org/officeDocument/2006/relationships/image" Target="../media/image35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30.wmf"/><Relationship Id="rId15" Type="http://schemas.openxmlformats.org/officeDocument/2006/relationships/image" Target="../media/image34.wmf"/><Relationship Id="rId10" Type="http://schemas.openxmlformats.org/officeDocument/2006/relationships/slide" Target="slide18.xml"/><Relationship Id="rId19" Type="http://schemas.openxmlformats.org/officeDocument/2006/relationships/image" Target="../media/image3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7" Type="http://schemas.openxmlformats.org/officeDocument/2006/relationships/image" Target="../media/image44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43.e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46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oleObject" Target="../embeddings/oleObject29.bin"/><Relationship Id="rId18" Type="http://schemas.openxmlformats.org/officeDocument/2006/relationships/oleObject" Target="../embeddings/oleObject32.bin"/><Relationship Id="rId3" Type="http://schemas.openxmlformats.org/officeDocument/2006/relationships/image" Target="../media/image52.wmf"/><Relationship Id="rId21" Type="http://schemas.openxmlformats.org/officeDocument/2006/relationships/image" Target="../media/image60.wmf"/><Relationship Id="rId7" Type="http://schemas.openxmlformats.org/officeDocument/2006/relationships/image" Target="../media/image54.wmf"/><Relationship Id="rId12" Type="http://schemas.openxmlformats.org/officeDocument/2006/relationships/image" Target="../media/image56.wmf"/><Relationship Id="rId17" Type="http://schemas.openxmlformats.org/officeDocument/2006/relationships/image" Target="../media/image58.w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53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59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oleObject" Target="../embeddings/oleObject29.bin"/><Relationship Id="rId18" Type="http://schemas.openxmlformats.org/officeDocument/2006/relationships/oleObject" Target="../embeddings/oleObject32.bin"/><Relationship Id="rId3" Type="http://schemas.openxmlformats.org/officeDocument/2006/relationships/image" Target="../media/image52.wmf"/><Relationship Id="rId21" Type="http://schemas.openxmlformats.org/officeDocument/2006/relationships/image" Target="../media/image60.wmf"/><Relationship Id="rId7" Type="http://schemas.openxmlformats.org/officeDocument/2006/relationships/image" Target="../media/image54.wmf"/><Relationship Id="rId12" Type="http://schemas.openxmlformats.org/officeDocument/2006/relationships/image" Target="../media/image56.wmf"/><Relationship Id="rId17" Type="http://schemas.openxmlformats.org/officeDocument/2006/relationships/image" Target="../media/image58.w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53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59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63.tmp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66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650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10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0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4"/>
          <p:cNvSpPr>
            <a:spLocks noChangeArrowheads="1"/>
          </p:cNvSpPr>
          <p:nvPr/>
        </p:nvSpPr>
        <p:spPr bwMode="auto">
          <a:xfrm>
            <a:off x="2987716" y="195263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正则表达式</a:t>
            </a:r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260700" y="1340769"/>
            <a:ext cx="3331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：设计正则表达式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44730E-50C6-3542-9030-DE68A1BA54E3}"/>
              </a:ext>
            </a:extLst>
          </p:cNvPr>
          <p:cNvSpPr txBox="1"/>
          <p:nvPr/>
        </p:nvSpPr>
        <p:spPr>
          <a:xfrm>
            <a:off x="10128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35</a:t>
            </a:r>
            <a:endParaRPr lang="zh-CN" altLang="en-US" b="0" i="0" dirty="0">
              <a:solidFill>
                <a:srgbClr val="000066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64379FE-ED30-F344-A47F-F3B49CCE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03" y="1464936"/>
            <a:ext cx="244723" cy="226595"/>
          </a:xfrm>
          <a:prstGeom prst="rect">
            <a:avLst/>
          </a:prstGeom>
        </p:spPr>
      </p:pic>
      <p:sp>
        <p:nvSpPr>
          <p:cNvPr id="20" name="Text Box 40">
            <a:extLst>
              <a:ext uri="{FF2B5EF4-FFF2-40B4-BE49-F238E27FC236}">
                <a16:creationId xmlns:a16="http://schemas.microsoft.com/office/drawing/2014/main" id="{01ACA404-8749-4D40-9141-5F57F933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340769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使得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4676E7F2-09F6-3149-9C3D-1562CD1B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739" y="2780929"/>
            <a:ext cx="735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C15453-C783-264A-A7E6-31D949DBE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394" y="2128450"/>
            <a:ext cx="7553047" cy="3562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4F4DA2B-70DF-3A49-8E1B-B0696462DFA8}"/>
              </a:ext>
            </a:extLst>
          </p:cNvPr>
          <p:cNvGrpSpPr/>
          <p:nvPr/>
        </p:nvGrpSpPr>
        <p:grpSpPr>
          <a:xfrm>
            <a:off x="2855640" y="2780929"/>
            <a:ext cx="7553047" cy="995635"/>
            <a:chOff x="1331639" y="2780928"/>
            <a:chExt cx="7553047" cy="995635"/>
          </a:xfrm>
        </p:grpSpPr>
        <p:sp>
          <p:nvSpPr>
            <p:cNvPr id="16" name="Text Box 40">
              <a:extLst>
                <a:ext uri="{FF2B5EF4-FFF2-40B4-BE49-F238E27FC236}">
                  <a16:creationId xmlns:a16="http://schemas.microsoft.com/office/drawing/2014/main" id="{F063FC8F-5C45-EA46-8DFC-92CD220A4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39" y="2780928"/>
              <a:ext cx="755304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0" i="0" dirty="0">
                  <a:solidFill>
                    <a:srgbClr val="000000"/>
                  </a:solidFill>
                  <a:ea typeface="SimSun" panose="02010600030101010101" pitchFamily="2" charset="-122"/>
                  <a:cs typeface="Times New Roman" panose="02020603050405020304" pitchFamily="18" charset="0"/>
                </a:rPr>
                <a:t>一般而言正则表达式是没法处理回文的，但是这道题</a:t>
              </a:r>
            </a:p>
          </p:txBody>
        </p:sp>
        <p:sp>
          <p:nvSpPr>
            <p:cNvPr id="21" name="Text Box 40">
              <a:extLst>
                <a:ext uri="{FF2B5EF4-FFF2-40B4-BE49-F238E27FC236}">
                  <a16:creationId xmlns:a16="http://schemas.microsoft.com/office/drawing/2014/main" id="{9D826323-5FF0-9145-BDE9-E76C1FA8C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39" y="3314898"/>
              <a:ext cx="755304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0" i="0" dirty="0">
                  <a:solidFill>
                    <a:srgbClr val="000000"/>
                  </a:solidFill>
                  <a:ea typeface="SimSun" panose="02010600030101010101" pitchFamily="2" charset="-122"/>
                  <a:cs typeface="Times New Roman" panose="02020603050405020304" pitchFamily="18" charset="0"/>
                </a:rPr>
                <a:t>中的回文长度受限，因此是可以全枚举的：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8F01991-369E-8646-9CB5-3F68FC00C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878" y="4005064"/>
            <a:ext cx="5718076" cy="33801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4203F0D-8C76-4262-8386-8C63B4972864}"/>
              </a:ext>
            </a:extLst>
          </p:cNvPr>
          <p:cNvSpPr txBox="1"/>
          <p:nvPr/>
        </p:nvSpPr>
        <p:spPr>
          <a:xfrm>
            <a:off x="10200456" y="2128450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回文数</a:t>
            </a:r>
          </a:p>
        </p:txBody>
      </p:sp>
    </p:spTree>
    <p:extLst>
      <p:ext uri="{BB962C8B-B14F-4D97-AF65-F5344CB8AC3E}">
        <p14:creationId xmlns:p14="http://schemas.microsoft.com/office/powerpoint/2010/main" val="382816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4"/>
          <p:cNvSpPr>
            <a:spLocks noChangeArrowheads="1"/>
          </p:cNvSpPr>
          <p:nvPr/>
        </p:nvSpPr>
        <p:spPr bwMode="auto">
          <a:xfrm>
            <a:off x="2987716" y="195263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正则表达式</a:t>
            </a:r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260700" y="1340769"/>
            <a:ext cx="3331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：设计正则表达式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44730E-50C6-3542-9030-DE68A1BA54E3}"/>
              </a:ext>
            </a:extLst>
          </p:cNvPr>
          <p:cNvSpPr txBox="1"/>
          <p:nvPr/>
        </p:nvSpPr>
        <p:spPr>
          <a:xfrm>
            <a:off x="10128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36</a:t>
            </a:r>
            <a:endParaRPr lang="zh-CN" altLang="en-US" b="0" i="0" dirty="0">
              <a:solidFill>
                <a:srgbClr val="000066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64379FE-ED30-F344-A47F-F3B49CCE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03" y="1464936"/>
            <a:ext cx="244723" cy="226595"/>
          </a:xfrm>
          <a:prstGeom prst="rect">
            <a:avLst/>
          </a:prstGeom>
        </p:spPr>
      </p:pic>
      <p:sp>
        <p:nvSpPr>
          <p:cNvPr id="20" name="Text Box 40">
            <a:extLst>
              <a:ext uri="{FF2B5EF4-FFF2-40B4-BE49-F238E27FC236}">
                <a16:creationId xmlns:a16="http://schemas.microsoft.com/office/drawing/2014/main" id="{01ACA404-8749-4D40-9141-5F57F933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340769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使得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4676E7F2-09F6-3149-9C3D-1562CD1B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739" y="2954467"/>
            <a:ext cx="735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3D3DB1-B199-754E-827F-88D3CE603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070" y="1988646"/>
            <a:ext cx="6609876" cy="331322"/>
          </a:xfrm>
          <a:prstGeom prst="rect">
            <a:avLst/>
          </a:prstGeom>
        </p:spPr>
      </p:pic>
      <p:sp>
        <p:nvSpPr>
          <p:cNvPr id="14" name="Text Box 40">
            <a:extLst>
              <a:ext uri="{FF2B5EF4-FFF2-40B4-BE49-F238E27FC236}">
                <a16:creationId xmlns:a16="http://schemas.microsoft.com/office/drawing/2014/main" id="{07A6ADFB-C394-7242-8373-B94293C2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408" y="2430756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该语言的字母表包含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E1C6088-85C5-D646-923C-17B3A5A2F8A3}"/>
              </a:ext>
            </a:extLst>
          </p:cNvPr>
          <p:cNvGrpSpPr/>
          <p:nvPr/>
        </p:nvGrpSpPr>
        <p:grpSpPr>
          <a:xfrm>
            <a:off x="2863070" y="2954465"/>
            <a:ext cx="7625418" cy="956312"/>
            <a:chOff x="1339070" y="2954465"/>
            <a:chExt cx="7625418" cy="956312"/>
          </a:xfrm>
        </p:grpSpPr>
        <p:sp>
          <p:nvSpPr>
            <p:cNvPr id="18" name="Text Box 40">
              <a:extLst>
                <a:ext uri="{FF2B5EF4-FFF2-40B4-BE49-F238E27FC236}">
                  <a16:creationId xmlns:a16="http://schemas.microsoft.com/office/drawing/2014/main" id="{57009F6A-D939-1148-8BE9-888568D7B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9070" y="2954465"/>
              <a:ext cx="762541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0" i="0" dirty="0">
                  <a:solidFill>
                    <a:srgbClr val="000000"/>
                  </a:solidFill>
                  <a:ea typeface="SimSun" panose="02010600030101010101" pitchFamily="2" charset="-122"/>
                  <a:cs typeface="Times New Roman" panose="02020603050405020304" pitchFamily="18" charset="0"/>
                </a:rPr>
                <a:t>这道题实际上和例</a:t>
              </a:r>
              <a:r>
                <a:rPr lang="en-US" altLang="zh-CN" sz="2400" b="0" i="0" dirty="0">
                  <a:solidFill>
                    <a:srgbClr val="000000"/>
                  </a:solidFill>
                  <a:ea typeface="SimSun" panose="02010600030101010101" pitchFamily="2" charset="-122"/>
                  <a:cs typeface="Times New Roman" panose="02020603050405020304" pitchFamily="18" charset="0"/>
                </a:rPr>
                <a:t>9</a:t>
              </a:r>
              <a:r>
                <a:rPr lang="zh-CN" altLang="en-US" sz="2400" b="0" i="0" dirty="0">
                  <a:solidFill>
                    <a:srgbClr val="000000"/>
                  </a:solidFill>
                  <a:ea typeface="SimSun" panose="02010600030101010101" pitchFamily="2" charset="-122"/>
                  <a:cs typeface="Times New Roman" panose="02020603050405020304" pitchFamily="18" charset="0"/>
                </a:rPr>
                <a:t>是等价的。要注意同一问题的不同</a:t>
              </a:r>
            </a:p>
          </p:txBody>
        </p:sp>
        <p:sp>
          <p:nvSpPr>
            <p:cNvPr id="19" name="Text Box 40">
              <a:extLst>
                <a:ext uri="{FF2B5EF4-FFF2-40B4-BE49-F238E27FC236}">
                  <a16:creationId xmlns:a16="http://schemas.microsoft.com/office/drawing/2014/main" id="{4734DB25-69F9-1146-B8A1-06F5F5806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9070" y="3449112"/>
              <a:ext cx="762541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0" i="0" dirty="0">
                  <a:solidFill>
                    <a:srgbClr val="000000"/>
                  </a:solidFill>
                  <a:ea typeface="SimSun" panose="02010600030101010101" pitchFamily="2" charset="-122"/>
                  <a:cs typeface="Times New Roman" panose="02020603050405020304" pitchFamily="18" charset="0"/>
                </a:rPr>
                <a:t>表述。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16782BD-8162-8B4B-A522-126BB926D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24" y="4050627"/>
            <a:ext cx="3514328" cy="3400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9D574F-BB9C-DA64-64BA-EA6087155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792" y="4841882"/>
            <a:ext cx="4464496" cy="34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6254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4"/>
          <p:cNvSpPr>
            <a:spLocks noChangeArrowheads="1"/>
          </p:cNvSpPr>
          <p:nvPr/>
        </p:nvSpPr>
        <p:spPr bwMode="auto">
          <a:xfrm>
            <a:off x="2987716" y="195263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正则表达式</a:t>
            </a:r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260700" y="1340769"/>
            <a:ext cx="3331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17</a:t>
            </a:r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：设计正则表达式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44730E-50C6-3542-9030-DE68A1BA54E3}"/>
              </a:ext>
            </a:extLst>
          </p:cNvPr>
          <p:cNvSpPr txBox="1"/>
          <p:nvPr/>
        </p:nvSpPr>
        <p:spPr>
          <a:xfrm>
            <a:off x="10128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37</a:t>
            </a:r>
            <a:endParaRPr lang="zh-CN" altLang="en-US" b="0" i="0" dirty="0">
              <a:solidFill>
                <a:srgbClr val="000066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64379FE-ED30-F344-A47F-F3B49CCE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03" y="1464936"/>
            <a:ext cx="244723" cy="226595"/>
          </a:xfrm>
          <a:prstGeom prst="rect">
            <a:avLst/>
          </a:prstGeom>
        </p:spPr>
      </p:pic>
      <p:sp>
        <p:nvSpPr>
          <p:cNvPr id="20" name="Text Box 40">
            <a:extLst>
              <a:ext uri="{FF2B5EF4-FFF2-40B4-BE49-F238E27FC236}">
                <a16:creationId xmlns:a16="http://schemas.microsoft.com/office/drawing/2014/main" id="{01ACA404-8749-4D40-9141-5F57F933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340769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使得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4676E7F2-09F6-3149-9C3D-1562CD1B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739" y="2996953"/>
            <a:ext cx="735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07A6ADFB-C394-7242-8373-B94293C2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408" y="2430756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该语言的字母表包含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9E6EE9-C177-9E43-8C6D-FF55235F5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945" y="1946246"/>
            <a:ext cx="6354325" cy="360342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E019DD59-844D-C948-8416-629585013B31}"/>
              </a:ext>
            </a:extLst>
          </p:cNvPr>
          <p:cNvGrpSpPr/>
          <p:nvPr/>
        </p:nvGrpSpPr>
        <p:grpSpPr>
          <a:xfrm>
            <a:off x="2975296" y="3078473"/>
            <a:ext cx="6534343" cy="767700"/>
            <a:chOff x="1451295" y="3078473"/>
            <a:chExt cx="6534343" cy="76770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8878185-8D3F-0748-AFEA-2CFC14310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0665" y="3078473"/>
              <a:ext cx="6494973" cy="286302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C76126B-2ACE-4F45-BA9F-27581FDE3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1295" y="3559871"/>
              <a:ext cx="1243370" cy="286302"/>
            </a:xfrm>
            <a:prstGeom prst="rect">
              <a:avLst/>
            </a:prstGeom>
          </p:spPr>
        </p:pic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00C881CD-C148-6845-9A10-83A9B9DB10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8256" y="3913934"/>
            <a:ext cx="1407790" cy="3071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6AC185D-5EE5-8A48-99C1-52A73A5292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7691" y="4431288"/>
            <a:ext cx="3804222" cy="2919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1FDB3A7-DC5D-0C41-9CC9-10DE5EDE2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9802" y="4964755"/>
            <a:ext cx="1670836" cy="2919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A72E728-7536-EC4D-9836-D43AA0EB13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3018" y="5517233"/>
            <a:ext cx="3053391" cy="29199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D0A2BE2-34C5-254A-AA6C-2489553076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9385" y="6029385"/>
            <a:ext cx="2505026" cy="30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0582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4"/>
          <p:cNvSpPr>
            <a:spLocks noChangeArrowheads="1"/>
          </p:cNvSpPr>
          <p:nvPr/>
        </p:nvSpPr>
        <p:spPr bwMode="auto">
          <a:xfrm>
            <a:off x="2987716" y="195263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正则表达式</a:t>
            </a:r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260700" y="1340769"/>
            <a:ext cx="3331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：设计正则表达式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44730E-50C6-3542-9030-DE68A1BA54E3}"/>
              </a:ext>
            </a:extLst>
          </p:cNvPr>
          <p:cNvSpPr txBox="1"/>
          <p:nvPr/>
        </p:nvSpPr>
        <p:spPr>
          <a:xfrm>
            <a:off x="10128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38</a:t>
            </a:r>
            <a:endParaRPr lang="zh-CN" altLang="en-US" b="0" i="0" dirty="0">
              <a:solidFill>
                <a:srgbClr val="000066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64379FE-ED30-F344-A47F-F3B49CCE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03" y="1464936"/>
            <a:ext cx="244723" cy="226595"/>
          </a:xfrm>
          <a:prstGeom prst="rect">
            <a:avLst/>
          </a:prstGeom>
        </p:spPr>
      </p:pic>
      <p:sp>
        <p:nvSpPr>
          <p:cNvPr id="20" name="Text Box 40">
            <a:extLst>
              <a:ext uri="{FF2B5EF4-FFF2-40B4-BE49-F238E27FC236}">
                <a16:creationId xmlns:a16="http://schemas.microsoft.com/office/drawing/2014/main" id="{01ACA404-8749-4D40-9141-5F57F933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340769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使得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4676E7F2-09F6-3149-9C3D-1562CD1B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739" y="2996953"/>
            <a:ext cx="735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07A6ADFB-C394-7242-8373-B94293C2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408" y="2430756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该语言的字母表包含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61B846A-C609-3C4E-A07F-6F030124A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027" y="1996902"/>
            <a:ext cx="6498404" cy="322950"/>
          </a:xfrm>
          <a:prstGeom prst="rect">
            <a:avLst/>
          </a:prstGeom>
        </p:spPr>
      </p:pic>
      <p:sp>
        <p:nvSpPr>
          <p:cNvPr id="19" name="Text Box 40">
            <a:extLst>
              <a:ext uri="{FF2B5EF4-FFF2-40B4-BE49-F238E27FC236}">
                <a16:creationId xmlns:a16="http://schemas.microsoft.com/office/drawing/2014/main" id="{C19C9C3F-660F-0F49-81A1-A860FBD5D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2992560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需要考虑两种情况。第一种情况是以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结尾：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DAD225-2E23-374D-8EAD-83677BE7A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363" y="4607430"/>
            <a:ext cx="1235259" cy="306685"/>
          </a:xfrm>
          <a:prstGeom prst="rect">
            <a:avLst/>
          </a:prstGeom>
        </p:spPr>
      </p:pic>
      <p:sp>
        <p:nvSpPr>
          <p:cNvPr id="22" name="Text Box 40">
            <a:extLst>
              <a:ext uri="{FF2B5EF4-FFF2-40B4-BE49-F238E27FC236}">
                <a16:creationId xmlns:a16="http://schemas.microsoft.com/office/drawing/2014/main" id="{CFAB2E20-05E4-F243-A755-28F1E659D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348" y="4004313"/>
            <a:ext cx="5707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第二种情况是以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结尾：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84E996-7D32-2F4C-A429-EF1063D1B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718" y="3573017"/>
            <a:ext cx="1638548" cy="344957"/>
          </a:xfrm>
          <a:prstGeom prst="rect">
            <a:avLst/>
          </a:prstGeom>
        </p:spPr>
      </p:pic>
      <p:sp>
        <p:nvSpPr>
          <p:cNvPr id="24" name="Text Box 40">
            <a:extLst>
              <a:ext uri="{FF2B5EF4-FFF2-40B4-BE49-F238E27FC236}">
                <a16:creationId xmlns:a16="http://schemas.microsoft.com/office/drawing/2014/main" id="{9C8815F3-8250-9A4A-AC52-FA61A351D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348" y="5055568"/>
            <a:ext cx="34275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因此，最终结果是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F94DFE-E0D1-384C-A12C-2311B25E8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224" y="5694017"/>
            <a:ext cx="3241552" cy="33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0971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4"/>
          <p:cNvSpPr>
            <a:spLocks noChangeArrowheads="1"/>
          </p:cNvSpPr>
          <p:nvPr/>
        </p:nvSpPr>
        <p:spPr bwMode="auto">
          <a:xfrm>
            <a:off x="2987716" y="195263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正则表达式</a:t>
            </a:r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260700" y="1340769"/>
            <a:ext cx="3331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19</a:t>
            </a:r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：设计正则表达式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44730E-50C6-3542-9030-DE68A1BA54E3}"/>
              </a:ext>
            </a:extLst>
          </p:cNvPr>
          <p:cNvSpPr txBox="1"/>
          <p:nvPr/>
        </p:nvSpPr>
        <p:spPr>
          <a:xfrm>
            <a:off x="10128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39</a:t>
            </a:r>
            <a:endParaRPr lang="zh-CN" altLang="en-US" b="0" i="0" dirty="0">
              <a:solidFill>
                <a:srgbClr val="000066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64379FE-ED30-F344-A47F-F3B49CCE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03" y="1464936"/>
            <a:ext cx="244723" cy="226595"/>
          </a:xfrm>
          <a:prstGeom prst="rect">
            <a:avLst/>
          </a:prstGeom>
        </p:spPr>
      </p:pic>
      <p:sp>
        <p:nvSpPr>
          <p:cNvPr id="20" name="Text Box 40">
            <a:extLst>
              <a:ext uri="{FF2B5EF4-FFF2-40B4-BE49-F238E27FC236}">
                <a16:creationId xmlns:a16="http://schemas.microsoft.com/office/drawing/2014/main" id="{01ACA404-8749-4D40-9141-5F57F933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340769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使得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4676E7F2-09F6-3149-9C3D-1562CD1B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739" y="2996953"/>
            <a:ext cx="735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07A6ADFB-C394-7242-8373-B94293C2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408" y="2430756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该语言的字母表包含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C027FB-FA62-B243-892A-2FDAD9E9A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652" y="1976236"/>
            <a:ext cx="6516216" cy="330353"/>
          </a:xfrm>
          <a:prstGeom prst="rect">
            <a:avLst/>
          </a:prstGeom>
        </p:spPr>
      </p:pic>
      <p:sp>
        <p:nvSpPr>
          <p:cNvPr id="18" name="Text Box 40">
            <a:extLst>
              <a:ext uri="{FF2B5EF4-FFF2-40B4-BE49-F238E27FC236}">
                <a16:creationId xmlns:a16="http://schemas.microsoft.com/office/drawing/2014/main" id="{3F952AAB-0143-7E47-8B7C-8660F8752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2984546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这是例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的一个扩展，技巧类似：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7D0319-69AE-F649-A733-B96EA9186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512" y="3738871"/>
            <a:ext cx="2986633" cy="3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4678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4"/>
          <p:cNvSpPr>
            <a:spLocks noChangeArrowheads="1"/>
          </p:cNvSpPr>
          <p:nvPr/>
        </p:nvSpPr>
        <p:spPr bwMode="auto">
          <a:xfrm>
            <a:off x="2987716" y="195263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正则表达式</a:t>
            </a:r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260700" y="1340769"/>
            <a:ext cx="3331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：设计正则表达式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44730E-50C6-3542-9030-DE68A1BA54E3}"/>
              </a:ext>
            </a:extLst>
          </p:cNvPr>
          <p:cNvSpPr txBox="1"/>
          <p:nvPr/>
        </p:nvSpPr>
        <p:spPr>
          <a:xfrm>
            <a:off x="10128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40</a:t>
            </a:r>
            <a:endParaRPr lang="zh-CN" altLang="en-US" b="0" i="0" dirty="0">
              <a:solidFill>
                <a:srgbClr val="000066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64379FE-ED30-F344-A47F-F3B49CCE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03" y="1464936"/>
            <a:ext cx="244723" cy="226595"/>
          </a:xfrm>
          <a:prstGeom prst="rect">
            <a:avLst/>
          </a:prstGeom>
        </p:spPr>
      </p:pic>
      <p:sp>
        <p:nvSpPr>
          <p:cNvPr id="20" name="Text Box 40">
            <a:extLst>
              <a:ext uri="{FF2B5EF4-FFF2-40B4-BE49-F238E27FC236}">
                <a16:creationId xmlns:a16="http://schemas.microsoft.com/office/drawing/2014/main" id="{01ACA404-8749-4D40-9141-5F57F933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340769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使得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4676E7F2-09F6-3149-9C3D-1562CD1B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739" y="2996953"/>
            <a:ext cx="735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07A6ADFB-C394-7242-8373-B94293C2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408" y="2430756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该语言的字母表包含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2CCC19F-C82E-6D46-8892-735BA3186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1972229"/>
            <a:ext cx="7176284" cy="347941"/>
          </a:xfrm>
          <a:prstGeom prst="rect">
            <a:avLst/>
          </a:prstGeom>
        </p:spPr>
      </p:pic>
      <p:sp>
        <p:nvSpPr>
          <p:cNvPr id="13" name="Text Box 40">
            <a:extLst>
              <a:ext uri="{FF2B5EF4-FFF2-40B4-BE49-F238E27FC236}">
                <a16:creationId xmlns:a16="http://schemas.microsoft.com/office/drawing/2014/main" id="{DF68C544-9107-1044-BB7E-74E3C7BAA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2994120"/>
            <a:ext cx="73448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对于并不是顺数或者倒数第几位的情况，需要加上</a:t>
            </a:r>
          </a:p>
        </p:txBody>
      </p:sp>
      <p:sp>
        <p:nvSpPr>
          <p:cNvPr id="16" name="Text Box 40">
            <a:extLst>
              <a:ext uri="{FF2B5EF4-FFF2-40B4-BE49-F238E27FC236}">
                <a16:creationId xmlns:a16="http://schemas.microsoft.com/office/drawing/2014/main" id="{CA956490-914D-2D48-8524-39FB5121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3514689"/>
            <a:ext cx="73448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位置的偏移：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3F8AD7-2BDE-F340-8B5A-D77FC6BF9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492" y="4149029"/>
            <a:ext cx="4824536" cy="36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78367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4"/>
          <p:cNvSpPr>
            <a:spLocks noChangeArrowheads="1"/>
          </p:cNvSpPr>
          <p:nvPr/>
        </p:nvSpPr>
        <p:spPr bwMode="auto">
          <a:xfrm>
            <a:off x="2987716" y="195263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正则表达式</a:t>
            </a:r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260700" y="1340769"/>
            <a:ext cx="3331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：设计正则表达式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44730E-50C6-3542-9030-DE68A1BA54E3}"/>
              </a:ext>
            </a:extLst>
          </p:cNvPr>
          <p:cNvSpPr txBox="1"/>
          <p:nvPr/>
        </p:nvSpPr>
        <p:spPr>
          <a:xfrm>
            <a:off x="10128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41</a:t>
            </a:r>
            <a:endParaRPr lang="zh-CN" altLang="en-US" b="0" i="0" dirty="0">
              <a:solidFill>
                <a:srgbClr val="000066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64379FE-ED30-F344-A47F-F3B49CCE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03" y="1464936"/>
            <a:ext cx="244723" cy="226595"/>
          </a:xfrm>
          <a:prstGeom prst="rect">
            <a:avLst/>
          </a:prstGeom>
        </p:spPr>
      </p:pic>
      <p:sp>
        <p:nvSpPr>
          <p:cNvPr id="20" name="Text Box 40">
            <a:extLst>
              <a:ext uri="{FF2B5EF4-FFF2-40B4-BE49-F238E27FC236}">
                <a16:creationId xmlns:a16="http://schemas.microsoft.com/office/drawing/2014/main" id="{01ACA404-8749-4D40-9141-5F57F933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340769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使得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4676E7F2-09F6-3149-9C3D-1562CD1B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739" y="2996953"/>
            <a:ext cx="735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07A6ADFB-C394-7242-8373-B94293C2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408" y="2430756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该语言的字母表包含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12E699-990A-994D-A2BC-CF92946C4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704" y="1937912"/>
            <a:ext cx="6336704" cy="357365"/>
          </a:xfrm>
          <a:prstGeom prst="rect">
            <a:avLst/>
          </a:prstGeom>
        </p:spPr>
      </p:pic>
      <p:sp>
        <p:nvSpPr>
          <p:cNvPr id="18" name="Text Box 40">
            <a:extLst>
              <a:ext uri="{FF2B5EF4-FFF2-40B4-BE49-F238E27FC236}">
                <a16:creationId xmlns:a16="http://schemas.microsoft.com/office/drawing/2014/main" id="{2BCF13F8-5D03-B346-AAED-933140102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2996952"/>
            <a:ext cx="77048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像这样的题目，要分情况讨论。这里需要考虑三种情况。</a:t>
            </a:r>
          </a:p>
        </p:txBody>
      </p:sp>
      <p:sp>
        <p:nvSpPr>
          <p:cNvPr id="19" name="Text Box 40">
            <a:extLst>
              <a:ext uri="{FF2B5EF4-FFF2-40B4-BE49-F238E27FC236}">
                <a16:creationId xmlns:a16="http://schemas.microsoft.com/office/drawing/2014/main" id="{A5BB8387-C0E7-9A49-BA19-B8A6DC275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3591180"/>
            <a:ext cx="68407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第一种情况是剩下两个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都在倒数第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位左侧：</a:t>
            </a:r>
          </a:p>
        </p:txBody>
      </p:sp>
      <p:sp>
        <p:nvSpPr>
          <p:cNvPr id="21" name="Text Box 40">
            <a:extLst>
              <a:ext uri="{FF2B5EF4-FFF2-40B4-BE49-F238E27FC236}">
                <a16:creationId xmlns:a16="http://schemas.microsoft.com/office/drawing/2014/main" id="{7FFF21FB-D901-B64F-A733-5D5EFCD1A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4584916"/>
            <a:ext cx="7416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第二种情况是剩下两个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分别在倒数第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位左侧和右侧：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4A35A27-5B5E-304F-96CB-392788036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94" y="4167991"/>
            <a:ext cx="4066924" cy="3006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3AA142C-943D-C041-B6E8-1630549E7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603" y="5162870"/>
            <a:ext cx="3694907" cy="296912"/>
          </a:xfrm>
          <a:prstGeom prst="rect">
            <a:avLst/>
          </a:prstGeom>
        </p:spPr>
      </p:pic>
      <p:sp>
        <p:nvSpPr>
          <p:cNvPr id="22" name="Text Box 40">
            <a:extLst>
              <a:ext uri="{FF2B5EF4-FFF2-40B4-BE49-F238E27FC236}">
                <a16:creationId xmlns:a16="http://schemas.microsoft.com/office/drawing/2014/main" id="{D8974A67-192B-A343-BBB9-1A586F927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5528424"/>
            <a:ext cx="7416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第三种情况是剩下两个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都在倒数第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位右侧：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88DB907-69B1-9645-B45E-D6D0D3465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8631" y="6077830"/>
            <a:ext cx="1582849" cy="30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6534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4"/>
          <p:cNvSpPr>
            <a:spLocks noChangeArrowheads="1"/>
          </p:cNvSpPr>
          <p:nvPr/>
        </p:nvSpPr>
        <p:spPr bwMode="auto">
          <a:xfrm>
            <a:off x="2987716" y="195263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i="0" dirty="0">
                <a:ea typeface="华文行楷" pitchFamily="2" charset="-122"/>
              </a:rPr>
              <a:t>正则表达式</a:t>
            </a:r>
          </a:p>
        </p:txBody>
      </p: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2260700" y="1340769"/>
            <a:ext cx="3331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：设计正则表达式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44730E-50C6-3542-9030-DE68A1BA54E3}"/>
              </a:ext>
            </a:extLst>
          </p:cNvPr>
          <p:cNvSpPr txBox="1"/>
          <p:nvPr/>
        </p:nvSpPr>
        <p:spPr>
          <a:xfrm>
            <a:off x="10128448" y="6471931"/>
            <a:ext cx="539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66"/>
                </a:solidFill>
              </a:rPr>
              <a:t>42</a:t>
            </a:r>
            <a:endParaRPr lang="zh-CN" altLang="en-US" b="0" i="0" dirty="0">
              <a:solidFill>
                <a:srgbClr val="000066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64379FE-ED30-F344-A47F-F3B49CCE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03" y="1464936"/>
            <a:ext cx="244723" cy="226595"/>
          </a:xfrm>
          <a:prstGeom prst="rect">
            <a:avLst/>
          </a:prstGeom>
        </p:spPr>
      </p:pic>
      <p:sp>
        <p:nvSpPr>
          <p:cNvPr id="20" name="Text Box 40">
            <a:extLst>
              <a:ext uri="{FF2B5EF4-FFF2-40B4-BE49-F238E27FC236}">
                <a16:creationId xmlns:a16="http://schemas.microsoft.com/office/drawing/2014/main" id="{01ACA404-8749-4D40-9141-5F57F933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60" y="1340769"/>
            <a:ext cx="864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使得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4676E7F2-09F6-3149-9C3D-1562CD1B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739" y="2996953"/>
            <a:ext cx="735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07A6ADFB-C394-7242-8373-B94293C2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408" y="2430756"/>
            <a:ext cx="6336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该语言的字母表包含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12E699-990A-994D-A2BC-CF92946C4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704" y="1937912"/>
            <a:ext cx="6336704" cy="357365"/>
          </a:xfrm>
          <a:prstGeom prst="rect">
            <a:avLst/>
          </a:prstGeom>
        </p:spPr>
      </p:pic>
      <p:sp>
        <p:nvSpPr>
          <p:cNvPr id="18" name="Text Box 40">
            <a:extLst>
              <a:ext uri="{FF2B5EF4-FFF2-40B4-BE49-F238E27FC236}">
                <a16:creationId xmlns:a16="http://schemas.microsoft.com/office/drawing/2014/main" id="{2BCF13F8-5D03-B346-AAED-933140102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2996952"/>
            <a:ext cx="77048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因此，最终的结果是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05ABADC-AA25-5746-9F66-F18CF46E6A8F}"/>
              </a:ext>
            </a:extLst>
          </p:cNvPr>
          <p:cNvGrpSpPr/>
          <p:nvPr/>
        </p:nvGrpSpPr>
        <p:grpSpPr>
          <a:xfrm>
            <a:off x="3287689" y="3675646"/>
            <a:ext cx="5004323" cy="1338250"/>
            <a:chOff x="1763688" y="3675646"/>
            <a:chExt cx="5004323" cy="133825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3E73EBEF-D6EF-A640-98F7-6B7BD7F01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3688" y="3717032"/>
              <a:ext cx="557734" cy="217865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E6F004C-4B10-B44A-AE45-ECFF697CF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02322" y="3675646"/>
              <a:ext cx="4066924" cy="300635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70C61D-0F1E-B34B-AAA9-DB09F3CA6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50146" y="3701673"/>
              <a:ext cx="217865" cy="217865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43017CA8-41D1-9F4F-BA4B-1E98D4BB3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2322" y="4193311"/>
              <a:ext cx="3694907" cy="296912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41560222-D554-344A-8657-509398BF9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1381" y="4232834"/>
              <a:ext cx="217865" cy="217865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1F6A4C30-E10E-B24F-9AA0-EF9DE2ABC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02322" y="4707538"/>
              <a:ext cx="1582849" cy="3063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563729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3120056" y="195263"/>
            <a:ext cx="1973617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b="1" i="0">
                <a:latin typeface="华文行楷" pitchFamily="2" charset="-122"/>
                <a:ea typeface="华文行楷" pitchFamily="2" charset="-122"/>
              </a:rPr>
              <a:t>第 五 讲</a:t>
            </a:r>
          </a:p>
        </p:txBody>
      </p:sp>
      <p:sp>
        <p:nvSpPr>
          <p:cNvPr id="2067" name="Text Box 19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135189" y="1700213"/>
            <a:ext cx="79216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600" b="1" i="0" dirty="0">
                <a:latin typeface="Arial" pitchFamily="34" charset="0"/>
                <a:ea typeface="楷体_GB2312" pitchFamily="49" charset="-122"/>
              </a:rPr>
              <a:t>  </a:t>
            </a:r>
            <a:r>
              <a:rPr lang="zh-CN" altLang="en-US" sz="3600" b="1" i="0" dirty="0">
                <a:latin typeface="Arial" pitchFamily="34" charset="0"/>
                <a:ea typeface="楷体_GB2312" pitchFamily="49" charset="-122"/>
              </a:rPr>
              <a:t>有穷状态自动机 </a:t>
            </a:r>
            <a:r>
              <a:rPr lang="zh-CN" altLang="en-US" sz="3600" b="1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 </a:t>
            </a:r>
            <a:r>
              <a:rPr lang="zh-CN" altLang="en-US" sz="3600" b="1" i="0" dirty="0">
                <a:latin typeface="Arial" pitchFamily="34" charset="0"/>
                <a:ea typeface="楷体_GB2312" pitchFamily="49" charset="-122"/>
              </a:rPr>
              <a:t>正则表达式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9D3BF-C5A1-D248-BB54-C9092756D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1" name="Text Box 7"/>
          <p:cNvSpPr txBox="1">
            <a:spLocks noChangeArrowheads="1"/>
          </p:cNvSpPr>
          <p:nvPr/>
        </p:nvSpPr>
        <p:spPr bwMode="auto">
          <a:xfrm>
            <a:off x="2135189" y="1484314"/>
            <a:ext cx="83534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buFont typeface="Wingdings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结论</a:t>
            </a: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3200" b="1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有穷自动机所表示的语言是正则语言</a:t>
            </a:r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2711450" y="2262188"/>
            <a:ext cx="1987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pitchFamily="18" charset="2"/>
              <a:buChar char="-"/>
            </a:pP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i="0">
                <a:latin typeface="楷体_GB2312" pitchFamily="49" charset="-122"/>
                <a:ea typeface="楷体_GB2312" pitchFamily="49" charset="-122"/>
              </a:rPr>
              <a:t>证明策略</a:t>
            </a:r>
          </a:p>
        </p:txBody>
      </p:sp>
      <p:graphicFrame>
        <p:nvGraphicFramePr>
          <p:cNvPr id="134153" name="Object 9"/>
          <p:cNvGraphicFramePr>
            <a:graphicFrameLocks noChangeAspect="1"/>
          </p:cNvGraphicFramePr>
          <p:nvPr/>
        </p:nvGraphicFramePr>
        <p:xfrm>
          <a:off x="7273926" y="4052888"/>
          <a:ext cx="2635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0200" imgH="1050480" progId="Visio.Drawing.11">
                  <p:embed/>
                </p:oleObj>
              </mc:Choice>
              <mc:Fallback>
                <p:oleObj name="VISIO" r:id="rId2" imgW="250200" imgH="1050480" progId="Visio.Drawing.11">
                  <p:embed/>
                  <p:pic>
                    <p:nvPicPr>
                      <p:cNvPr id="1341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3926" y="4052888"/>
                        <a:ext cx="26352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4" name="Object 10"/>
          <p:cNvGraphicFramePr>
            <a:graphicFrameLocks noChangeAspect="1"/>
          </p:cNvGraphicFramePr>
          <p:nvPr/>
        </p:nvGraphicFramePr>
        <p:xfrm>
          <a:off x="7608888" y="3933826"/>
          <a:ext cx="658812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58800" imgH="1293120" progId="Visio.Drawing.11">
                  <p:embed/>
                </p:oleObj>
              </mc:Choice>
              <mc:Fallback>
                <p:oleObj name="VISIO" r:id="rId4" imgW="658800" imgH="1293120" progId="Visio.Drawing.11">
                  <p:embed/>
                  <p:pic>
                    <p:nvPicPr>
                      <p:cNvPr id="1341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8" y="3933826"/>
                        <a:ext cx="658812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5" name="Object 11"/>
          <p:cNvGraphicFramePr>
            <a:graphicFrameLocks noChangeAspect="1"/>
          </p:cNvGraphicFramePr>
          <p:nvPr/>
        </p:nvGraphicFramePr>
        <p:xfrm>
          <a:off x="5207001" y="3832225"/>
          <a:ext cx="1966913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967040" imgH="1315440" progId="Visio.Drawing.11">
                  <p:embed/>
                </p:oleObj>
              </mc:Choice>
              <mc:Fallback>
                <p:oleObj name="VISIO" r:id="rId6" imgW="1967040" imgH="1315440" progId="Visio.Drawing.11">
                  <p:embed/>
                  <p:pic>
                    <p:nvPicPr>
                      <p:cNvPr id="1341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1" y="3832225"/>
                        <a:ext cx="1966913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6" name="Object 12"/>
          <p:cNvGraphicFramePr>
            <a:graphicFrameLocks noChangeAspect="1"/>
          </p:cNvGraphicFramePr>
          <p:nvPr/>
        </p:nvGraphicFramePr>
        <p:xfrm>
          <a:off x="5232401" y="3933825"/>
          <a:ext cx="19335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932840" imgH="1294920" progId="Visio.Drawing.11">
                  <p:embed/>
                </p:oleObj>
              </mc:Choice>
              <mc:Fallback>
                <p:oleObj name="VISIO" r:id="rId8" imgW="1932840" imgH="1294920" progId="Visio.Drawing.11">
                  <p:embed/>
                  <p:pic>
                    <p:nvPicPr>
                      <p:cNvPr id="1341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1" y="3933825"/>
                        <a:ext cx="19335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7" name="Object 13">
            <a:hlinkClick r:id="rId10" action="ppaction://hlinksldjump"/>
          </p:cNvPr>
          <p:cNvGraphicFramePr>
            <a:graphicFrameLocks noChangeAspect="1"/>
          </p:cNvGraphicFramePr>
          <p:nvPr/>
        </p:nvGraphicFramePr>
        <p:xfrm>
          <a:off x="5245100" y="5367339"/>
          <a:ext cx="1644650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1850400" imgH="250200" progId="Visio.Drawing.11">
                  <p:embed/>
                </p:oleObj>
              </mc:Choice>
              <mc:Fallback>
                <p:oleObj name="VISIO" r:id="rId11" imgW="1850400" imgH="250200" progId="Visio.Drawing.11">
                  <p:embed/>
                  <p:pic>
                    <p:nvPicPr>
                      <p:cNvPr id="134157" name="Object 13">
                        <a:hlinkClick r:id="rId10" action="ppaction://hlinksldjump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5367339"/>
                        <a:ext cx="1644650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8" name="Object 14">
            <a:hlinkClick r:id="rId13" action="ppaction://hlinksldjump"/>
          </p:cNvPr>
          <p:cNvGraphicFramePr>
            <a:graphicFrameLocks noChangeAspect="1"/>
          </p:cNvGraphicFramePr>
          <p:nvPr/>
        </p:nvGraphicFramePr>
        <p:xfrm>
          <a:off x="4694239" y="4035426"/>
          <a:ext cx="2508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250200" imgH="1050480" progId="Visio.Drawing.11">
                  <p:embed/>
                </p:oleObj>
              </mc:Choice>
              <mc:Fallback>
                <p:oleObj name="VISIO" r:id="rId14" imgW="250200" imgH="1050480" progId="Visio.Drawing.11">
                  <p:embed/>
                  <p:pic>
                    <p:nvPicPr>
                      <p:cNvPr id="134158" name="Object 14">
                        <a:hlinkClick r:id="rId13" action="ppaction://hlinksldjump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9" y="4035426"/>
                        <a:ext cx="25082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189" name="Group 45"/>
          <p:cNvGrpSpPr>
            <a:grpSpLocks/>
          </p:cNvGrpSpPr>
          <p:nvPr/>
        </p:nvGrpSpPr>
        <p:grpSpPr bwMode="auto">
          <a:xfrm>
            <a:off x="4079875" y="4943475"/>
            <a:ext cx="1296988" cy="935038"/>
            <a:chOff x="1383" y="3385"/>
            <a:chExt cx="817" cy="589"/>
          </a:xfrm>
        </p:grpSpPr>
        <p:graphicFrame>
          <p:nvGraphicFramePr>
            <p:cNvPr id="134169" name="Object 25"/>
            <p:cNvGraphicFramePr>
              <a:graphicFrameLocks noChangeAspect="1"/>
            </p:cNvGraphicFramePr>
            <p:nvPr/>
          </p:nvGraphicFramePr>
          <p:xfrm>
            <a:off x="1383" y="3385"/>
            <a:ext cx="817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16" imgW="732600" imgH="504000" progId="Visio.Drawing.11">
                    <p:embed/>
                  </p:oleObj>
                </mc:Choice>
                <mc:Fallback>
                  <p:oleObj name="VISIO" r:id="rId16" imgW="732600" imgH="504000" progId="Visio.Drawing.11">
                    <p:embed/>
                    <p:pic>
                      <p:nvPicPr>
                        <p:cNvPr id="13416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3385"/>
                          <a:ext cx="817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170" name="Rectangle 26"/>
            <p:cNvSpPr>
              <a:spLocks noChangeArrowheads="1"/>
            </p:cNvSpPr>
            <p:nvPr/>
          </p:nvSpPr>
          <p:spPr bwMode="auto">
            <a:xfrm>
              <a:off x="1610" y="3521"/>
              <a:ext cx="3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RE</a:t>
              </a:r>
            </a:p>
          </p:txBody>
        </p:sp>
      </p:grpSp>
      <p:sp>
        <p:nvSpPr>
          <p:cNvPr id="134171" name="Rectangle 27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grpSp>
        <p:nvGrpSpPr>
          <p:cNvPr id="134190" name="Group 46"/>
          <p:cNvGrpSpPr>
            <a:grpSpLocks/>
          </p:cNvGrpSpPr>
          <p:nvPr/>
        </p:nvGrpSpPr>
        <p:grpSpPr bwMode="auto">
          <a:xfrm>
            <a:off x="4151313" y="3287714"/>
            <a:ext cx="3890962" cy="2662237"/>
            <a:chOff x="1473" y="2297"/>
            <a:chExt cx="2451" cy="1677"/>
          </a:xfrm>
        </p:grpSpPr>
        <p:grpSp>
          <p:nvGrpSpPr>
            <p:cNvPr id="134181" name="Group 37"/>
            <p:cNvGrpSpPr>
              <a:grpSpLocks/>
            </p:cNvGrpSpPr>
            <p:nvPr/>
          </p:nvGrpSpPr>
          <p:grpSpPr bwMode="auto">
            <a:xfrm>
              <a:off x="1473" y="2297"/>
              <a:ext cx="817" cy="589"/>
              <a:chOff x="1428" y="2660"/>
              <a:chExt cx="817" cy="589"/>
            </a:xfrm>
          </p:grpSpPr>
          <p:sp>
            <p:nvSpPr>
              <p:cNvPr id="134161" name="Rectangle 17"/>
              <p:cNvSpPr>
                <a:spLocks noChangeArrowheads="1"/>
              </p:cNvSpPr>
              <p:nvPr/>
            </p:nvSpPr>
            <p:spPr bwMode="auto">
              <a:xfrm>
                <a:off x="1494" y="2795"/>
                <a:ext cx="65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Arial" pitchFamily="34" charset="0"/>
                    <a:ea typeface="华文行楷" pitchFamily="2" charset="-122"/>
                    <a:sym typeface="Symbol" pitchFamily="18" charset="2"/>
                  </a:rPr>
                  <a:t></a:t>
                </a:r>
                <a:r>
                  <a:rPr lang="en-US" altLang="zh-CN" sz="2400" b="1" i="0">
                    <a:latin typeface="Arial" pitchFamily="34" charset="0"/>
                    <a:cs typeface="Times New Roman" pitchFamily="18" charset="0"/>
                  </a:rPr>
                  <a:t>-</a:t>
                </a:r>
                <a:r>
                  <a:rPr lang="en-US" altLang="zh-CN" sz="2400" b="1">
                    <a:latin typeface="Arial" pitchFamily="34" charset="0"/>
                    <a:ea typeface="华文行楷" pitchFamily="2" charset="-122"/>
                  </a:rPr>
                  <a:t>NFA</a:t>
                </a:r>
              </a:p>
            </p:txBody>
          </p:sp>
          <p:graphicFrame>
            <p:nvGraphicFramePr>
              <p:cNvPr id="134176" name="Object 32"/>
              <p:cNvGraphicFramePr>
                <a:graphicFrameLocks noChangeAspect="1"/>
              </p:cNvGraphicFramePr>
              <p:nvPr/>
            </p:nvGraphicFramePr>
            <p:xfrm>
              <a:off x="1428" y="2660"/>
              <a:ext cx="817" cy="5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16" imgW="732600" imgH="504000" progId="Visio.Drawing.11">
                      <p:embed/>
                    </p:oleObj>
                  </mc:Choice>
                  <mc:Fallback>
                    <p:oleObj name="VISIO" r:id="rId16" imgW="732600" imgH="504000" progId="Visio.Drawing.11">
                      <p:embed/>
                      <p:pic>
                        <p:nvPicPr>
                          <p:cNvPr id="134176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8" y="2660"/>
                            <a:ext cx="817" cy="5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4185" name="Group 41"/>
            <p:cNvGrpSpPr>
              <a:grpSpLocks/>
            </p:cNvGrpSpPr>
            <p:nvPr/>
          </p:nvGrpSpPr>
          <p:grpSpPr bwMode="auto">
            <a:xfrm>
              <a:off x="3106" y="2297"/>
              <a:ext cx="817" cy="589"/>
              <a:chOff x="2018" y="2161"/>
              <a:chExt cx="817" cy="589"/>
            </a:xfrm>
          </p:grpSpPr>
          <p:sp>
            <p:nvSpPr>
              <p:cNvPr id="134183" name="Rectangle 39"/>
              <p:cNvSpPr>
                <a:spLocks noChangeArrowheads="1"/>
              </p:cNvSpPr>
              <p:nvPr/>
            </p:nvSpPr>
            <p:spPr bwMode="auto">
              <a:xfrm>
                <a:off x="2142" y="2296"/>
                <a:ext cx="51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Arial" pitchFamily="34" charset="0"/>
                    <a:ea typeface="华文行楷" pitchFamily="2" charset="-122"/>
                  </a:rPr>
                  <a:t>NFA</a:t>
                </a:r>
              </a:p>
            </p:txBody>
          </p:sp>
          <p:graphicFrame>
            <p:nvGraphicFramePr>
              <p:cNvPr id="134184" name="Object 40"/>
              <p:cNvGraphicFramePr>
                <a:graphicFrameLocks noChangeAspect="1"/>
              </p:cNvGraphicFramePr>
              <p:nvPr/>
            </p:nvGraphicFramePr>
            <p:xfrm>
              <a:off x="2018" y="2161"/>
              <a:ext cx="817" cy="5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18" imgW="735132" imgH="504497" progId="Visio.Drawing.11">
                      <p:embed/>
                    </p:oleObj>
                  </mc:Choice>
                  <mc:Fallback>
                    <p:oleObj name="Visio" r:id="rId18" imgW="735132" imgH="504497" progId="Visio.Drawing.11">
                      <p:embed/>
                      <p:pic>
                        <p:nvPicPr>
                          <p:cNvPr id="134184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8" y="2161"/>
                            <a:ext cx="817" cy="5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4188" name="Group 44"/>
            <p:cNvGrpSpPr>
              <a:grpSpLocks/>
            </p:cNvGrpSpPr>
            <p:nvPr/>
          </p:nvGrpSpPr>
          <p:grpSpPr bwMode="auto">
            <a:xfrm>
              <a:off x="3107" y="3385"/>
              <a:ext cx="817" cy="589"/>
              <a:chOff x="2018" y="1616"/>
              <a:chExt cx="817" cy="589"/>
            </a:xfrm>
          </p:grpSpPr>
          <p:sp>
            <p:nvSpPr>
              <p:cNvPr id="134186" name="Rectangle 42"/>
              <p:cNvSpPr>
                <a:spLocks noChangeArrowheads="1"/>
              </p:cNvSpPr>
              <p:nvPr/>
            </p:nvSpPr>
            <p:spPr bwMode="auto">
              <a:xfrm>
                <a:off x="2188" y="1752"/>
                <a:ext cx="51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Arial" pitchFamily="34" charset="0"/>
                    <a:ea typeface="华文行楷" pitchFamily="2" charset="-122"/>
                  </a:rPr>
                  <a:t>DFA</a:t>
                </a:r>
              </a:p>
            </p:txBody>
          </p:sp>
          <p:graphicFrame>
            <p:nvGraphicFramePr>
              <p:cNvPr id="134187" name="Object 43"/>
              <p:cNvGraphicFramePr>
                <a:graphicFrameLocks noChangeAspect="1"/>
              </p:cNvGraphicFramePr>
              <p:nvPr/>
            </p:nvGraphicFramePr>
            <p:xfrm>
              <a:off x="2018" y="1616"/>
              <a:ext cx="817" cy="5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18" imgW="735132" imgH="504497" progId="Visio.Drawing.11">
                      <p:embed/>
                    </p:oleObj>
                  </mc:Choice>
                  <mc:Fallback>
                    <p:oleObj name="Visio" r:id="rId18" imgW="735132" imgH="504497" progId="Visio.Drawing.11">
                      <p:embed/>
                      <p:pic>
                        <p:nvPicPr>
                          <p:cNvPr id="134187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8" y="1616"/>
                            <a:ext cx="817" cy="5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D8D28A-7D44-0349-A6C8-971E5A42A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10</a:t>
            </a:fld>
            <a:endParaRPr lang="en-US" altLang="zh-CN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2497139" y="2420939"/>
            <a:ext cx="7920037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buFont typeface="Symbol" pitchFamily="18" charset="2"/>
              <a:buChar char="-"/>
            </a:pP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latin typeface="Arial" pitchFamily="34" charset="0"/>
                <a:ea typeface="楷体_GB2312" pitchFamily="49" charset="-122"/>
              </a:rPr>
              <a:t>定理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是正则表达式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表示的语言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则存在一个</a:t>
            </a:r>
          </a:p>
          <a:p>
            <a:pPr algn="just">
              <a:buFont typeface="Symbol" pitchFamily="18" charset="2"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          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NFA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E ,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满足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L(E) = L(R) = L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  <a:p>
            <a:pPr>
              <a:buFont typeface="Wingdings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   </a:t>
            </a:r>
            <a:r>
              <a:rPr lang="zh-CN" altLang="en-US" sz="2400" b="1" i="0" dirty="0">
                <a:latin typeface="Arial" pitchFamily="34" charset="0"/>
                <a:ea typeface="楷体_GB2312" pitchFamily="49" charset="-122"/>
              </a:rPr>
              <a:t>证明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构造性证明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可以通过结构归纳法证明从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可以</a:t>
            </a: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构造出与其等价的，满足如下条件的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-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NFA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Arial" pitchFamily="34" charset="0"/>
                <a:ea typeface="楷体_GB2312" pitchFamily="49" charset="-122"/>
              </a:rPr>
              <a:t>：</a:t>
            </a:r>
            <a:endParaRPr lang="zh-CN" altLang="en-US" sz="24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>
              <a:buFont typeface="Wingdings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(1)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恰好一个终态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;</a:t>
            </a:r>
            <a:endParaRPr lang="en-US" altLang="zh-CN" sz="24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>
              <a:buFont typeface="Wingdings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(2)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没有弧进入初态；</a:t>
            </a:r>
          </a:p>
          <a:p>
            <a:pPr algn="just"/>
            <a:endParaRPr lang="zh-CN" altLang="en-US" sz="10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(3)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没有弧离开终态；</a:t>
            </a:r>
          </a:p>
          <a:p>
            <a:pPr>
              <a:buFont typeface="Wingdings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endParaRPr lang="zh-CN" altLang="en-US" sz="24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64871" name="Rectangle 7"/>
          <p:cNvSpPr>
            <a:spLocks noChangeArrowheads="1"/>
          </p:cNvSpPr>
          <p:nvPr/>
        </p:nvSpPr>
        <p:spPr bwMode="auto">
          <a:xfrm>
            <a:off x="2279650" y="1447800"/>
            <a:ext cx="8001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从正则表达式构造等价的</a:t>
            </a:r>
            <a:r>
              <a:rPr lang="zh-CN" altLang="en-US" sz="32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en-US" altLang="zh-CN" sz="3200" b="1" i="0" dirty="0">
                <a:latin typeface="Arial" pitchFamily="34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en-US" altLang="zh-CN" sz="3200" b="1" dirty="0">
                <a:latin typeface="Arial" pitchFamily="34" charset="0"/>
                <a:ea typeface="楷体_GB2312" pitchFamily="49" charset="-122"/>
              </a:rPr>
              <a:t>NFA</a:t>
            </a:r>
          </a:p>
        </p:txBody>
      </p:sp>
      <p:sp>
        <p:nvSpPr>
          <p:cNvPr id="164872" name="Rectangle 8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8274626-DDF2-1D4F-94BC-7DC2666B4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11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4" name="Text Box 6"/>
          <p:cNvSpPr txBox="1">
            <a:spLocks noChangeArrowheads="1"/>
          </p:cNvSpPr>
          <p:nvPr/>
        </p:nvSpPr>
        <p:spPr bwMode="auto">
          <a:xfrm>
            <a:off x="2279651" y="2420938"/>
            <a:ext cx="38147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buFont typeface="Symbol" pitchFamily="18" charset="2"/>
              <a:buChar char="-"/>
            </a:pPr>
            <a:r>
              <a:rPr lang="en-US" altLang="zh-CN" sz="24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>
                <a:latin typeface="楷体_GB2312" pitchFamily="49" charset="-122"/>
                <a:ea typeface="楷体_GB2312" pitchFamily="49" charset="-122"/>
              </a:rPr>
              <a:t>基础</a:t>
            </a:r>
            <a:r>
              <a:rPr lang="en-US" altLang="zh-CN" sz="2400" b="1" i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400" b="1" i="0">
              <a:solidFill>
                <a:srgbClr val="333399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65897" name="Rectangle 9"/>
          <p:cNvSpPr>
            <a:spLocks noChangeArrowheads="1"/>
          </p:cNvSpPr>
          <p:nvPr/>
        </p:nvSpPr>
        <p:spPr bwMode="auto">
          <a:xfrm>
            <a:off x="2705100" y="3070225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对于 </a:t>
            </a:r>
            <a:r>
              <a:rPr lang="zh-CN" altLang="en-US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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，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构造为</a:t>
            </a:r>
            <a:endParaRPr lang="zh-CN" altLang="en-US" sz="2400" b="1" dirty="0">
              <a:latin typeface="Arial" pitchFamily="34" charset="0"/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65898" name="Rectangle 10"/>
          <p:cNvSpPr>
            <a:spLocks noChangeArrowheads="1"/>
          </p:cNvSpPr>
          <p:nvPr/>
        </p:nvSpPr>
        <p:spPr bwMode="auto">
          <a:xfrm>
            <a:off x="7493000" y="2917825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楷体_GB2312" pitchFamily="49" charset="-122"/>
                <a:sym typeface="Symbol" pitchFamily="18" charset="2"/>
              </a:rPr>
              <a:t></a:t>
            </a:r>
          </a:p>
        </p:txBody>
      </p:sp>
      <p:graphicFrame>
        <p:nvGraphicFramePr>
          <p:cNvPr id="165899" name="Object 11"/>
          <p:cNvGraphicFramePr>
            <a:graphicFrameLocks noChangeAspect="1"/>
          </p:cNvGraphicFramePr>
          <p:nvPr/>
        </p:nvGraphicFramePr>
        <p:xfrm>
          <a:off x="6134100" y="2806701"/>
          <a:ext cx="2914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14193" imgH="949147" progId="Visio.Drawing.11">
                  <p:embed/>
                </p:oleObj>
              </mc:Choice>
              <mc:Fallback>
                <p:oleObj name="Visio" r:id="rId2" imgW="2914193" imgH="949147" progId="Visio.Drawing.11">
                  <p:embed/>
                  <p:pic>
                    <p:nvPicPr>
                      <p:cNvPr id="1658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2806701"/>
                        <a:ext cx="29146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1" name="Rectangle 13"/>
          <p:cNvSpPr>
            <a:spLocks noChangeArrowheads="1"/>
          </p:cNvSpPr>
          <p:nvPr/>
        </p:nvSpPr>
        <p:spPr bwMode="auto">
          <a:xfrm>
            <a:off x="2705100" y="5203825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3 </a:t>
            </a:r>
            <a:r>
              <a:rPr lang="zh-CN" altLang="en-US" sz="2400" b="1" i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对于 </a:t>
            </a:r>
            <a:r>
              <a:rPr lang="en-US" altLang="zh-CN" sz="2400" b="1"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zh-CN" altLang="en-US" sz="2400" b="1" i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构造为</a:t>
            </a:r>
            <a:endParaRPr lang="zh-CN" altLang="en-US" sz="2400" b="1">
              <a:latin typeface="Arial" pitchFamily="34" charset="0"/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65902" name="Rectangle 14"/>
          <p:cNvSpPr>
            <a:spLocks noChangeArrowheads="1"/>
          </p:cNvSpPr>
          <p:nvPr/>
        </p:nvSpPr>
        <p:spPr bwMode="auto">
          <a:xfrm>
            <a:off x="7550151" y="520223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</a:p>
        </p:txBody>
      </p:sp>
      <p:graphicFrame>
        <p:nvGraphicFramePr>
          <p:cNvPr id="165903" name="Object 15"/>
          <p:cNvGraphicFramePr>
            <a:graphicFrameLocks noChangeAspect="1"/>
          </p:cNvGraphicFramePr>
          <p:nvPr/>
        </p:nvGraphicFramePr>
        <p:xfrm>
          <a:off x="6115050" y="5127626"/>
          <a:ext cx="2914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914200" imgH="948960" progId="Visio.Drawing.11">
                  <p:embed/>
                </p:oleObj>
              </mc:Choice>
              <mc:Fallback>
                <p:oleObj name="VISIO" r:id="rId4" imgW="2914200" imgH="948960" progId="Visio.Drawing.11">
                  <p:embed/>
                  <p:pic>
                    <p:nvPicPr>
                      <p:cNvPr id="1659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5127626"/>
                        <a:ext cx="29146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5" name="Rectangle 17"/>
          <p:cNvSpPr>
            <a:spLocks noChangeArrowheads="1"/>
          </p:cNvSpPr>
          <p:nvPr/>
        </p:nvSpPr>
        <p:spPr bwMode="auto">
          <a:xfrm>
            <a:off x="2705101" y="4060825"/>
            <a:ext cx="2886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 </a:t>
            </a:r>
            <a:r>
              <a:rPr lang="zh-CN" altLang="en-US" sz="2400" b="1" i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对于 </a:t>
            </a:r>
            <a:r>
              <a:rPr lang="zh-CN" altLang="en-US" sz="2400" b="1">
                <a:latin typeface="Arial" pitchFamily="34" charset="0"/>
                <a:ea typeface="楷体_GB2312" pitchFamily="49" charset="-122"/>
                <a:sym typeface="Symbol" pitchFamily="18" charset="2"/>
              </a:rPr>
              <a:t></a:t>
            </a:r>
            <a:r>
              <a:rPr lang="zh-CN" altLang="en-US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，</a:t>
            </a:r>
            <a:r>
              <a:rPr lang="zh-CN" altLang="en-US" sz="2400" b="1" i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构造为</a:t>
            </a:r>
          </a:p>
        </p:txBody>
      </p:sp>
      <p:graphicFrame>
        <p:nvGraphicFramePr>
          <p:cNvPr id="165906" name="Object 18"/>
          <p:cNvGraphicFramePr>
            <a:graphicFrameLocks noChangeAspect="1"/>
          </p:cNvGraphicFramePr>
          <p:nvPr/>
        </p:nvGraphicFramePr>
        <p:xfrm>
          <a:off x="6115050" y="3984626"/>
          <a:ext cx="2914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914200" imgH="948960" progId="Visio.Drawing.11">
                  <p:embed/>
                </p:oleObj>
              </mc:Choice>
              <mc:Fallback>
                <p:oleObj name="VISIO" r:id="rId6" imgW="2914200" imgH="948960" progId="Visio.Drawing.11">
                  <p:embed/>
                  <p:pic>
                    <p:nvPicPr>
                      <p:cNvPr id="1659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3984626"/>
                        <a:ext cx="29146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7" name="Rectangle 19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65908" name="Rectangle 20"/>
          <p:cNvSpPr>
            <a:spLocks noChangeArrowheads="1"/>
          </p:cNvSpPr>
          <p:nvPr/>
        </p:nvSpPr>
        <p:spPr bwMode="auto">
          <a:xfrm>
            <a:off x="1992312" y="1196976"/>
            <a:ext cx="9072239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归纳构造过程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从正则表达式构造等价的</a:t>
            </a:r>
            <a:r>
              <a:rPr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NFA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i="0" dirty="0">
                <a:solidFill>
                  <a:srgbClr val="333399"/>
                </a:solidFill>
              </a:rPr>
              <a:t>    </a:t>
            </a:r>
            <a:r>
              <a:rPr lang="zh-CN" altLang="en-US" sz="2800" b="1" i="0" dirty="0">
                <a:solidFill>
                  <a:srgbClr val="333399"/>
                </a:solidFill>
              </a:rPr>
              <a:t>（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</a:rPr>
              <a:t>Thompson</a:t>
            </a:r>
            <a:r>
              <a:rPr lang="en-US" altLang="zh-CN" sz="2800" dirty="0">
                <a:solidFill>
                  <a:srgbClr val="333399"/>
                </a:solidFill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构造法</a:t>
            </a:r>
            <a:r>
              <a:rPr lang="zh-CN" altLang="en-US" sz="2800" b="1" i="0" dirty="0">
                <a:solidFill>
                  <a:srgbClr val="333399"/>
                </a:solidFill>
              </a:rPr>
              <a:t>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EB5C2DF-2660-A442-9C52-884DAB6CD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2357439" y="2420938"/>
            <a:ext cx="1438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buFont typeface="Symbol" pitchFamily="18" charset="2"/>
              <a:buChar char="-"/>
            </a:pP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i="0">
                <a:latin typeface="楷体_GB2312" pitchFamily="49" charset="-122"/>
                <a:ea typeface="楷体_GB2312" pitchFamily="49" charset="-122"/>
              </a:rPr>
              <a:t>归纳</a:t>
            </a: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 i="0">
              <a:solidFill>
                <a:srgbClr val="333399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2967038" y="3332163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对于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E+F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构造为</a:t>
            </a:r>
            <a:endParaRPr lang="zh-CN" altLang="en-US" sz="2400" b="1" dirty="0">
              <a:latin typeface="Arial" pitchFamily="34" charset="0"/>
              <a:ea typeface="楷体_GB2312" pitchFamily="49" charset="-122"/>
              <a:sym typeface="Symbol" pitchFamily="18" charset="2"/>
            </a:endParaRPr>
          </a:p>
        </p:txBody>
      </p:sp>
      <p:graphicFrame>
        <p:nvGraphicFramePr>
          <p:cNvPr id="166920" name="Object 8"/>
          <p:cNvGraphicFramePr>
            <a:graphicFrameLocks noChangeAspect="1"/>
          </p:cNvGraphicFramePr>
          <p:nvPr/>
        </p:nvGraphicFramePr>
        <p:xfrm>
          <a:off x="3454401" y="4486275"/>
          <a:ext cx="4297363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297985" imgH="1606296" progId="Visio.Drawing.11">
                  <p:embed/>
                </p:oleObj>
              </mc:Choice>
              <mc:Fallback>
                <p:oleObj name="Visio" r:id="rId2" imgW="4297985" imgH="1606296" progId="Visio.Drawing.11">
                  <p:embed/>
                  <p:pic>
                    <p:nvPicPr>
                      <p:cNvPr id="1669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1" y="4486275"/>
                        <a:ext cx="4297363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1" name="Rectangle 9"/>
          <p:cNvSpPr>
            <a:spLocks noChangeArrowheads="1"/>
          </p:cNvSpPr>
          <p:nvPr/>
        </p:nvSpPr>
        <p:spPr bwMode="auto">
          <a:xfrm>
            <a:off x="7035800" y="5380038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sp>
        <p:nvSpPr>
          <p:cNvPr id="166922" name="Rectangle 10"/>
          <p:cNvSpPr>
            <a:spLocks noChangeArrowheads="1"/>
          </p:cNvSpPr>
          <p:nvPr/>
        </p:nvSpPr>
        <p:spPr bwMode="auto">
          <a:xfrm>
            <a:off x="7035800" y="4694238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sp>
        <p:nvSpPr>
          <p:cNvPr id="166923" name="Rectangle 11"/>
          <p:cNvSpPr>
            <a:spLocks noChangeArrowheads="1"/>
          </p:cNvSpPr>
          <p:nvPr/>
        </p:nvSpPr>
        <p:spPr bwMode="auto">
          <a:xfrm>
            <a:off x="4356100" y="5380038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sp>
        <p:nvSpPr>
          <p:cNvPr id="166924" name="Rectangle 12"/>
          <p:cNvSpPr>
            <a:spLocks noChangeArrowheads="1"/>
          </p:cNvSpPr>
          <p:nvPr/>
        </p:nvSpPr>
        <p:spPr bwMode="auto">
          <a:xfrm>
            <a:off x="4356100" y="4694238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sp>
        <p:nvSpPr>
          <p:cNvPr id="166925" name="Rectangle 13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66926" name="Rectangle 14"/>
          <p:cNvSpPr>
            <a:spLocks noChangeArrowheads="1"/>
          </p:cNvSpPr>
          <p:nvPr/>
        </p:nvSpPr>
        <p:spPr bwMode="auto">
          <a:xfrm>
            <a:off x="1992312" y="1196976"/>
            <a:ext cx="9000231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归纳构造过程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从正则表达式构造等价的</a:t>
            </a:r>
            <a:r>
              <a:rPr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NFA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i="0" dirty="0">
                <a:solidFill>
                  <a:srgbClr val="333399"/>
                </a:solidFill>
              </a:rPr>
              <a:t>    </a:t>
            </a:r>
            <a:r>
              <a:rPr lang="zh-CN" altLang="en-US" sz="2800" b="1" i="0" dirty="0">
                <a:solidFill>
                  <a:srgbClr val="333399"/>
                </a:solidFill>
              </a:rPr>
              <a:t>（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</a:rPr>
              <a:t>Thompson</a:t>
            </a:r>
            <a:r>
              <a:rPr lang="en-US" altLang="zh-CN" sz="2800" dirty="0">
                <a:solidFill>
                  <a:srgbClr val="333399"/>
                </a:solidFill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构造法</a:t>
            </a:r>
            <a:r>
              <a:rPr lang="zh-CN" altLang="en-US" sz="2800" b="1" i="0" dirty="0">
                <a:solidFill>
                  <a:srgbClr val="333399"/>
                </a:solidFill>
              </a:rPr>
              <a:t>）</a:t>
            </a:r>
          </a:p>
        </p:txBody>
      </p:sp>
      <p:graphicFrame>
        <p:nvGraphicFramePr>
          <p:cNvPr id="166927" name="Object 15"/>
          <p:cNvGraphicFramePr>
            <a:graphicFrameLocks noChangeAspect="1"/>
          </p:cNvGraphicFramePr>
          <p:nvPr/>
        </p:nvGraphicFramePr>
        <p:xfrm>
          <a:off x="7207250" y="2257426"/>
          <a:ext cx="2560638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670658" imgH="1606296" progId="Visio.Drawing.11">
                  <p:embed/>
                </p:oleObj>
              </mc:Choice>
              <mc:Fallback>
                <p:oleObj name="Visio" r:id="rId4" imgW="2670658" imgH="1606296" progId="Visio.Drawing.11">
                  <p:embed/>
                  <p:pic>
                    <p:nvPicPr>
                      <p:cNvPr id="1669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0" y="2257426"/>
                        <a:ext cx="2560638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AC82FB5-C7EA-A64D-8566-CC9E3D5AA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6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9" grpId="0"/>
      <p:bldP spid="166921" grpId="0"/>
      <p:bldP spid="166922" grpId="0"/>
      <p:bldP spid="166923" grpId="0"/>
      <p:bldP spid="1669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3" name="Rectangle 7"/>
          <p:cNvSpPr>
            <a:spLocks noChangeArrowheads="1"/>
          </p:cNvSpPr>
          <p:nvPr/>
        </p:nvSpPr>
        <p:spPr bwMode="auto">
          <a:xfrm>
            <a:off x="2819400" y="30607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对于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EF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构造为</a:t>
            </a:r>
          </a:p>
        </p:txBody>
      </p:sp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3667126" y="3898900"/>
          <a:ext cx="54006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400142" imgH="653796" progId="Visio.Drawing.11">
                  <p:embed/>
                </p:oleObj>
              </mc:Choice>
              <mc:Fallback>
                <p:oleObj name="Visio" r:id="rId2" imgW="5400142" imgH="653796" progId="Visio.Drawing.11">
                  <p:embed/>
                  <p:pic>
                    <p:nvPicPr>
                      <p:cNvPr id="1679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6" y="3898900"/>
                        <a:ext cx="540067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5" name="Rectangle 9"/>
          <p:cNvSpPr>
            <a:spLocks noChangeArrowheads="1"/>
          </p:cNvSpPr>
          <p:nvPr/>
        </p:nvSpPr>
        <p:spPr bwMode="auto">
          <a:xfrm>
            <a:off x="6388100" y="3867150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graphicFrame>
        <p:nvGraphicFramePr>
          <p:cNvPr id="167947" name="Object 11"/>
          <p:cNvGraphicFramePr>
            <a:graphicFrameLocks noChangeAspect="1"/>
          </p:cNvGraphicFramePr>
          <p:nvPr/>
        </p:nvGraphicFramePr>
        <p:xfrm>
          <a:off x="3946526" y="5343526"/>
          <a:ext cx="4297363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297985" imgH="1394460" progId="Visio.Drawing.11">
                  <p:embed/>
                </p:oleObj>
              </mc:Choice>
              <mc:Fallback>
                <p:oleObj name="Visio" r:id="rId4" imgW="4297985" imgH="1394460" progId="Visio.Drawing.11">
                  <p:embed/>
                  <p:pic>
                    <p:nvPicPr>
                      <p:cNvPr id="1679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6" y="5343526"/>
                        <a:ext cx="4297363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8" name="Rectangle 12"/>
          <p:cNvSpPr>
            <a:spLocks noChangeArrowheads="1"/>
          </p:cNvSpPr>
          <p:nvPr/>
        </p:nvSpPr>
        <p:spPr bwMode="auto">
          <a:xfrm>
            <a:off x="2819400" y="4756151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3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对于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E*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构造为</a:t>
            </a:r>
            <a:endParaRPr lang="zh-CN" altLang="en-US" sz="2400" b="1" dirty="0">
              <a:latin typeface="Arial" pitchFamily="34" charset="0"/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67949" name="Rectangle 13"/>
          <p:cNvSpPr>
            <a:spLocks noChangeArrowheads="1"/>
          </p:cNvSpPr>
          <p:nvPr/>
        </p:nvSpPr>
        <p:spPr bwMode="auto">
          <a:xfrm>
            <a:off x="4864100" y="5594350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sp>
        <p:nvSpPr>
          <p:cNvPr id="167950" name="Rectangle 14"/>
          <p:cNvSpPr>
            <a:spLocks noChangeArrowheads="1"/>
          </p:cNvSpPr>
          <p:nvPr/>
        </p:nvSpPr>
        <p:spPr bwMode="auto">
          <a:xfrm>
            <a:off x="5321300" y="6356350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sp>
        <p:nvSpPr>
          <p:cNvPr id="167951" name="Rectangle 15"/>
          <p:cNvSpPr>
            <a:spLocks noChangeArrowheads="1"/>
          </p:cNvSpPr>
          <p:nvPr/>
        </p:nvSpPr>
        <p:spPr bwMode="auto">
          <a:xfrm>
            <a:off x="6692900" y="5213350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sp>
        <p:nvSpPr>
          <p:cNvPr id="167952" name="Rectangle 16"/>
          <p:cNvSpPr>
            <a:spLocks noChangeArrowheads="1"/>
          </p:cNvSpPr>
          <p:nvPr/>
        </p:nvSpPr>
        <p:spPr bwMode="auto">
          <a:xfrm>
            <a:off x="7467600" y="5594350"/>
            <a:ext cx="31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</a:p>
        </p:txBody>
      </p:sp>
      <p:sp>
        <p:nvSpPr>
          <p:cNvPr id="167953" name="Rectangle 17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67954" name="Text Box 18"/>
          <p:cNvSpPr txBox="1">
            <a:spLocks noChangeArrowheads="1"/>
          </p:cNvSpPr>
          <p:nvPr/>
        </p:nvSpPr>
        <p:spPr bwMode="auto">
          <a:xfrm>
            <a:off x="2357439" y="2166938"/>
            <a:ext cx="1438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buFont typeface="Symbol" pitchFamily="18" charset="2"/>
              <a:buChar char="-"/>
            </a:pP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i="0">
                <a:latin typeface="楷体_GB2312" pitchFamily="49" charset="-122"/>
                <a:ea typeface="楷体_GB2312" pitchFamily="49" charset="-122"/>
              </a:rPr>
              <a:t>归纳</a:t>
            </a: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 i="0">
              <a:solidFill>
                <a:srgbClr val="333399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67955" name="Rectangle 19"/>
          <p:cNvSpPr>
            <a:spLocks noChangeArrowheads="1"/>
          </p:cNvSpPr>
          <p:nvPr/>
        </p:nvSpPr>
        <p:spPr bwMode="auto">
          <a:xfrm>
            <a:off x="1992312" y="1196976"/>
            <a:ext cx="8856215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归纳构造过程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从正则表达式构造等价的</a:t>
            </a:r>
            <a:r>
              <a:rPr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NFA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i="0" dirty="0">
                <a:solidFill>
                  <a:srgbClr val="333399"/>
                </a:solidFill>
              </a:rPr>
              <a:t>    </a:t>
            </a:r>
            <a:r>
              <a:rPr lang="zh-CN" altLang="en-US" sz="2800" b="1" i="0" dirty="0">
                <a:solidFill>
                  <a:srgbClr val="333399"/>
                </a:solidFill>
              </a:rPr>
              <a:t>（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</a:rPr>
              <a:t>Thompson</a:t>
            </a:r>
            <a:r>
              <a:rPr lang="en-US" altLang="zh-CN" sz="2800" b="1" dirty="0">
                <a:solidFill>
                  <a:srgbClr val="333399"/>
                </a:solidFill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构造法</a:t>
            </a:r>
            <a:r>
              <a:rPr lang="zh-CN" altLang="en-US" sz="2800" b="1" i="0" dirty="0">
                <a:solidFill>
                  <a:srgbClr val="333399"/>
                </a:solidFill>
              </a:rPr>
              <a:t>）</a:t>
            </a:r>
          </a:p>
        </p:txBody>
      </p:sp>
      <p:graphicFrame>
        <p:nvGraphicFramePr>
          <p:cNvPr id="167956" name="Object 20"/>
          <p:cNvGraphicFramePr>
            <a:graphicFrameLocks noChangeAspect="1"/>
          </p:cNvGraphicFramePr>
          <p:nvPr/>
        </p:nvGraphicFramePr>
        <p:xfrm>
          <a:off x="7351714" y="1897064"/>
          <a:ext cx="2560637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670658" imgH="1606296" progId="Visio.Drawing.11">
                  <p:embed/>
                </p:oleObj>
              </mc:Choice>
              <mc:Fallback>
                <p:oleObj name="Visio" r:id="rId6" imgW="2670658" imgH="1606296" progId="Visio.Drawing.11">
                  <p:embed/>
                  <p:pic>
                    <p:nvPicPr>
                      <p:cNvPr id="1679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714" y="1897064"/>
                        <a:ext cx="2560637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EB6377-8B1A-1241-94AF-215C1EB2A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6" name="Text Box 6"/>
          <p:cNvSpPr txBox="1">
            <a:spLocks noChangeArrowheads="1"/>
          </p:cNvSpPr>
          <p:nvPr/>
        </p:nvSpPr>
        <p:spPr bwMode="auto">
          <a:xfrm>
            <a:off x="2667001" y="2108200"/>
            <a:ext cx="71167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设正则表达式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1*0(0+1)*,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构造等价的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NFA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</p:txBody>
      </p:sp>
      <p:grpSp>
        <p:nvGrpSpPr>
          <p:cNvPr id="168967" name="Group 7"/>
          <p:cNvGrpSpPr>
            <a:grpSpLocks/>
          </p:cNvGrpSpPr>
          <p:nvPr/>
        </p:nvGrpSpPr>
        <p:grpSpPr bwMode="auto">
          <a:xfrm>
            <a:off x="3581400" y="4495800"/>
            <a:ext cx="5105400" cy="1149350"/>
            <a:chOff x="1296" y="2832"/>
            <a:chExt cx="3216" cy="724"/>
          </a:xfrm>
        </p:grpSpPr>
        <p:graphicFrame>
          <p:nvGraphicFramePr>
            <p:cNvPr id="168968" name="Object 8"/>
            <p:cNvGraphicFramePr>
              <a:graphicFrameLocks noChangeAspect="1"/>
            </p:cNvGraphicFramePr>
            <p:nvPr/>
          </p:nvGraphicFramePr>
          <p:xfrm>
            <a:off x="2747" y="2880"/>
            <a:ext cx="1765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2802240" imgH="1072440" progId="Visio.Drawing.11">
                    <p:embed/>
                  </p:oleObj>
                </mc:Choice>
                <mc:Fallback>
                  <p:oleObj name="VISIO" r:id="rId2" imgW="2802240" imgH="1072440" progId="Visio.Drawing.11">
                    <p:embed/>
                    <p:pic>
                      <p:nvPicPr>
                        <p:cNvPr id="16896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7" y="2880"/>
                          <a:ext cx="1765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69" name="Rectangle 9"/>
            <p:cNvSpPr>
              <a:spLocks noChangeArrowheads="1"/>
            </p:cNvSpPr>
            <p:nvPr/>
          </p:nvSpPr>
          <p:spPr bwMode="auto">
            <a:xfrm>
              <a:off x="1296" y="3072"/>
              <a:ext cx="4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0+1</a:t>
              </a:r>
            </a:p>
          </p:txBody>
        </p:sp>
        <p:graphicFrame>
          <p:nvGraphicFramePr>
            <p:cNvPr id="168970" name="Object 10"/>
            <p:cNvGraphicFramePr>
              <a:graphicFrameLocks noChangeAspect="1"/>
            </p:cNvGraphicFramePr>
            <p:nvPr/>
          </p:nvGraphicFramePr>
          <p:xfrm>
            <a:off x="1969" y="3072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063440" imgH="720360" progId="Visio.Drawing.11">
                    <p:embed/>
                  </p:oleObj>
                </mc:Choice>
                <mc:Fallback>
                  <p:oleObj name="VISIO" r:id="rId4" imgW="1063440" imgH="720360" progId="Visio.Drawing.11">
                    <p:embed/>
                    <p:pic>
                      <p:nvPicPr>
                        <p:cNvPr id="16897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9" y="3072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1" name="Rectangle 11"/>
            <p:cNvSpPr>
              <a:spLocks noChangeArrowheads="1"/>
            </p:cNvSpPr>
            <p:nvPr/>
          </p:nvSpPr>
          <p:spPr bwMode="auto">
            <a:xfrm>
              <a:off x="4032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8972" name="Rectangle 12"/>
            <p:cNvSpPr>
              <a:spLocks noChangeArrowheads="1"/>
            </p:cNvSpPr>
            <p:nvPr/>
          </p:nvSpPr>
          <p:spPr bwMode="auto">
            <a:xfrm>
              <a:off x="4032" y="283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8973" name="Rectangle 13"/>
            <p:cNvSpPr>
              <a:spLocks noChangeArrowheads="1"/>
            </p:cNvSpPr>
            <p:nvPr/>
          </p:nvSpPr>
          <p:spPr bwMode="auto">
            <a:xfrm>
              <a:off x="2976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8974" name="Rectangle 14"/>
            <p:cNvSpPr>
              <a:spLocks noChangeArrowheads="1"/>
            </p:cNvSpPr>
            <p:nvPr/>
          </p:nvSpPr>
          <p:spPr bwMode="auto">
            <a:xfrm>
              <a:off x="2976" y="283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</p:grpSp>
      <p:grpSp>
        <p:nvGrpSpPr>
          <p:cNvPr id="168975" name="Group 15"/>
          <p:cNvGrpSpPr>
            <a:grpSpLocks/>
          </p:cNvGrpSpPr>
          <p:nvPr/>
        </p:nvGrpSpPr>
        <p:grpSpPr bwMode="auto">
          <a:xfrm>
            <a:off x="3733800" y="2819400"/>
            <a:ext cx="4876800" cy="1447800"/>
            <a:chOff x="1392" y="1776"/>
            <a:chExt cx="3072" cy="912"/>
          </a:xfrm>
        </p:grpSpPr>
        <p:graphicFrame>
          <p:nvGraphicFramePr>
            <p:cNvPr id="168976" name="Object 16"/>
            <p:cNvGraphicFramePr>
              <a:graphicFrameLocks noChangeAspect="1"/>
            </p:cNvGraphicFramePr>
            <p:nvPr/>
          </p:nvGraphicFramePr>
          <p:xfrm>
            <a:off x="2681" y="1920"/>
            <a:ext cx="1783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2830680" imgH="1051920" progId="Visio.Drawing.11">
                    <p:embed/>
                  </p:oleObj>
                </mc:Choice>
                <mc:Fallback>
                  <p:oleObj name="VISIO" r:id="rId6" imgW="2830680" imgH="1051920" progId="Visio.Drawing.11">
                    <p:embed/>
                    <p:pic>
                      <p:nvPicPr>
                        <p:cNvPr id="16897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1" y="1920"/>
                          <a:ext cx="1783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7" name="Rectangle 17"/>
            <p:cNvSpPr>
              <a:spLocks noChangeArrowheads="1"/>
            </p:cNvSpPr>
            <p:nvPr/>
          </p:nvSpPr>
          <p:spPr bwMode="auto">
            <a:xfrm>
              <a:off x="1392" y="2112"/>
              <a:ext cx="2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1*</a:t>
              </a:r>
            </a:p>
          </p:txBody>
        </p:sp>
        <p:graphicFrame>
          <p:nvGraphicFramePr>
            <p:cNvPr id="168978" name="Object 18"/>
            <p:cNvGraphicFramePr>
              <a:graphicFrameLocks noChangeAspect="1"/>
            </p:cNvGraphicFramePr>
            <p:nvPr/>
          </p:nvGraphicFramePr>
          <p:xfrm>
            <a:off x="1969" y="2112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063440" imgH="720360" progId="Visio.Drawing.11">
                    <p:embed/>
                  </p:oleObj>
                </mc:Choice>
                <mc:Fallback>
                  <p:oleObj name="VISIO" r:id="rId4" imgW="1063440" imgH="720360" progId="Visio.Drawing.11">
                    <p:embed/>
                    <p:pic>
                      <p:nvPicPr>
                        <p:cNvPr id="16897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9" y="2112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9" name="Rectangle 19"/>
            <p:cNvSpPr>
              <a:spLocks noChangeArrowheads="1"/>
            </p:cNvSpPr>
            <p:nvPr/>
          </p:nvSpPr>
          <p:spPr bwMode="auto">
            <a:xfrm>
              <a:off x="2928" y="201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8980" name="Rectangle 20"/>
            <p:cNvSpPr>
              <a:spLocks noChangeArrowheads="1"/>
            </p:cNvSpPr>
            <p:nvPr/>
          </p:nvSpPr>
          <p:spPr bwMode="auto">
            <a:xfrm>
              <a:off x="3984" y="201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8981" name="Rectangle 21"/>
            <p:cNvSpPr>
              <a:spLocks noChangeArrowheads="1"/>
            </p:cNvSpPr>
            <p:nvPr/>
          </p:nvSpPr>
          <p:spPr bwMode="auto">
            <a:xfrm>
              <a:off x="3408" y="2400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8982" name="Rectangle 22"/>
            <p:cNvSpPr>
              <a:spLocks noChangeArrowheads="1"/>
            </p:cNvSpPr>
            <p:nvPr/>
          </p:nvSpPr>
          <p:spPr bwMode="auto">
            <a:xfrm>
              <a:off x="3456" y="17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</p:grpSp>
      <p:sp>
        <p:nvSpPr>
          <p:cNvPr id="168983" name="Rectangle 23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68984" name="Rectangle 24"/>
          <p:cNvSpPr>
            <a:spLocks noChangeArrowheads="1"/>
          </p:cNvSpPr>
          <p:nvPr/>
        </p:nvSpPr>
        <p:spPr bwMode="auto">
          <a:xfrm>
            <a:off x="2135189" y="1196975"/>
            <a:ext cx="7343775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举例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从正则表达式构造等价的</a:t>
            </a:r>
            <a:r>
              <a:rPr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NFA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B4B33AC-0F8B-E34C-8325-B0D44B173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15</a:t>
            </a:fld>
            <a:endParaRPr lang="en-US" altLang="zh-CN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990" name="Group 6"/>
          <p:cNvGrpSpPr>
            <a:grpSpLocks/>
          </p:cNvGrpSpPr>
          <p:nvPr/>
        </p:nvGrpSpPr>
        <p:grpSpPr bwMode="auto">
          <a:xfrm>
            <a:off x="2743201" y="1919288"/>
            <a:ext cx="7097713" cy="1966912"/>
            <a:chOff x="768" y="1209"/>
            <a:chExt cx="4471" cy="1239"/>
          </a:xfrm>
        </p:grpSpPr>
        <p:sp>
          <p:nvSpPr>
            <p:cNvPr id="169991" name="Rectangle 7"/>
            <p:cNvSpPr>
              <a:spLocks noChangeArrowheads="1"/>
            </p:cNvSpPr>
            <p:nvPr/>
          </p:nvSpPr>
          <p:spPr bwMode="auto">
            <a:xfrm>
              <a:off x="768" y="1536"/>
              <a:ext cx="6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(0+1)*</a:t>
              </a:r>
            </a:p>
          </p:txBody>
        </p:sp>
        <p:graphicFrame>
          <p:nvGraphicFramePr>
            <p:cNvPr id="169992" name="Object 8"/>
            <p:cNvGraphicFramePr>
              <a:graphicFrameLocks noChangeAspect="1"/>
            </p:cNvGraphicFramePr>
            <p:nvPr/>
          </p:nvGraphicFramePr>
          <p:xfrm>
            <a:off x="1728" y="1536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063440" imgH="720360" progId="Visio.Drawing.11">
                    <p:embed/>
                  </p:oleObj>
                </mc:Choice>
                <mc:Fallback>
                  <p:oleObj name="VISIO" r:id="rId2" imgW="1063440" imgH="720360" progId="Visio.Drawing.11">
                    <p:embed/>
                    <p:pic>
                      <p:nvPicPr>
                        <p:cNvPr id="16999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536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3" name="Object 9"/>
            <p:cNvGraphicFramePr>
              <a:graphicFrameLocks noChangeAspect="1"/>
            </p:cNvGraphicFramePr>
            <p:nvPr/>
          </p:nvGraphicFramePr>
          <p:xfrm>
            <a:off x="2448" y="1209"/>
            <a:ext cx="2791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4430880" imgH="1738080" progId="Visio.Drawing.11">
                    <p:embed/>
                  </p:oleObj>
                </mc:Choice>
                <mc:Fallback>
                  <p:oleObj name="VISIO" r:id="rId4" imgW="4430880" imgH="1738080" progId="Visio.Drawing.11">
                    <p:embed/>
                    <p:pic>
                      <p:nvPicPr>
                        <p:cNvPr id="16999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209"/>
                          <a:ext cx="2791" cy="10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9994" name="Rectangle 10"/>
            <p:cNvSpPr>
              <a:spLocks noChangeArrowheads="1"/>
            </p:cNvSpPr>
            <p:nvPr/>
          </p:nvSpPr>
          <p:spPr bwMode="auto">
            <a:xfrm>
              <a:off x="3792" y="2160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9995" name="Rectangle 11"/>
            <p:cNvSpPr>
              <a:spLocks noChangeArrowheads="1"/>
            </p:cNvSpPr>
            <p:nvPr/>
          </p:nvSpPr>
          <p:spPr bwMode="auto">
            <a:xfrm>
              <a:off x="2688" y="15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9996" name="Rectangle 12"/>
            <p:cNvSpPr>
              <a:spLocks noChangeArrowheads="1"/>
            </p:cNvSpPr>
            <p:nvPr/>
          </p:nvSpPr>
          <p:spPr bwMode="auto">
            <a:xfrm>
              <a:off x="4704" y="15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9997" name="Rectangle 13"/>
            <p:cNvSpPr>
              <a:spLocks noChangeArrowheads="1"/>
            </p:cNvSpPr>
            <p:nvPr/>
          </p:nvSpPr>
          <p:spPr bwMode="auto">
            <a:xfrm>
              <a:off x="4320" y="1248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9998" name="Rectangle 14"/>
            <p:cNvSpPr>
              <a:spLocks noChangeArrowheads="1"/>
            </p:cNvSpPr>
            <p:nvPr/>
          </p:nvSpPr>
          <p:spPr bwMode="auto">
            <a:xfrm>
              <a:off x="3120" y="17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69999" name="Rectangle 15"/>
            <p:cNvSpPr>
              <a:spLocks noChangeArrowheads="1"/>
            </p:cNvSpPr>
            <p:nvPr/>
          </p:nvSpPr>
          <p:spPr bwMode="auto">
            <a:xfrm>
              <a:off x="3216" y="15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00" name="Rectangle 16"/>
            <p:cNvSpPr>
              <a:spLocks noChangeArrowheads="1"/>
            </p:cNvSpPr>
            <p:nvPr/>
          </p:nvSpPr>
          <p:spPr bwMode="auto">
            <a:xfrm>
              <a:off x="4312" y="17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01" name="Rectangle 17"/>
            <p:cNvSpPr>
              <a:spLocks noChangeArrowheads="1"/>
            </p:cNvSpPr>
            <p:nvPr/>
          </p:nvSpPr>
          <p:spPr bwMode="auto">
            <a:xfrm>
              <a:off x="4224" y="15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</p:grpSp>
      <p:grpSp>
        <p:nvGrpSpPr>
          <p:cNvPr id="170002" name="Group 18"/>
          <p:cNvGrpSpPr>
            <a:grpSpLocks/>
          </p:cNvGrpSpPr>
          <p:nvPr/>
        </p:nvGrpSpPr>
        <p:grpSpPr bwMode="auto">
          <a:xfrm>
            <a:off x="2362200" y="3581400"/>
            <a:ext cx="7543800" cy="3048000"/>
            <a:chOff x="528" y="2256"/>
            <a:chExt cx="4752" cy="1920"/>
          </a:xfrm>
        </p:grpSpPr>
        <p:graphicFrame>
          <p:nvGraphicFramePr>
            <p:cNvPr id="170003" name="Object 19"/>
            <p:cNvGraphicFramePr>
              <a:graphicFrameLocks noChangeAspect="1"/>
            </p:cNvGraphicFramePr>
            <p:nvPr/>
          </p:nvGraphicFramePr>
          <p:xfrm>
            <a:off x="752" y="2640"/>
            <a:ext cx="4528" cy="1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7188480" imgH="2252520" progId="Visio.Drawing.11">
                    <p:embed/>
                  </p:oleObj>
                </mc:Choice>
                <mc:Fallback>
                  <p:oleObj name="VISIO" r:id="rId6" imgW="7188480" imgH="2252520" progId="Visio.Drawing.11">
                    <p:embed/>
                    <p:pic>
                      <p:nvPicPr>
                        <p:cNvPr id="17000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" y="2640"/>
                          <a:ext cx="4528" cy="1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04" name="Rectangle 20"/>
            <p:cNvSpPr>
              <a:spLocks noChangeArrowheads="1"/>
            </p:cNvSpPr>
            <p:nvPr/>
          </p:nvSpPr>
          <p:spPr bwMode="auto">
            <a:xfrm>
              <a:off x="528" y="2256"/>
              <a:ext cx="9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1*0(0+1)*</a:t>
              </a:r>
            </a:p>
          </p:txBody>
        </p:sp>
        <p:graphicFrame>
          <p:nvGraphicFramePr>
            <p:cNvPr id="170005" name="Object 21"/>
            <p:cNvGraphicFramePr>
              <a:graphicFrameLocks noChangeAspect="1"/>
            </p:cNvGraphicFramePr>
            <p:nvPr/>
          </p:nvGraphicFramePr>
          <p:xfrm>
            <a:off x="1729" y="2256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1063440" imgH="720360" progId="Visio.Drawing.11">
                    <p:embed/>
                  </p:oleObj>
                </mc:Choice>
                <mc:Fallback>
                  <p:oleObj name="VISIO" r:id="rId8" imgW="1063440" imgH="720360" progId="Visio.Drawing.11">
                    <p:embed/>
                    <p:pic>
                      <p:nvPicPr>
                        <p:cNvPr id="17000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9" y="2256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06" name="Rectangle 22"/>
            <p:cNvSpPr>
              <a:spLocks noChangeArrowheads="1"/>
            </p:cNvSpPr>
            <p:nvPr/>
          </p:nvSpPr>
          <p:spPr bwMode="auto">
            <a:xfrm>
              <a:off x="3744" y="3888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07" name="Rectangle 23"/>
            <p:cNvSpPr>
              <a:spLocks noChangeArrowheads="1"/>
            </p:cNvSpPr>
            <p:nvPr/>
          </p:nvSpPr>
          <p:spPr bwMode="auto">
            <a:xfrm>
              <a:off x="2736" y="3408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08" name="Rectangle 24"/>
            <p:cNvSpPr>
              <a:spLocks noChangeArrowheads="1"/>
            </p:cNvSpPr>
            <p:nvPr/>
          </p:nvSpPr>
          <p:spPr bwMode="auto">
            <a:xfrm>
              <a:off x="3304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09" name="Rectangle 25"/>
            <p:cNvSpPr>
              <a:spLocks noChangeArrowheads="1"/>
            </p:cNvSpPr>
            <p:nvPr/>
          </p:nvSpPr>
          <p:spPr bwMode="auto">
            <a:xfrm>
              <a:off x="3208" y="355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0" name="Rectangle 26"/>
            <p:cNvSpPr>
              <a:spLocks noChangeArrowheads="1"/>
            </p:cNvSpPr>
            <p:nvPr/>
          </p:nvSpPr>
          <p:spPr bwMode="auto">
            <a:xfrm>
              <a:off x="4312" y="29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1" name="Rectangle 27"/>
            <p:cNvSpPr>
              <a:spLocks noChangeArrowheads="1"/>
            </p:cNvSpPr>
            <p:nvPr/>
          </p:nvSpPr>
          <p:spPr bwMode="auto">
            <a:xfrm>
              <a:off x="4752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2" name="Rectangle 28"/>
            <p:cNvSpPr>
              <a:spLocks noChangeArrowheads="1"/>
            </p:cNvSpPr>
            <p:nvPr/>
          </p:nvSpPr>
          <p:spPr bwMode="auto">
            <a:xfrm>
              <a:off x="4224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3" name="Rectangle 29"/>
            <p:cNvSpPr>
              <a:spLocks noChangeArrowheads="1"/>
            </p:cNvSpPr>
            <p:nvPr/>
          </p:nvSpPr>
          <p:spPr bwMode="auto">
            <a:xfrm>
              <a:off x="4320" y="355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4" name="Rectangle 30"/>
            <p:cNvSpPr>
              <a:spLocks noChangeArrowheads="1"/>
            </p:cNvSpPr>
            <p:nvPr/>
          </p:nvSpPr>
          <p:spPr bwMode="auto">
            <a:xfrm>
              <a:off x="2920" y="29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5" name="Rectangle 31"/>
            <p:cNvSpPr>
              <a:spLocks noChangeArrowheads="1"/>
            </p:cNvSpPr>
            <p:nvPr/>
          </p:nvSpPr>
          <p:spPr bwMode="auto">
            <a:xfrm>
              <a:off x="2536" y="27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6" name="Rectangle 32"/>
            <p:cNvSpPr>
              <a:spLocks noChangeArrowheads="1"/>
            </p:cNvSpPr>
            <p:nvPr/>
          </p:nvSpPr>
          <p:spPr bwMode="auto">
            <a:xfrm>
              <a:off x="2008" y="27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7" name="Rectangle 33"/>
            <p:cNvSpPr>
              <a:spLocks noChangeArrowheads="1"/>
            </p:cNvSpPr>
            <p:nvPr/>
          </p:nvSpPr>
          <p:spPr bwMode="auto">
            <a:xfrm>
              <a:off x="1536" y="3120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8" name="Rectangle 34"/>
            <p:cNvSpPr>
              <a:spLocks noChangeArrowheads="1"/>
            </p:cNvSpPr>
            <p:nvPr/>
          </p:nvSpPr>
          <p:spPr bwMode="auto">
            <a:xfrm>
              <a:off x="1008" y="27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  <p:sp>
          <p:nvSpPr>
            <p:cNvPr id="170019" name="Rectangle 35"/>
            <p:cNvSpPr>
              <a:spLocks noChangeArrowheads="1"/>
            </p:cNvSpPr>
            <p:nvPr/>
          </p:nvSpPr>
          <p:spPr bwMode="auto">
            <a:xfrm>
              <a:off x="1768" y="259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</a:p>
          </p:txBody>
        </p:sp>
      </p:grpSp>
      <p:sp>
        <p:nvSpPr>
          <p:cNvPr id="170020" name="Rectangle 36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70021" name="Rectangle 37"/>
          <p:cNvSpPr>
            <a:spLocks noChangeArrowheads="1"/>
          </p:cNvSpPr>
          <p:nvPr/>
        </p:nvSpPr>
        <p:spPr bwMode="auto">
          <a:xfrm>
            <a:off x="2135189" y="1196975"/>
            <a:ext cx="7343775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举例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从正则表达式构造等价的</a:t>
            </a:r>
            <a:r>
              <a:rPr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NFA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AEA03E8-AF3E-364D-8CF7-F2E18CE52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16</a:t>
            </a:fld>
            <a:endParaRPr lang="en-US" altLang="zh-CN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2135779" y="1340769"/>
            <a:ext cx="8229600" cy="1151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12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若严格依课程所介绍的算法（Thompson 构造法）将某个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正则</a:t>
            </a:r>
            <a:r>
              <a:rPr lang="zh-CN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表达式转换为等价的 </a:t>
            </a:r>
            <a:r>
              <a:rPr lang="zh-CN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pt-BR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–NFA</a:t>
            </a:r>
            <a:r>
              <a:rPr lang="zh-CN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，下图所示为该</a:t>
            </a:r>
            <a:r>
              <a:rPr lang="zh-CN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pt-BR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–NFA</a:t>
            </a:r>
            <a:r>
              <a:rPr lang="zh-CN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的转移图表示。试给出这个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正则</a:t>
            </a:r>
            <a:r>
              <a:rPr lang="zh-CN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表达式。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CD21F99-F43F-BF41-8C8B-BCCFFB565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2852936"/>
            <a:ext cx="5760640" cy="18075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A298D53-2717-9149-8CD7-27B2147F9AC4}"/>
              </a:ext>
            </a:extLst>
          </p:cNvPr>
          <p:cNvGrpSpPr/>
          <p:nvPr/>
        </p:nvGrpSpPr>
        <p:grpSpPr>
          <a:xfrm>
            <a:off x="2151249" y="4941280"/>
            <a:ext cx="8229600" cy="1151905"/>
            <a:chOff x="627249" y="4941279"/>
            <a:chExt cx="8229600" cy="1151905"/>
          </a:xfrm>
        </p:grpSpPr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3631AD8B-1AE3-A943-AE08-53097A12B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249" y="4941279"/>
              <a:ext cx="8229600" cy="11519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t" anchorCtr="0"/>
            <a:lstStyle/>
            <a:p>
              <a:pPr>
                <a:lnSpc>
                  <a:spcPct val="120000"/>
                </a:lnSpc>
              </a:pPr>
              <a:r>
                <a:rPr lang="zh-CN" altLang="en-US" sz="2400" i="0" dirty="0">
                  <a:solidFill>
                    <a:srgbClr val="000000"/>
                  </a:solidFill>
                  <a:ea typeface="SimSun" panose="02010600030101010101" pitchFamily="2" charset="-122"/>
                  <a:cs typeface="Times New Roman" panose="02020603050405020304" pitchFamily="18" charset="0"/>
                </a:rPr>
                <a:t>解：相应的正则表达式为</a:t>
              </a:r>
              <a:endParaRPr lang="zh-CN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9A606CD-DA13-6642-8E6E-D294D77E3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9600" y="5661248"/>
              <a:ext cx="2844800" cy="330200"/>
            </a:xfrm>
            <a:prstGeom prst="rect">
              <a:avLst/>
            </a:prstGeom>
          </p:spPr>
        </p:pic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E514676-158D-9440-A164-D1AE267B6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004824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2609850" y="2278064"/>
            <a:ext cx="7373938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buFont typeface="Symbol" pitchFamily="18" charset="2"/>
              <a:buChar char="-"/>
            </a:pP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itchFamily="34" charset="0"/>
                <a:ea typeface="楷体_GB2312" pitchFamily="49" charset="-122"/>
              </a:rPr>
              <a:t>定理</a:t>
            </a: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是某个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DFA  D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的语言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则存在一个</a:t>
            </a:r>
          </a:p>
          <a:p>
            <a:pPr algn="just">
              <a:buFont typeface="Symbol" pitchFamily="18" charset="2"/>
              <a:buNone/>
            </a:pPr>
            <a:r>
              <a:rPr kumimoji="0"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正则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表达式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 ,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满足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L(R) = L(D) = L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  <a:p>
            <a:pPr>
              <a:buFont typeface="Wingdings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   </a:t>
            </a:r>
            <a:r>
              <a:rPr lang="zh-CN" altLang="en-US" sz="2800" b="1" i="0" dirty="0">
                <a:latin typeface="Arial" pitchFamily="34" charset="0"/>
                <a:ea typeface="楷体_GB2312" pitchFamily="49" charset="-122"/>
              </a:rPr>
              <a:t>证明</a:t>
            </a: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构造性证明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 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以下是两种构造方法</a:t>
            </a:r>
          </a:p>
          <a:p>
            <a:pPr>
              <a:buFont typeface="Wingdings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(1)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路径迭代法（</a:t>
            </a:r>
            <a:r>
              <a:rPr lang="en-US" altLang="zh-CN" sz="28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Kleene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构造法）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;</a:t>
            </a:r>
            <a:endParaRPr lang="en-US" altLang="zh-CN" sz="28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>
              <a:buFont typeface="Wingdings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3" action="ppaction://hlinksldjump"/>
              </a:rPr>
              <a:t>(2)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3" action="ppaction://hlinksldjump"/>
              </a:rPr>
              <a:t>状态消除法</a:t>
            </a:r>
            <a:endParaRPr lang="zh-CN" altLang="en-US" sz="28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>
              <a:buFont typeface="Wingdings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135175" name="Rectangle 7"/>
          <p:cNvSpPr>
            <a:spLocks noChangeArrowheads="1"/>
          </p:cNvSpPr>
          <p:nvPr/>
        </p:nvSpPr>
        <p:spPr bwMode="auto">
          <a:xfrm>
            <a:off x="2351089" y="1341438"/>
            <a:ext cx="66325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从 </a:t>
            </a:r>
            <a:r>
              <a:rPr lang="en-US" altLang="zh-CN" sz="3200" b="1" dirty="0">
                <a:latin typeface="Arial" pitchFamily="34" charset="0"/>
                <a:ea typeface="楷体_GB2312" pitchFamily="49" charset="-122"/>
              </a:rPr>
              <a:t>DFA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构造等价的正则表达式</a:t>
            </a:r>
          </a:p>
        </p:txBody>
      </p:sp>
      <p:sp>
        <p:nvSpPr>
          <p:cNvPr id="135176" name="Rectangle 8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26C118B-E417-6B46-8822-616D7A3C9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18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2609850" y="2278064"/>
            <a:ext cx="7373938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buFont typeface="Symbol" pitchFamily="18" charset="2"/>
              <a:buChar char="-"/>
            </a:pP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itchFamily="34" charset="0"/>
                <a:ea typeface="楷体_GB2312" pitchFamily="49" charset="-122"/>
              </a:rPr>
              <a:t>定理</a:t>
            </a: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是某个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DFA  D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的语言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则存在一个</a:t>
            </a:r>
          </a:p>
          <a:p>
            <a:pPr algn="just">
              <a:buFont typeface="Symbol" pitchFamily="18" charset="2"/>
              <a:buNone/>
            </a:pPr>
            <a:r>
              <a:rPr kumimoji="0"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正则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表达式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 ,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满足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L(R) = L(D) = L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  <a:p>
            <a:pPr>
              <a:buFont typeface="Wingdings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   </a:t>
            </a:r>
            <a:r>
              <a:rPr lang="zh-CN" altLang="en-US" sz="2800" b="1" i="0" dirty="0">
                <a:latin typeface="Arial" pitchFamily="34" charset="0"/>
                <a:ea typeface="楷体_GB2312" pitchFamily="49" charset="-122"/>
              </a:rPr>
              <a:t>证明</a:t>
            </a: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构造性证明</a:t>
            </a:r>
            <a:r>
              <a:rPr lang="en-US" altLang="zh-CN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 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以下是两种构造方法</a:t>
            </a:r>
          </a:p>
          <a:p>
            <a:pPr>
              <a:buFont typeface="Wingdings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(1)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路径迭代法（</a:t>
            </a:r>
            <a:r>
              <a:rPr lang="en-US" altLang="zh-CN" sz="28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Kleene</a:t>
            </a:r>
            <a:r>
              <a:rPr lang="en-US" altLang="zh-CN" sz="28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构造法）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2" action="ppaction://hlinksldjump"/>
              </a:rPr>
              <a:t>;</a:t>
            </a:r>
            <a:endParaRPr lang="en-US" altLang="zh-CN" sz="28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>
              <a:buFont typeface="Wingdings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3" action="ppaction://hlinksldjump"/>
              </a:rPr>
              <a:t>(2)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hlinkClick r:id="rId3" action="ppaction://hlinksldjump"/>
              </a:rPr>
              <a:t>状态消除法</a:t>
            </a:r>
            <a:endParaRPr lang="zh-CN" altLang="en-US" sz="28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>
              <a:buFont typeface="Wingdings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135175" name="Rectangle 7"/>
          <p:cNvSpPr>
            <a:spLocks noChangeArrowheads="1"/>
          </p:cNvSpPr>
          <p:nvPr/>
        </p:nvSpPr>
        <p:spPr bwMode="auto">
          <a:xfrm>
            <a:off x="2351089" y="1341438"/>
            <a:ext cx="66325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从 </a:t>
            </a:r>
            <a:r>
              <a:rPr lang="en-US" altLang="zh-CN" sz="3200" b="1" dirty="0">
                <a:latin typeface="Arial" pitchFamily="34" charset="0"/>
                <a:ea typeface="楷体_GB2312" pitchFamily="49" charset="-122"/>
              </a:rPr>
              <a:t>DFA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构造等价的正则表达式</a:t>
            </a:r>
          </a:p>
        </p:txBody>
      </p:sp>
      <p:sp>
        <p:nvSpPr>
          <p:cNvPr id="135176" name="Rectangle 8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26C118B-E417-6B46-8822-616D7A3C9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1690549"/>
      </p:ext>
    </p:extLst>
  </p:cSld>
  <p:clrMapOvr>
    <a:masterClrMapping/>
  </p:clrMapOvr>
  <p:transition spd="med" advClick="0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767407" y="1700213"/>
            <a:ext cx="106414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buFont typeface="Symbol" pitchFamily="18" charset="2"/>
              <a:buChar char="-"/>
            </a:pPr>
            <a:r>
              <a:rPr lang="en-US" altLang="zh-CN" sz="18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latin typeface="Arial" pitchFamily="34" charset="0"/>
                <a:ea typeface="楷体_GB2312" pitchFamily="49" charset="-122"/>
              </a:rPr>
              <a:t>步骤</a:t>
            </a:r>
            <a:r>
              <a:rPr lang="en-US" altLang="zh-CN" sz="1800" b="1" i="0" dirty="0">
                <a:latin typeface="Arial" pitchFamily="34" charset="0"/>
                <a:ea typeface="楷体_GB2312" pitchFamily="49" charset="-122"/>
              </a:rPr>
              <a:t>:</a:t>
            </a:r>
            <a:endParaRPr lang="en-US" altLang="zh-CN" sz="18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>
              <a:buFont typeface="Wingdings" pitchFamily="2" charset="2"/>
              <a:buChar char=" "/>
            </a:pPr>
            <a:r>
              <a:rPr lang="en-US" altLang="zh-CN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(1)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将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DFA  D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的状态集用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{1, 2, … , n}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表达，</a:t>
            </a:r>
          </a:p>
          <a:p>
            <a:pPr algn="just"/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且初态为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  <a:p>
            <a:pPr algn="just"/>
            <a:endParaRPr lang="en-US" altLang="zh-CN" sz="18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just"/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(2)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对所有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lang="en-US" altLang="zh-CN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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i, j </a:t>
            </a:r>
            <a:r>
              <a:rPr lang="en-US" altLang="zh-CN" sz="1800" b="1" i="0" dirty="0">
                <a:solidFill>
                  <a:srgbClr val="333399"/>
                </a:solidFill>
                <a:sym typeface="Symbol" pitchFamily="18" charset="2"/>
              </a:rPr>
              <a:t>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</a:rPr>
              <a:t>n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</a:rPr>
              <a:t>0</a:t>
            </a:r>
            <a:r>
              <a:rPr lang="en-US" altLang="zh-CN" sz="1800" b="1" i="0" dirty="0">
                <a:solidFill>
                  <a:srgbClr val="333399"/>
                </a:solidFill>
                <a:sym typeface="Symbol" pitchFamily="18" charset="2"/>
              </a:rPr>
              <a:t>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1800" b="1" i="0" dirty="0">
                <a:solidFill>
                  <a:srgbClr val="333399"/>
                </a:solidFill>
                <a:sym typeface="Symbol" pitchFamily="18" charset="2"/>
              </a:rPr>
              <a:t></a:t>
            </a:r>
            <a:r>
              <a:rPr lang="en-US" altLang="zh-CN" sz="1800" dirty="0"/>
              <a:t>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</a:t>
            </a:r>
            <a:r>
              <a:rPr lang="zh-CN" altLang="en-US" sz="1800" b="1" i="0" dirty="0">
                <a:latin typeface="Arial" pitchFamily="34" charset="0"/>
                <a:ea typeface="楷体_GB2312" pitchFamily="49" charset="-122"/>
              </a:rPr>
              <a:t>迭代计算</a:t>
            </a:r>
            <a:r>
              <a:rPr lang="en-US" altLang="zh-CN" sz="18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sz="1800" b="1" baseline="30000" dirty="0"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1800" b="1" baseline="-25000" dirty="0" err="1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1800" b="1" baseline="30000" dirty="0" err="1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1800" b="1" baseline="-25000" dirty="0" err="1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sz="1800" b="1" baseline="30000" dirty="0">
                <a:latin typeface="Arial" pitchFamily="34" charset="0"/>
                <a:ea typeface="楷体_GB2312" pitchFamily="49" charset="-122"/>
              </a:rPr>
              <a:t>)</a:t>
            </a:r>
            <a:r>
              <a:rPr lang="zh-CN" altLang="en-US" sz="1800" b="1" i="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；</a:t>
            </a:r>
          </a:p>
          <a:p>
            <a:pPr algn="just"/>
            <a:r>
              <a:rPr lang="zh-CN" altLang="en-US" sz="1800" b="1" i="0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    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这里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R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1800" b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1800" b="1" baseline="30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1800" b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为表示如下语言的正则表达式：</a:t>
            </a:r>
          </a:p>
          <a:p>
            <a:pPr algn="just"/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w </a:t>
            </a:r>
            <a:r>
              <a:rPr lang="en-US" altLang="zh-CN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L(R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1800" b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1800" b="1" baseline="30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1800" b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  </a:t>
            </a:r>
            <a:r>
              <a:rPr lang="en-US" altLang="zh-CN" sz="18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iff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从 </a:t>
            </a:r>
            <a:r>
              <a:rPr lang="en-US" altLang="zh-CN" sz="18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有一条标记为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w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</a:t>
            </a:r>
          </a:p>
          <a:p>
            <a:pPr algn="just"/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路径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lang="en-US" altLang="zh-CN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且这条路径上除 </a:t>
            </a:r>
            <a:r>
              <a:rPr lang="en-US" altLang="zh-CN" sz="18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和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之外的所有状态</a:t>
            </a:r>
          </a:p>
          <a:p>
            <a:pPr algn="just"/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的编号均不大于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endParaRPr lang="en-US" altLang="zh-CN" sz="18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just"/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(3)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通过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(2)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的迭代过程，最终可计算出</a:t>
            </a:r>
          </a:p>
          <a:p>
            <a:pPr algn="just"/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1800" b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1800" b="1" baseline="30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lang="en-US" altLang="zh-CN" sz="1800" b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18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j = 1, 2, … , n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  <a:endParaRPr lang="en-US" altLang="zh-CN" sz="18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just"/>
            <a:endParaRPr lang="en-US" altLang="zh-CN" sz="18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algn="just"/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(4)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将所有 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18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sz="1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1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为任一终态）相“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</a:t>
            </a:r>
            <a:r>
              <a:rPr lang="zh-CN" altLang="en-US" sz="1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”</a:t>
            </a:r>
          </a:p>
        </p:txBody>
      </p:sp>
      <p:sp>
        <p:nvSpPr>
          <p:cNvPr id="136199" name="Rectangle 7"/>
          <p:cNvSpPr>
            <a:spLocks noChangeArrowheads="1"/>
          </p:cNvSpPr>
          <p:nvPr/>
        </p:nvSpPr>
        <p:spPr bwMode="auto">
          <a:xfrm>
            <a:off x="2424114" y="1125539"/>
            <a:ext cx="75596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路径迭代法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（从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DFA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构造等价的正则表达式）</a:t>
            </a:r>
          </a:p>
        </p:txBody>
      </p:sp>
      <p:sp>
        <p:nvSpPr>
          <p:cNvPr id="136200" name="Rectangle 8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F6420A-F357-DD42-B176-C225BEBDD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8BAD5AC-9CFB-25B7-CF95-20F2E7394B83}"/>
              </a:ext>
            </a:extLst>
          </p:cNvPr>
          <p:cNvGrpSpPr/>
          <p:nvPr/>
        </p:nvGrpSpPr>
        <p:grpSpPr>
          <a:xfrm>
            <a:off x="6722756" y="3295108"/>
            <a:ext cx="3446411" cy="734908"/>
            <a:chOff x="1979712" y="3079084"/>
            <a:chExt cx="3446411" cy="73490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2176FEC-AA89-BAF3-5704-FD9868A1559E}"/>
                </a:ext>
              </a:extLst>
            </p:cNvPr>
            <p:cNvSpPr/>
            <p:nvPr/>
          </p:nvSpPr>
          <p:spPr bwMode="auto">
            <a:xfrm>
              <a:off x="2637757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7D45033-0953-77EE-8FA0-F9C676006F13}"/>
                </a:ext>
              </a:extLst>
            </p:cNvPr>
            <p:cNvSpPr/>
            <p:nvPr/>
          </p:nvSpPr>
          <p:spPr bwMode="auto">
            <a:xfrm>
              <a:off x="3779912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2B472F3-7C8E-2FD6-6511-EA11690DB25F}"/>
                </a:ext>
              </a:extLst>
            </p:cNvPr>
            <p:cNvSpPr/>
            <p:nvPr/>
          </p:nvSpPr>
          <p:spPr bwMode="auto">
            <a:xfrm>
              <a:off x="4922067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32E69A05-061D-DED9-921D-F36188DE671D}"/>
                </a:ext>
              </a:extLst>
            </p:cNvPr>
            <p:cNvCxnSpPr>
              <a:endCxn id="4" idx="2"/>
            </p:cNvCxnSpPr>
            <p:nvPr/>
          </p:nvCxnSpPr>
          <p:spPr bwMode="auto">
            <a:xfrm>
              <a:off x="1979712" y="3561964"/>
              <a:ext cx="6580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4380AEB9-DFA9-360D-3345-CC335FE23722}"/>
                </a:ext>
              </a:extLst>
            </p:cNvPr>
            <p:cNvCxnSpPr>
              <a:cxnSpLocks/>
              <a:endCxn id="5" idx="2"/>
            </p:cNvCxnSpPr>
            <p:nvPr/>
          </p:nvCxnSpPr>
          <p:spPr bwMode="auto">
            <a:xfrm>
              <a:off x="3141813" y="3561964"/>
              <a:ext cx="6380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F83CC578-BD43-6B94-4D47-1110DE2BA00C}"/>
                </a:ext>
              </a:extLst>
            </p:cNvPr>
            <p:cNvCxnSpPr>
              <a:cxnSpLocks/>
              <a:stCxn id="5" idx="6"/>
            </p:cNvCxnSpPr>
            <p:nvPr/>
          </p:nvCxnSpPr>
          <p:spPr bwMode="auto">
            <a:xfrm>
              <a:off x="4283968" y="3561964"/>
              <a:ext cx="6380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AAF76A7-A656-3DAD-C01D-6BD782225937}"/>
                </a:ext>
              </a:extLst>
            </p:cNvPr>
            <p:cNvSpPr txBox="1"/>
            <p:nvPr/>
          </p:nvSpPr>
          <p:spPr>
            <a:xfrm>
              <a:off x="3275856" y="307908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DEAAE39-7AB5-0C43-5142-89F5A9244166}"/>
                </a:ext>
              </a:extLst>
            </p:cNvPr>
            <p:cNvSpPr txBox="1"/>
            <p:nvPr/>
          </p:nvSpPr>
          <p:spPr>
            <a:xfrm>
              <a:off x="4412825" y="308781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B2D8982-BB52-68DF-F56D-B113ED018BF7}"/>
              </a:ext>
            </a:extLst>
          </p:cNvPr>
          <p:cNvGrpSpPr/>
          <p:nvPr/>
        </p:nvGrpSpPr>
        <p:grpSpPr>
          <a:xfrm>
            <a:off x="10169167" y="3295108"/>
            <a:ext cx="1142155" cy="734908"/>
            <a:chOff x="5426123" y="3079084"/>
            <a:chExt cx="1142155" cy="73490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A8B4E2B-0F13-8C1B-FA7E-5B73D881F24D}"/>
                </a:ext>
              </a:extLst>
            </p:cNvPr>
            <p:cNvSpPr/>
            <p:nvPr/>
          </p:nvSpPr>
          <p:spPr bwMode="auto">
            <a:xfrm>
              <a:off x="6064222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2E4B22AE-1A2D-F276-17A4-B80E2128C6AD}"/>
                </a:ext>
              </a:extLst>
            </p:cNvPr>
            <p:cNvCxnSpPr/>
            <p:nvPr/>
          </p:nvCxnSpPr>
          <p:spPr bwMode="auto">
            <a:xfrm>
              <a:off x="5426123" y="3562397"/>
              <a:ext cx="6580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492138C-4A71-3D23-215D-E314B9B31B12}"/>
                </a:ext>
              </a:extLst>
            </p:cNvPr>
            <p:cNvSpPr txBox="1"/>
            <p:nvPr/>
          </p:nvSpPr>
          <p:spPr>
            <a:xfrm>
              <a:off x="5574928" y="307908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4D81932-D516-440F-D26F-3C267B308411}"/>
              </a:ext>
            </a:extLst>
          </p:cNvPr>
          <p:cNvGrpSpPr/>
          <p:nvPr/>
        </p:nvGrpSpPr>
        <p:grpSpPr>
          <a:xfrm>
            <a:off x="7628940" y="2492896"/>
            <a:ext cx="3414295" cy="1631069"/>
            <a:chOff x="2885896" y="2276872"/>
            <a:chExt cx="3414295" cy="1631069"/>
          </a:xfrm>
        </p:grpSpPr>
        <p:sp>
          <p:nvSpPr>
            <p:cNvPr id="17" name="弧 16">
              <a:extLst>
                <a:ext uri="{FF2B5EF4-FFF2-40B4-BE49-F238E27FC236}">
                  <a16:creationId xmlns:a16="http://schemas.microsoft.com/office/drawing/2014/main" id="{127998FF-617B-7740-426B-46A837E1B06C}"/>
                </a:ext>
              </a:extLst>
            </p:cNvPr>
            <p:cNvSpPr/>
            <p:nvPr/>
          </p:nvSpPr>
          <p:spPr bwMode="auto">
            <a:xfrm>
              <a:off x="2885896" y="2647042"/>
              <a:ext cx="3414295" cy="1260899"/>
            </a:xfrm>
            <a:prstGeom prst="arc">
              <a:avLst>
                <a:gd name="adj1" fmla="val 10775232"/>
                <a:gd name="adj2" fmla="val 0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triangle" w="lg" len="lg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F6EF4E8-76FC-A899-373B-4B79BB045354}"/>
                </a:ext>
              </a:extLst>
            </p:cNvPr>
            <p:cNvSpPr txBox="1"/>
            <p:nvPr/>
          </p:nvSpPr>
          <p:spPr>
            <a:xfrm>
              <a:off x="4427587" y="2276872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AFCD19B-8759-452D-EDA0-B300EB3A2D87}"/>
              </a:ext>
            </a:extLst>
          </p:cNvPr>
          <p:cNvGrpSpPr/>
          <p:nvPr/>
        </p:nvGrpSpPr>
        <p:grpSpPr>
          <a:xfrm>
            <a:off x="7456568" y="4007855"/>
            <a:ext cx="392274" cy="822253"/>
            <a:chOff x="2713524" y="3791831"/>
            <a:chExt cx="392274" cy="822253"/>
          </a:xfrm>
        </p:grpSpPr>
        <p:sp>
          <p:nvSpPr>
            <p:cNvPr id="20" name="弧 19">
              <a:extLst>
                <a:ext uri="{FF2B5EF4-FFF2-40B4-BE49-F238E27FC236}">
                  <a16:creationId xmlns:a16="http://schemas.microsoft.com/office/drawing/2014/main" id="{458245F4-F5DB-C163-C198-2DC6DCBC8F1F}"/>
                </a:ext>
              </a:extLst>
            </p:cNvPr>
            <p:cNvSpPr/>
            <p:nvPr/>
          </p:nvSpPr>
          <p:spPr bwMode="auto">
            <a:xfrm rot="641817">
              <a:off x="2713524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EC4D515-EBF6-8207-78D6-F074B55C4AD2}"/>
                </a:ext>
              </a:extLst>
            </p:cNvPr>
            <p:cNvSpPr txBox="1"/>
            <p:nvPr/>
          </p:nvSpPr>
          <p:spPr>
            <a:xfrm>
              <a:off x="2729442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410DAC5-E0DD-49D4-3FD4-1E8501BC7CE9}"/>
              </a:ext>
            </a:extLst>
          </p:cNvPr>
          <p:cNvGrpSpPr/>
          <p:nvPr/>
        </p:nvGrpSpPr>
        <p:grpSpPr>
          <a:xfrm>
            <a:off x="8587435" y="4007855"/>
            <a:ext cx="392274" cy="822253"/>
            <a:chOff x="3844391" y="3791831"/>
            <a:chExt cx="392274" cy="822253"/>
          </a:xfrm>
        </p:grpSpPr>
        <p:sp>
          <p:nvSpPr>
            <p:cNvPr id="23" name="弧 22">
              <a:extLst>
                <a:ext uri="{FF2B5EF4-FFF2-40B4-BE49-F238E27FC236}">
                  <a16:creationId xmlns:a16="http://schemas.microsoft.com/office/drawing/2014/main" id="{308CB593-A258-25C0-EECA-CAF7B6D938D7}"/>
                </a:ext>
              </a:extLst>
            </p:cNvPr>
            <p:cNvSpPr/>
            <p:nvPr/>
          </p:nvSpPr>
          <p:spPr bwMode="auto">
            <a:xfrm rot="641817">
              <a:off x="3844391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F9930F3-4B63-CB18-9FDE-1CED1223FDE7}"/>
                </a:ext>
              </a:extLst>
            </p:cNvPr>
            <p:cNvSpPr txBox="1"/>
            <p:nvPr/>
          </p:nvSpPr>
          <p:spPr>
            <a:xfrm>
              <a:off x="3851920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F402A5D-4BBB-5CDE-9DD9-EA4918566B98}"/>
              </a:ext>
            </a:extLst>
          </p:cNvPr>
          <p:cNvGrpSpPr/>
          <p:nvPr/>
        </p:nvGrpSpPr>
        <p:grpSpPr>
          <a:xfrm>
            <a:off x="9724753" y="4007855"/>
            <a:ext cx="392274" cy="822253"/>
            <a:chOff x="4981709" y="3791831"/>
            <a:chExt cx="392274" cy="822253"/>
          </a:xfrm>
        </p:grpSpPr>
        <p:sp>
          <p:nvSpPr>
            <p:cNvPr id="26" name="弧 25">
              <a:extLst>
                <a:ext uri="{FF2B5EF4-FFF2-40B4-BE49-F238E27FC236}">
                  <a16:creationId xmlns:a16="http://schemas.microsoft.com/office/drawing/2014/main" id="{3C90D582-53B1-A242-7036-F67A2D398C3B}"/>
                </a:ext>
              </a:extLst>
            </p:cNvPr>
            <p:cNvSpPr/>
            <p:nvPr/>
          </p:nvSpPr>
          <p:spPr bwMode="auto">
            <a:xfrm rot="641817">
              <a:off x="4981709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1D90BE9-48CB-8625-AB9D-0C1F18BD00E8}"/>
                </a:ext>
              </a:extLst>
            </p:cNvPr>
            <p:cNvSpPr txBox="1"/>
            <p:nvPr/>
          </p:nvSpPr>
          <p:spPr>
            <a:xfrm>
              <a:off x="4982787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7B55200-047D-78AA-715C-EE1015064941}"/>
              </a:ext>
            </a:extLst>
          </p:cNvPr>
          <p:cNvGrpSpPr/>
          <p:nvPr/>
        </p:nvGrpSpPr>
        <p:grpSpPr>
          <a:xfrm>
            <a:off x="10877261" y="4017501"/>
            <a:ext cx="392274" cy="812607"/>
            <a:chOff x="6134217" y="3801477"/>
            <a:chExt cx="392274" cy="812607"/>
          </a:xfrm>
        </p:grpSpPr>
        <p:sp>
          <p:nvSpPr>
            <p:cNvPr id="29" name="弧 28">
              <a:extLst>
                <a:ext uri="{FF2B5EF4-FFF2-40B4-BE49-F238E27FC236}">
                  <a16:creationId xmlns:a16="http://schemas.microsoft.com/office/drawing/2014/main" id="{385CC712-93FE-8838-2147-046144770EA1}"/>
                </a:ext>
              </a:extLst>
            </p:cNvPr>
            <p:cNvSpPr/>
            <p:nvPr/>
          </p:nvSpPr>
          <p:spPr bwMode="auto">
            <a:xfrm rot="641817">
              <a:off x="6134217" y="3801477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E955D7F-ADEE-D4D2-70CC-ABCB422A05B4}"/>
                </a:ext>
              </a:extLst>
            </p:cNvPr>
            <p:cNvSpPr txBox="1"/>
            <p:nvPr/>
          </p:nvSpPr>
          <p:spPr>
            <a:xfrm>
              <a:off x="6156176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31" name="椭圆 30">
            <a:extLst>
              <a:ext uri="{FF2B5EF4-FFF2-40B4-BE49-F238E27FC236}">
                <a16:creationId xmlns:a16="http://schemas.microsoft.com/office/drawing/2014/main" id="{D04C9485-2DEB-6045-5E0C-838F6F439BBE}"/>
              </a:ext>
            </a:extLst>
          </p:cNvPr>
          <p:cNvSpPr/>
          <p:nvPr/>
        </p:nvSpPr>
        <p:spPr bwMode="auto">
          <a:xfrm>
            <a:off x="9724322" y="3588251"/>
            <a:ext cx="385634" cy="386889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D161DB9-FFE7-2E4F-B362-81A37614672B}"/>
              </a:ext>
            </a:extLst>
          </p:cNvPr>
          <p:cNvSpPr/>
          <p:nvPr/>
        </p:nvSpPr>
        <p:spPr bwMode="auto">
          <a:xfrm>
            <a:off x="10868982" y="3584442"/>
            <a:ext cx="385634" cy="386889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695400" y="1196752"/>
            <a:ext cx="800100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计算 </a:t>
            </a:r>
            <a:r>
              <a:rPr lang="en-US" altLang="zh-CN" sz="32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sz="3200" b="1" baseline="30000" dirty="0"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3200" b="1" baseline="-25000" dirty="0" err="1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3200" b="1" baseline="30000" dirty="0" err="1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3200" b="1" baseline="-25000" dirty="0" err="1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sz="3200" b="1" baseline="30000" dirty="0">
                <a:latin typeface="Arial" pitchFamily="34" charset="0"/>
                <a:ea typeface="楷体_GB2312" pitchFamily="49" charset="-122"/>
              </a:rPr>
              <a:t>)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的迭代过程</a:t>
            </a:r>
          </a:p>
        </p:txBody>
      </p:sp>
      <p:sp>
        <p:nvSpPr>
          <p:cNvPr id="137223" name="Rectangle 7"/>
          <p:cNvSpPr>
            <a:spLocks noChangeArrowheads="1"/>
          </p:cNvSpPr>
          <p:nvPr/>
        </p:nvSpPr>
        <p:spPr bwMode="auto">
          <a:xfrm>
            <a:off x="1076401" y="1757139"/>
            <a:ext cx="22113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pitchFamily="18" charset="2"/>
              <a:buChar char="-"/>
            </a:pP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itchFamily="34" charset="0"/>
                <a:ea typeface="楷体_GB2312" pitchFamily="49" charset="-122"/>
              </a:rPr>
              <a:t>基础</a:t>
            </a: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 = 0</a:t>
            </a:r>
            <a:endParaRPr lang="en-US" altLang="zh-CN" sz="2800" b="1" dirty="0"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1338337" y="2276251"/>
            <a:ext cx="20208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Case 1   </a:t>
            </a:r>
            <a:r>
              <a:rPr lang="en-US" altLang="zh-CN" sz="2800" b="1" dirty="0" err="1">
                <a:solidFill>
                  <a:srgbClr val="333399"/>
                </a:solidFill>
                <a:ea typeface="华文行楷" pitchFamily="2" charset="-122"/>
              </a:rPr>
              <a:t>i</a:t>
            </a:r>
            <a:r>
              <a:rPr lang="en-US" altLang="zh-CN" sz="2800" b="1" dirty="0" err="1">
                <a:solidFill>
                  <a:srgbClr val="333399"/>
                </a:solidFill>
                <a:ea typeface="华文行楷" pitchFamily="2" charset="-122"/>
                <a:sym typeface="Symbol" pitchFamily="18" charset="2"/>
              </a:rPr>
              <a:t></a:t>
            </a:r>
            <a:r>
              <a:rPr lang="en-US" altLang="zh-CN" sz="2800" b="1" dirty="0" err="1">
                <a:solidFill>
                  <a:srgbClr val="333399"/>
                </a:solidFill>
                <a:ea typeface="华文行楷" pitchFamily="2" charset="-122"/>
              </a:rPr>
              <a:t>j</a:t>
            </a:r>
            <a:endParaRPr lang="en-US" altLang="zh-CN" sz="2800" b="1" dirty="0">
              <a:solidFill>
                <a:srgbClr val="333399"/>
              </a:solidFill>
              <a:ea typeface="华文行楷" pitchFamily="2" charset="-122"/>
            </a:endParaRPr>
          </a:p>
        </p:txBody>
      </p:sp>
      <p:sp>
        <p:nvSpPr>
          <p:cNvPr id="137225" name="Rectangle 9"/>
          <p:cNvSpPr>
            <a:spLocks noChangeArrowheads="1"/>
          </p:cNvSpPr>
          <p:nvPr/>
        </p:nvSpPr>
        <p:spPr bwMode="auto">
          <a:xfrm>
            <a:off x="1487563" y="2814413"/>
            <a:ext cx="5184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若不存在从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的弧，则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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；</a:t>
            </a:r>
          </a:p>
        </p:txBody>
      </p:sp>
      <p:sp>
        <p:nvSpPr>
          <p:cNvPr id="137226" name="Rectangle 10"/>
          <p:cNvSpPr>
            <a:spLocks noChangeArrowheads="1"/>
          </p:cNvSpPr>
          <p:nvPr/>
        </p:nvSpPr>
        <p:spPr bwMode="auto">
          <a:xfrm>
            <a:off x="1487562" y="3223988"/>
            <a:ext cx="7697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若仅存在一条从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的弧，且标记为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，则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；</a:t>
            </a:r>
          </a:p>
        </p:txBody>
      </p:sp>
      <p:sp>
        <p:nvSpPr>
          <p:cNvPr id="137227" name="Rectangle 11"/>
          <p:cNvSpPr>
            <a:spLocks noChangeArrowheads="1"/>
          </p:cNvSpPr>
          <p:nvPr/>
        </p:nvSpPr>
        <p:spPr bwMode="auto">
          <a:xfrm>
            <a:off x="1511376" y="3604989"/>
            <a:ext cx="74644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若存在多条从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的弧，且标记为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… , 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m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 则 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1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a</a:t>
            </a:r>
            <a:r>
              <a:rPr lang="en-US" altLang="zh-CN" sz="2400" b="1" baseline="-25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2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…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a</a:t>
            </a:r>
            <a:r>
              <a:rPr lang="en-US" altLang="zh-CN" sz="2400" b="1" baseline="-25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；</a:t>
            </a:r>
          </a:p>
        </p:txBody>
      </p:sp>
      <p:sp>
        <p:nvSpPr>
          <p:cNvPr id="137228" name="Rectangle 12"/>
          <p:cNvSpPr>
            <a:spLocks noChangeArrowheads="1"/>
          </p:cNvSpPr>
          <p:nvPr/>
        </p:nvSpPr>
        <p:spPr bwMode="auto">
          <a:xfrm>
            <a:off x="1343101" y="4363814"/>
            <a:ext cx="20335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Case 2   </a:t>
            </a:r>
            <a:r>
              <a:rPr lang="en-US" altLang="zh-CN" sz="28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</a:p>
        </p:txBody>
      </p:sp>
      <p:sp>
        <p:nvSpPr>
          <p:cNvPr id="137229" name="Rectangle 13"/>
          <p:cNvSpPr>
            <a:spLocks noChangeArrowheads="1"/>
          </p:cNvSpPr>
          <p:nvPr/>
        </p:nvSpPr>
        <p:spPr bwMode="auto">
          <a:xfrm>
            <a:off x="1501850" y="4795613"/>
            <a:ext cx="7186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若不存在从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到自身的圈，则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 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；</a:t>
            </a:r>
          </a:p>
        </p:txBody>
      </p:sp>
      <p:sp>
        <p:nvSpPr>
          <p:cNvPr id="137230" name="Rectangle 14"/>
          <p:cNvSpPr>
            <a:spLocks noChangeArrowheads="1"/>
          </p:cNvSpPr>
          <p:nvPr/>
        </p:nvSpPr>
        <p:spPr bwMode="auto">
          <a:xfrm>
            <a:off x="1487563" y="5221063"/>
            <a:ext cx="7705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若存在一个从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到自身的圈且标记为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，则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</a:t>
            </a:r>
            <a:r>
              <a:rPr lang="en-US" altLang="zh-CN" sz="2400" b="1" baseline="-25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；</a:t>
            </a:r>
          </a:p>
        </p:txBody>
      </p:sp>
      <p:sp>
        <p:nvSpPr>
          <p:cNvPr id="137231" name="Rectangle 15"/>
          <p:cNvSpPr>
            <a:spLocks noChangeArrowheads="1"/>
          </p:cNvSpPr>
          <p:nvPr/>
        </p:nvSpPr>
        <p:spPr bwMode="auto">
          <a:xfrm>
            <a:off x="1474863" y="5732239"/>
            <a:ext cx="757396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若存在多个从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到自身的圈，且标记为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… , 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 则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</a:t>
            </a:r>
            <a:r>
              <a:rPr lang="en-US" altLang="zh-CN" sz="2400" b="1" baseline="-25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1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a</a:t>
            </a:r>
            <a:r>
              <a:rPr lang="en-US" altLang="zh-CN" sz="2400" b="1" baseline="-25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2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…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 a</a:t>
            </a:r>
            <a:r>
              <a:rPr lang="en-US" altLang="zh-CN" sz="2400" b="1" baseline="-25000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；</a:t>
            </a:r>
          </a:p>
        </p:txBody>
      </p:sp>
      <p:sp>
        <p:nvSpPr>
          <p:cNvPr id="137232" name="Rectangle 16"/>
          <p:cNvSpPr>
            <a:spLocks noChangeArrowheads="1"/>
          </p:cNvSpPr>
          <p:nvPr/>
        </p:nvSpPr>
        <p:spPr bwMode="auto">
          <a:xfrm>
            <a:off x="1487562" y="260126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CE14B9D-3B4A-5942-BBF9-22208BC8E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84945" y="6440263"/>
            <a:ext cx="783167" cy="488950"/>
          </a:xfrm>
        </p:spPr>
        <p:txBody>
          <a:bodyPr/>
          <a:lstStyle/>
          <a:p>
            <a:fld id="{90865D4F-FDDB-4DA2-89D3-16C217C889D6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C5F8F04-36EA-8779-BD61-88AC19404023}"/>
              </a:ext>
            </a:extLst>
          </p:cNvPr>
          <p:cNvGrpSpPr/>
          <p:nvPr/>
        </p:nvGrpSpPr>
        <p:grpSpPr>
          <a:xfrm>
            <a:off x="7422064" y="1826160"/>
            <a:ext cx="3446411" cy="734908"/>
            <a:chOff x="1979712" y="3079084"/>
            <a:chExt cx="3446411" cy="73490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5FDDFE3-84E0-4B64-CCB6-3712003AC78D}"/>
                </a:ext>
              </a:extLst>
            </p:cNvPr>
            <p:cNvSpPr/>
            <p:nvPr/>
          </p:nvSpPr>
          <p:spPr bwMode="auto">
            <a:xfrm>
              <a:off x="2637757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E5D02107-5974-6172-A093-7C5A27010F11}"/>
                </a:ext>
              </a:extLst>
            </p:cNvPr>
            <p:cNvSpPr/>
            <p:nvPr/>
          </p:nvSpPr>
          <p:spPr bwMode="auto">
            <a:xfrm>
              <a:off x="3779912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4988D93-A59F-14CC-E170-1C418F37EADB}"/>
                </a:ext>
              </a:extLst>
            </p:cNvPr>
            <p:cNvSpPr/>
            <p:nvPr/>
          </p:nvSpPr>
          <p:spPr bwMode="auto">
            <a:xfrm>
              <a:off x="4922067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3BEA51A6-C264-1BD4-4FF6-5A97B083F2DD}"/>
                </a:ext>
              </a:extLst>
            </p:cNvPr>
            <p:cNvCxnSpPr>
              <a:endCxn id="4" idx="2"/>
            </p:cNvCxnSpPr>
            <p:nvPr/>
          </p:nvCxnSpPr>
          <p:spPr bwMode="auto">
            <a:xfrm>
              <a:off x="1979712" y="3561964"/>
              <a:ext cx="6580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D2D00029-18E8-B2B7-472D-ECBB11BC3E04}"/>
                </a:ext>
              </a:extLst>
            </p:cNvPr>
            <p:cNvCxnSpPr>
              <a:cxnSpLocks/>
              <a:endCxn id="5" idx="2"/>
            </p:cNvCxnSpPr>
            <p:nvPr/>
          </p:nvCxnSpPr>
          <p:spPr bwMode="auto">
            <a:xfrm>
              <a:off x="3141813" y="3561964"/>
              <a:ext cx="6380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C4534034-AAD1-447B-C15C-F71313D96E87}"/>
                </a:ext>
              </a:extLst>
            </p:cNvPr>
            <p:cNvCxnSpPr>
              <a:cxnSpLocks/>
              <a:stCxn id="5" idx="6"/>
            </p:cNvCxnSpPr>
            <p:nvPr/>
          </p:nvCxnSpPr>
          <p:spPr bwMode="auto">
            <a:xfrm>
              <a:off x="4283968" y="3561964"/>
              <a:ext cx="6380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66B6615-3BFF-07B9-0A23-1C3598FA9F4D}"/>
                </a:ext>
              </a:extLst>
            </p:cNvPr>
            <p:cNvSpPr txBox="1"/>
            <p:nvPr/>
          </p:nvSpPr>
          <p:spPr>
            <a:xfrm>
              <a:off x="3275856" y="307908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4A97BD1-FAE8-FC68-807D-95C3452030BF}"/>
                </a:ext>
              </a:extLst>
            </p:cNvPr>
            <p:cNvSpPr txBox="1"/>
            <p:nvPr/>
          </p:nvSpPr>
          <p:spPr>
            <a:xfrm>
              <a:off x="4412825" y="308781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AEEC42E-4958-2E12-B04B-1AEDAB542DC9}"/>
              </a:ext>
            </a:extLst>
          </p:cNvPr>
          <p:cNvGrpSpPr/>
          <p:nvPr/>
        </p:nvGrpSpPr>
        <p:grpSpPr>
          <a:xfrm>
            <a:off x="10868475" y="1826160"/>
            <a:ext cx="1142155" cy="734908"/>
            <a:chOff x="5426123" y="3079084"/>
            <a:chExt cx="1142155" cy="73490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76AB89D-10E8-D50C-196F-DE5FFB2F6DD7}"/>
                </a:ext>
              </a:extLst>
            </p:cNvPr>
            <p:cNvSpPr/>
            <p:nvPr/>
          </p:nvSpPr>
          <p:spPr bwMode="auto">
            <a:xfrm>
              <a:off x="6064222" y="3309936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3FB70E1A-D808-1C4B-5863-56A6482C9D53}"/>
                </a:ext>
              </a:extLst>
            </p:cNvPr>
            <p:cNvCxnSpPr/>
            <p:nvPr/>
          </p:nvCxnSpPr>
          <p:spPr bwMode="auto">
            <a:xfrm>
              <a:off x="5426123" y="3562397"/>
              <a:ext cx="6580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D6E27E6-E44F-B077-111A-74E72719A691}"/>
                </a:ext>
              </a:extLst>
            </p:cNvPr>
            <p:cNvSpPr txBox="1"/>
            <p:nvPr/>
          </p:nvSpPr>
          <p:spPr>
            <a:xfrm>
              <a:off x="5574928" y="307908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E6D1A93-ECDA-DA86-1284-EEFD6C479FA8}"/>
              </a:ext>
            </a:extLst>
          </p:cNvPr>
          <p:cNvGrpSpPr/>
          <p:nvPr/>
        </p:nvGrpSpPr>
        <p:grpSpPr>
          <a:xfrm>
            <a:off x="8328248" y="1023948"/>
            <a:ext cx="3414295" cy="1631069"/>
            <a:chOff x="2885896" y="2276872"/>
            <a:chExt cx="3414295" cy="1631069"/>
          </a:xfrm>
        </p:grpSpPr>
        <p:sp>
          <p:nvSpPr>
            <p:cNvPr id="17" name="弧 16">
              <a:extLst>
                <a:ext uri="{FF2B5EF4-FFF2-40B4-BE49-F238E27FC236}">
                  <a16:creationId xmlns:a16="http://schemas.microsoft.com/office/drawing/2014/main" id="{2EC8C35A-8EFC-2B12-2472-030BF2ABA6FC}"/>
                </a:ext>
              </a:extLst>
            </p:cNvPr>
            <p:cNvSpPr/>
            <p:nvPr/>
          </p:nvSpPr>
          <p:spPr bwMode="auto">
            <a:xfrm>
              <a:off x="2885896" y="2647042"/>
              <a:ext cx="3414295" cy="1260899"/>
            </a:xfrm>
            <a:prstGeom prst="arc">
              <a:avLst>
                <a:gd name="adj1" fmla="val 10775232"/>
                <a:gd name="adj2" fmla="val 0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triangle" w="lg" len="lg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FBC57A7-6F2A-475B-5C7D-B0C861F12237}"/>
                </a:ext>
              </a:extLst>
            </p:cNvPr>
            <p:cNvSpPr txBox="1"/>
            <p:nvPr/>
          </p:nvSpPr>
          <p:spPr>
            <a:xfrm>
              <a:off x="4427587" y="2276872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5F8F203-AE29-8AD8-CCA6-97C2027BF098}"/>
              </a:ext>
            </a:extLst>
          </p:cNvPr>
          <p:cNvGrpSpPr/>
          <p:nvPr/>
        </p:nvGrpSpPr>
        <p:grpSpPr>
          <a:xfrm>
            <a:off x="8155876" y="2538907"/>
            <a:ext cx="392274" cy="822253"/>
            <a:chOff x="2713524" y="3791831"/>
            <a:chExt cx="392274" cy="822253"/>
          </a:xfrm>
        </p:grpSpPr>
        <p:sp>
          <p:nvSpPr>
            <p:cNvPr id="20" name="弧 19">
              <a:extLst>
                <a:ext uri="{FF2B5EF4-FFF2-40B4-BE49-F238E27FC236}">
                  <a16:creationId xmlns:a16="http://schemas.microsoft.com/office/drawing/2014/main" id="{F68E7B95-F2BA-8F10-39CB-2BA33E4C04ED}"/>
                </a:ext>
              </a:extLst>
            </p:cNvPr>
            <p:cNvSpPr/>
            <p:nvPr/>
          </p:nvSpPr>
          <p:spPr bwMode="auto">
            <a:xfrm rot="641817">
              <a:off x="2713524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806D5B9-6070-2FB4-7C2D-1A09CA907C9D}"/>
                </a:ext>
              </a:extLst>
            </p:cNvPr>
            <p:cNvSpPr txBox="1"/>
            <p:nvPr/>
          </p:nvSpPr>
          <p:spPr>
            <a:xfrm>
              <a:off x="2729442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1A7B6F7-B037-C83D-C854-53E21809E06A}"/>
              </a:ext>
            </a:extLst>
          </p:cNvPr>
          <p:cNvGrpSpPr/>
          <p:nvPr/>
        </p:nvGrpSpPr>
        <p:grpSpPr>
          <a:xfrm>
            <a:off x="9286743" y="2538907"/>
            <a:ext cx="392274" cy="822253"/>
            <a:chOff x="3844391" y="3791831"/>
            <a:chExt cx="392274" cy="822253"/>
          </a:xfrm>
        </p:grpSpPr>
        <p:sp>
          <p:nvSpPr>
            <p:cNvPr id="23" name="弧 22">
              <a:extLst>
                <a:ext uri="{FF2B5EF4-FFF2-40B4-BE49-F238E27FC236}">
                  <a16:creationId xmlns:a16="http://schemas.microsoft.com/office/drawing/2014/main" id="{6DF9F363-88E0-2A72-5F9F-C10AEC0F6775}"/>
                </a:ext>
              </a:extLst>
            </p:cNvPr>
            <p:cNvSpPr/>
            <p:nvPr/>
          </p:nvSpPr>
          <p:spPr bwMode="auto">
            <a:xfrm rot="641817">
              <a:off x="3844391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3DE1470-D983-7561-F9BD-3A2D8DF459EE}"/>
                </a:ext>
              </a:extLst>
            </p:cNvPr>
            <p:cNvSpPr txBox="1"/>
            <p:nvPr/>
          </p:nvSpPr>
          <p:spPr>
            <a:xfrm>
              <a:off x="3851920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A4612B2-0FC9-0BA5-7511-08256549964E}"/>
              </a:ext>
            </a:extLst>
          </p:cNvPr>
          <p:cNvGrpSpPr/>
          <p:nvPr/>
        </p:nvGrpSpPr>
        <p:grpSpPr>
          <a:xfrm>
            <a:off x="10424061" y="2538907"/>
            <a:ext cx="392274" cy="822253"/>
            <a:chOff x="4981709" y="3791831"/>
            <a:chExt cx="392274" cy="822253"/>
          </a:xfrm>
        </p:grpSpPr>
        <p:sp>
          <p:nvSpPr>
            <p:cNvPr id="26" name="弧 25">
              <a:extLst>
                <a:ext uri="{FF2B5EF4-FFF2-40B4-BE49-F238E27FC236}">
                  <a16:creationId xmlns:a16="http://schemas.microsoft.com/office/drawing/2014/main" id="{7F3D1DC6-A59E-19BB-6880-03C5F5BE2914}"/>
                </a:ext>
              </a:extLst>
            </p:cNvPr>
            <p:cNvSpPr/>
            <p:nvPr/>
          </p:nvSpPr>
          <p:spPr bwMode="auto">
            <a:xfrm rot="641817">
              <a:off x="4981709" y="3791831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68E3709-8525-98C5-E9AB-8A3BC0B33A00}"/>
                </a:ext>
              </a:extLst>
            </p:cNvPr>
            <p:cNvSpPr txBox="1"/>
            <p:nvPr/>
          </p:nvSpPr>
          <p:spPr>
            <a:xfrm>
              <a:off x="4982787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1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17BD7A8-8EFD-3D90-DB34-96FEE8642FC8}"/>
              </a:ext>
            </a:extLst>
          </p:cNvPr>
          <p:cNvGrpSpPr/>
          <p:nvPr/>
        </p:nvGrpSpPr>
        <p:grpSpPr>
          <a:xfrm>
            <a:off x="11576569" y="2548553"/>
            <a:ext cx="392274" cy="812607"/>
            <a:chOff x="6134217" y="3801477"/>
            <a:chExt cx="392274" cy="812607"/>
          </a:xfrm>
        </p:grpSpPr>
        <p:sp>
          <p:nvSpPr>
            <p:cNvPr id="29" name="弧 28">
              <a:extLst>
                <a:ext uri="{FF2B5EF4-FFF2-40B4-BE49-F238E27FC236}">
                  <a16:creationId xmlns:a16="http://schemas.microsoft.com/office/drawing/2014/main" id="{CA603F42-0907-C740-8459-E16932374691}"/>
                </a:ext>
              </a:extLst>
            </p:cNvPr>
            <p:cNvSpPr/>
            <p:nvPr/>
          </p:nvSpPr>
          <p:spPr bwMode="auto">
            <a:xfrm rot="641817">
              <a:off x="6134217" y="3801477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60987A8-964E-A1E7-C0E9-AC8E318C75A6}"/>
                </a:ext>
              </a:extLst>
            </p:cNvPr>
            <p:cNvSpPr txBox="1"/>
            <p:nvPr/>
          </p:nvSpPr>
          <p:spPr>
            <a:xfrm>
              <a:off x="6156176" y="4213974"/>
              <a:ext cx="36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0" i="0" dirty="0">
                  <a:solidFill>
                    <a:srgbClr val="000000"/>
                  </a:solidFill>
                </a:rPr>
                <a:t>0</a:t>
              </a:r>
              <a:endParaRPr kumimoji="1" lang="zh-CN" altLang="en-US" b="0" i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31" name="椭圆 30">
            <a:extLst>
              <a:ext uri="{FF2B5EF4-FFF2-40B4-BE49-F238E27FC236}">
                <a16:creationId xmlns:a16="http://schemas.microsoft.com/office/drawing/2014/main" id="{9C6DEA9F-641F-FBD5-28A6-C2D2E8531623}"/>
              </a:ext>
            </a:extLst>
          </p:cNvPr>
          <p:cNvSpPr/>
          <p:nvPr/>
        </p:nvSpPr>
        <p:spPr bwMode="auto">
          <a:xfrm>
            <a:off x="10423630" y="2119303"/>
            <a:ext cx="385634" cy="386889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5962ACF-CC47-2E2B-B770-A868B31440F4}"/>
              </a:ext>
            </a:extLst>
          </p:cNvPr>
          <p:cNvSpPr/>
          <p:nvPr/>
        </p:nvSpPr>
        <p:spPr bwMode="auto">
          <a:xfrm>
            <a:off x="11568290" y="2115494"/>
            <a:ext cx="385634" cy="386889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5" grpId="0" autoUpdateAnimBg="0"/>
      <p:bldP spid="137226" grpId="0" autoUpdateAnimBg="0"/>
      <p:bldP spid="137227" grpId="0" autoUpdateAnimBg="0"/>
      <p:bldP spid="137229" grpId="0" autoUpdateAnimBg="0"/>
      <p:bldP spid="137230" grpId="0" autoUpdateAnimBg="0"/>
      <p:bldP spid="13723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2127250" y="1144589"/>
            <a:ext cx="8001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计算 </a:t>
            </a:r>
            <a:r>
              <a:rPr lang="en-US" altLang="zh-CN" sz="32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sz="3200" b="1" baseline="30000" dirty="0"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3200" b="1" baseline="-25000" dirty="0" err="1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3200" b="1" baseline="30000" dirty="0" err="1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3200" b="1" baseline="-25000" dirty="0" err="1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sz="3200" b="1" baseline="30000" dirty="0">
                <a:latin typeface="Arial" pitchFamily="34" charset="0"/>
                <a:ea typeface="楷体_GB2312" pitchFamily="49" charset="-122"/>
              </a:rPr>
              <a:t>)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的迭代过程</a:t>
            </a:r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2362200" y="1844676"/>
            <a:ext cx="807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Symbol" pitchFamily="18" charset="2"/>
              <a:buChar char="-"/>
            </a:pP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latin typeface="Arial" pitchFamily="34" charset="0"/>
                <a:ea typeface="楷体_GB2312" pitchFamily="49" charset="-122"/>
              </a:rPr>
              <a:t>归纳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假设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1 )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j = 1, 2, … , n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）已经求出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则迭代</a:t>
            </a:r>
          </a:p>
          <a:p>
            <a:pPr>
              <a:buFont typeface="Symbol" pitchFamily="18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公式为  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 err="1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 err="1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-25000" dirty="0" err="1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= 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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)*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2640012" y="3656014"/>
            <a:ext cx="80771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Case 1 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路径不经过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 .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此时，标记该路径的字符串属</a:t>
            </a: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于</a:t>
            </a:r>
            <a:r>
              <a:rPr lang="zh-CN" altLang="en-US" sz="2400" b="1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L(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);</a:t>
            </a:r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2640012" y="4494214"/>
            <a:ext cx="828052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Case 2 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路径经过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至少一次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此时，标记该路径的字符</a:t>
            </a: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串属于</a:t>
            </a:r>
            <a:r>
              <a:rPr lang="zh-CN" altLang="en-US" sz="2400" b="1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L(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)*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).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如下图所示：</a:t>
            </a:r>
            <a:endParaRPr lang="zh-CN" altLang="en-US" sz="24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2640013" y="2741614"/>
            <a:ext cx="78422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b="1" i="0" dirty="0">
                <a:latin typeface="Arial" pitchFamily="34" charset="0"/>
                <a:ea typeface="楷体_GB2312" pitchFamily="49" charset="-122"/>
              </a:rPr>
              <a:t>分析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考虑从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的路径（除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和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之外的所有状态的</a:t>
            </a: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编号不大于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/>
        </p:nvGraphicFramePr>
        <p:xfrm>
          <a:off x="3065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6240" imgH="516240" progId="Visio.Drawing.11">
                  <p:embed/>
                </p:oleObj>
              </mc:Choice>
              <mc:Fallback>
                <p:oleObj name="VISIO" r:id="rId2" imgW="516240" imgH="516240" progId="Visio.Drawing.11">
                  <p:embed/>
                  <p:pic>
                    <p:nvPicPr>
                      <p:cNvPr id="1382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2" name="Object 12"/>
          <p:cNvGraphicFramePr>
            <a:graphicFrameLocks noChangeAspect="1"/>
          </p:cNvGraphicFramePr>
          <p:nvPr/>
        </p:nvGraphicFramePr>
        <p:xfrm>
          <a:off x="3429001" y="5486400"/>
          <a:ext cx="9747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974520" imgH="508320" progId="Visio.Drawing.11">
                  <p:embed/>
                </p:oleObj>
              </mc:Choice>
              <mc:Fallback>
                <p:oleObj name="VISIO" r:id="rId4" imgW="974520" imgH="508320" progId="Visio.Drawing.11">
                  <p:embed/>
                  <p:pic>
                    <p:nvPicPr>
                      <p:cNvPr id="1382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5486400"/>
                        <a:ext cx="9747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3" name="Object 13"/>
          <p:cNvGraphicFramePr>
            <a:graphicFrameLocks noChangeAspect="1"/>
          </p:cNvGraphicFramePr>
          <p:nvPr/>
        </p:nvGraphicFramePr>
        <p:xfrm>
          <a:off x="4208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16240" imgH="516240" progId="Visio.Drawing.11">
                  <p:embed/>
                </p:oleObj>
              </mc:Choice>
              <mc:Fallback>
                <p:oleObj name="VISIO" r:id="rId6" imgW="516240" imgH="516240" progId="Visio.Drawing.11">
                  <p:embed/>
                  <p:pic>
                    <p:nvPicPr>
                      <p:cNvPr id="1382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4" name="Object 14"/>
          <p:cNvGraphicFramePr>
            <a:graphicFrameLocks noChangeAspect="1"/>
          </p:cNvGraphicFramePr>
          <p:nvPr/>
        </p:nvGraphicFramePr>
        <p:xfrm>
          <a:off x="4567238" y="5511800"/>
          <a:ext cx="9953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995760" imgH="431640" progId="Visio.Drawing.11">
                  <p:embed/>
                </p:oleObj>
              </mc:Choice>
              <mc:Fallback>
                <p:oleObj name="VISIO" r:id="rId8" imgW="995760" imgH="431640" progId="Visio.Drawing.11">
                  <p:embed/>
                  <p:pic>
                    <p:nvPicPr>
                      <p:cNvPr id="1382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5511800"/>
                        <a:ext cx="9953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5" name="Object 15"/>
          <p:cNvGraphicFramePr>
            <a:graphicFrameLocks noChangeAspect="1"/>
          </p:cNvGraphicFramePr>
          <p:nvPr/>
        </p:nvGraphicFramePr>
        <p:xfrm>
          <a:off x="5351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516240" imgH="516240" progId="Visio.Drawing.11">
                  <p:embed/>
                </p:oleObj>
              </mc:Choice>
              <mc:Fallback>
                <p:oleObj name="VISIO" r:id="rId10" imgW="516240" imgH="516240" progId="Visio.Drawing.11">
                  <p:embed/>
                  <p:pic>
                    <p:nvPicPr>
                      <p:cNvPr id="1382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6" name="Object 16"/>
          <p:cNvGraphicFramePr>
            <a:graphicFrameLocks noChangeAspect="1"/>
          </p:cNvGraphicFramePr>
          <p:nvPr/>
        </p:nvGraphicFramePr>
        <p:xfrm>
          <a:off x="5791200" y="5486401"/>
          <a:ext cx="8524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853560" imgH="391680" progId="Visio.Drawing.11">
                  <p:embed/>
                </p:oleObj>
              </mc:Choice>
              <mc:Fallback>
                <p:oleObj name="VISIO" r:id="rId11" imgW="853560" imgH="391680" progId="Visio.Drawing.11">
                  <p:embed/>
                  <p:pic>
                    <p:nvPicPr>
                      <p:cNvPr id="1382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486401"/>
                        <a:ext cx="8524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7" name="Object 17"/>
          <p:cNvGraphicFramePr>
            <a:graphicFrameLocks noChangeAspect="1"/>
          </p:cNvGraphicFramePr>
          <p:nvPr/>
        </p:nvGraphicFramePr>
        <p:xfrm>
          <a:off x="6494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516240" imgH="516240" progId="Visio.Drawing.11">
                  <p:embed/>
                </p:oleObj>
              </mc:Choice>
              <mc:Fallback>
                <p:oleObj name="VISIO" r:id="rId13" imgW="516240" imgH="516240" progId="Visio.Drawing.11">
                  <p:embed/>
                  <p:pic>
                    <p:nvPicPr>
                      <p:cNvPr id="13825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8" name="Object 18"/>
          <p:cNvGraphicFramePr>
            <a:graphicFrameLocks noChangeAspect="1"/>
          </p:cNvGraphicFramePr>
          <p:nvPr/>
        </p:nvGraphicFramePr>
        <p:xfrm>
          <a:off x="6858001" y="5562600"/>
          <a:ext cx="9747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974520" imgH="415080" progId="Visio.Drawing.11">
                  <p:embed/>
                </p:oleObj>
              </mc:Choice>
              <mc:Fallback>
                <p:oleObj name="VISIO" r:id="rId14" imgW="974520" imgH="415080" progId="Visio.Drawing.11">
                  <p:embed/>
                  <p:pic>
                    <p:nvPicPr>
                      <p:cNvPr id="1382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5562600"/>
                        <a:ext cx="9747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9" name="Object 19"/>
          <p:cNvGraphicFramePr>
            <a:graphicFrameLocks noChangeAspect="1"/>
          </p:cNvGraphicFramePr>
          <p:nvPr/>
        </p:nvGraphicFramePr>
        <p:xfrm>
          <a:off x="7637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6" imgW="516240" imgH="516240" progId="Visio.Drawing.11">
                  <p:embed/>
                </p:oleObj>
              </mc:Choice>
              <mc:Fallback>
                <p:oleObj name="VISIO" r:id="rId16" imgW="516240" imgH="516240" progId="Visio.Drawing.11">
                  <p:embed/>
                  <p:pic>
                    <p:nvPicPr>
                      <p:cNvPr id="1382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7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60" name="Group 20"/>
          <p:cNvGrpSpPr>
            <a:grpSpLocks/>
          </p:cNvGrpSpPr>
          <p:nvPr/>
        </p:nvGrpSpPr>
        <p:grpSpPr bwMode="auto">
          <a:xfrm>
            <a:off x="3276601" y="6096006"/>
            <a:ext cx="1063625" cy="614363"/>
            <a:chOff x="1104" y="3840"/>
            <a:chExt cx="670" cy="387"/>
          </a:xfrm>
        </p:grpSpPr>
        <p:graphicFrame>
          <p:nvGraphicFramePr>
            <p:cNvPr id="138261" name="Object 21"/>
            <p:cNvGraphicFramePr>
              <a:graphicFrameLocks noChangeAspect="1"/>
            </p:cNvGraphicFramePr>
            <p:nvPr/>
          </p:nvGraphicFramePr>
          <p:xfrm>
            <a:off x="1104" y="3840"/>
            <a:ext cx="67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18" imgW="1063440" imgH="257760" progId="Visio.Drawing.11">
                    <p:embed/>
                  </p:oleObj>
                </mc:Choice>
                <mc:Fallback>
                  <p:oleObj name="VISIO" r:id="rId18" imgW="1063440" imgH="257760" progId="Visio.Drawing.11">
                    <p:embed/>
                    <p:pic>
                      <p:nvPicPr>
                        <p:cNvPr id="138261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840"/>
                          <a:ext cx="67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2" name="Rectangle 22"/>
            <p:cNvSpPr>
              <a:spLocks noChangeArrowheads="1"/>
            </p:cNvSpPr>
            <p:nvPr/>
          </p:nvSpPr>
          <p:spPr bwMode="auto">
            <a:xfrm>
              <a:off x="1131" y="3936"/>
              <a:ext cx="6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 k</a:t>
              </a:r>
              <a:r>
                <a:rPr lang="en-US" altLang="zh-CN" b="1" baseline="-25000">
                  <a:ea typeface="华文行楷" pitchFamily="2" charset="-122"/>
                </a:rPr>
                <a:t>i</a:t>
              </a:r>
              <a:r>
                <a:rPr lang="en-US" altLang="zh-CN" b="1" baseline="30000">
                  <a:ea typeface="华文行楷" pitchFamily="2" charset="-122"/>
                </a:rPr>
                <a:t>-</a:t>
              </a:r>
              <a:r>
                <a:rPr lang="en-US" altLang="zh-CN" b="1" baseline="-25000">
                  <a:ea typeface="华文行楷" pitchFamily="2" charset="-122"/>
                </a:rPr>
                <a:t>k</a:t>
              </a:r>
              <a:r>
                <a:rPr lang="en-US" altLang="zh-CN" b="1" baseline="30000">
                  <a:ea typeface="华文行楷" pitchFamily="2" charset="-122"/>
                </a:rPr>
                <a:t>1 )</a:t>
              </a:r>
            </a:p>
          </p:txBody>
        </p:sp>
      </p:grpSp>
      <p:grpSp>
        <p:nvGrpSpPr>
          <p:cNvPr id="138263" name="Group 23"/>
          <p:cNvGrpSpPr>
            <a:grpSpLocks/>
          </p:cNvGrpSpPr>
          <p:nvPr/>
        </p:nvGrpSpPr>
        <p:grpSpPr bwMode="auto">
          <a:xfrm>
            <a:off x="4537076" y="6143630"/>
            <a:ext cx="2092325" cy="566738"/>
            <a:chOff x="1898" y="3870"/>
            <a:chExt cx="1318" cy="357"/>
          </a:xfrm>
        </p:grpSpPr>
        <p:graphicFrame>
          <p:nvGraphicFramePr>
            <p:cNvPr id="138264" name="Object 24"/>
            <p:cNvGraphicFramePr>
              <a:graphicFrameLocks noChangeAspect="1"/>
            </p:cNvGraphicFramePr>
            <p:nvPr/>
          </p:nvGraphicFramePr>
          <p:xfrm>
            <a:off x="1898" y="3870"/>
            <a:ext cx="1318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0" imgW="2091960" imgH="257760" progId="Visio.Drawing.11">
                    <p:embed/>
                  </p:oleObj>
                </mc:Choice>
                <mc:Fallback>
                  <p:oleObj name="VISIO" r:id="rId20" imgW="2091960" imgH="257760" progId="Visio.Drawing.11">
                    <p:embed/>
                    <p:pic>
                      <p:nvPicPr>
                        <p:cNvPr id="138264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" y="3870"/>
                          <a:ext cx="1318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5" name="Rectangle 25"/>
            <p:cNvSpPr>
              <a:spLocks noChangeArrowheads="1"/>
            </p:cNvSpPr>
            <p:nvPr/>
          </p:nvSpPr>
          <p:spPr bwMode="auto">
            <a:xfrm>
              <a:off x="2160" y="3936"/>
              <a:ext cx="86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Arial" pitchFamily="34" charset="0"/>
                  <a:cs typeface="Arial" pitchFamily="34" charset="0"/>
                  <a:sym typeface="Symbol" pitchFamily="18" charset="2"/>
                </a:rPr>
                <a:t>(</a:t>
              </a:r>
              <a:r>
                <a:rPr lang="en-US" altLang="zh-CN" sz="2400" b="1" dirty="0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 dirty="0">
                  <a:ea typeface="华文行楷" pitchFamily="2" charset="-122"/>
                </a:rPr>
                <a:t>( k</a:t>
              </a:r>
              <a:r>
                <a:rPr lang="en-US" altLang="zh-CN" b="1" baseline="-25000" dirty="0">
                  <a:ea typeface="华文行楷" pitchFamily="2" charset="-122"/>
                </a:rPr>
                <a:t>k</a:t>
              </a:r>
              <a:r>
                <a:rPr lang="en-US" altLang="zh-CN" b="1" baseline="30000" dirty="0">
                  <a:ea typeface="华文行楷" pitchFamily="2" charset="-122"/>
                </a:rPr>
                <a:t>-</a:t>
              </a:r>
              <a:r>
                <a:rPr lang="en-US" altLang="zh-CN" b="1" baseline="-25000" dirty="0">
                  <a:ea typeface="华文行楷" pitchFamily="2" charset="-122"/>
                </a:rPr>
                <a:t>k</a:t>
              </a:r>
              <a:r>
                <a:rPr lang="en-US" altLang="zh-CN" b="1" baseline="30000" dirty="0">
                  <a:ea typeface="华文行楷" pitchFamily="2" charset="-122"/>
                </a:rPr>
                <a:t>1 ) </a:t>
              </a:r>
              <a:r>
                <a:rPr lang="en-US" altLang="zh-CN" sz="2400" b="1" dirty="0">
                  <a:latin typeface="Arial" pitchFamily="34" charset="0"/>
                  <a:cs typeface="Arial" pitchFamily="34" charset="0"/>
                  <a:sym typeface="Symbol" pitchFamily="18" charset="2"/>
                </a:rPr>
                <a:t>)*</a:t>
              </a:r>
            </a:p>
          </p:txBody>
        </p:sp>
      </p:grpSp>
      <p:grpSp>
        <p:nvGrpSpPr>
          <p:cNvPr id="138266" name="Group 26"/>
          <p:cNvGrpSpPr>
            <a:grpSpLocks/>
          </p:cNvGrpSpPr>
          <p:nvPr/>
        </p:nvGrpSpPr>
        <p:grpSpPr bwMode="auto">
          <a:xfrm>
            <a:off x="6858001" y="6096006"/>
            <a:ext cx="1063625" cy="614363"/>
            <a:chOff x="3360" y="3840"/>
            <a:chExt cx="670" cy="387"/>
          </a:xfrm>
        </p:grpSpPr>
        <p:graphicFrame>
          <p:nvGraphicFramePr>
            <p:cNvPr id="138267" name="Object 27"/>
            <p:cNvGraphicFramePr>
              <a:graphicFrameLocks noChangeAspect="1"/>
            </p:cNvGraphicFramePr>
            <p:nvPr/>
          </p:nvGraphicFramePr>
          <p:xfrm>
            <a:off x="3360" y="3840"/>
            <a:ext cx="67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2" imgW="1063440" imgH="257760" progId="Visio.Drawing.11">
                    <p:embed/>
                  </p:oleObj>
                </mc:Choice>
                <mc:Fallback>
                  <p:oleObj name="VISIO" r:id="rId22" imgW="1063440" imgH="257760" progId="Visio.Drawing.11">
                    <p:embed/>
                    <p:pic>
                      <p:nvPicPr>
                        <p:cNvPr id="138267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840"/>
                          <a:ext cx="67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8" name="Rectangle 28"/>
            <p:cNvSpPr>
              <a:spLocks noChangeArrowheads="1"/>
            </p:cNvSpPr>
            <p:nvPr/>
          </p:nvSpPr>
          <p:spPr bwMode="auto">
            <a:xfrm>
              <a:off x="3387" y="3936"/>
              <a:ext cx="6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 k</a:t>
              </a:r>
              <a:r>
                <a:rPr lang="en-US" altLang="zh-CN" b="1" baseline="-25000">
                  <a:ea typeface="华文行楷" pitchFamily="2" charset="-122"/>
                </a:rPr>
                <a:t>k</a:t>
              </a:r>
              <a:r>
                <a:rPr lang="en-US" altLang="zh-CN" b="1" baseline="30000">
                  <a:ea typeface="华文行楷" pitchFamily="2" charset="-122"/>
                </a:rPr>
                <a:t>-</a:t>
              </a:r>
              <a:r>
                <a:rPr lang="en-US" altLang="zh-CN" b="1" baseline="-25000">
                  <a:ea typeface="华文行楷" pitchFamily="2" charset="-122"/>
                </a:rPr>
                <a:t>j</a:t>
              </a:r>
              <a:r>
                <a:rPr lang="en-US" altLang="zh-CN" b="1" baseline="30000">
                  <a:ea typeface="华文行楷" pitchFamily="2" charset="-122"/>
                </a:rPr>
                <a:t>1 )</a:t>
              </a:r>
            </a:p>
          </p:txBody>
        </p:sp>
      </p:grpSp>
      <p:sp>
        <p:nvSpPr>
          <p:cNvPr id="138269" name="Rectangle 29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1D6F6E9-36F6-B348-8128-821FB735F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22</a:t>
            </a:fld>
            <a:endParaRPr lang="en-US" altLang="zh-CN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8" grpId="0" autoUpdateAnimBg="0"/>
      <p:bldP spid="138249" grpId="0" autoUpdateAnimBg="0"/>
      <p:bldP spid="13825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2127250" y="1144589"/>
            <a:ext cx="8001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计算 </a:t>
            </a:r>
            <a:r>
              <a:rPr lang="en-US" altLang="zh-CN" sz="32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sz="3200" b="1" baseline="30000" dirty="0"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3200" b="1" baseline="-25000" dirty="0" err="1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3200" b="1" baseline="30000" dirty="0" err="1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3200" b="1" baseline="-25000" dirty="0" err="1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sz="3200" b="1" baseline="30000" dirty="0">
                <a:latin typeface="Arial" pitchFamily="34" charset="0"/>
                <a:ea typeface="楷体_GB2312" pitchFamily="49" charset="-122"/>
              </a:rPr>
              <a:t>)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的迭代过程</a:t>
            </a:r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2362200" y="1844676"/>
            <a:ext cx="807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Symbol" pitchFamily="18" charset="2"/>
              <a:buChar char="-"/>
            </a:pP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latin typeface="Arial" pitchFamily="34" charset="0"/>
                <a:ea typeface="楷体_GB2312" pitchFamily="49" charset="-122"/>
              </a:rPr>
              <a:t>归纳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假设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1 )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j = 1, 2, … , n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）已经求出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则迭代</a:t>
            </a:r>
          </a:p>
          <a:p>
            <a:pPr>
              <a:buFont typeface="Symbol" pitchFamily="18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公式为  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 err="1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 err="1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-25000" dirty="0" err="1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= 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 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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)*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2640012" y="3656014"/>
            <a:ext cx="80771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Case 1 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路径不经过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 .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此时，标记该路径的字符串属</a:t>
            </a: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于</a:t>
            </a:r>
            <a:r>
              <a:rPr lang="zh-CN" altLang="en-US" sz="2400" b="1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L(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);</a:t>
            </a:r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2640012" y="4494214"/>
            <a:ext cx="828052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Case 2 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路径经过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至少一次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 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此时，标记该路径的字符</a:t>
            </a: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串属于</a:t>
            </a:r>
            <a:r>
              <a:rPr lang="zh-CN" altLang="en-US" sz="2400" b="1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L(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)* </a:t>
            </a:r>
            <a:r>
              <a:rPr lang="en-US" altLang="zh-CN" sz="2400" b="1" dirty="0"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itchFamily="34" charset="0"/>
                <a:ea typeface="楷体_GB2312" pitchFamily="49" charset="-122"/>
              </a:rPr>
              <a:t>1 )</a:t>
            </a:r>
            <a:r>
              <a:rPr lang="en-US" altLang="zh-CN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).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如下图所示：</a:t>
            </a:r>
            <a:endParaRPr lang="zh-CN" altLang="en-US" sz="24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2640013" y="2741614"/>
            <a:ext cx="78422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 b="1" i="0" dirty="0">
                <a:latin typeface="Arial" pitchFamily="34" charset="0"/>
                <a:ea typeface="楷体_GB2312" pitchFamily="49" charset="-122"/>
              </a:rPr>
              <a:t>分析</a:t>
            </a:r>
            <a:r>
              <a:rPr lang="en-US" altLang="zh-CN" sz="24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考虑从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的路径（除 </a:t>
            </a:r>
            <a:r>
              <a:rPr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和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之外的所有状态的</a:t>
            </a: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编号不大于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/>
        </p:nvGraphicFramePr>
        <p:xfrm>
          <a:off x="3065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6240" imgH="516240" progId="Visio.Drawing.11">
                  <p:embed/>
                </p:oleObj>
              </mc:Choice>
              <mc:Fallback>
                <p:oleObj name="VISIO" r:id="rId2" imgW="516240" imgH="516240" progId="Visio.Drawing.11">
                  <p:embed/>
                  <p:pic>
                    <p:nvPicPr>
                      <p:cNvPr id="1382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2" name="Object 12"/>
          <p:cNvGraphicFramePr>
            <a:graphicFrameLocks noChangeAspect="1"/>
          </p:cNvGraphicFramePr>
          <p:nvPr/>
        </p:nvGraphicFramePr>
        <p:xfrm>
          <a:off x="3429001" y="5486400"/>
          <a:ext cx="9747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974520" imgH="508320" progId="Visio.Drawing.11">
                  <p:embed/>
                </p:oleObj>
              </mc:Choice>
              <mc:Fallback>
                <p:oleObj name="VISIO" r:id="rId4" imgW="974520" imgH="508320" progId="Visio.Drawing.11">
                  <p:embed/>
                  <p:pic>
                    <p:nvPicPr>
                      <p:cNvPr id="1382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5486400"/>
                        <a:ext cx="9747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3" name="Object 13"/>
          <p:cNvGraphicFramePr>
            <a:graphicFrameLocks noChangeAspect="1"/>
          </p:cNvGraphicFramePr>
          <p:nvPr/>
        </p:nvGraphicFramePr>
        <p:xfrm>
          <a:off x="4208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16240" imgH="516240" progId="Visio.Drawing.11">
                  <p:embed/>
                </p:oleObj>
              </mc:Choice>
              <mc:Fallback>
                <p:oleObj name="VISIO" r:id="rId6" imgW="516240" imgH="516240" progId="Visio.Drawing.11">
                  <p:embed/>
                  <p:pic>
                    <p:nvPicPr>
                      <p:cNvPr id="1382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4" name="Object 14"/>
          <p:cNvGraphicFramePr>
            <a:graphicFrameLocks noChangeAspect="1"/>
          </p:cNvGraphicFramePr>
          <p:nvPr/>
        </p:nvGraphicFramePr>
        <p:xfrm>
          <a:off x="4567238" y="5511800"/>
          <a:ext cx="9953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995760" imgH="431640" progId="Visio.Drawing.11">
                  <p:embed/>
                </p:oleObj>
              </mc:Choice>
              <mc:Fallback>
                <p:oleObj name="VISIO" r:id="rId8" imgW="995760" imgH="431640" progId="Visio.Drawing.11">
                  <p:embed/>
                  <p:pic>
                    <p:nvPicPr>
                      <p:cNvPr id="1382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5511800"/>
                        <a:ext cx="9953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5" name="Object 15"/>
          <p:cNvGraphicFramePr>
            <a:graphicFrameLocks noChangeAspect="1"/>
          </p:cNvGraphicFramePr>
          <p:nvPr/>
        </p:nvGraphicFramePr>
        <p:xfrm>
          <a:off x="5351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516240" imgH="516240" progId="Visio.Drawing.11">
                  <p:embed/>
                </p:oleObj>
              </mc:Choice>
              <mc:Fallback>
                <p:oleObj name="VISIO" r:id="rId10" imgW="516240" imgH="516240" progId="Visio.Drawing.11">
                  <p:embed/>
                  <p:pic>
                    <p:nvPicPr>
                      <p:cNvPr id="1382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6" name="Object 16"/>
          <p:cNvGraphicFramePr>
            <a:graphicFrameLocks noChangeAspect="1"/>
          </p:cNvGraphicFramePr>
          <p:nvPr/>
        </p:nvGraphicFramePr>
        <p:xfrm>
          <a:off x="5791200" y="5486401"/>
          <a:ext cx="8524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853560" imgH="391680" progId="Visio.Drawing.11">
                  <p:embed/>
                </p:oleObj>
              </mc:Choice>
              <mc:Fallback>
                <p:oleObj name="VISIO" r:id="rId11" imgW="853560" imgH="391680" progId="Visio.Drawing.11">
                  <p:embed/>
                  <p:pic>
                    <p:nvPicPr>
                      <p:cNvPr id="1382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486401"/>
                        <a:ext cx="8524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7" name="Object 17"/>
          <p:cNvGraphicFramePr>
            <a:graphicFrameLocks noChangeAspect="1"/>
          </p:cNvGraphicFramePr>
          <p:nvPr/>
        </p:nvGraphicFramePr>
        <p:xfrm>
          <a:off x="6494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516240" imgH="516240" progId="Visio.Drawing.11">
                  <p:embed/>
                </p:oleObj>
              </mc:Choice>
              <mc:Fallback>
                <p:oleObj name="VISIO" r:id="rId13" imgW="516240" imgH="516240" progId="Visio.Drawing.11">
                  <p:embed/>
                  <p:pic>
                    <p:nvPicPr>
                      <p:cNvPr id="13825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8" name="Object 18"/>
          <p:cNvGraphicFramePr>
            <a:graphicFrameLocks noChangeAspect="1"/>
          </p:cNvGraphicFramePr>
          <p:nvPr/>
        </p:nvGraphicFramePr>
        <p:xfrm>
          <a:off x="6858001" y="5562600"/>
          <a:ext cx="9747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974520" imgH="415080" progId="Visio.Drawing.11">
                  <p:embed/>
                </p:oleObj>
              </mc:Choice>
              <mc:Fallback>
                <p:oleObj name="VISIO" r:id="rId14" imgW="974520" imgH="415080" progId="Visio.Drawing.11">
                  <p:embed/>
                  <p:pic>
                    <p:nvPicPr>
                      <p:cNvPr id="1382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5562600"/>
                        <a:ext cx="9747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9" name="Object 19"/>
          <p:cNvGraphicFramePr>
            <a:graphicFrameLocks noChangeAspect="1"/>
          </p:cNvGraphicFramePr>
          <p:nvPr/>
        </p:nvGraphicFramePr>
        <p:xfrm>
          <a:off x="7637464" y="5503864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6" imgW="516240" imgH="516240" progId="Visio.Drawing.11">
                  <p:embed/>
                </p:oleObj>
              </mc:Choice>
              <mc:Fallback>
                <p:oleObj name="VISIO" r:id="rId16" imgW="516240" imgH="516240" progId="Visio.Drawing.11">
                  <p:embed/>
                  <p:pic>
                    <p:nvPicPr>
                      <p:cNvPr id="1382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7464" y="5503864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60" name="Group 20"/>
          <p:cNvGrpSpPr>
            <a:grpSpLocks/>
          </p:cNvGrpSpPr>
          <p:nvPr/>
        </p:nvGrpSpPr>
        <p:grpSpPr bwMode="auto">
          <a:xfrm>
            <a:off x="3276601" y="6096006"/>
            <a:ext cx="1063625" cy="614363"/>
            <a:chOff x="1104" y="3840"/>
            <a:chExt cx="670" cy="387"/>
          </a:xfrm>
        </p:grpSpPr>
        <p:graphicFrame>
          <p:nvGraphicFramePr>
            <p:cNvPr id="138261" name="Object 21"/>
            <p:cNvGraphicFramePr>
              <a:graphicFrameLocks noChangeAspect="1"/>
            </p:cNvGraphicFramePr>
            <p:nvPr/>
          </p:nvGraphicFramePr>
          <p:xfrm>
            <a:off x="1104" y="3840"/>
            <a:ext cx="67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18" imgW="1063440" imgH="257760" progId="Visio.Drawing.11">
                    <p:embed/>
                  </p:oleObj>
                </mc:Choice>
                <mc:Fallback>
                  <p:oleObj name="VISIO" r:id="rId18" imgW="1063440" imgH="257760" progId="Visio.Drawing.11">
                    <p:embed/>
                    <p:pic>
                      <p:nvPicPr>
                        <p:cNvPr id="138261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840"/>
                          <a:ext cx="67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2" name="Rectangle 22"/>
            <p:cNvSpPr>
              <a:spLocks noChangeArrowheads="1"/>
            </p:cNvSpPr>
            <p:nvPr/>
          </p:nvSpPr>
          <p:spPr bwMode="auto">
            <a:xfrm>
              <a:off x="1131" y="3936"/>
              <a:ext cx="6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 k</a:t>
              </a:r>
              <a:r>
                <a:rPr lang="en-US" altLang="zh-CN" b="1" baseline="-25000">
                  <a:ea typeface="华文行楷" pitchFamily="2" charset="-122"/>
                </a:rPr>
                <a:t>i</a:t>
              </a:r>
              <a:r>
                <a:rPr lang="en-US" altLang="zh-CN" b="1" baseline="30000">
                  <a:ea typeface="华文行楷" pitchFamily="2" charset="-122"/>
                </a:rPr>
                <a:t>-</a:t>
              </a:r>
              <a:r>
                <a:rPr lang="en-US" altLang="zh-CN" b="1" baseline="-25000">
                  <a:ea typeface="华文行楷" pitchFamily="2" charset="-122"/>
                </a:rPr>
                <a:t>k</a:t>
              </a:r>
              <a:r>
                <a:rPr lang="en-US" altLang="zh-CN" b="1" baseline="30000">
                  <a:ea typeface="华文行楷" pitchFamily="2" charset="-122"/>
                </a:rPr>
                <a:t>1 )</a:t>
              </a:r>
            </a:p>
          </p:txBody>
        </p:sp>
      </p:grpSp>
      <p:grpSp>
        <p:nvGrpSpPr>
          <p:cNvPr id="138263" name="Group 23"/>
          <p:cNvGrpSpPr>
            <a:grpSpLocks/>
          </p:cNvGrpSpPr>
          <p:nvPr/>
        </p:nvGrpSpPr>
        <p:grpSpPr bwMode="auto">
          <a:xfrm>
            <a:off x="4537076" y="6143630"/>
            <a:ext cx="2092325" cy="566738"/>
            <a:chOff x="1898" y="3870"/>
            <a:chExt cx="1318" cy="357"/>
          </a:xfrm>
        </p:grpSpPr>
        <p:graphicFrame>
          <p:nvGraphicFramePr>
            <p:cNvPr id="138264" name="Object 24"/>
            <p:cNvGraphicFramePr>
              <a:graphicFrameLocks noChangeAspect="1"/>
            </p:cNvGraphicFramePr>
            <p:nvPr/>
          </p:nvGraphicFramePr>
          <p:xfrm>
            <a:off x="1898" y="3870"/>
            <a:ext cx="1318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0" imgW="2091960" imgH="257760" progId="Visio.Drawing.11">
                    <p:embed/>
                  </p:oleObj>
                </mc:Choice>
                <mc:Fallback>
                  <p:oleObj name="VISIO" r:id="rId20" imgW="2091960" imgH="257760" progId="Visio.Drawing.11">
                    <p:embed/>
                    <p:pic>
                      <p:nvPicPr>
                        <p:cNvPr id="138264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" y="3870"/>
                          <a:ext cx="1318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5" name="Rectangle 25"/>
            <p:cNvSpPr>
              <a:spLocks noChangeArrowheads="1"/>
            </p:cNvSpPr>
            <p:nvPr/>
          </p:nvSpPr>
          <p:spPr bwMode="auto">
            <a:xfrm>
              <a:off x="2160" y="3936"/>
              <a:ext cx="86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Arial" pitchFamily="34" charset="0"/>
                  <a:cs typeface="Arial" pitchFamily="34" charset="0"/>
                  <a:sym typeface="Symbol" pitchFamily="18" charset="2"/>
                </a:rPr>
                <a:t>(</a:t>
              </a:r>
              <a:r>
                <a:rPr lang="en-US" altLang="zh-CN" sz="2400" b="1" dirty="0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 dirty="0">
                  <a:ea typeface="华文行楷" pitchFamily="2" charset="-122"/>
                </a:rPr>
                <a:t>( k</a:t>
              </a:r>
              <a:r>
                <a:rPr lang="en-US" altLang="zh-CN" b="1" baseline="-25000" dirty="0">
                  <a:ea typeface="华文行楷" pitchFamily="2" charset="-122"/>
                </a:rPr>
                <a:t>k</a:t>
              </a:r>
              <a:r>
                <a:rPr lang="en-US" altLang="zh-CN" b="1" baseline="30000" dirty="0">
                  <a:ea typeface="华文行楷" pitchFamily="2" charset="-122"/>
                </a:rPr>
                <a:t>-</a:t>
              </a:r>
              <a:r>
                <a:rPr lang="en-US" altLang="zh-CN" b="1" baseline="-25000" dirty="0">
                  <a:ea typeface="华文行楷" pitchFamily="2" charset="-122"/>
                </a:rPr>
                <a:t>k</a:t>
              </a:r>
              <a:r>
                <a:rPr lang="en-US" altLang="zh-CN" b="1" baseline="30000" dirty="0">
                  <a:ea typeface="华文行楷" pitchFamily="2" charset="-122"/>
                </a:rPr>
                <a:t>1 ) </a:t>
              </a:r>
              <a:r>
                <a:rPr lang="en-US" altLang="zh-CN" sz="2400" b="1" dirty="0">
                  <a:latin typeface="Arial" pitchFamily="34" charset="0"/>
                  <a:cs typeface="Arial" pitchFamily="34" charset="0"/>
                  <a:sym typeface="Symbol" pitchFamily="18" charset="2"/>
                </a:rPr>
                <a:t>)*</a:t>
              </a:r>
            </a:p>
          </p:txBody>
        </p:sp>
      </p:grpSp>
      <p:grpSp>
        <p:nvGrpSpPr>
          <p:cNvPr id="138266" name="Group 26"/>
          <p:cNvGrpSpPr>
            <a:grpSpLocks/>
          </p:cNvGrpSpPr>
          <p:nvPr/>
        </p:nvGrpSpPr>
        <p:grpSpPr bwMode="auto">
          <a:xfrm>
            <a:off x="6858001" y="6096006"/>
            <a:ext cx="1063625" cy="614363"/>
            <a:chOff x="3360" y="3840"/>
            <a:chExt cx="670" cy="387"/>
          </a:xfrm>
        </p:grpSpPr>
        <p:graphicFrame>
          <p:nvGraphicFramePr>
            <p:cNvPr id="138267" name="Object 27"/>
            <p:cNvGraphicFramePr>
              <a:graphicFrameLocks noChangeAspect="1"/>
            </p:cNvGraphicFramePr>
            <p:nvPr/>
          </p:nvGraphicFramePr>
          <p:xfrm>
            <a:off x="3360" y="3840"/>
            <a:ext cx="67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2" imgW="1063440" imgH="257760" progId="Visio.Drawing.11">
                    <p:embed/>
                  </p:oleObj>
                </mc:Choice>
                <mc:Fallback>
                  <p:oleObj name="VISIO" r:id="rId22" imgW="1063440" imgH="257760" progId="Visio.Drawing.11">
                    <p:embed/>
                    <p:pic>
                      <p:nvPicPr>
                        <p:cNvPr id="138267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840"/>
                          <a:ext cx="67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8" name="Rectangle 28"/>
            <p:cNvSpPr>
              <a:spLocks noChangeArrowheads="1"/>
            </p:cNvSpPr>
            <p:nvPr/>
          </p:nvSpPr>
          <p:spPr bwMode="auto">
            <a:xfrm>
              <a:off x="3387" y="3936"/>
              <a:ext cx="6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 k</a:t>
              </a:r>
              <a:r>
                <a:rPr lang="en-US" altLang="zh-CN" b="1" baseline="-25000">
                  <a:ea typeface="华文行楷" pitchFamily="2" charset="-122"/>
                </a:rPr>
                <a:t>k</a:t>
              </a:r>
              <a:r>
                <a:rPr lang="en-US" altLang="zh-CN" b="1" baseline="30000">
                  <a:ea typeface="华文行楷" pitchFamily="2" charset="-122"/>
                </a:rPr>
                <a:t>-</a:t>
              </a:r>
              <a:r>
                <a:rPr lang="en-US" altLang="zh-CN" b="1" baseline="-25000">
                  <a:ea typeface="华文行楷" pitchFamily="2" charset="-122"/>
                </a:rPr>
                <a:t>j</a:t>
              </a:r>
              <a:r>
                <a:rPr lang="en-US" altLang="zh-CN" b="1" baseline="30000">
                  <a:ea typeface="华文行楷" pitchFamily="2" charset="-122"/>
                </a:rPr>
                <a:t>1 )</a:t>
              </a:r>
            </a:p>
          </p:txBody>
        </p:sp>
      </p:grpSp>
      <p:sp>
        <p:nvSpPr>
          <p:cNvPr id="138269" name="Rectangle 29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1D6F6E9-36F6-B348-8128-821FB735F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5171463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8" grpId="0" autoUpdateAnimBg="0"/>
      <p:bldP spid="138249" grpId="0" autoUpdateAnimBg="0"/>
      <p:bldP spid="13825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2709864" y="1311275"/>
            <a:ext cx="5114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路径迭代法举例</a:t>
            </a:r>
            <a:endParaRPr lang="zh-CN" altLang="en-US" sz="3200" b="1" i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39271" name="Object 7"/>
          <p:cNvGraphicFramePr>
            <a:graphicFrameLocks noChangeAspect="1"/>
          </p:cNvGraphicFramePr>
          <p:nvPr/>
        </p:nvGraphicFramePr>
        <p:xfrm>
          <a:off x="3792538" y="2130425"/>
          <a:ext cx="4608512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42158" imgH="1167994" progId="Visio.Drawing.11">
                  <p:embed/>
                </p:oleObj>
              </mc:Choice>
              <mc:Fallback>
                <p:oleObj name="Visio" r:id="rId2" imgW="3242158" imgH="1167994" progId="Visio.Drawing.11">
                  <p:embed/>
                  <p:pic>
                    <p:nvPicPr>
                      <p:cNvPr id="1392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2130425"/>
                        <a:ext cx="4608512" cy="165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2" name="Line 8"/>
          <p:cNvSpPr>
            <a:spLocks noChangeShapeType="1"/>
          </p:cNvSpPr>
          <p:nvPr/>
        </p:nvSpPr>
        <p:spPr bwMode="auto">
          <a:xfrm>
            <a:off x="4703763" y="4076700"/>
            <a:ext cx="30480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39273" name="Line 9"/>
          <p:cNvSpPr>
            <a:spLocks noChangeShapeType="1"/>
          </p:cNvSpPr>
          <p:nvPr/>
        </p:nvSpPr>
        <p:spPr bwMode="auto">
          <a:xfrm>
            <a:off x="4703763" y="4152900"/>
            <a:ext cx="30480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39274" name="Line 10"/>
          <p:cNvSpPr>
            <a:spLocks noChangeShapeType="1"/>
          </p:cNvSpPr>
          <p:nvPr/>
        </p:nvSpPr>
        <p:spPr bwMode="auto">
          <a:xfrm>
            <a:off x="5770563" y="4152901"/>
            <a:ext cx="0" cy="1685925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39275" name="Rectangle 11"/>
          <p:cNvSpPr>
            <a:spLocks noChangeArrowheads="1"/>
          </p:cNvSpPr>
          <p:nvPr/>
        </p:nvSpPr>
        <p:spPr bwMode="auto">
          <a:xfrm>
            <a:off x="4856163" y="416242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</a:rPr>
              <a:t>R</a:t>
            </a:r>
            <a:r>
              <a:rPr lang="en-US" altLang="zh-CN" b="1" baseline="30000">
                <a:ea typeface="华文行楷" pitchFamily="2" charset="-122"/>
              </a:rPr>
              <a:t>(</a:t>
            </a:r>
            <a:r>
              <a:rPr lang="en-US" altLang="zh-CN" b="1" baseline="-25000">
                <a:ea typeface="华文行楷" pitchFamily="2" charset="-122"/>
              </a:rPr>
              <a:t>1</a:t>
            </a:r>
            <a:r>
              <a:rPr lang="en-US" altLang="zh-CN" b="1" baseline="30000">
                <a:ea typeface="华文行楷" pitchFamily="2" charset="-122"/>
              </a:rPr>
              <a:t>0</a:t>
            </a:r>
            <a:r>
              <a:rPr lang="en-US" altLang="zh-CN" b="1" baseline="-25000">
                <a:ea typeface="华文行楷" pitchFamily="2" charset="-122"/>
              </a:rPr>
              <a:t>1</a:t>
            </a:r>
            <a:r>
              <a:rPr lang="en-US" altLang="zh-CN" b="1" baseline="30000">
                <a:ea typeface="华文行楷" pitchFamily="2" charset="-122"/>
              </a:rPr>
              <a:t>)</a:t>
            </a:r>
          </a:p>
        </p:txBody>
      </p:sp>
      <p:sp>
        <p:nvSpPr>
          <p:cNvPr id="139276" name="Rectangle 12"/>
          <p:cNvSpPr>
            <a:spLocks noChangeArrowheads="1"/>
          </p:cNvSpPr>
          <p:nvPr/>
        </p:nvSpPr>
        <p:spPr bwMode="auto">
          <a:xfrm>
            <a:off x="4856163" y="454342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itchFamily="34" charset="0"/>
                <a:ea typeface="华文行楷" pitchFamily="2" charset="-122"/>
              </a:rPr>
              <a:t>R</a:t>
            </a:r>
            <a:r>
              <a:rPr lang="en-US" altLang="zh-CN" b="1" baseline="30000" dirty="0">
                <a:ea typeface="华文行楷" pitchFamily="2" charset="-122"/>
              </a:rPr>
              <a:t>(</a:t>
            </a:r>
            <a:r>
              <a:rPr lang="en-US" altLang="zh-CN" b="1" baseline="-25000" dirty="0">
                <a:ea typeface="华文行楷" pitchFamily="2" charset="-122"/>
              </a:rPr>
              <a:t>1</a:t>
            </a:r>
            <a:r>
              <a:rPr lang="en-US" altLang="zh-CN" b="1" baseline="30000" dirty="0">
                <a:ea typeface="华文行楷" pitchFamily="2" charset="-122"/>
              </a:rPr>
              <a:t>0</a:t>
            </a:r>
            <a:r>
              <a:rPr lang="en-US" altLang="zh-CN" b="1" baseline="-25000" dirty="0">
                <a:ea typeface="华文行楷" pitchFamily="2" charset="-122"/>
              </a:rPr>
              <a:t>2</a:t>
            </a:r>
            <a:r>
              <a:rPr lang="en-US" altLang="zh-CN" b="1" baseline="30000" dirty="0">
                <a:ea typeface="华文行楷" pitchFamily="2" charset="-122"/>
              </a:rPr>
              <a:t>)</a:t>
            </a:r>
          </a:p>
        </p:txBody>
      </p:sp>
      <p:sp>
        <p:nvSpPr>
          <p:cNvPr id="139277" name="Rectangle 13"/>
          <p:cNvSpPr>
            <a:spLocks noChangeArrowheads="1"/>
          </p:cNvSpPr>
          <p:nvPr/>
        </p:nvSpPr>
        <p:spPr bwMode="auto">
          <a:xfrm>
            <a:off x="4856163" y="492442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itchFamily="34" charset="0"/>
                <a:ea typeface="华文行楷" pitchFamily="2" charset="-122"/>
              </a:rPr>
              <a:t>R</a:t>
            </a:r>
            <a:r>
              <a:rPr lang="en-US" altLang="zh-CN" b="1" baseline="30000" dirty="0">
                <a:ea typeface="华文行楷" pitchFamily="2" charset="-122"/>
              </a:rPr>
              <a:t>(</a:t>
            </a:r>
            <a:r>
              <a:rPr lang="en-US" altLang="zh-CN" b="1" baseline="-25000" dirty="0">
                <a:ea typeface="华文行楷" pitchFamily="2" charset="-122"/>
              </a:rPr>
              <a:t>2</a:t>
            </a:r>
            <a:r>
              <a:rPr lang="en-US" altLang="zh-CN" b="1" baseline="30000" dirty="0">
                <a:ea typeface="华文行楷" pitchFamily="2" charset="-122"/>
              </a:rPr>
              <a:t>0</a:t>
            </a:r>
            <a:r>
              <a:rPr lang="en-US" altLang="zh-CN" b="1" baseline="-25000" dirty="0">
                <a:ea typeface="华文行楷" pitchFamily="2" charset="-122"/>
              </a:rPr>
              <a:t>1</a:t>
            </a:r>
            <a:r>
              <a:rPr lang="en-US" altLang="zh-CN" b="1" baseline="30000" dirty="0">
                <a:ea typeface="华文行楷" pitchFamily="2" charset="-122"/>
              </a:rPr>
              <a:t>)</a:t>
            </a:r>
          </a:p>
        </p:txBody>
      </p:sp>
      <p:sp>
        <p:nvSpPr>
          <p:cNvPr id="139278" name="Rectangle 14"/>
          <p:cNvSpPr>
            <a:spLocks noChangeArrowheads="1"/>
          </p:cNvSpPr>
          <p:nvPr/>
        </p:nvSpPr>
        <p:spPr bwMode="auto">
          <a:xfrm>
            <a:off x="4856163" y="530542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itchFamily="34" charset="0"/>
                <a:ea typeface="华文行楷" pitchFamily="2" charset="-122"/>
              </a:rPr>
              <a:t>R</a:t>
            </a:r>
            <a:r>
              <a:rPr lang="en-US" altLang="zh-CN" b="1" baseline="30000" dirty="0">
                <a:ea typeface="华文行楷" pitchFamily="2" charset="-122"/>
              </a:rPr>
              <a:t>(</a:t>
            </a:r>
            <a:r>
              <a:rPr lang="en-US" altLang="zh-CN" b="1" baseline="-25000" dirty="0">
                <a:ea typeface="华文行楷" pitchFamily="2" charset="-122"/>
              </a:rPr>
              <a:t>2</a:t>
            </a:r>
            <a:r>
              <a:rPr lang="en-US" altLang="zh-CN" b="1" baseline="30000" dirty="0">
                <a:ea typeface="华文行楷" pitchFamily="2" charset="-122"/>
              </a:rPr>
              <a:t>0</a:t>
            </a:r>
            <a:r>
              <a:rPr lang="en-US" altLang="zh-CN" b="1" baseline="-25000" dirty="0">
                <a:ea typeface="华文行楷" pitchFamily="2" charset="-122"/>
              </a:rPr>
              <a:t>2</a:t>
            </a:r>
            <a:r>
              <a:rPr lang="en-US" altLang="zh-CN" b="1" baseline="30000" dirty="0">
                <a:ea typeface="华文行楷" pitchFamily="2" charset="-122"/>
              </a:rPr>
              <a:t>)</a:t>
            </a:r>
          </a:p>
        </p:txBody>
      </p:sp>
      <p:sp>
        <p:nvSpPr>
          <p:cNvPr id="139279" name="Rectangle 15"/>
          <p:cNvSpPr>
            <a:spLocks noChangeArrowheads="1"/>
          </p:cNvSpPr>
          <p:nvPr/>
        </p:nvSpPr>
        <p:spPr bwMode="auto">
          <a:xfrm>
            <a:off x="6315076" y="4143375"/>
            <a:ext cx="854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 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</a:p>
        </p:txBody>
      </p:sp>
      <p:sp>
        <p:nvSpPr>
          <p:cNvPr id="139280" name="Rectangle 16"/>
          <p:cNvSpPr>
            <a:spLocks noChangeArrowheads="1"/>
          </p:cNvSpPr>
          <p:nvPr/>
        </p:nvSpPr>
        <p:spPr bwMode="auto">
          <a:xfrm>
            <a:off x="6086476" y="5286375"/>
            <a:ext cx="1357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 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 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</a:p>
        </p:txBody>
      </p:sp>
      <p:sp>
        <p:nvSpPr>
          <p:cNvPr id="139281" name="Rectangle 17"/>
          <p:cNvSpPr>
            <a:spLocks noChangeArrowheads="1"/>
          </p:cNvSpPr>
          <p:nvPr/>
        </p:nvSpPr>
        <p:spPr bwMode="auto">
          <a:xfrm>
            <a:off x="6543676" y="4524375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sym typeface="Symbol" pitchFamily="18" charset="2"/>
              </a:rPr>
              <a:t>0</a:t>
            </a:r>
          </a:p>
        </p:txBody>
      </p:sp>
      <p:sp>
        <p:nvSpPr>
          <p:cNvPr id="139282" name="Rectangle 18"/>
          <p:cNvSpPr>
            <a:spLocks noChangeArrowheads="1"/>
          </p:cNvSpPr>
          <p:nvPr/>
        </p:nvSpPr>
        <p:spPr bwMode="auto">
          <a:xfrm>
            <a:off x="6505575" y="4829175"/>
            <a:ext cx="34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sym typeface="Symbol" pitchFamily="18" charset="2"/>
              </a:rPr>
              <a:t></a:t>
            </a:r>
          </a:p>
        </p:txBody>
      </p:sp>
      <p:sp>
        <p:nvSpPr>
          <p:cNvPr id="139283" name="Rectangle 19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291858-097A-C542-BDC3-E30836AF6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24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399944"/>
              </p:ext>
            </p:extLst>
          </p:nvPr>
        </p:nvGraphicFramePr>
        <p:xfrm>
          <a:off x="2667000" y="1752600"/>
          <a:ext cx="3754438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42160" imgH="1168200" progId="Visio.Drawing.11">
                  <p:embed/>
                </p:oleObj>
              </mc:Choice>
              <mc:Fallback>
                <p:oleObj name="VISIO" r:id="rId2" imgW="3242160" imgH="1168200" progId="Visio.Drawing.11">
                  <p:embed/>
                  <p:pic>
                    <p:nvPicPr>
                      <p:cNvPr id="1402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752600"/>
                        <a:ext cx="3754438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08" name="Rectangle 20"/>
          <p:cNvSpPr>
            <a:spLocks noChangeArrowheads="1"/>
          </p:cNvSpPr>
          <p:nvPr/>
        </p:nvSpPr>
        <p:spPr bwMode="auto">
          <a:xfrm>
            <a:off x="1924514" y="6171831"/>
            <a:ext cx="40735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itchFamily="34" charset="0"/>
                <a:ea typeface="华文行楷" pitchFamily="2" charset="-122"/>
              </a:rPr>
              <a:t>R</a:t>
            </a:r>
            <a:r>
              <a:rPr lang="en-US" altLang="zh-CN" b="1" baseline="30000" dirty="0">
                <a:ea typeface="华文行楷" pitchFamily="2" charset="-122"/>
              </a:rPr>
              <a:t>(</a:t>
            </a:r>
            <a:r>
              <a:rPr lang="en-US" altLang="zh-CN" b="1" baseline="-25000" dirty="0">
                <a:ea typeface="华文行楷" pitchFamily="2" charset="-122"/>
              </a:rPr>
              <a:t>i</a:t>
            </a:r>
            <a:r>
              <a:rPr lang="en-US" altLang="zh-CN" b="1" baseline="30000" dirty="0">
                <a:ea typeface="华文行楷" pitchFamily="2" charset="-122"/>
              </a:rPr>
              <a:t>1</a:t>
            </a:r>
            <a:r>
              <a:rPr lang="en-US" altLang="zh-CN" b="1" baseline="-25000" dirty="0">
                <a:ea typeface="华文行楷" pitchFamily="2" charset="-122"/>
              </a:rPr>
              <a:t>j</a:t>
            </a:r>
            <a:r>
              <a:rPr lang="en-US" altLang="zh-CN" b="1" baseline="30000" dirty="0">
                <a:ea typeface="华文行楷" pitchFamily="2" charset="-122"/>
              </a:rPr>
              <a:t>) </a:t>
            </a:r>
            <a:r>
              <a:rPr lang="en-US" altLang="zh-CN" sz="2400" b="1" dirty="0">
                <a:latin typeface="Arial" pitchFamily="34" charset="0"/>
                <a:ea typeface="华文行楷" pitchFamily="2" charset="-122"/>
              </a:rPr>
              <a:t>= R</a:t>
            </a:r>
            <a:r>
              <a:rPr lang="en-US" altLang="zh-CN" b="1" baseline="30000" dirty="0">
                <a:ea typeface="华文行楷" pitchFamily="2" charset="-122"/>
              </a:rPr>
              <a:t>(</a:t>
            </a:r>
            <a:r>
              <a:rPr lang="en-US" altLang="zh-CN" b="1" baseline="-25000" dirty="0">
                <a:ea typeface="华文行楷" pitchFamily="2" charset="-122"/>
              </a:rPr>
              <a:t>i</a:t>
            </a:r>
            <a:r>
              <a:rPr lang="en-US" altLang="zh-CN" b="1" baseline="30000" dirty="0">
                <a:ea typeface="华文行楷" pitchFamily="2" charset="-122"/>
              </a:rPr>
              <a:t>0</a:t>
            </a:r>
            <a:r>
              <a:rPr lang="en-US" altLang="zh-CN" b="1" baseline="-25000" dirty="0">
                <a:ea typeface="华文行楷" pitchFamily="2" charset="-122"/>
              </a:rPr>
              <a:t>j</a:t>
            </a:r>
            <a:r>
              <a:rPr lang="en-US" altLang="zh-CN" b="1" baseline="30000" dirty="0">
                <a:ea typeface="华文行楷" pitchFamily="2" charset="-122"/>
              </a:rPr>
              <a:t>)  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 </a:t>
            </a:r>
            <a:r>
              <a:rPr lang="en-US" altLang="zh-CN" sz="2400" b="1" dirty="0">
                <a:latin typeface="Arial" pitchFamily="34" charset="0"/>
                <a:ea typeface="华文行楷" pitchFamily="2" charset="-122"/>
              </a:rPr>
              <a:t>R</a:t>
            </a:r>
            <a:r>
              <a:rPr lang="en-US" altLang="zh-CN" b="1" baseline="30000" dirty="0">
                <a:ea typeface="华文行楷" pitchFamily="2" charset="-122"/>
              </a:rPr>
              <a:t>(</a:t>
            </a:r>
            <a:r>
              <a:rPr lang="en-US" altLang="zh-CN" b="1" baseline="-25000" dirty="0">
                <a:ea typeface="华文行楷" pitchFamily="2" charset="-122"/>
              </a:rPr>
              <a:t>i</a:t>
            </a:r>
            <a:r>
              <a:rPr lang="en-US" altLang="zh-CN" b="1" baseline="30000" dirty="0">
                <a:ea typeface="华文行楷" pitchFamily="2" charset="-122"/>
              </a:rPr>
              <a:t>0</a:t>
            </a:r>
            <a:r>
              <a:rPr lang="en-US" altLang="zh-CN" b="1" baseline="-25000" dirty="0">
                <a:ea typeface="华文行楷" pitchFamily="2" charset="-122"/>
              </a:rPr>
              <a:t>1</a:t>
            </a:r>
            <a:r>
              <a:rPr lang="en-US" altLang="zh-CN" b="1" baseline="30000" dirty="0">
                <a:ea typeface="华文行楷" pitchFamily="2" charset="-122"/>
              </a:rPr>
              <a:t>) </a:t>
            </a:r>
            <a:r>
              <a:rPr lang="en-US" altLang="zh-CN" sz="2400" b="1" dirty="0">
                <a:latin typeface="Arial" pitchFamily="34" charset="0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 dirty="0">
                <a:latin typeface="Arial" pitchFamily="34" charset="0"/>
                <a:ea typeface="华文行楷" pitchFamily="2" charset="-122"/>
              </a:rPr>
              <a:t>R</a:t>
            </a:r>
            <a:r>
              <a:rPr lang="en-US" altLang="zh-CN" b="1" baseline="30000" dirty="0">
                <a:ea typeface="华文行楷" pitchFamily="2" charset="-122"/>
              </a:rPr>
              <a:t>(</a:t>
            </a:r>
            <a:r>
              <a:rPr lang="en-US" altLang="zh-CN" b="1" baseline="-25000" dirty="0">
                <a:ea typeface="华文行楷" pitchFamily="2" charset="-122"/>
              </a:rPr>
              <a:t>1</a:t>
            </a:r>
            <a:r>
              <a:rPr lang="en-US" altLang="zh-CN" b="1" baseline="30000" dirty="0">
                <a:ea typeface="华文行楷" pitchFamily="2" charset="-122"/>
              </a:rPr>
              <a:t>0</a:t>
            </a:r>
            <a:r>
              <a:rPr lang="en-US" altLang="zh-CN" b="1" baseline="-25000" dirty="0">
                <a:ea typeface="华文行楷" pitchFamily="2" charset="-122"/>
              </a:rPr>
              <a:t>1</a:t>
            </a:r>
            <a:r>
              <a:rPr lang="en-US" altLang="zh-CN" b="1" baseline="30000" dirty="0">
                <a:ea typeface="华文行楷" pitchFamily="2" charset="-122"/>
              </a:rPr>
              <a:t>) </a:t>
            </a:r>
            <a:r>
              <a:rPr lang="en-US" altLang="zh-CN" sz="2400" b="1" dirty="0">
                <a:latin typeface="Arial" pitchFamily="34" charset="0"/>
                <a:cs typeface="Arial" pitchFamily="34" charset="0"/>
                <a:sym typeface="Symbol" pitchFamily="18" charset="2"/>
              </a:rPr>
              <a:t>)* </a:t>
            </a:r>
            <a:r>
              <a:rPr lang="en-US" altLang="zh-CN" sz="2400" b="1" dirty="0">
                <a:latin typeface="Arial" pitchFamily="34" charset="0"/>
                <a:ea typeface="华文行楷" pitchFamily="2" charset="-122"/>
              </a:rPr>
              <a:t>R</a:t>
            </a:r>
            <a:r>
              <a:rPr lang="en-US" altLang="zh-CN" b="1" baseline="30000" dirty="0">
                <a:ea typeface="华文行楷" pitchFamily="2" charset="-122"/>
              </a:rPr>
              <a:t>(</a:t>
            </a:r>
            <a:r>
              <a:rPr lang="en-US" altLang="zh-CN" b="1" baseline="-25000" dirty="0">
                <a:ea typeface="华文行楷" pitchFamily="2" charset="-122"/>
              </a:rPr>
              <a:t>1</a:t>
            </a:r>
            <a:r>
              <a:rPr lang="en-US" altLang="zh-CN" b="1" baseline="30000" dirty="0">
                <a:ea typeface="华文行楷" pitchFamily="2" charset="-122"/>
              </a:rPr>
              <a:t>0</a:t>
            </a:r>
            <a:r>
              <a:rPr lang="en-US" altLang="zh-CN" b="1" baseline="-25000" dirty="0">
                <a:ea typeface="华文行楷" pitchFamily="2" charset="-122"/>
              </a:rPr>
              <a:t>j</a:t>
            </a:r>
            <a:r>
              <a:rPr lang="en-US" altLang="zh-CN" b="1" baseline="30000" dirty="0">
                <a:ea typeface="华文行楷" pitchFamily="2" charset="-122"/>
              </a:rPr>
              <a:t>)</a:t>
            </a:r>
          </a:p>
        </p:txBody>
      </p:sp>
      <p:grpSp>
        <p:nvGrpSpPr>
          <p:cNvPr id="140332" name="Group 44"/>
          <p:cNvGrpSpPr>
            <a:grpSpLocks/>
          </p:cNvGrpSpPr>
          <p:nvPr/>
        </p:nvGrpSpPr>
        <p:grpSpPr bwMode="auto">
          <a:xfrm>
            <a:off x="1271464" y="3590926"/>
            <a:ext cx="5715000" cy="2305050"/>
            <a:chOff x="672" y="2304"/>
            <a:chExt cx="3600" cy="1452"/>
          </a:xfrm>
        </p:grpSpPr>
        <p:sp>
          <p:nvSpPr>
            <p:cNvPr id="140299" name="Line 11"/>
            <p:cNvSpPr>
              <a:spLocks noChangeShapeType="1"/>
            </p:cNvSpPr>
            <p:nvPr/>
          </p:nvSpPr>
          <p:spPr bwMode="auto">
            <a:xfrm>
              <a:off x="1152" y="2694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01" name="Line 13"/>
            <p:cNvSpPr>
              <a:spLocks noChangeShapeType="1"/>
            </p:cNvSpPr>
            <p:nvPr/>
          </p:nvSpPr>
          <p:spPr bwMode="auto">
            <a:xfrm>
              <a:off x="3408" y="2694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296" name="Line 8"/>
            <p:cNvSpPr>
              <a:spLocks noChangeShapeType="1"/>
            </p:cNvSpPr>
            <p:nvPr/>
          </p:nvSpPr>
          <p:spPr bwMode="auto">
            <a:xfrm>
              <a:off x="672" y="264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297" name="Line 9"/>
            <p:cNvSpPr>
              <a:spLocks noChangeShapeType="1"/>
            </p:cNvSpPr>
            <p:nvPr/>
          </p:nvSpPr>
          <p:spPr bwMode="auto">
            <a:xfrm>
              <a:off x="672" y="269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298" name="Line 10"/>
            <p:cNvSpPr>
              <a:spLocks noChangeShapeType="1"/>
            </p:cNvSpPr>
            <p:nvPr/>
          </p:nvSpPr>
          <p:spPr bwMode="auto">
            <a:xfrm>
              <a:off x="1152" y="2310"/>
              <a:ext cx="0" cy="33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00" name="Line 12"/>
            <p:cNvSpPr>
              <a:spLocks noChangeShapeType="1"/>
            </p:cNvSpPr>
            <p:nvPr/>
          </p:nvSpPr>
          <p:spPr bwMode="auto">
            <a:xfrm>
              <a:off x="3408" y="2310"/>
              <a:ext cx="0" cy="33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02" name="Text Box 14"/>
            <p:cNvSpPr txBox="1">
              <a:spLocks noChangeArrowheads="1"/>
            </p:cNvSpPr>
            <p:nvPr/>
          </p:nvSpPr>
          <p:spPr bwMode="auto">
            <a:xfrm>
              <a:off x="3600" y="2304"/>
              <a:ext cx="528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 b="1" i="0">
                  <a:latin typeface="楷体_GB2312" pitchFamily="49" charset="-122"/>
                  <a:ea typeface="楷体_GB2312" pitchFamily="49" charset="-122"/>
                </a:rPr>
                <a:t>化简</a:t>
              </a:r>
              <a:endParaRPr lang="zh-CN" altLang="en-US" sz="2400" b="1" i="0" baseline="-25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0303" name="Rectangle 15"/>
            <p:cNvSpPr>
              <a:spLocks noChangeArrowheads="1"/>
            </p:cNvSpPr>
            <p:nvPr/>
          </p:nvSpPr>
          <p:spPr bwMode="auto">
            <a:xfrm>
              <a:off x="672" y="270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0304" name="Rectangle 16"/>
            <p:cNvSpPr>
              <a:spLocks noChangeArrowheads="1"/>
            </p:cNvSpPr>
            <p:nvPr/>
          </p:nvSpPr>
          <p:spPr bwMode="auto">
            <a:xfrm>
              <a:off x="672" y="294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0305" name="Rectangle 17"/>
            <p:cNvSpPr>
              <a:spLocks noChangeArrowheads="1"/>
            </p:cNvSpPr>
            <p:nvPr/>
          </p:nvSpPr>
          <p:spPr bwMode="auto">
            <a:xfrm>
              <a:off x="672" y="318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0306" name="Rectangle 18"/>
            <p:cNvSpPr>
              <a:spLocks noChangeArrowheads="1"/>
            </p:cNvSpPr>
            <p:nvPr/>
          </p:nvSpPr>
          <p:spPr bwMode="auto">
            <a:xfrm>
              <a:off x="672" y="342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0307" name="Text Box 19"/>
            <p:cNvSpPr txBox="1">
              <a:spLocks noChangeArrowheads="1"/>
            </p:cNvSpPr>
            <p:nvPr/>
          </p:nvSpPr>
          <p:spPr bwMode="auto">
            <a:xfrm>
              <a:off x="1728" y="2316"/>
              <a:ext cx="912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 b="1" i="0" dirty="0">
                  <a:latin typeface="楷体_GB2312" pitchFamily="49" charset="-122"/>
                  <a:ea typeface="楷体_GB2312" pitchFamily="49" charset="-122"/>
                </a:rPr>
                <a:t>直接替换</a:t>
              </a:r>
              <a:endParaRPr lang="zh-CN" altLang="en-US" sz="2400" b="1" i="0" baseline="-250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0309" name="Rectangle 21"/>
            <p:cNvSpPr>
              <a:spLocks noChangeArrowheads="1"/>
            </p:cNvSpPr>
            <p:nvPr/>
          </p:nvSpPr>
          <p:spPr bwMode="auto">
            <a:xfrm>
              <a:off x="1190" y="2688"/>
              <a:ext cx="21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  <a:r>
                <a:rPr lang="en-US" altLang="zh-CN" sz="2400" b="1" baseline="-25000">
                  <a:latin typeface="Arial" pitchFamily="34" charset="0"/>
                  <a:sym typeface="Symbol" pitchFamily="18" charset="2"/>
                </a:rPr>
                <a:t>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(</a:t>
              </a:r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  <a:r>
                <a:rPr lang="en-US" altLang="zh-CN" sz="2400" b="1" baseline="-25000">
                  <a:latin typeface="Arial" pitchFamily="34" charset="0"/>
                  <a:sym typeface="Symbol" pitchFamily="18" charset="2"/>
                </a:rPr>
                <a:t>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)(</a:t>
              </a:r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  <a:r>
                <a:rPr lang="en-US" altLang="zh-CN" sz="2400" b="1" baseline="-25000">
                  <a:latin typeface="Arial" pitchFamily="34" charset="0"/>
                  <a:sym typeface="Symbol" pitchFamily="18" charset="2"/>
                </a:rPr>
                <a:t>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)*(</a:t>
              </a:r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  <a:r>
                <a:rPr lang="en-US" altLang="zh-CN" sz="2400" b="1" baseline="-25000">
                  <a:latin typeface="Arial" pitchFamily="34" charset="0"/>
                  <a:sym typeface="Symbol" pitchFamily="18" charset="2"/>
                </a:rPr>
                <a:t>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 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)</a:t>
              </a:r>
            </a:p>
          </p:txBody>
        </p:sp>
      </p:grpSp>
      <p:sp>
        <p:nvSpPr>
          <p:cNvPr id="140310" name="Rectangle 22"/>
          <p:cNvSpPr>
            <a:spLocks noChangeArrowheads="1"/>
          </p:cNvSpPr>
          <p:nvPr/>
        </p:nvSpPr>
        <p:spPr bwMode="auto">
          <a:xfrm>
            <a:off x="2109665" y="4581526"/>
            <a:ext cx="2270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itchFamily="34" charset="0"/>
                <a:ea typeface="华文行楷" pitchFamily="2" charset="-122"/>
                <a:sym typeface="Symbol" pitchFamily="18" charset="2"/>
              </a:rPr>
              <a:t>0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 dirty="0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 dirty="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 dirty="0">
                <a:latin typeface="Arial" pitchFamily="34" charset="0"/>
                <a:cs typeface="Arial" pitchFamily="34" charset="0"/>
                <a:sym typeface="Symbol" pitchFamily="18" charset="2"/>
              </a:rPr>
              <a:t>)(</a:t>
            </a:r>
            <a:r>
              <a:rPr lang="en-US" altLang="zh-CN" sz="2400" b="1" dirty="0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 dirty="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 dirty="0">
                <a:latin typeface="Arial" pitchFamily="34" charset="0"/>
                <a:cs typeface="Arial" pitchFamily="34" charset="0"/>
                <a:sym typeface="Symbol" pitchFamily="18" charset="2"/>
              </a:rPr>
              <a:t>)*0</a:t>
            </a:r>
          </a:p>
        </p:txBody>
      </p:sp>
      <p:sp>
        <p:nvSpPr>
          <p:cNvPr id="140311" name="Rectangle 23"/>
          <p:cNvSpPr>
            <a:spLocks noChangeArrowheads="1"/>
          </p:cNvSpPr>
          <p:nvPr/>
        </p:nvSpPr>
        <p:spPr bwMode="auto">
          <a:xfrm>
            <a:off x="2109665" y="4962526"/>
            <a:ext cx="2416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sym typeface="Symbol" pitchFamily="18" charset="2"/>
              </a:rPr>
              <a:t>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sym typeface="Symbol" pitchFamily="18" charset="2"/>
              </a:rPr>
              <a:t>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)*(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 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</a:t>
            </a:r>
          </a:p>
        </p:txBody>
      </p:sp>
      <p:sp>
        <p:nvSpPr>
          <p:cNvPr id="140312" name="Rectangle 24"/>
          <p:cNvSpPr>
            <a:spLocks noChangeArrowheads="1"/>
          </p:cNvSpPr>
          <p:nvPr/>
        </p:nvSpPr>
        <p:spPr bwMode="auto">
          <a:xfrm>
            <a:off x="2109664" y="5343526"/>
            <a:ext cx="2476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sym typeface="Symbol" pitchFamily="18" charset="2"/>
              </a:rPr>
              <a:t>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)*0</a:t>
            </a:r>
          </a:p>
        </p:txBody>
      </p:sp>
      <p:sp>
        <p:nvSpPr>
          <p:cNvPr id="140313" name="Rectangle 25"/>
          <p:cNvSpPr>
            <a:spLocks noChangeArrowheads="1"/>
          </p:cNvSpPr>
          <p:nvPr/>
        </p:nvSpPr>
        <p:spPr bwMode="auto">
          <a:xfrm>
            <a:off x="6030790" y="4200526"/>
            <a:ext cx="473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*</a:t>
            </a:r>
          </a:p>
        </p:txBody>
      </p:sp>
      <p:sp>
        <p:nvSpPr>
          <p:cNvPr id="140314" name="Rectangle 26"/>
          <p:cNvSpPr>
            <a:spLocks noChangeArrowheads="1"/>
          </p:cNvSpPr>
          <p:nvPr/>
        </p:nvSpPr>
        <p:spPr bwMode="auto">
          <a:xfrm>
            <a:off x="6013328" y="4657726"/>
            <a:ext cx="642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*0</a:t>
            </a:r>
          </a:p>
        </p:txBody>
      </p:sp>
      <p:sp>
        <p:nvSpPr>
          <p:cNvPr id="140315" name="Rectangle 27"/>
          <p:cNvSpPr>
            <a:spLocks noChangeArrowheads="1"/>
          </p:cNvSpPr>
          <p:nvPr/>
        </p:nvSpPr>
        <p:spPr bwMode="auto">
          <a:xfrm>
            <a:off x="6033964" y="4962526"/>
            <a:ext cx="34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sym typeface="Symbol" pitchFamily="18" charset="2"/>
              </a:rPr>
              <a:t></a:t>
            </a:r>
          </a:p>
        </p:txBody>
      </p:sp>
      <p:sp>
        <p:nvSpPr>
          <p:cNvPr id="140316" name="Rectangle 28"/>
          <p:cNvSpPr>
            <a:spLocks noChangeArrowheads="1"/>
          </p:cNvSpPr>
          <p:nvPr/>
        </p:nvSpPr>
        <p:spPr bwMode="auto">
          <a:xfrm>
            <a:off x="5775203" y="5343526"/>
            <a:ext cx="1131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</a:p>
        </p:txBody>
      </p:sp>
      <p:grpSp>
        <p:nvGrpSpPr>
          <p:cNvPr id="140328" name="Group 40"/>
          <p:cNvGrpSpPr>
            <a:grpSpLocks/>
          </p:cNvGrpSpPr>
          <p:nvPr/>
        </p:nvGrpSpPr>
        <p:grpSpPr bwMode="auto">
          <a:xfrm>
            <a:off x="7162800" y="1828801"/>
            <a:ext cx="3048000" cy="1762125"/>
            <a:chOff x="3552" y="1098"/>
            <a:chExt cx="1920" cy="1110"/>
          </a:xfrm>
        </p:grpSpPr>
        <p:sp>
          <p:nvSpPr>
            <p:cNvPr id="140317" name="Line 29"/>
            <p:cNvSpPr>
              <a:spLocks noChangeShapeType="1"/>
            </p:cNvSpPr>
            <p:nvPr/>
          </p:nvSpPr>
          <p:spPr bwMode="auto">
            <a:xfrm>
              <a:off x="3552" y="1098"/>
              <a:ext cx="192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18" name="Line 30"/>
            <p:cNvSpPr>
              <a:spLocks noChangeShapeType="1"/>
            </p:cNvSpPr>
            <p:nvPr/>
          </p:nvSpPr>
          <p:spPr bwMode="auto">
            <a:xfrm>
              <a:off x="3552" y="1146"/>
              <a:ext cx="192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19" name="Line 31"/>
            <p:cNvSpPr>
              <a:spLocks noChangeShapeType="1"/>
            </p:cNvSpPr>
            <p:nvPr/>
          </p:nvSpPr>
          <p:spPr bwMode="auto">
            <a:xfrm>
              <a:off x="4224" y="1146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20" name="Rectangle 32"/>
            <p:cNvSpPr>
              <a:spLocks noChangeArrowheads="1"/>
            </p:cNvSpPr>
            <p:nvPr/>
          </p:nvSpPr>
          <p:spPr bwMode="auto">
            <a:xfrm>
              <a:off x="3648" y="1152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0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0321" name="Rectangle 33"/>
            <p:cNvSpPr>
              <a:spLocks noChangeArrowheads="1"/>
            </p:cNvSpPr>
            <p:nvPr/>
          </p:nvSpPr>
          <p:spPr bwMode="auto">
            <a:xfrm>
              <a:off x="3648" y="1392"/>
              <a:ext cx="5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 dirty="0">
                  <a:ea typeface="华文行楷" pitchFamily="2" charset="-122"/>
                </a:rPr>
                <a:t>(</a:t>
              </a:r>
              <a:r>
                <a:rPr lang="en-US" altLang="zh-CN" b="1" baseline="-25000" dirty="0">
                  <a:ea typeface="华文行楷" pitchFamily="2" charset="-122"/>
                </a:rPr>
                <a:t>1</a:t>
              </a:r>
              <a:r>
                <a:rPr lang="en-US" altLang="zh-CN" b="1" baseline="30000" dirty="0">
                  <a:ea typeface="华文行楷" pitchFamily="2" charset="-122"/>
                </a:rPr>
                <a:t>0</a:t>
              </a:r>
              <a:r>
                <a:rPr lang="en-US" altLang="zh-CN" b="1" baseline="-25000" dirty="0">
                  <a:ea typeface="华文行楷" pitchFamily="2" charset="-122"/>
                </a:rPr>
                <a:t>2</a:t>
              </a:r>
              <a:r>
                <a:rPr lang="en-US" altLang="zh-CN" b="1" baseline="30000" dirty="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0322" name="Rectangle 34"/>
            <p:cNvSpPr>
              <a:spLocks noChangeArrowheads="1"/>
            </p:cNvSpPr>
            <p:nvPr/>
          </p:nvSpPr>
          <p:spPr bwMode="auto">
            <a:xfrm>
              <a:off x="3648" y="1632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 dirty="0">
                  <a:ea typeface="华文行楷" pitchFamily="2" charset="-122"/>
                </a:rPr>
                <a:t>(</a:t>
              </a:r>
              <a:r>
                <a:rPr lang="en-US" altLang="zh-CN" b="1" baseline="-25000" dirty="0">
                  <a:ea typeface="华文行楷" pitchFamily="2" charset="-122"/>
                </a:rPr>
                <a:t>2</a:t>
              </a:r>
              <a:r>
                <a:rPr lang="en-US" altLang="zh-CN" b="1" baseline="30000" dirty="0">
                  <a:ea typeface="华文行楷" pitchFamily="2" charset="-122"/>
                </a:rPr>
                <a:t>0</a:t>
              </a:r>
              <a:r>
                <a:rPr lang="en-US" altLang="zh-CN" b="1" baseline="-25000" dirty="0">
                  <a:ea typeface="华文行楷" pitchFamily="2" charset="-122"/>
                </a:rPr>
                <a:t>1</a:t>
              </a:r>
              <a:r>
                <a:rPr lang="en-US" altLang="zh-CN" b="1" baseline="30000" dirty="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0323" name="Rectangle 35"/>
            <p:cNvSpPr>
              <a:spLocks noChangeArrowheads="1"/>
            </p:cNvSpPr>
            <p:nvPr/>
          </p:nvSpPr>
          <p:spPr bwMode="auto">
            <a:xfrm>
              <a:off x="3648" y="1872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0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0324" name="Rectangle 36"/>
            <p:cNvSpPr>
              <a:spLocks noChangeArrowheads="1"/>
            </p:cNvSpPr>
            <p:nvPr/>
          </p:nvSpPr>
          <p:spPr bwMode="auto">
            <a:xfrm>
              <a:off x="4567" y="1140"/>
              <a:ext cx="53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  <a:r>
                <a:rPr lang="en-US" altLang="zh-CN" sz="2400" b="1" baseline="-25000">
                  <a:latin typeface="Arial" pitchFamily="34" charset="0"/>
                  <a:sym typeface="Symbol" pitchFamily="18" charset="2"/>
                </a:rPr>
                <a:t> 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 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40325" name="Rectangle 37"/>
            <p:cNvSpPr>
              <a:spLocks noChangeArrowheads="1"/>
            </p:cNvSpPr>
            <p:nvPr/>
          </p:nvSpPr>
          <p:spPr bwMode="auto">
            <a:xfrm>
              <a:off x="4423" y="1860"/>
              <a:ext cx="8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  <a:r>
                <a:rPr lang="en-US" altLang="zh-CN" sz="2400" b="1" baseline="-25000">
                  <a:latin typeface="Arial" pitchFamily="34" charset="0"/>
                  <a:sym typeface="Symbol" pitchFamily="18" charset="2"/>
                </a:rPr>
                <a:t> 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 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0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 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40326" name="Rectangle 38"/>
            <p:cNvSpPr>
              <a:spLocks noChangeArrowheads="1"/>
            </p:cNvSpPr>
            <p:nvPr/>
          </p:nvSpPr>
          <p:spPr bwMode="auto">
            <a:xfrm>
              <a:off x="4711" y="138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Arial" pitchFamily="34" charset="0"/>
                  <a:sym typeface="Symbol" pitchFamily="18" charset="2"/>
                </a:rPr>
                <a:t>0</a:t>
              </a:r>
            </a:p>
          </p:txBody>
        </p:sp>
        <p:sp>
          <p:nvSpPr>
            <p:cNvPr id="140327" name="Rectangle 39"/>
            <p:cNvSpPr>
              <a:spLocks noChangeArrowheads="1"/>
            </p:cNvSpPr>
            <p:nvPr/>
          </p:nvSpPr>
          <p:spPr bwMode="auto">
            <a:xfrm>
              <a:off x="4687" y="1572"/>
              <a:ext cx="2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ym typeface="Symbol" pitchFamily="18" charset="2"/>
                </a:rPr>
                <a:t></a:t>
              </a:r>
            </a:p>
          </p:txBody>
        </p:sp>
      </p:grpSp>
      <p:sp>
        <p:nvSpPr>
          <p:cNvPr id="140333" name="Rectangle 45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40334" name="Rectangle 46"/>
          <p:cNvSpPr>
            <a:spLocks noChangeArrowheads="1"/>
          </p:cNvSpPr>
          <p:nvPr/>
        </p:nvSpPr>
        <p:spPr bwMode="auto">
          <a:xfrm>
            <a:off x="2135189" y="1125538"/>
            <a:ext cx="5114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路径迭代法举例</a:t>
            </a:r>
            <a:endParaRPr lang="zh-CN" altLang="en-US" sz="3200" b="1" i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28F0E5-D983-F74D-AAF6-2918F2223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9DBCB6F-50CE-4E8F-A352-9657CF46A261}"/>
                  </a:ext>
                </a:extLst>
              </p:cNvPr>
              <p:cNvSpPr txBox="1"/>
              <p:nvPr/>
            </p:nvSpPr>
            <p:spPr>
              <a:xfrm>
                <a:off x="7736538" y="3881922"/>
                <a:ext cx="5042372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+E</a:t>
                </a:r>
                <a:r>
                  <a:rPr lang="en-US" altLang="zh-CN" sz="2400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zh-CN" sz="2400" baseline="30000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  <a:r>
                  <a:rPr lang="en-US" altLang="zh-CN" sz="2400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sz="2400" i="1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lang="en-US" altLang="zh-CN" sz="2400" baseline="30000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i="1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aseline="30000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  <a:r>
                  <a:rPr lang="en-US" altLang="zh-CN" sz="2400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aseline="30000" dirty="0">
                        <a:ea typeface="楷体_GB2312" panose="0201060903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∗</m:t>
                    </m:r>
                  </m:oMath>
                </a14:m>
                <a:endParaRPr lang="en-US" altLang="zh-CN" sz="2400" i="1" dirty="0">
                  <a:ea typeface="楷体_GB2312" panose="0201060903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14:m>
                  <m:oMath xmlns:m="http://schemas.openxmlformats.org/officeDocument/2006/math">
                    <m:r>
                      <a:rPr lang="en-AU" altLang="zh-CN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</m:oMath>
                </a14:m>
                <a:r>
                  <a:rPr lang="zh-CN" altLang="en-US" sz="2400" dirty="0"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（零元）</a:t>
                </a:r>
                <a:endParaRPr lang="en-US" altLang="zh-CN" sz="2400" i="1" dirty="0">
                  <a:ea typeface="楷体_GB2312" panose="0201060903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>
                    <a:ea typeface="楷体_GB2312" panose="0201060903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r>
                      <a:rPr lang="en-AU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2400" dirty="0"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（单位元）</a:t>
                </a:r>
                <a:endParaRPr lang="en-AU" altLang="zh-CN" sz="2400" dirty="0"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9DBCB6F-50CE-4E8F-A352-9657CF46A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538" y="3881922"/>
                <a:ext cx="5042372" cy="1569660"/>
              </a:xfrm>
              <a:prstGeom prst="rect">
                <a:avLst/>
              </a:prstGeom>
              <a:blipFill>
                <a:blip r:embed="rId5"/>
                <a:stretch>
                  <a:fillRect l="-1814" t="-3502" b="-8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4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4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4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4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4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4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4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08" grpId="0" autoUpdateAnimBg="0"/>
      <p:bldP spid="140310" grpId="0" autoUpdateAnimBg="0"/>
      <p:bldP spid="140311" grpId="0" autoUpdateAnimBg="0"/>
      <p:bldP spid="140312" grpId="0" autoUpdateAnimBg="0"/>
      <p:bldP spid="140313" grpId="0" autoUpdateAnimBg="0"/>
      <p:bldP spid="140314" grpId="0" autoUpdateAnimBg="0"/>
      <p:bldP spid="140315" grpId="0" autoUpdateAnimBg="0"/>
      <p:bldP spid="14031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9" name="Object 7"/>
          <p:cNvGraphicFramePr>
            <a:graphicFrameLocks noChangeAspect="1"/>
          </p:cNvGraphicFramePr>
          <p:nvPr/>
        </p:nvGraphicFramePr>
        <p:xfrm>
          <a:off x="2590800" y="1924050"/>
          <a:ext cx="3754438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42160" imgH="1168200" progId="Visio.Drawing.11">
                  <p:embed/>
                </p:oleObj>
              </mc:Choice>
              <mc:Fallback>
                <p:oleObj name="VISIO" r:id="rId2" imgW="3242160" imgH="1168200" progId="Visio.Drawing.11">
                  <p:embed/>
                  <p:pic>
                    <p:nvPicPr>
                      <p:cNvPr id="141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924050"/>
                        <a:ext cx="3754438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1356" name="Group 44"/>
          <p:cNvGrpSpPr>
            <a:grpSpLocks/>
          </p:cNvGrpSpPr>
          <p:nvPr/>
        </p:nvGrpSpPr>
        <p:grpSpPr bwMode="auto">
          <a:xfrm>
            <a:off x="2438401" y="3790952"/>
            <a:ext cx="7315201" cy="2919413"/>
            <a:chOff x="576" y="2388"/>
            <a:chExt cx="4608" cy="1839"/>
          </a:xfrm>
        </p:grpSpPr>
        <p:sp>
          <p:nvSpPr>
            <p:cNvPr id="141320" name="Line 8"/>
            <p:cNvSpPr>
              <a:spLocks noChangeShapeType="1"/>
            </p:cNvSpPr>
            <p:nvPr/>
          </p:nvSpPr>
          <p:spPr bwMode="auto">
            <a:xfrm>
              <a:off x="576" y="2730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1" name="Line 9"/>
            <p:cNvSpPr>
              <a:spLocks noChangeShapeType="1"/>
            </p:cNvSpPr>
            <p:nvPr/>
          </p:nvSpPr>
          <p:spPr bwMode="auto">
            <a:xfrm>
              <a:off x="576" y="277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2" name="Line 10"/>
            <p:cNvSpPr>
              <a:spLocks noChangeShapeType="1"/>
            </p:cNvSpPr>
            <p:nvPr/>
          </p:nvSpPr>
          <p:spPr bwMode="auto">
            <a:xfrm>
              <a:off x="1104" y="2394"/>
              <a:ext cx="0" cy="33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3" name="Line 11"/>
            <p:cNvSpPr>
              <a:spLocks noChangeShapeType="1"/>
            </p:cNvSpPr>
            <p:nvPr/>
          </p:nvSpPr>
          <p:spPr bwMode="auto">
            <a:xfrm>
              <a:off x="1104" y="2784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4" name="Line 12"/>
            <p:cNvSpPr>
              <a:spLocks noChangeShapeType="1"/>
            </p:cNvSpPr>
            <p:nvPr/>
          </p:nvSpPr>
          <p:spPr bwMode="auto">
            <a:xfrm>
              <a:off x="4176" y="2394"/>
              <a:ext cx="0" cy="33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5" name="Line 13"/>
            <p:cNvSpPr>
              <a:spLocks noChangeShapeType="1"/>
            </p:cNvSpPr>
            <p:nvPr/>
          </p:nvSpPr>
          <p:spPr bwMode="auto">
            <a:xfrm>
              <a:off x="4176" y="2778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6" name="Text Box 14"/>
            <p:cNvSpPr txBox="1">
              <a:spLocks noChangeArrowheads="1"/>
            </p:cNvSpPr>
            <p:nvPr/>
          </p:nvSpPr>
          <p:spPr bwMode="auto">
            <a:xfrm>
              <a:off x="4368" y="2388"/>
              <a:ext cx="528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 b="1" i="0">
                  <a:latin typeface="楷体_GB2312" pitchFamily="49" charset="-122"/>
                  <a:ea typeface="楷体_GB2312" pitchFamily="49" charset="-122"/>
                </a:rPr>
                <a:t>化简</a:t>
              </a:r>
              <a:endParaRPr lang="zh-CN" altLang="en-US" sz="2400" b="1" i="0" baseline="-25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1327" name="Rectangle 15"/>
            <p:cNvSpPr>
              <a:spLocks noChangeArrowheads="1"/>
            </p:cNvSpPr>
            <p:nvPr/>
          </p:nvSpPr>
          <p:spPr bwMode="auto">
            <a:xfrm>
              <a:off x="624" y="279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 dirty="0">
                  <a:ea typeface="华文行楷" pitchFamily="2" charset="-122"/>
                </a:rPr>
                <a:t>(</a:t>
              </a:r>
              <a:r>
                <a:rPr lang="en-US" altLang="zh-CN" b="1" baseline="-25000" dirty="0">
                  <a:ea typeface="华文行楷" pitchFamily="2" charset="-122"/>
                </a:rPr>
                <a:t>1</a:t>
              </a:r>
              <a:r>
                <a:rPr lang="en-US" altLang="zh-CN" b="1" baseline="30000" dirty="0">
                  <a:ea typeface="华文行楷" pitchFamily="2" charset="-122"/>
                </a:rPr>
                <a:t>2</a:t>
              </a:r>
              <a:r>
                <a:rPr lang="en-US" altLang="zh-CN" b="1" baseline="-25000" dirty="0">
                  <a:ea typeface="华文行楷" pitchFamily="2" charset="-122"/>
                </a:rPr>
                <a:t>1</a:t>
              </a:r>
              <a:r>
                <a:rPr lang="en-US" altLang="zh-CN" b="1" baseline="30000" dirty="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1328" name="Rectangle 16"/>
            <p:cNvSpPr>
              <a:spLocks noChangeArrowheads="1"/>
            </p:cNvSpPr>
            <p:nvPr/>
          </p:nvSpPr>
          <p:spPr bwMode="auto">
            <a:xfrm>
              <a:off x="624" y="302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2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1329" name="Rectangle 17"/>
            <p:cNvSpPr>
              <a:spLocks noChangeArrowheads="1"/>
            </p:cNvSpPr>
            <p:nvPr/>
          </p:nvSpPr>
          <p:spPr bwMode="auto">
            <a:xfrm>
              <a:off x="624" y="326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2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1330" name="Rectangle 18"/>
            <p:cNvSpPr>
              <a:spLocks noChangeArrowheads="1"/>
            </p:cNvSpPr>
            <p:nvPr/>
          </p:nvSpPr>
          <p:spPr bwMode="auto">
            <a:xfrm>
              <a:off x="624" y="350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2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1331" name="Text Box 19"/>
            <p:cNvSpPr txBox="1">
              <a:spLocks noChangeArrowheads="1"/>
            </p:cNvSpPr>
            <p:nvPr/>
          </p:nvSpPr>
          <p:spPr bwMode="auto">
            <a:xfrm>
              <a:off x="2016" y="2400"/>
              <a:ext cx="912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 b="1" i="0">
                  <a:latin typeface="楷体_GB2312" pitchFamily="49" charset="-122"/>
                  <a:ea typeface="楷体_GB2312" pitchFamily="49" charset="-122"/>
                </a:rPr>
                <a:t>直接替换</a:t>
              </a:r>
              <a:endParaRPr lang="zh-CN" altLang="en-US" sz="2400" b="1" i="0" baseline="-25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1332" name="Rectangle 20"/>
            <p:cNvSpPr>
              <a:spLocks noChangeArrowheads="1"/>
            </p:cNvSpPr>
            <p:nvPr/>
          </p:nvSpPr>
          <p:spPr bwMode="auto">
            <a:xfrm>
              <a:off x="1344" y="3936"/>
              <a:ext cx="256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i</a:t>
              </a:r>
              <a:r>
                <a:rPr lang="en-US" altLang="zh-CN" b="1" baseline="30000">
                  <a:ea typeface="华文行楷" pitchFamily="2" charset="-122"/>
                </a:rPr>
                <a:t>2</a:t>
              </a:r>
              <a:r>
                <a:rPr lang="en-US" altLang="zh-CN" b="1" baseline="-25000">
                  <a:ea typeface="华文行楷" pitchFamily="2" charset="-122"/>
                </a:rPr>
                <a:t>j</a:t>
              </a:r>
              <a:r>
                <a:rPr lang="en-US" altLang="zh-CN" b="1" baseline="30000">
                  <a:ea typeface="华文行楷" pitchFamily="2" charset="-122"/>
                </a:rPr>
                <a:t>) </a:t>
              </a:r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= 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i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j</a:t>
              </a:r>
              <a:r>
                <a:rPr lang="en-US" altLang="zh-CN" b="1" baseline="30000">
                  <a:ea typeface="华文行楷" pitchFamily="2" charset="-122"/>
                </a:rPr>
                <a:t>) 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 </a:t>
              </a:r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i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) 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(</a:t>
              </a:r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) 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)* </a:t>
              </a:r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j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</p:grpSp>
      <p:sp>
        <p:nvSpPr>
          <p:cNvPr id="141333" name="Rectangle 21"/>
          <p:cNvSpPr>
            <a:spLocks noChangeArrowheads="1"/>
          </p:cNvSpPr>
          <p:nvPr/>
        </p:nvSpPr>
        <p:spPr bwMode="auto">
          <a:xfrm>
            <a:off x="3297239" y="4400550"/>
            <a:ext cx="2611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sym typeface="Symbol" pitchFamily="18" charset="2"/>
              </a:rPr>
              <a:t>1*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*0(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)* </a:t>
            </a:r>
            <a:r>
              <a:rPr lang="en-US" altLang="zh-CN" sz="2400" b="1">
                <a:sym typeface="Symbol" pitchFamily="18" charset="2"/>
              </a:rPr>
              <a:t></a:t>
            </a:r>
          </a:p>
        </p:txBody>
      </p:sp>
      <p:sp>
        <p:nvSpPr>
          <p:cNvPr id="141334" name="Rectangle 22"/>
          <p:cNvSpPr>
            <a:spLocks noChangeArrowheads="1"/>
          </p:cNvSpPr>
          <p:nvPr/>
        </p:nvSpPr>
        <p:spPr bwMode="auto">
          <a:xfrm>
            <a:off x="3313113" y="4781550"/>
            <a:ext cx="368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*0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*0(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)*(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</a:t>
            </a:r>
          </a:p>
        </p:txBody>
      </p:sp>
      <p:sp>
        <p:nvSpPr>
          <p:cNvPr id="141335" name="Rectangle 23"/>
          <p:cNvSpPr>
            <a:spLocks noChangeArrowheads="1"/>
          </p:cNvSpPr>
          <p:nvPr/>
        </p:nvSpPr>
        <p:spPr bwMode="auto">
          <a:xfrm>
            <a:off x="3313113" y="5162550"/>
            <a:ext cx="3257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sym typeface="Symbol" pitchFamily="18" charset="2"/>
              </a:rPr>
              <a:t></a:t>
            </a:r>
            <a:r>
              <a:rPr lang="en-US" altLang="zh-CN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 dirty="0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 dirty="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sym typeface="Symbol" pitchFamily="18" charset="2"/>
              </a:rPr>
              <a:t>1)</a:t>
            </a:r>
            <a:r>
              <a:rPr lang="en-US" altLang="zh-CN" sz="2400" b="1" dirty="0">
                <a:latin typeface="Arial" pitchFamily="34" charset="0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 dirty="0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 dirty="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 dirty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 dirty="0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 dirty="0">
                <a:latin typeface="Arial" pitchFamily="34" charset="0"/>
                <a:cs typeface="Arial" pitchFamily="34" charset="0"/>
                <a:sym typeface="Symbol" pitchFamily="18" charset="2"/>
              </a:rPr>
              <a:t>)* </a:t>
            </a:r>
            <a:r>
              <a:rPr lang="en-US" altLang="zh-CN" sz="2400" b="1" dirty="0">
                <a:sym typeface="Symbol" pitchFamily="18" charset="2"/>
              </a:rPr>
              <a:t></a:t>
            </a:r>
          </a:p>
        </p:txBody>
      </p:sp>
      <p:sp>
        <p:nvSpPr>
          <p:cNvPr id="141336" name="Rectangle 24"/>
          <p:cNvSpPr>
            <a:spLocks noChangeArrowheads="1"/>
          </p:cNvSpPr>
          <p:nvPr/>
        </p:nvSpPr>
        <p:spPr bwMode="auto">
          <a:xfrm>
            <a:off x="3313113" y="5543550"/>
            <a:ext cx="4870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)*(</a:t>
            </a:r>
            <a:r>
              <a:rPr lang="en-US" altLang="zh-CN" sz="2400" b="1">
                <a:latin typeface="Arial" pitchFamily="34" charset="0"/>
                <a:ea typeface="华文行楷" pitchFamily="2" charset="-122"/>
                <a:sym typeface="Symbol" pitchFamily="18" charset="2"/>
              </a:rPr>
              <a:t></a:t>
            </a:r>
            <a:r>
              <a:rPr lang="en-US" altLang="zh-CN" sz="2400" b="1" baseline="-25000">
                <a:latin typeface="Arial" pitchFamily="34" charset="0"/>
                <a:sym typeface="Symbol" pitchFamily="18" charset="2"/>
              </a:rPr>
              <a:t>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0 </a:t>
            </a:r>
            <a:r>
              <a:rPr lang="en-US" altLang="zh-CN" sz="2400" b="1" i="0">
                <a:latin typeface="Arial" pitchFamily="34" charset="0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400" b="1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400" b="1">
                <a:latin typeface="Arial" pitchFamily="34" charset="0"/>
                <a:cs typeface="Arial" pitchFamily="34" charset="0"/>
                <a:sym typeface="Symbol" pitchFamily="18" charset="2"/>
              </a:rPr>
              <a:t>)</a:t>
            </a:r>
          </a:p>
        </p:txBody>
      </p:sp>
      <p:grpSp>
        <p:nvGrpSpPr>
          <p:cNvPr id="141357" name="Group 45"/>
          <p:cNvGrpSpPr>
            <a:grpSpLocks/>
          </p:cNvGrpSpPr>
          <p:nvPr/>
        </p:nvGrpSpPr>
        <p:grpSpPr bwMode="auto">
          <a:xfrm>
            <a:off x="8153401" y="4400550"/>
            <a:ext cx="1641475" cy="1600200"/>
            <a:chOff x="4176" y="2772"/>
            <a:chExt cx="1034" cy="1008"/>
          </a:xfrm>
        </p:grpSpPr>
        <p:sp>
          <p:nvSpPr>
            <p:cNvPr id="141337" name="Rectangle 25"/>
            <p:cNvSpPr>
              <a:spLocks noChangeArrowheads="1"/>
            </p:cNvSpPr>
            <p:nvPr/>
          </p:nvSpPr>
          <p:spPr bwMode="auto">
            <a:xfrm>
              <a:off x="4438" y="2772"/>
              <a:ext cx="2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*</a:t>
              </a:r>
            </a:p>
          </p:txBody>
        </p:sp>
        <p:sp>
          <p:nvSpPr>
            <p:cNvPr id="141338" name="Rectangle 26"/>
            <p:cNvSpPr>
              <a:spLocks noChangeArrowheads="1"/>
            </p:cNvSpPr>
            <p:nvPr/>
          </p:nvSpPr>
          <p:spPr bwMode="auto">
            <a:xfrm>
              <a:off x="4176" y="3012"/>
              <a:ext cx="10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*0(0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 1)*</a:t>
              </a:r>
            </a:p>
          </p:txBody>
        </p:sp>
        <p:sp>
          <p:nvSpPr>
            <p:cNvPr id="141339" name="Rectangle 27"/>
            <p:cNvSpPr>
              <a:spLocks noChangeArrowheads="1"/>
            </p:cNvSpPr>
            <p:nvPr/>
          </p:nvSpPr>
          <p:spPr bwMode="auto">
            <a:xfrm>
              <a:off x="4440" y="3252"/>
              <a:ext cx="2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ym typeface="Symbol" pitchFamily="18" charset="2"/>
                </a:rPr>
                <a:t></a:t>
              </a:r>
            </a:p>
          </p:txBody>
        </p:sp>
        <p:sp>
          <p:nvSpPr>
            <p:cNvPr id="141340" name="Rectangle 28"/>
            <p:cNvSpPr>
              <a:spLocks noChangeArrowheads="1"/>
            </p:cNvSpPr>
            <p:nvPr/>
          </p:nvSpPr>
          <p:spPr bwMode="auto">
            <a:xfrm>
              <a:off x="4252" y="3492"/>
              <a:ext cx="6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(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0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1)*</a:t>
              </a:r>
            </a:p>
          </p:txBody>
        </p:sp>
      </p:grpSp>
      <p:grpSp>
        <p:nvGrpSpPr>
          <p:cNvPr id="141355" name="Group 43"/>
          <p:cNvGrpSpPr>
            <a:grpSpLocks/>
          </p:cNvGrpSpPr>
          <p:nvPr/>
        </p:nvGrpSpPr>
        <p:grpSpPr bwMode="auto">
          <a:xfrm>
            <a:off x="7162800" y="1828801"/>
            <a:ext cx="3048000" cy="1762125"/>
            <a:chOff x="3552" y="1152"/>
            <a:chExt cx="1920" cy="1110"/>
          </a:xfrm>
        </p:grpSpPr>
        <p:sp>
          <p:nvSpPr>
            <p:cNvPr id="141342" name="Line 30"/>
            <p:cNvSpPr>
              <a:spLocks noChangeShapeType="1"/>
            </p:cNvSpPr>
            <p:nvPr/>
          </p:nvSpPr>
          <p:spPr bwMode="auto">
            <a:xfrm>
              <a:off x="3552" y="1152"/>
              <a:ext cx="192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43" name="Line 31"/>
            <p:cNvSpPr>
              <a:spLocks noChangeShapeType="1"/>
            </p:cNvSpPr>
            <p:nvPr/>
          </p:nvSpPr>
          <p:spPr bwMode="auto">
            <a:xfrm>
              <a:off x="3552" y="1200"/>
              <a:ext cx="192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44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45" name="Rectangle 33"/>
            <p:cNvSpPr>
              <a:spLocks noChangeArrowheads="1"/>
            </p:cNvSpPr>
            <p:nvPr/>
          </p:nvSpPr>
          <p:spPr bwMode="auto">
            <a:xfrm>
              <a:off x="3648" y="1206"/>
              <a:ext cx="50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 dirty="0">
                  <a:ea typeface="华文行楷" pitchFamily="2" charset="-122"/>
                </a:rPr>
                <a:t>(</a:t>
              </a:r>
              <a:r>
                <a:rPr lang="en-US" altLang="zh-CN" b="1" baseline="-25000" dirty="0">
                  <a:ea typeface="华文行楷" pitchFamily="2" charset="-122"/>
                </a:rPr>
                <a:t>1</a:t>
              </a:r>
              <a:r>
                <a:rPr lang="en-US" altLang="zh-CN" b="1" baseline="30000" dirty="0">
                  <a:ea typeface="华文行楷" pitchFamily="2" charset="-122"/>
                </a:rPr>
                <a:t>1</a:t>
              </a:r>
              <a:r>
                <a:rPr lang="en-US" altLang="zh-CN" b="1" baseline="-25000" dirty="0">
                  <a:ea typeface="华文行楷" pitchFamily="2" charset="-122"/>
                </a:rPr>
                <a:t>1</a:t>
              </a:r>
              <a:r>
                <a:rPr lang="en-US" altLang="zh-CN" b="1" baseline="30000" dirty="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1346" name="Rectangle 34"/>
            <p:cNvSpPr>
              <a:spLocks noChangeArrowheads="1"/>
            </p:cNvSpPr>
            <p:nvPr/>
          </p:nvSpPr>
          <p:spPr bwMode="auto">
            <a:xfrm>
              <a:off x="3648" y="144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 dirty="0">
                  <a:ea typeface="华文行楷" pitchFamily="2" charset="-122"/>
                </a:rPr>
                <a:t>(</a:t>
              </a:r>
              <a:r>
                <a:rPr lang="en-US" altLang="zh-CN" b="1" baseline="-25000" dirty="0">
                  <a:ea typeface="华文行楷" pitchFamily="2" charset="-122"/>
                </a:rPr>
                <a:t>1</a:t>
              </a:r>
              <a:r>
                <a:rPr lang="en-US" altLang="zh-CN" b="1" baseline="30000" dirty="0">
                  <a:ea typeface="华文行楷" pitchFamily="2" charset="-122"/>
                </a:rPr>
                <a:t>1</a:t>
              </a:r>
              <a:r>
                <a:rPr lang="en-US" altLang="zh-CN" b="1" baseline="-25000" dirty="0">
                  <a:ea typeface="华文行楷" pitchFamily="2" charset="-122"/>
                </a:rPr>
                <a:t>2</a:t>
              </a:r>
              <a:r>
                <a:rPr lang="en-US" altLang="zh-CN" b="1" baseline="30000" dirty="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1347" name="Rectangle 35"/>
            <p:cNvSpPr>
              <a:spLocks noChangeArrowheads="1"/>
            </p:cNvSpPr>
            <p:nvPr/>
          </p:nvSpPr>
          <p:spPr bwMode="auto">
            <a:xfrm>
              <a:off x="3648" y="168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1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1348" name="Rectangle 36"/>
            <p:cNvSpPr>
              <a:spLocks noChangeArrowheads="1"/>
            </p:cNvSpPr>
            <p:nvPr/>
          </p:nvSpPr>
          <p:spPr bwMode="auto">
            <a:xfrm>
              <a:off x="3648" y="192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</a:rPr>
                <a:t>R</a:t>
              </a:r>
              <a:r>
                <a:rPr lang="en-US" altLang="zh-CN" b="1" baseline="30000">
                  <a:ea typeface="华文行楷" pitchFamily="2" charset="-122"/>
                </a:rPr>
                <a:t>(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1</a:t>
              </a:r>
              <a:r>
                <a:rPr lang="en-US" altLang="zh-CN" b="1" baseline="-25000">
                  <a:ea typeface="华文行楷" pitchFamily="2" charset="-122"/>
                </a:rPr>
                <a:t>2</a:t>
              </a:r>
              <a:r>
                <a:rPr lang="en-US" altLang="zh-CN" b="1" baseline="30000">
                  <a:ea typeface="华文行楷" pitchFamily="2" charset="-122"/>
                </a:rPr>
                <a:t>)</a:t>
              </a:r>
            </a:p>
          </p:txBody>
        </p:sp>
        <p:sp>
          <p:nvSpPr>
            <p:cNvPr id="141350" name="Rectangle 38"/>
            <p:cNvSpPr>
              <a:spLocks noChangeArrowheads="1"/>
            </p:cNvSpPr>
            <p:nvPr/>
          </p:nvSpPr>
          <p:spPr bwMode="auto">
            <a:xfrm>
              <a:off x="4423" y="1914"/>
              <a:ext cx="8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ea typeface="华文行楷" pitchFamily="2" charset="-122"/>
                  <a:sym typeface="Symbol" pitchFamily="18" charset="2"/>
                </a:rPr>
                <a:t></a:t>
              </a:r>
              <a:r>
                <a:rPr lang="en-US" altLang="zh-CN" sz="2400" b="1" baseline="-25000">
                  <a:latin typeface="Arial" pitchFamily="34" charset="0"/>
                  <a:sym typeface="Symbol" pitchFamily="18" charset="2"/>
                </a:rPr>
                <a:t> 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 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0 </a:t>
              </a:r>
              <a:r>
                <a:rPr lang="en-US" altLang="zh-CN" sz="2400" b="1" i="0">
                  <a:latin typeface="Arial" pitchFamily="34" charset="0"/>
                  <a:cs typeface="Arial" pitchFamily="34" charset="0"/>
                  <a:sym typeface="Symbol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itchFamily="34" charset="0"/>
                  <a:ea typeface="华文行楷" pitchFamily="2" charset="-122"/>
                </a:rPr>
                <a:t> </a:t>
              </a:r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41352" name="Rectangle 40"/>
            <p:cNvSpPr>
              <a:spLocks noChangeArrowheads="1"/>
            </p:cNvSpPr>
            <p:nvPr/>
          </p:nvSpPr>
          <p:spPr bwMode="auto">
            <a:xfrm>
              <a:off x="4687" y="1626"/>
              <a:ext cx="2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ym typeface="Symbol" pitchFamily="18" charset="2"/>
                </a:rPr>
                <a:t></a:t>
              </a:r>
            </a:p>
          </p:txBody>
        </p:sp>
        <p:sp>
          <p:nvSpPr>
            <p:cNvPr id="141353" name="Rectangle 41"/>
            <p:cNvSpPr>
              <a:spLocks noChangeArrowheads="1"/>
            </p:cNvSpPr>
            <p:nvPr/>
          </p:nvSpPr>
          <p:spPr bwMode="auto">
            <a:xfrm>
              <a:off x="4694" y="1200"/>
              <a:ext cx="2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*</a:t>
              </a:r>
            </a:p>
          </p:txBody>
        </p:sp>
        <p:sp>
          <p:nvSpPr>
            <p:cNvPr id="141354" name="Rectangle 42"/>
            <p:cNvSpPr>
              <a:spLocks noChangeArrowheads="1"/>
            </p:cNvSpPr>
            <p:nvPr/>
          </p:nvSpPr>
          <p:spPr bwMode="auto">
            <a:xfrm>
              <a:off x="4635" y="1440"/>
              <a:ext cx="40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itchFamily="34" charset="0"/>
                  <a:sym typeface="Symbol" pitchFamily="18" charset="2"/>
                </a:rPr>
                <a:t>1</a:t>
              </a:r>
              <a:r>
                <a:rPr lang="en-US" altLang="zh-CN" sz="2400" b="1">
                  <a:latin typeface="Arial" pitchFamily="34" charset="0"/>
                  <a:cs typeface="Arial" pitchFamily="34" charset="0"/>
                  <a:sym typeface="Symbol" pitchFamily="18" charset="2"/>
                </a:rPr>
                <a:t>*0</a:t>
              </a:r>
            </a:p>
          </p:txBody>
        </p:sp>
      </p:grpSp>
      <p:sp>
        <p:nvSpPr>
          <p:cNvPr id="141358" name="Rectangle 46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41359" name="Rectangle 47"/>
          <p:cNvSpPr>
            <a:spLocks noChangeArrowheads="1"/>
          </p:cNvSpPr>
          <p:nvPr/>
        </p:nvSpPr>
        <p:spPr bwMode="auto">
          <a:xfrm>
            <a:off x="2135189" y="1125538"/>
            <a:ext cx="5114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路径迭代法举例</a:t>
            </a:r>
            <a:endParaRPr lang="zh-CN" altLang="en-US" sz="3200" b="1" i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DB04D62-88EC-9B49-8215-FD7D1234D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26</a:t>
            </a:fld>
            <a:endParaRPr lang="en-US" altLang="zh-CN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4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4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4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4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33" grpId="0" autoUpdateAnimBg="0"/>
      <p:bldP spid="141334" grpId="0" autoUpdateAnimBg="0"/>
      <p:bldP spid="141335" grpId="0" autoUpdateAnimBg="0"/>
      <p:bldP spid="14133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43" name="Object 7"/>
          <p:cNvGraphicFramePr>
            <a:graphicFrameLocks noChangeAspect="1"/>
          </p:cNvGraphicFramePr>
          <p:nvPr/>
        </p:nvGraphicFramePr>
        <p:xfrm>
          <a:off x="3935414" y="2246313"/>
          <a:ext cx="4681537" cy="16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42160" imgH="1168200" progId="Visio.Drawing.11">
                  <p:embed/>
                </p:oleObj>
              </mc:Choice>
              <mc:Fallback>
                <p:oleObj name="VISIO" r:id="rId2" imgW="3242160" imgH="1168200" progId="Visio.Drawing.11">
                  <p:embed/>
                  <p:pic>
                    <p:nvPicPr>
                      <p:cNvPr id="1423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2246313"/>
                        <a:ext cx="4681537" cy="168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4" name="Rectangle 8"/>
          <p:cNvSpPr>
            <a:spLocks noChangeArrowheads="1"/>
          </p:cNvSpPr>
          <p:nvPr/>
        </p:nvSpPr>
        <p:spPr bwMode="auto">
          <a:xfrm>
            <a:off x="2895601" y="4192588"/>
            <a:ext cx="7808911" cy="180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0" dirty="0">
                <a:latin typeface="Arial" pitchFamily="34" charset="0"/>
                <a:ea typeface="楷体_GB2312" pitchFamily="49" charset="-122"/>
              </a:rPr>
              <a:t>结果</a:t>
            </a: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: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初态为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1,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终态只有一个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 </a:t>
            </a:r>
            <a:r>
              <a:rPr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所以， 一个</a:t>
            </a:r>
          </a:p>
          <a:p>
            <a:pPr>
              <a:spcBef>
                <a:spcPct val="50000"/>
              </a:spcBef>
            </a:pP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与上图的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DFA </a:t>
            </a:r>
            <a:r>
              <a:rPr lang="zh-CN" altLang="en-US" sz="28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等价的正则表达式为</a:t>
            </a:r>
          </a:p>
          <a:p>
            <a:pPr>
              <a:spcBef>
                <a:spcPct val="50000"/>
              </a:spcBef>
            </a:pP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R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  </a:t>
            </a:r>
            <a:r>
              <a:rPr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800" b="1" dirty="0">
                <a:latin typeface="Arial" pitchFamily="34" charset="0"/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800" b="1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*0(0 </a:t>
            </a:r>
            <a:r>
              <a:rPr lang="en-US" altLang="zh-CN" sz="2800" b="1" i="0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</a:t>
            </a:r>
            <a:r>
              <a:rPr lang="en-US" altLang="zh-CN" sz="2800" b="1" dirty="0">
                <a:latin typeface="Arial" pitchFamily="34" charset="0"/>
                <a:ea typeface="楷体_GB2312" pitchFamily="49" charset="-122"/>
                <a:cs typeface="Arial" pitchFamily="34" charset="0"/>
                <a:sym typeface="Symbol" pitchFamily="18" charset="2"/>
              </a:rPr>
              <a:t> 1)*</a:t>
            </a:r>
          </a:p>
        </p:txBody>
      </p:sp>
      <p:sp>
        <p:nvSpPr>
          <p:cNvPr id="142345" name="Rectangle 9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2493964" y="1412875"/>
            <a:ext cx="5114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路径迭代法举例</a:t>
            </a:r>
            <a:endParaRPr lang="zh-CN" altLang="en-US" sz="3200" b="1" i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77C8335-BC61-F14C-919B-4743B7811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27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9ACDFB-6E4F-46EB-A48E-9639875A8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7A7C39E-3DCB-4E12-B284-063E503E9E5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b="0" i="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</a:rPr>
                  <a:t>利用递归</a:t>
                </a:r>
                <a:r>
                  <a:rPr lang="zh-CN" altLang="en-US" sz="2800" i="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800" i="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将下表</a:t>
                </a:r>
                <a:r>
                  <a:rPr lang="en" altLang="zh-CN" sz="2800" i="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DFA</a:t>
                </a:r>
                <a:r>
                  <a:rPr lang="zh-CN" altLang="en-US" sz="2800" i="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转换为正则表达式时，</a:t>
                </a:r>
                <a:r>
                  <a:rPr lang="en-US" altLang="zh-CN" sz="2800" b="1" dirty="0">
                    <a:solidFill>
                      <a:srgbClr val="333399"/>
                    </a:solidFill>
                    <a:latin typeface="Arial" pitchFamily="34" charset="0"/>
                    <a:ea typeface="楷体_GB2312" pitchFamily="49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US" altLang="zh-CN" sz="28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7A7C39E-3DCB-4E12-B284-063E503E9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24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D38876A0-2384-4EAE-9EC1-6617DE3C0CE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1(11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zh-CN" altLang="en-US" sz="2600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3EA789-42FA-42CE-B4F5-52CD23D310C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357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ea typeface="华文行楷" pitchFamily="2" charset="-122"/>
                <a:cs typeface="Calibri" panose="020F0502020204030204" pitchFamily="34" charset="0"/>
                <a:sym typeface="Symbol" pitchFamily="18" charset="2"/>
              </a:rPr>
              <a:t> +0+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1(11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zh-CN" altLang="en-US" sz="2600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876755-334F-4FC7-87DE-396C76F79D1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ea typeface="华文行楷" pitchFamily="2" charset="-122"/>
                <a:cs typeface="Calibri" panose="020F0502020204030204" pitchFamily="34" charset="0"/>
                <a:sym typeface="Symbol" pitchFamily="18" charset="2"/>
              </a:rPr>
              <a:t> +0+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1(11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zh-CN" altLang="en-US" sz="2600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2A0C12-5A47-4EE0-9FAB-7F458C31779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1(11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zh-CN" altLang="en-US" sz="2600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A2844C5-F5A1-45C8-B218-9CD70D94A25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161F9F5-39D8-466B-9587-10D9B71DAE9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421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DA8AB81-F431-454B-BA04-55CA717E17F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3993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54AB086-8E9E-493D-82F2-9933F6B4C9B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A90784A-0667-4AED-A33A-5157990C4088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8">
                <a:extLst>
                  <a:ext uri="{FF2B5EF4-FFF2-40B4-BE49-F238E27FC236}">
                    <a16:creationId xmlns:a16="http://schemas.microsoft.com/office/drawing/2014/main" id="{23161A57-62F9-4EBD-9AB8-C8E10C2C32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729283"/>
                  </p:ext>
                </p:extLst>
              </p:nvPr>
            </p:nvGraphicFramePr>
            <p:xfrm>
              <a:off x="6456040" y="2841625"/>
              <a:ext cx="3672408" cy="30268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4136">
                      <a:extLst>
                        <a:ext uri="{9D8B030D-6E8A-4147-A177-3AD203B41FA5}">
                          <a16:colId xmlns:a16="http://schemas.microsoft.com/office/drawing/2014/main" val="4067813325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980413371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806294947"/>
                        </a:ext>
                      </a:extLst>
                    </a:gridCol>
                  </a:tblGrid>
                  <a:tr h="756702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0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5118815"/>
                      </a:ext>
                    </a:extLst>
                  </a:tr>
                  <a:tr h="7567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1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3200" b="1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𝐪𝟏</m:t>
                                </m:r>
                              </m:oMath>
                            </m:oMathPara>
                          </a14:m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q2</a:t>
                          </a:r>
                          <a:r>
                            <a:rPr lang="zh-CN" altLang="en-US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q1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809515"/>
                      </a:ext>
                    </a:extLst>
                  </a:tr>
                  <a:tr h="7567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1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𝐪𝟐</m:t>
                              </m:r>
                            </m:oMath>
                          </a14:m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q3</a:t>
                          </a:r>
                          <a:endParaRPr lang="en-US" altLang="zh-CN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  <a:sym typeface="Symbol" pitchFamily="18" charset="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itchFamily="18" charset="2"/>
                            </a:rPr>
                            <a:t>q1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634073"/>
                      </a:ext>
                    </a:extLst>
                  </a:tr>
                  <a:tr h="7567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1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3200" b="1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𝐪𝟑</m:t>
                                </m:r>
                              </m:oMath>
                            </m:oMathPara>
                          </a14:m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q3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q2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306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8">
                <a:extLst>
                  <a:ext uri="{FF2B5EF4-FFF2-40B4-BE49-F238E27FC236}">
                    <a16:creationId xmlns:a16="http://schemas.microsoft.com/office/drawing/2014/main" id="{23161A57-62F9-4EBD-9AB8-C8E10C2C32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729283"/>
                  </p:ext>
                </p:extLst>
              </p:nvPr>
            </p:nvGraphicFramePr>
            <p:xfrm>
              <a:off x="6456040" y="2841625"/>
              <a:ext cx="3672408" cy="30268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4136">
                      <a:extLst>
                        <a:ext uri="{9D8B030D-6E8A-4147-A177-3AD203B41FA5}">
                          <a16:colId xmlns:a16="http://schemas.microsoft.com/office/drawing/2014/main" val="4067813325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980413371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806294947"/>
                        </a:ext>
                      </a:extLst>
                    </a:gridCol>
                  </a:tblGrid>
                  <a:tr h="756702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0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5118815"/>
                      </a:ext>
                    </a:extLst>
                  </a:tr>
                  <a:tr h="75670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5"/>
                          <a:stretch>
                            <a:fillRect l="-498" t="-109600" r="-201990" b="-2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q2</a:t>
                          </a:r>
                          <a:r>
                            <a:rPr lang="zh-CN" altLang="en-US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q1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809515"/>
                      </a:ext>
                    </a:extLst>
                  </a:tr>
                  <a:tr h="75670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5"/>
                          <a:stretch>
                            <a:fillRect l="-498" t="-211290" r="-20199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q3</a:t>
                          </a:r>
                          <a:endParaRPr lang="en-US" altLang="zh-CN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  <a:sym typeface="Symbol" pitchFamily="18" charset="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itchFamily="18" charset="2"/>
                            </a:rPr>
                            <a:t>q1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634073"/>
                      </a:ext>
                    </a:extLst>
                  </a:tr>
                  <a:tr h="75670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5"/>
                          <a:stretch>
                            <a:fillRect l="-498" t="-311290" r="-20199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q3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q2</a:t>
                          </a:r>
                          <a:endParaRPr lang="zh-CN" altLang="en-US" sz="32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3069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8AA150DD-36CB-48DC-B690-7742FBAD07E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0(11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zh-CN" altLang="en-US" sz="2600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2CD11EF-69A4-404A-AD15-4C22167C9A94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571625" y="5136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1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4D9534D-EFB1-45D8-86F1-895145072861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i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以上都错</a:t>
            </a:r>
            <a:endParaRPr lang="zh-CN" altLang="en-US" sz="2600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C2020A2-2B72-458B-989F-EFFF0844FC67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>
            <a:off x="1571625" y="5707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kumimoji="1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9675C0E-3CBD-403B-AC98-52353D596EF2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6A470481-54EF-41B4-90B5-284AA5AF3B9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D6DFE51E-0FB9-486E-AB51-4A06272E36F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00B0CC3E-0D21-413D-90C8-0DCE27CEB184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4280F32C-BC47-4502-97AF-2B88654E5DEF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50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EC6A434-B2B6-491B-BCF6-9A2819D343A6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7648404"/>
      </p:ext>
    </p:extLst>
  </p:cSld>
  <p:clrMapOvr>
    <a:masterClrMapping/>
  </p:clrMapOvr>
  <p:transition spd="med" advClick="0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5" name="Rectangle 9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题目解析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77C8335-BC61-F14C-919B-4743B7811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9C47E9B-FC42-6B47-B398-9DBD0DC6054C}"/>
                  </a:ext>
                </a:extLst>
              </p:cNvPr>
              <p:cNvSpPr txBox="1"/>
              <p:nvPr/>
            </p:nvSpPr>
            <p:spPr>
              <a:xfrm>
                <a:off x="695400" y="1116463"/>
                <a:ext cx="7848872" cy="518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</a:rPr>
                  <a:t>利用递归</a:t>
                </a:r>
                <a:r>
                  <a:rPr lang="zh-CN" altLang="en-US" i="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i="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将下表</a:t>
                </a:r>
                <a:r>
                  <a:rPr lang="en" altLang="zh-CN" i="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DFA</a:t>
                </a:r>
                <a:r>
                  <a:rPr lang="zh-CN" altLang="en-US" i="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转换为正则表达式时，</a:t>
                </a:r>
                <a:r>
                  <a:rPr lang="en-US" altLang="zh-CN" b="1" dirty="0">
                    <a:solidFill>
                      <a:srgbClr val="333399"/>
                    </a:solidFill>
                    <a:latin typeface="Arial" pitchFamily="34" charset="0"/>
                    <a:ea typeface="楷体_GB2312" pitchFamily="49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9C47E9B-FC42-6B47-B398-9DBD0DC60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116463"/>
                <a:ext cx="7848872" cy="518925"/>
              </a:xfrm>
              <a:prstGeom prst="rect">
                <a:avLst/>
              </a:prstGeom>
              <a:blipFill>
                <a:blip r:embed="rId2"/>
                <a:stretch>
                  <a:fillRect l="-776" b="-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71E1A19-1482-6D42-903A-B5AC7453136D}"/>
                  </a:ext>
                </a:extLst>
              </p:cNvPr>
              <p:cNvSpPr txBox="1"/>
              <p:nvPr/>
            </p:nvSpPr>
            <p:spPr>
              <a:xfrm>
                <a:off x="839416" y="2218816"/>
                <a:ext cx="6122124" cy="583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b="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zh-CN" altLang="en-US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71E1A19-1482-6D42-903A-B5AC74531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2218816"/>
                <a:ext cx="6122124" cy="5834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86E6208-1FBE-5449-84F7-E64D5DAF86EA}"/>
                  </a:ext>
                </a:extLst>
              </p:cNvPr>
              <p:cNvSpPr txBox="1"/>
              <p:nvPr/>
            </p:nvSpPr>
            <p:spPr>
              <a:xfrm>
                <a:off x="839416" y="2927849"/>
                <a:ext cx="6122124" cy="583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p>
                        <m:r>
                          <a:rPr lang="zh-CN" altLang="en-US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d>
                          <m:dPr>
                            <m:ctrlPr>
                              <a:rPr lang="en-US" altLang="zh-CN" b="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 +0 +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itchFamily="18" charset="2"/>
                  </a:rPr>
                  <a:t>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86E6208-1FBE-5449-84F7-E64D5DAF8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2927849"/>
                <a:ext cx="6122124" cy="583429"/>
              </a:xfrm>
              <a:prstGeom prst="rect">
                <a:avLst/>
              </a:prstGeom>
              <a:blipFill>
                <a:blip r:embed="rId4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0DEA6F2-A467-EE46-B437-610B1D91D3AC}"/>
                  </a:ext>
                </a:extLst>
              </p:cNvPr>
              <p:cNvSpPr txBox="1"/>
              <p:nvPr/>
            </p:nvSpPr>
            <p:spPr>
              <a:xfrm>
                <a:off x="839416" y="3643760"/>
                <a:ext cx="6122124" cy="583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p>
                        <m:r>
                          <a:rPr lang="zh-CN" altLang="en-US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1 +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itchFamily="18" charset="2"/>
                  </a:rPr>
                  <a:t>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0DEA6F2-A467-EE46-B437-610B1D91D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3643760"/>
                <a:ext cx="6122124" cy="583429"/>
              </a:xfrm>
              <a:prstGeom prst="rect">
                <a:avLst/>
              </a:prstGeom>
              <a:blipFill>
                <a:blip r:embed="rId5"/>
                <a:stretch>
                  <a:fillRect b="-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91F7355-044F-6644-80BF-8FC1A8AE5AA7}"/>
                  </a:ext>
                </a:extLst>
              </p:cNvPr>
              <p:cNvSpPr txBox="1"/>
              <p:nvPr/>
            </p:nvSpPr>
            <p:spPr>
              <a:xfrm>
                <a:off x="839416" y="4299683"/>
                <a:ext cx="6122124" cy="583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p>
                        <m:r>
                          <a:rPr lang="zh-CN" altLang="en-US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 +1( +1)</a:t>
                </a:r>
                <a:r>
                  <a:rPr lang="zh-CN" altLang="en-US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*</a:t>
                </a:r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0</a:t>
                </a:r>
                <a:r>
                  <a:rPr lang="zh-CN" altLang="en-US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 </a:t>
                </a:r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= +11</a:t>
                </a:r>
                <a:r>
                  <a:rPr lang="zh-CN" altLang="en-US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*</a:t>
                </a:r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0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91F7355-044F-6644-80BF-8FC1A8AE5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4299683"/>
                <a:ext cx="6122124" cy="583429"/>
              </a:xfrm>
              <a:prstGeom prst="rect">
                <a:avLst/>
              </a:prstGeom>
              <a:blipFill>
                <a:blip r:embed="rId6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4D4B8D6-FDCA-1248-B58E-FA679D92881C}"/>
                  </a:ext>
                </a:extLst>
              </p:cNvPr>
              <p:cNvSpPr txBox="1"/>
              <p:nvPr/>
            </p:nvSpPr>
            <p:spPr>
              <a:xfrm>
                <a:off x="839416" y="4883112"/>
                <a:ext cx="6122124" cy="583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p>
                        <m:r>
                          <a:rPr lang="zh-CN" altLang="en-US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d>
                          <m:dPr>
                            <m:ctrlPr>
                              <a:rPr lang="en-US" altLang="zh-CN" b="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0 +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itchFamily="18" charset="2"/>
                  </a:rPr>
                  <a:t>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4D4B8D6-FDCA-1248-B58E-FA679D928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4883112"/>
                <a:ext cx="6122124" cy="583429"/>
              </a:xfrm>
              <a:prstGeom prst="rect">
                <a:avLst/>
              </a:prstGeom>
              <a:blipFill>
                <a:blip r:embed="rId7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8">
                <a:extLst>
                  <a:ext uri="{FF2B5EF4-FFF2-40B4-BE49-F238E27FC236}">
                    <a16:creationId xmlns:a16="http://schemas.microsoft.com/office/drawing/2014/main" id="{14C17D26-8D3E-3942-A795-D7AC62EADD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4425926"/>
                  </p:ext>
                </p:extLst>
              </p:nvPr>
            </p:nvGraphicFramePr>
            <p:xfrm>
              <a:off x="7464152" y="2852936"/>
              <a:ext cx="2545366" cy="38837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2683">
                      <a:extLst>
                        <a:ext uri="{9D8B030D-6E8A-4147-A177-3AD203B41FA5}">
                          <a16:colId xmlns:a16="http://schemas.microsoft.com/office/drawing/2014/main" val="4067813325"/>
                        </a:ext>
                      </a:extLst>
                    </a:gridCol>
                    <a:gridCol w="1272683">
                      <a:extLst>
                        <a:ext uri="{9D8B030D-6E8A-4147-A177-3AD203B41FA5}">
                          <a16:colId xmlns:a16="http://schemas.microsoft.com/office/drawing/2014/main" val="9804133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</a:t>
                          </a:r>
                          <a:r>
                            <a:rPr lang="zh-CN" altLang="en-US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 </a:t>
                          </a:r>
                          <a:r>
                            <a:rPr lang="en-US" altLang="zh-CN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+</a:t>
                          </a:r>
                          <a:r>
                            <a:rPr lang="zh-CN" altLang="en-US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 </a:t>
                          </a:r>
                          <a:r>
                            <a:rPr lang="en-US" altLang="zh-CN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1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5118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r>
                            <a:rPr lang="zh-CN" altLang="en-US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809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sz="18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itchFamily="18" charset="2"/>
                            </a:rPr>
                            <a:t>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634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306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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1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931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CN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itchFamily="18" charset="2"/>
                            </a:rPr>
                            <a:t>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6269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CN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7138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</a:t>
                          </a:r>
                          <a:r>
                            <a:rPr lang="zh-CN" altLang="en-US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 </a:t>
                          </a:r>
                          <a:r>
                            <a:rPr lang="en-US" altLang="zh-CN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+</a:t>
                          </a:r>
                          <a:r>
                            <a:rPr lang="zh-CN" altLang="en-US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 </a:t>
                          </a:r>
                          <a:r>
                            <a:rPr lang="en-US" altLang="zh-CN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0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1568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8">
                <a:extLst>
                  <a:ext uri="{FF2B5EF4-FFF2-40B4-BE49-F238E27FC236}">
                    <a16:creationId xmlns:a16="http://schemas.microsoft.com/office/drawing/2014/main" id="{14C17D26-8D3E-3942-A795-D7AC62EADD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4425926"/>
                  </p:ext>
                </p:extLst>
              </p:nvPr>
            </p:nvGraphicFramePr>
            <p:xfrm>
              <a:off x="7464152" y="2852936"/>
              <a:ext cx="2545366" cy="38837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2683">
                      <a:extLst>
                        <a:ext uri="{9D8B030D-6E8A-4147-A177-3AD203B41FA5}">
                          <a16:colId xmlns:a16="http://schemas.microsoft.com/office/drawing/2014/main" val="4067813325"/>
                        </a:ext>
                      </a:extLst>
                    </a:gridCol>
                    <a:gridCol w="1272683">
                      <a:extLst>
                        <a:ext uri="{9D8B030D-6E8A-4147-A177-3AD203B41FA5}">
                          <a16:colId xmlns:a16="http://schemas.microsoft.com/office/drawing/2014/main" val="980413371"/>
                        </a:ext>
                      </a:extLst>
                    </a:gridCol>
                  </a:tblGrid>
                  <a:tr h="43046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9859" r="-102392" b="-8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</a:t>
                          </a:r>
                          <a:r>
                            <a:rPr lang="zh-CN" altLang="en-US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 </a:t>
                          </a:r>
                          <a:r>
                            <a:rPr lang="en-US" altLang="zh-CN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+</a:t>
                          </a:r>
                          <a:r>
                            <a:rPr lang="zh-CN" altLang="en-US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 </a:t>
                          </a:r>
                          <a:r>
                            <a:rPr lang="en-US" altLang="zh-CN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1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5118815"/>
                      </a:ext>
                    </a:extLst>
                  </a:tr>
                  <a:tr h="4307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111429" r="-102392" b="-7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r>
                            <a:rPr lang="zh-CN" altLang="en-US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809515"/>
                      </a:ext>
                    </a:extLst>
                  </a:tr>
                  <a:tr h="43218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208451" r="-102392" b="-6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sz="18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itchFamily="18" charset="2"/>
                            </a:rPr>
                            <a:t>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634073"/>
                      </a:ext>
                    </a:extLst>
                  </a:tr>
                  <a:tr h="4307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308451" r="-102392" b="-5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306911"/>
                      </a:ext>
                    </a:extLst>
                  </a:tr>
                  <a:tr h="4307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408451" r="-102392" b="-4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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123"/>
                      </a:ext>
                    </a:extLst>
                  </a:tr>
                  <a:tr h="43218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508451" r="-102392" b="-3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931032"/>
                      </a:ext>
                    </a:extLst>
                  </a:tr>
                  <a:tr h="43218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608451" r="-102392" b="-2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itchFamily="18" charset="2"/>
                            </a:rPr>
                            <a:t>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6269825"/>
                      </a:ext>
                    </a:extLst>
                  </a:tr>
                  <a:tr h="43218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708451" r="-102392" b="-1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7138458"/>
                      </a:ext>
                    </a:extLst>
                  </a:tr>
                  <a:tr h="43218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78" t="-808451" r="-102392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</a:t>
                          </a:r>
                          <a:r>
                            <a:rPr lang="zh-CN" altLang="en-US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 </a:t>
                          </a:r>
                          <a:r>
                            <a:rPr lang="en-US" altLang="zh-CN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+</a:t>
                          </a:r>
                          <a:r>
                            <a:rPr lang="zh-CN" altLang="en-US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 </a:t>
                          </a:r>
                          <a:r>
                            <a:rPr lang="en-US" altLang="zh-CN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0</a:t>
                          </a:r>
                          <a:endParaRPr lang="zh-CN" altLang="en-US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1568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1EE6E65-4C1F-AA40-B3D0-4BAA0C6A5AB5}"/>
                  </a:ext>
                </a:extLst>
              </p:cNvPr>
              <p:cNvSpPr txBox="1"/>
              <p:nvPr/>
            </p:nvSpPr>
            <p:spPr>
              <a:xfrm>
                <a:off x="839416" y="5616598"/>
                <a:ext cx="6122124" cy="474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  +0+</a:t>
                </a:r>
                <a:r>
                  <a:rPr lang="zh-CN" altLang="en-US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 </a:t>
                </a:r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1(11</a:t>
                </a:r>
                <a:r>
                  <a:rPr lang="zh-CN" altLang="en-US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*</a:t>
                </a:r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0)</a:t>
                </a:r>
                <a:r>
                  <a:rPr lang="zh-CN" altLang="en-US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*</a:t>
                </a:r>
                <a:r>
                  <a:rPr lang="en-US" altLang="zh-CN" i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行楷" pitchFamily="2" charset="-122"/>
                    <a:cs typeface="Calibri" panose="020F0502020204030204" pitchFamily="34" charset="0"/>
                    <a:sym typeface="Symbol" pitchFamily="18" charset="2"/>
                  </a:rPr>
                  <a:t>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1EE6E65-4C1F-AA40-B3D0-4BAA0C6A5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5616598"/>
                <a:ext cx="6122124" cy="474553"/>
              </a:xfrm>
              <a:prstGeom prst="rect">
                <a:avLst/>
              </a:prstGeom>
              <a:blipFill>
                <a:blip r:embed="rId9"/>
                <a:stretch>
                  <a:fillRect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8">
                <a:extLst>
                  <a:ext uri="{FF2B5EF4-FFF2-40B4-BE49-F238E27FC236}">
                    <a16:creationId xmlns:a16="http://schemas.microsoft.com/office/drawing/2014/main" id="{2EB11284-09F0-B445-8B2F-919ECAEC11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2515605"/>
                  </p:ext>
                </p:extLst>
              </p:nvPr>
            </p:nvGraphicFramePr>
            <p:xfrm>
              <a:off x="7608168" y="1156214"/>
              <a:ext cx="2545365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455">
                      <a:extLst>
                        <a:ext uri="{9D8B030D-6E8A-4147-A177-3AD203B41FA5}">
                          <a16:colId xmlns:a16="http://schemas.microsoft.com/office/drawing/2014/main" val="4067813325"/>
                        </a:ext>
                      </a:extLst>
                    </a:gridCol>
                    <a:gridCol w="848455">
                      <a:extLst>
                        <a:ext uri="{9D8B030D-6E8A-4147-A177-3AD203B41FA5}">
                          <a16:colId xmlns:a16="http://schemas.microsoft.com/office/drawing/2014/main" val="980413371"/>
                        </a:ext>
                      </a:extLst>
                    </a:gridCol>
                    <a:gridCol w="848455">
                      <a:extLst>
                        <a:ext uri="{9D8B030D-6E8A-4147-A177-3AD203B41FA5}">
                          <a16:colId xmlns:a16="http://schemas.microsoft.com/office/drawing/2014/main" val="8062949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0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5118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b="1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𝐪𝟏</m:t>
                                </m:r>
                              </m:oMath>
                            </m:oMathPara>
                          </a14:m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q2</a:t>
                          </a:r>
                          <a:r>
                            <a:rPr lang="zh-CN" altLang="en-US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q1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809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1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𝐪𝟐</m:t>
                              </m:r>
                            </m:oMath>
                          </a14:m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q3</a:t>
                          </a:r>
                          <a:endParaRPr lang="en-US" altLang="zh-CN" sz="18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  <a:sym typeface="Symbol" pitchFamily="18" charset="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itchFamily="18" charset="2"/>
                            </a:rPr>
                            <a:t>q1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634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b="1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b="1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𝐪𝟑</m:t>
                                </m:r>
                              </m:oMath>
                            </m:oMathPara>
                          </a14:m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q3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q2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306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8">
                <a:extLst>
                  <a:ext uri="{FF2B5EF4-FFF2-40B4-BE49-F238E27FC236}">
                    <a16:creationId xmlns:a16="http://schemas.microsoft.com/office/drawing/2014/main" id="{2EB11284-09F0-B445-8B2F-919ECAEC11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2515605"/>
                  </p:ext>
                </p:extLst>
              </p:nvPr>
            </p:nvGraphicFramePr>
            <p:xfrm>
              <a:off x="7608168" y="1156214"/>
              <a:ext cx="2545365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455">
                      <a:extLst>
                        <a:ext uri="{9D8B030D-6E8A-4147-A177-3AD203B41FA5}">
                          <a16:colId xmlns:a16="http://schemas.microsoft.com/office/drawing/2014/main" val="4067813325"/>
                        </a:ext>
                      </a:extLst>
                    </a:gridCol>
                    <a:gridCol w="848455">
                      <a:extLst>
                        <a:ext uri="{9D8B030D-6E8A-4147-A177-3AD203B41FA5}">
                          <a16:colId xmlns:a16="http://schemas.microsoft.com/office/drawing/2014/main" val="980413371"/>
                        </a:ext>
                      </a:extLst>
                    </a:gridCol>
                    <a:gridCol w="848455">
                      <a:extLst>
                        <a:ext uri="{9D8B030D-6E8A-4147-A177-3AD203B41FA5}">
                          <a16:colId xmlns:a16="http://schemas.microsoft.com/office/drawing/2014/main" val="8062949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华文行楷" pitchFamily="2" charset="-122"/>
                              <a:cs typeface="Calibri" panose="020F0502020204030204" pitchFamily="34" charset="0"/>
                              <a:sym typeface="Symbol" pitchFamily="18" charset="2"/>
                            </a:rPr>
                            <a:t>0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5118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  <a:stretch>
                            <a:fillRect l="-719" t="-106452" r="-203597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q2</a:t>
                          </a:r>
                          <a:r>
                            <a:rPr lang="zh-CN" altLang="en-US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q1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809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  <a:stretch>
                            <a:fillRect l="-719" t="-209836" r="-20359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q3</a:t>
                          </a:r>
                          <a:endParaRPr lang="en-US" altLang="zh-CN" sz="1800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  <a:sym typeface="Symbol" pitchFamily="18" charset="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  <a:sym typeface="Symbol" pitchFamily="18" charset="2"/>
                            </a:rPr>
                            <a:t>q1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634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  <a:stretch>
                            <a:fillRect l="-719" t="-309836" r="-20359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q3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q2</a:t>
                          </a:r>
                          <a:endParaRPr lang="zh-CN" altLang="en-US" b="1" i="0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306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629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7" name="Text Box 7"/>
          <p:cNvSpPr txBox="1">
            <a:spLocks noChangeArrowheads="1"/>
          </p:cNvSpPr>
          <p:nvPr/>
        </p:nvSpPr>
        <p:spPr bwMode="auto">
          <a:xfrm>
            <a:off x="2470151" y="2128838"/>
            <a:ext cx="924247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buFont typeface="Symbol" pitchFamily="18" charset="2"/>
              <a:buChar char="-"/>
            </a:pP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itchFamily="34" charset="0"/>
                <a:ea typeface="楷体_GB2312" pitchFamily="49" charset="-122"/>
              </a:rPr>
              <a:t>思路（保持“自动机”等价）</a:t>
            </a:r>
            <a:r>
              <a:rPr lang="en-US" altLang="zh-CN" sz="2800" b="1" i="0" dirty="0">
                <a:latin typeface="Arial" pitchFamily="34" charset="0"/>
                <a:ea typeface="楷体_GB2312" pitchFamily="49" charset="-122"/>
              </a:rPr>
              <a:t>:</a:t>
            </a:r>
            <a:endParaRPr lang="en-US" altLang="zh-CN" sz="28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>
              <a:buFont typeface="Wingdings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(1)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从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中逐个删除状态</a:t>
            </a: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-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会消除掉状态的原有路径，因此要补上等价的路径</a:t>
            </a:r>
          </a:p>
          <a:p>
            <a:pPr>
              <a:buFont typeface="Wingdings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algn="just"/>
            <a:r>
              <a:rPr lang="en-US" altLang="zh-CN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(2)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用标记了正则表达式的新路径替换被删掉的路径</a:t>
            </a:r>
            <a:endParaRPr lang="en-US" altLang="zh-CN" sz="1000" b="1" i="0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43368" name="Rectangle 8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43369" name="Rectangle 9"/>
          <p:cNvSpPr>
            <a:spLocks noChangeArrowheads="1"/>
          </p:cNvSpPr>
          <p:nvPr/>
        </p:nvSpPr>
        <p:spPr bwMode="auto">
          <a:xfrm>
            <a:off x="2279651" y="1339851"/>
            <a:ext cx="81375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b="1" i="0" dirty="0">
                <a:ea typeface="楷体_GB2312" pitchFamily="49" charset="-122"/>
              </a:rPr>
              <a:t> </a:t>
            </a:r>
            <a:r>
              <a:rPr lang="zh-CN" altLang="en-US" sz="3200" b="1" i="0" dirty="0">
                <a:ea typeface="楷体_GB2312" pitchFamily="49" charset="-122"/>
              </a:rPr>
              <a:t>状态消除法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（从 </a:t>
            </a:r>
            <a:r>
              <a:rPr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DFA </a:t>
            </a:r>
            <a:r>
              <a:rPr lang="zh-CN" altLang="en-US" sz="2400" b="1" i="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构造等价的正则表达式）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926F389-4DA4-D646-96FE-BAEC4D7CF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30</a:t>
            </a:fld>
            <a:endParaRPr lang="en-US" altLang="zh-CN" dirty="0"/>
          </a:p>
        </p:txBody>
      </p:sp>
    </p:spTree>
  </p:cSld>
  <p:clrMapOvr>
    <a:masterClrMapping/>
  </p:clrMapOvr>
  <p:transition spd="med" advClick="0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2346531" y="1700808"/>
            <a:ext cx="80010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正则表达式运算（连接，加，闭包）和</a:t>
            </a: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DFA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中路径的关系</a:t>
            </a:r>
          </a:p>
        </p:txBody>
      </p:sp>
      <p:sp>
        <p:nvSpPr>
          <p:cNvPr id="144430" name="Rectangle 46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C8618E-5189-FB42-B74B-BC563C2F5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pic>
        <p:nvPicPr>
          <p:cNvPr id="31" name="Picture 9">
            <a:extLst>
              <a:ext uri="{FF2B5EF4-FFF2-40B4-BE49-F238E27FC236}">
                <a16:creationId xmlns:a16="http://schemas.microsoft.com/office/drawing/2014/main" id="{45D4B902-94C4-414B-A62A-5413DAC1F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430" y="2708920"/>
            <a:ext cx="7463139" cy="2873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6303798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2207568" y="1196752"/>
            <a:ext cx="8217346" cy="1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itchFamily="2" charset="2"/>
              <a:buChar char="²"/>
            </a:pP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更一般的情况，要为被删除的状态𝑆的每个“入”和“出”路径的组合</a:t>
            </a: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,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补一条等价的新路径</a:t>
            </a:r>
            <a:r>
              <a:rPr lang="en-US" altLang="zh-CN" sz="3200" b="1" i="0" dirty="0">
                <a:latin typeface="Arial" pitchFamily="34" charset="0"/>
                <a:ea typeface="楷体_GB2312" pitchFamily="49" charset="-122"/>
              </a:rPr>
              <a:t>, </a:t>
            </a:r>
            <a:r>
              <a:rPr lang="zh-CN" altLang="en-US" sz="3200" b="1" i="0" dirty="0">
                <a:latin typeface="Arial" pitchFamily="34" charset="0"/>
                <a:ea typeface="楷体_GB2312" pitchFamily="49" charset="-122"/>
              </a:rPr>
              <a:t>并用新的正则表达式表示</a:t>
            </a:r>
          </a:p>
          <a:p>
            <a:pPr>
              <a:lnSpc>
                <a:spcPct val="90000"/>
              </a:lnSpc>
              <a:buFont typeface="Wingdings" pitchFamily="2" charset="2"/>
              <a:buChar char="²"/>
            </a:pPr>
            <a:endParaRPr lang="zh-CN" altLang="en-US" sz="3200" b="1" i="0" dirty="0"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44430" name="Rectangle 46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C8618E-5189-FB42-B74B-BC563C2F5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pic>
        <p:nvPicPr>
          <p:cNvPr id="45" name="Picture 3">
            <a:extLst>
              <a:ext uri="{FF2B5EF4-FFF2-40B4-BE49-F238E27FC236}">
                <a16:creationId xmlns:a16="http://schemas.microsoft.com/office/drawing/2014/main" id="{2CA62DE8-38BD-984C-8593-FD4F00264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145" y="2944039"/>
            <a:ext cx="8844643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4E59385-1C65-B94A-891F-2C2836F2CEB4}"/>
                  </a:ext>
                </a:extLst>
              </p:cNvPr>
              <p:cNvSpPr txBox="1"/>
              <p:nvPr/>
            </p:nvSpPr>
            <p:spPr>
              <a:xfrm>
                <a:off x="2301145" y="5703824"/>
                <a:ext cx="61221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altLang="zh-CN" b="1" dirty="0"/>
                  <a:t>2</a:t>
                </a:r>
                <a:r>
                  <a:rPr kumimoji="0" lang="zh-CN" altLang="en-US" b="1" dirty="0"/>
                  <a:t>条入，</a:t>
                </a:r>
                <a:r>
                  <a:rPr kumimoji="0" lang="en-AU" altLang="zh-CN" b="1" dirty="0"/>
                  <a:t>2</a:t>
                </a:r>
                <a:r>
                  <a:rPr kumimoji="0" lang="zh-CN" altLang="en-US" b="1" dirty="0"/>
                  <a:t>条出，要补</a:t>
                </a:r>
                <a:r>
                  <a:rPr kumimoji="0" lang="en-AU" altLang="zh-CN" b="1" dirty="0"/>
                  <a:t>4</a:t>
                </a:r>
                <a:r>
                  <a:rPr kumimoji="0" lang="zh-CN" altLang="en-US" b="1" dirty="0"/>
                  <a:t>条（</a:t>
                </a:r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zh-CN" altLang="en-US" b="1" dirty="0"/>
                  <a:t>到</a:t>
                </a:r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AU" altLang="zh-CN" b="1" dirty="0"/>
                  <a:t>,</a:t>
                </a:r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zh-CN" altLang="en-US" b="1" dirty="0"/>
                  <a:t>到</a:t>
                </a:r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AU" altLang="zh-CN" b="1" dirty="0"/>
                  <a:t>,</a:t>
                </a:r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 dirty="0"/>
                  <a:t>到</a:t>
                </a:r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AU" altLang="zh-CN" b="1" dirty="0"/>
                  <a:t>,</a:t>
                </a:r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 dirty="0"/>
                  <a:t>到</a:t>
                </a:r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kumimoji="0" lang="zh-CN" altLang="en-US" b="1" dirty="0"/>
                  <a:t>）</a:t>
                </a:r>
                <a:endParaRPr kumimoji="0" lang="en-US" altLang="zh-CN" b="1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4E59385-1C65-B94A-891F-2C2836F2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45" y="5703824"/>
                <a:ext cx="6122124" cy="400110"/>
              </a:xfrm>
              <a:prstGeom prst="rect">
                <a:avLst/>
              </a:prstGeom>
              <a:blipFill>
                <a:blip r:embed="rId3"/>
                <a:stretch>
                  <a:fillRect l="-826" t="-12500" b="-3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状态消除法示例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-1373187"/>
            <a:ext cx="3098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sz="240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46584" y="1196752"/>
            <a:ext cx="11582400" cy="603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33450" indent="-53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例</a:t>
            </a:r>
            <a:r>
              <a:rPr kumimoji="0" lang="en-AU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:</a:t>
            </a:r>
            <a:r>
              <a:rPr kumimoji="0" lang="zh-CN" altLang="en-US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由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0</a:t>
            </a:r>
            <a:r>
              <a:rPr kumimoji="0" lang="zh-CN" altLang="en-US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和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1</a:t>
            </a:r>
            <a:r>
              <a:rPr kumimoji="0" lang="zh-CN" altLang="en-US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构成的串中，接受全部以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01</a:t>
            </a:r>
            <a:r>
              <a:rPr kumimoji="0" lang="zh-CN" altLang="en-US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结尾的串。</a:t>
            </a:r>
            <a:endParaRPr kumimoji="0" lang="en-US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zh-CN" sz="2800" i="0" dirty="0">
                <a:solidFill>
                  <a:srgbClr val="000000"/>
                </a:solidFill>
                <a:ea typeface="KaiTi_GB2312" panose="02010609030101010101" pitchFamily="49" charset="-122"/>
                <a:cs typeface="Times New Roman" panose="02020603050405020304" pitchFamily="18" charset="0"/>
              </a:rPr>
              <a:t>DFA</a:t>
            </a:r>
            <a:r>
              <a:rPr kumimoji="0" lang="zh-CN" altLang="en-US" sz="2800" i="0" dirty="0">
                <a:solidFill>
                  <a:srgbClr val="000000"/>
                </a:solidFill>
                <a:ea typeface="KaiTi_GB2312" panose="02010609030101010101" pitchFamily="49" charset="-122"/>
                <a:cs typeface="Times New Roman" panose="02020603050405020304" pitchFamily="18" charset="0"/>
              </a:rPr>
              <a:t>：</a:t>
            </a:r>
            <a:endParaRPr kumimoji="0" lang="en-US" altLang="zh-CN" sz="2800" i="0" dirty="0">
              <a:solidFill>
                <a:srgbClr val="000000"/>
              </a:solidFill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kumimoji="0" lang="en-AU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r>
              <a:rPr kumimoji="0" lang="en-AU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(1)</a:t>
            </a:r>
            <a:r>
              <a:rPr kumimoji="0" lang="zh-CN" altLang="en-US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利用空转移，增加新的开始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(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)</a:t>
            </a:r>
            <a:r>
              <a:rPr kumimoji="0" lang="zh-CN" altLang="en-US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和结束状态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(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800" i="0" dirty="0">
                <a:solidFill>
                  <a:srgbClr val="000000"/>
                </a:solidFill>
                <a:latin typeface="KaiTi_GB2312" panose="02010609030101010101" pitchFamily="49" charset="-122"/>
                <a:ea typeface="KaiTi_GB2312" panose="02010609030101010101" pitchFamily="49" charset="-122"/>
              </a:rPr>
              <a:t>)</a:t>
            </a:r>
            <a:endParaRPr kumimoji="0" lang="zh-CN" altLang="en-US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kumimoji="0" lang="en-US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kumimoji="0" lang="en-US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kumimoji="0" lang="en-US" altLang="zh-CN" sz="2800" i="0" dirty="0">
              <a:solidFill>
                <a:srgbClr val="000000"/>
              </a:solidFill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9943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4941168"/>
            <a:ext cx="77724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88" y="2155143"/>
            <a:ext cx="4576728" cy="1870297"/>
          </a:xfrm>
          <a:prstGeom prst="rect">
            <a:avLst/>
          </a:prstGeom>
        </p:spPr>
      </p:pic>
    </p:spTree>
  </p:cSld>
  <p:clrMapOvr>
    <a:masterClrMapping/>
  </p:clrMapOvr>
  <p:transition spd="med" advClick="0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状态消除法示例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619564F-3A13-4140-9CFC-3B75A7CC7F9C}" type="slidenum">
              <a:rPr lang="en-US" altLang="zh-CN" smtClean="0"/>
              <a:pPr>
                <a:defRPr/>
              </a:pPr>
              <a:t>34</a:t>
            </a:fld>
            <a:endParaRPr kumimoji="0" lang="en-US" altLang="zh-CN" sz="1865">
              <a:latin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-1373187"/>
            <a:ext cx="3098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sz="240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191344" y="1224491"/>
                <a:ext cx="11582400" cy="60346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4000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kumimoji="0" lang="en-AU" altLang="zh-TW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(2)</a:t>
                </a:r>
                <a:r>
                  <a:rPr kumimoji="0" lang="zh-TW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消除状态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TW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TW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zh-TW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需要增加其“入”度</a:t>
                </a:r>
                <a14:m>
                  <m:oMath xmlns:m="http://schemas.openxmlformats.org/officeDocument/2006/math"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AU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AU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和“出”度</a:t>
                </a:r>
                <a14:m>
                  <m:oMath xmlns:m="http://schemas.openxmlformats.org/officeDocument/2006/math"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AU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之间的边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altLang="zh-CN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AU" altLang="zh-CN" sz="32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0" lang="en-AU" altLang="zh-CN" sz="32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e>
                      <m:sup>
                        <m:r>
                          <a:rPr kumimoji="0" lang="zh-CN" altLang="en-U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US" altLang="zh-CN" sz="3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kumimoji="0"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kumimoji="0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e>
                      <m:sup>
                        <m:r>
                          <a:rPr kumimoji="0" lang="zh-CN" altLang="en-U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US" altLang="zh-CN" sz="3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kumimoji="0"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zh-CN" sz="3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0" lang="en-AU" altLang="zh-CN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32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kumimoji="0"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zh-CN" altLang="en-US" sz="3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和</m:t>
                    </m:r>
                    <m:sSub>
                      <m:sSubPr>
                        <m:ctrlPr>
                          <a:rPr kumimoji="0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zh-CN" sz="3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kumimoji="0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44" y="1224491"/>
                <a:ext cx="11582400" cy="6034617"/>
              </a:xfrm>
              <a:prstGeom prst="rect">
                <a:avLst/>
              </a:prstGeom>
              <a:blipFill>
                <a:blip r:embed="rId3"/>
                <a:stretch>
                  <a:fillRect t="-2521" r="-9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990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998" y="4522662"/>
            <a:ext cx="8110207" cy="219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2" y="2669880"/>
            <a:ext cx="7997037" cy="1829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状态消除法示例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619564F-3A13-4140-9CFC-3B75A7CC7F9C}" type="slidenum">
              <a:rPr lang="en-US" altLang="zh-CN" smtClean="0"/>
              <a:pPr>
                <a:defRPr/>
              </a:pPr>
              <a:t>35</a:t>
            </a:fld>
            <a:endParaRPr kumimoji="0" lang="en-US" altLang="zh-CN" sz="1865">
              <a:latin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-1373187"/>
            <a:ext cx="3098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sz="240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304800" y="1196752"/>
                <a:ext cx="11582400" cy="60346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4000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kumimoji="0" lang="en-AU" altLang="zh-TW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(3)</a:t>
                </a:r>
                <a:r>
                  <a:rPr kumimoji="0" lang="zh-TW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消除状态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TW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TW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zh-TW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需要增加其“入”度</a:t>
                </a:r>
                <a14:m>
                  <m:oMath xmlns:m="http://schemas.openxmlformats.org/officeDocument/2006/math"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s</m:t>
                    </m:r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AU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和“出”度</a:t>
                </a:r>
                <a14:m>
                  <m:oMath xmlns:m="http://schemas.openxmlformats.org/officeDocument/2006/math"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AU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之间的边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sSup>
                          <m:sSupPr>
                            <m:ctrlPr>
                              <a:rPr kumimoji="0" lang="en-AU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AU" altLang="zh-CN" sz="32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kumimoji="0" lang="en-AU" altLang="zh-CN" sz="32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kumimoji="0" lang="en-US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e>
                      <m:sup>
                        <m:r>
                          <a:rPr kumimoji="0" lang="zh-CN" altLang="en-U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kumimoji="0" lang="en-AU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altLang="zh-CN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AU" altLang="zh-CN" sz="32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0" lang="en-AU" altLang="zh-CN" sz="32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e>
                      <m:sup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sSup>
                      <m:sSupPr>
                        <m:ctrlPr>
                          <a:rPr kumimoji="0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kumimoji="0" lang="en-AU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a:rPr kumimoji="0" lang="en-US" altLang="zh-CN" sz="3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kumimoji="0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TW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zh-CN" sz="3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kumimoji="0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196752"/>
                <a:ext cx="11582400" cy="6034617"/>
              </a:xfrm>
              <a:prstGeom prst="rect">
                <a:avLst/>
              </a:prstGeom>
              <a:blipFill>
                <a:blip r:embed="rId3"/>
                <a:stretch>
                  <a:fillRect t="-2521" r="-13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038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822" y="2405215"/>
            <a:ext cx="8244417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231" y="4931863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状态消除法示例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619564F-3A13-4140-9CFC-3B75A7CC7F9C}" type="slidenum">
              <a:rPr lang="en-US" altLang="zh-CN" smtClean="0"/>
              <a:pPr>
                <a:defRPr/>
              </a:pPr>
              <a:t>36</a:t>
            </a:fld>
            <a:endParaRPr kumimoji="0" lang="en-US" altLang="zh-CN" sz="1865">
              <a:latin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-1373187"/>
            <a:ext cx="3098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sz="240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154940" y="1236642"/>
                <a:ext cx="11684000" cy="60346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4000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kumimoji="0" lang="en-US" altLang="zh-CN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kumimoji="0" lang="zh-TW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消除状态</a:t>
                </a:r>
                <a:r>
                  <a:rPr kumimoji="0" lang="en-US" altLang="zh-TW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0" lang="en-US" altLang="zh-CN" sz="3200" i="0" baseline="-2500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zh-CN" altLang="zh-TW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需要增加其“入”度</a:t>
                </a:r>
                <a14:m>
                  <m:oMath xmlns:m="http://schemas.openxmlformats.org/officeDocument/2006/math"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s</m:t>
                    </m:r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和“出”度</a:t>
                </a:r>
                <a14:m>
                  <m:oMath xmlns:m="http://schemas.openxmlformats.org/officeDocument/2006/math"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f</m:t>
                    </m:r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之间的边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sSup>
                      <m:sSupPr>
                        <m:ctrlPr>
                          <a:rPr kumimoji="0" lang="en-AU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  <m:sup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kumimoji="0" lang="en-AU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e>
                      <m:sup>
                        <m: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kumimoji="0" lang="en-AU" altLang="zh-CN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kumimoji="0" lang="en-AU" altLang="zh-CN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kumimoji="0" lang="en-US" altLang="zh-CN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00</m:t>
                            </m:r>
                          </m:e>
                          <m:sup>
                            <m:r>
                              <a:rPr kumimoji="0" lang="en-AU" altLang="zh-CN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kumimoji="0" lang="en-US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1+1</m:t>
                        </m:r>
                        <m:sSup>
                          <m:sSupPr>
                            <m:ctrlPr>
                              <a:rPr kumimoji="0" lang="en-AU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AU" altLang="zh-CN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kumimoji="0" lang="en-AU" altLang="zh-CN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kumimoji="0" lang="en-US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sSup>
                          <m:sSupPr>
                            <m:ctrlPr>
                              <a:rPr kumimoji="0" lang="en-AU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kumimoji="0" lang="en-AU" altLang="zh-CN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kumimoji="0" lang="en-US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kumimoji="0" lang="en-AU" altLang="zh-CN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AU" altLang="zh-CN" sz="3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m:rPr>
                        <m:sty m:val="p"/>
                      </m:rP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f</m:t>
                    </m:r>
                  </m:oMath>
                </a14:m>
                <a:r>
                  <a:rPr kumimoji="0" lang="zh-CN" altLang="en-US" sz="3200" i="0" dirty="0">
                    <a:solidFill>
                      <a:srgbClr val="000000"/>
                    </a:solidFill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s</m:t>
                    </m:r>
                    <m: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kumimoji="0" lang="en-AU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f</m:t>
                    </m:r>
                  </m:oMath>
                </a14:m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3200" i="0" dirty="0">
                  <a:solidFill>
                    <a:srgbClr val="000000"/>
                  </a:solidFill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940" y="1236642"/>
                <a:ext cx="11684000" cy="6034617"/>
              </a:xfrm>
              <a:prstGeom prst="rect">
                <a:avLst/>
              </a:prstGeom>
              <a:blipFill>
                <a:blip r:embed="rId3"/>
                <a:stretch>
                  <a:fillRect t="-2521" r="-13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086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328515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" r="2"/>
          <a:stretch>
            <a:fillRect/>
          </a:stretch>
        </p:blipFill>
        <p:spPr bwMode="auto">
          <a:xfrm>
            <a:off x="1991544" y="4401851"/>
            <a:ext cx="8229600" cy="823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487488" y="5689242"/>
                <a:ext cx="10972800" cy="1125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kumimoji="0" lang="zh-CN" altLang="en-US" sz="3735" i="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因此，该自动机的正则表达式式为</a:t>
                </a:r>
                <a:r>
                  <a:rPr kumimoji="0" lang="en-AU" altLang="zh-CN" sz="3735" i="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altLang="zh-CN" sz="3735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AU" altLang="zh-CN" sz="3735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  <m:sup>
                          <m:r>
                            <a:rPr kumimoji="0" lang="en-AU" altLang="zh-CN" sz="3735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kumimoji="0" lang="en-AU" altLang="zh-CN" sz="3735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AU" altLang="zh-CN" sz="3735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00</m:t>
                          </m:r>
                        </m:e>
                        <m:sup>
                          <m:r>
                            <a:rPr kumimoji="0" lang="en-AU" altLang="zh-CN" sz="3735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kumimoji="0" lang="en-AU" altLang="zh-CN" sz="3735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kumimoji="0" lang="en-AU" altLang="zh-CN" sz="3735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3735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kumimoji="0" lang="en-AU" altLang="zh-CN" sz="3735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kumimoji="0" lang="en-US" altLang="zh-CN" sz="3735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00</m:t>
                              </m:r>
                            </m:e>
                            <m:sup>
                              <m:r>
                                <a:rPr kumimoji="0" lang="en-AU" altLang="zh-CN" sz="3735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3735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1+1</m:t>
                          </m:r>
                          <m:sSup>
                            <m:sSupPr>
                              <m:ctrlPr>
                                <a:rPr kumimoji="0" lang="en-AU" altLang="zh-CN" sz="3735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AU" altLang="zh-CN" sz="3735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AU" altLang="zh-CN" sz="3735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3735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kumimoji="0" lang="en-AU" altLang="zh-CN" sz="3735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3735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kumimoji="0" lang="en-AU" altLang="zh-CN" sz="3735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3735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kumimoji="0" lang="en-AU" altLang="zh-CN" sz="3735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0" lang="en-AU" altLang="zh-CN" sz="3735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AU" sz="3735" i="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5689242"/>
                <a:ext cx="10972800" cy="1125855"/>
              </a:xfrm>
              <a:prstGeom prst="rect">
                <a:avLst/>
              </a:prstGeom>
              <a:blipFill>
                <a:blip r:embed="rId6"/>
                <a:stretch>
                  <a:fillRect t="-1444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2711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 dirty="0">
                <a:ea typeface="华文行楷" pitchFamily="2" charset="-122"/>
              </a:rPr>
              <a:t>有穷自动机与正则表达式的关系</a:t>
            </a: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2133600" y="1196975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：用状态消除法将以下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DFA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转为正则表达式。</a:t>
            </a: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94428DA8-30AD-434C-8F2A-54CB8EB9B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243560"/>
            <a:ext cx="8229600" cy="1884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pPr>
              <a:lnSpc>
                <a:spcPct val="12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解：消除第一个状态，观察有两条入边，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条出边，消除之后为：</a:t>
            </a:r>
            <a:endParaRPr lang="en-US" altLang="zh-CN" sz="2400" i="0" dirty="0">
              <a:solidFill>
                <a:srgbClr val="000000"/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0+1</a:t>
            </a:r>
          </a:p>
          <a:p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kumimoji="1" lang="en-US" altLang="zh-CN" sz="2400" b="0" i="0" dirty="0">
                <a:solidFill>
                  <a:srgbClr val="000000"/>
                </a:solidFill>
                <a:cs typeface="Times New Roman" panose="02020603050405020304" pitchFamily="18" charset="0"/>
              </a:rPr>
              <a:t>0+1)(0+1</a:t>
            </a:r>
            <a:r>
              <a:rPr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</a:p>
          <a:p>
            <a:r>
              <a: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rPr>
              <a:t>最后为：</a:t>
            </a:r>
            <a:endParaRPr kumimoji="1" lang="en-US" altLang="zh-CN" sz="2400" b="0" i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0+1(</a:t>
            </a:r>
            <a:r>
              <a:rPr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kumimoji="1" lang="en-US" altLang="zh-CN" sz="2400" b="0" i="0" dirty="0">
                <a:solidFill>
                  <a:srgbClr val="000000"/>
                </a:solidFill>
                <a:cs typeface="Times New Roman" panose="02020603050405020304" pitchFamily="18" charset="0"/>
              </a:rPr>
              <a:t>0+1)(0+1</a:t>
            </a:r>
            <a:r>
              <a:rPr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* 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400" b="0" i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(0+1)(</a:t>
            </a:r>
            <a:r>
              <a:rPr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kumimoji="1" lang="en-US" altLang="zh-CN" sz="2400" b="0" i="0" dirty="0">
                <a:solidFill>
                  <a:srgbClr val="000000"/>
                </a:solidFill>
                <a:cs typeface="Times New Roman" panose="02020603050405020304" pitchFamily="18" charset="0"/>
              </a:rPr>
              <a:t>0+1)(0+1</a:t>
            </a:r>
            <a:r>
              <a:rPr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* </a:t>
            </a:r>
            <a:r>
              <a:rPr lang="en-US" altLang="zh-CN" sz="24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400" b="0" i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i="0" dirty="0">
              <a:solidFill>
                <a:srgbClr val="000000"/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i="0" dirty="0">
              <a:solidFill>
                <a:srgbClr val="000000"/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48CE49-56FE-0042-9E15-CBA893DB2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865D4F-FDDB-4DA2-89D3-16C217C889D6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64B5D8-93DE-A296-0871-1AC903736EB8}"/>
              </a:ext>
            </a:extLst>
          </p:cNvPr>
          <p:cNvGrpSpPr/>
          <p:nvPr/>
        </p:nvGrpSpPr>
        <p:grpSpPr>
          <a:xfrm>
            <a:off x="4655840" y="1988840"/>
            <a:ext cx="2592363" cy="1360757"/>
            <a:chOff x="2972639" y="2542368"/>
            <a:chExt cx="2592363" cy="1360757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EC97F0BC-9EE5-ED51-B2F9-3083C77DE947}"/>
                </a:ext>
              </a:extLst>
            </p:cNvPr>
            <p:cNvSpPr/>
            <p:nvPr/>
          </p:nvSpPr>
          <p:spPr bwMode="auto">
            <a:xfrm>
              <a:off x="3578998" y="2970718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875682A-268D-FFE6-45A3-7D8583FA2748}"/>
                </a:ext>
              </a:extLst>
            </p:cNvPr>
            <p:cNvSpPr/>
            <p:nvPr/>
          </p:nvSpPr>
          <p:spPr bwMode="auto">
            <a:xfrm>
              <a:off x="5060946" y="2970718"/>
              <a:ext cx="504056" cy="504056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" name="直线箭头连接符 5">
              <a:extLst>
                <a:ext uri="{FF2B5EF4-FFF2-40B4-BE49-F238E27FC236}">
                  <a16:creationId xmlns:a16="http://schemas.microsoft.com/office/drawing/2014/main" id="{0BE46621-5403-BBDD-4BA2-E4F5CD50A553}"/>
                </a:ext>
              </a:extLst>
            </p:cNvPr>
            <p:cNvCxnSpPr>
              <a:stCxn id="4" idx="7"/>
              <a:endCxn id="5" idx="1"/>
            </p:cNvCxnSpPr>
            <p:nvPr/>
          </p:nvCxnSpPr>
          <p:spPr bwMode="auto">
            <a:xfrm>
              <a:off x="4009237" y="3044535"/>
              <a:ext cx="112552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D6D3ADBB-CCBD-BC0A-347B-3927FF8616A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 bwMode="auto">
            <a:xfrm flipH="1">
              <a:off x="4009237" y="3400957"/>
              <a:ext cx="112552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81F402DA-0887-45DE-647F-27972E443C5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2639" y="3222746"/>
              <a:ext cx="60635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D89DCD-1701-41D3-66B4-CA326B63B3EB}"/>
                </a:ext>
              </a:extLst>
            </p:cNvPr>
            <p:cNvSpPr/>
            <p:nvPr/>
          </p:nvSpPr>
          <p:spPr bwMode="auto">
            <a:xfrm>
              <a:off x="5134762" y="3044535"/>
              <a:ext cx="358157" cy="356422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FACF374-8D7D-BF94-D812-B23D0611DC71}"/>
                </a:ext>
              </a:extLst>
            </p:cNvPr>
            <p:cNvSpPr txBox="1"/>
            <p:nvPr/>
          </p:nvSpPr>
          <p:spPr>
            <a:xfrm>
              <a:off x="4215968" y="2542368"/>
              <a:ext cx="830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r>
                <a:rPr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, </a:t>
              </a:r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F63A8D1-D0DF-AF1F-D69E-ED19755B1E39}"/>
                </a:ext>
              </a:extLst>
            </p:cNvPr>
            <p:cNvSpPr txBox="1"/>
            <p:nvPr/>
          </p:nvSpPr>
          <p:spPr>
            <a:xfrm>
              <a:off x="4215969" y="3441460"/>
              <a:ext cx="830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r>
                <a:rPr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, </a:t>
              </a:r>
              <a:r>
                <a:rPr kumimoji="1" lang="en-US" altLang="zh-CN" sz="2400" b="0" i="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kumimoji="1" lang="zh-CN" altLang="en-US" sz="2400" b="0" i="0" dirty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椭圆 25">
            <a:extLst>
              <a:ext uri="{FF2B5EF4-FFF2-40B4-BE49-F238E27FC236}">
                <a16:creationId xmlns:a16="http://schemas.microsoft.com/office/drawing/2014/main" id="{1439F24A-9910-5734-19DD-ECA55AF44E05}"/>
              </a:ext>
            </a:extLst>
          </p:cNvPr>
          <p:cNvSpPr/>
          <p:nvPr/>
        </p:nvSpPr>
        <p:spPr bwMode="auto">
          <a:xfrm>
            <a:off x="6854759" y="5304868"/>
            <a:ext cx="504056" cy="504056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4348BF0-1B51-033A-25F7-BE941AC0CEB3}"/>
              </a:ext>
            </a:extLst>
          </p:cNvPr>
          <p:cNvSpPr/>
          <p:nvPr/>
        </p:nvSpPr>
        <p:spPr bwMode="auto">
          <a:xfrm>
            <a:off x="8336707" y="5304868"/>
            <a:ext cx="504056" cy="504056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65B1493E-8596-03B7-80CB-AD2DE72A1674}"/>
              </a:ext>
            </a:extLst>
          </p:cNvPr>
          <p:cNvCxnSpPr>
            <a:cxnSpLocks/>
            <a:stCxn id="26" idx="6"/>
          </p:cNvCxnSpPr>
          <p:nvPr/>
        </p:nvCxnSpPr>
        <p:spPr bwMode="auto">
          <a:xfrm flipV="1">
            <a:off x="7358815" y="5555648"/>
            <a:ext cx="1051708" cy="12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20F85F1-6F59-29C4-E0E5-3080036C2777}"/>
              </a:ext>
            </a:extLst>
          </p:cNvPr>
          <p:cNvCxnSpPr>
            <a:cxnSpLocks/>
          </p:cNvCxnSpPr>
          <p:nvPr/>
        </p:nvCxnSpPr>
        <p:spPr bwMode="auto">
          <a:xfrm>
            <a:off x="6248400" y="5556896"/>
            <a:ext cx="60635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D20B27AA-F4D5-BEDB-04C4-562497377926}"/>
              </a:ext>
            </a:extLst>
          </p:cNvPr>
          <p:cNvSpPr/>
          <p:nvPr/>
        </p:nvSpPr>
        <p:spPr bwMode="auto">
          <a:xfrm>
            <a:off x="9889499" y="5412000"/>
            <a:ext cx="358157" cy="356422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C8A12BF-73CC-70E3-E415-46ECCFB8BCF0}"/>
              </a:ext>
            </a:extLst>
          </p:cNvPr>
          <p:cNvSpPr txBox="1"/>
          <p:nvPr/>
        </p:nvSpPr>
        <p:spPr>
          <a:xfrm>
            <a:off x="7495166" y="5072787"/>
            <a:ext cx="830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0" i="0" dirty="0">
                <a:solidFill>
                  <a:srgbClr val="000000"/>
                </a:solidFill>
                <a:cs typeface="Times New Roman" panose="02020603050405020304" pitchFamily="18" charset="0"/>
              </a:rPr>
              <a:t>0</a:t>
            </a:r>
            <a:r>
              <a:rPr kumimoji="1"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+</a:t>
            </a:r>
            <a:r>
              <a:rPr kumimoji="1" lang="en-US" altLang="zh-CN" sz="2400" b="0" i="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endParaRPr kumimoji="1" lang="zh-CN" altLang="en-US" sz="2400" b="0" i="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8F1B73E-1EBC-0F7B-5284-55A50236B771}"/>
              </a:ext>
            </a:extLst>
          </p:cNvPr>
          <p:cNvSpPr/>
          <p:nvPr/>
        </p:nvSpPr>
        <p:spPr bwMode="auto">
          <a:xfrm>
            <a:off x="9816550" y="5338183"/>
            <a:ext cx="504056" cy="504056"/>
          </a:xfrm>
          <a:prstGeom prst="ellips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C588B8E-AE58-1CBB-1B75-DC9590374F1F}"/>
              </a:ext>
            </a:extLst>
          </p:cNvPr>
          <p:cNvSpPr txBox="1"/>
          <p:nvPr/>
        </p:nvSpPr>
        <p:spPr>
          <a:xfrm>
            <a:off x="8425330" y="4548383"/>
            <a:ext cx="2855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kumimoji="1" lang="en-US" altLang="zh-CN" sz="2400" b="0" i="0" dirty="0">
                <a:solidFill>
                  <a:srgbClr val="000000"/>
                </a:solidFill>
                <a:cs typeface="Times New Roman" panose="02020603050405020304" pitchFamily="18" charset="0"/>
              </a:rPr>
              <a:t>0+1)(0+1</a:t>
            </a:r>
            <a:r>
              <a:rPr lang="en-US" altLang="zh-CN" sz="2400" i="0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endParaRPr kumimoji="1" lang="zh-CN" altLang="en-US" sz="2400" b="0" i="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9" name="弧 38">
            <a:extLst>
              <a:ext uri="{FF2B5EF4-FFF2-40B4-BE49-F238E27FC236}">
                <a16:creationId xmlns:a16="http://schemas.microsoft.com/office/drawing/2014/main" id="{969A3D4C-6BF4-F7F5-88F3-40614AF21EA6}"/>
              </a:ext>
            </a:extLst>
          </p:cNvPr>
          <p:cNvSpPr/>
          <p:nvPr/>
        </p:nvSpPr>
        <p:spPr bwMode="auto">
          <a:xfrm rot="12136672">
            <a:off x="8543648" y="4902797"/>
            <a:ext cx="360500" cy="449658"/>
          </a:xfrm>
          <a:prstGeom prst="arc">
            <a:avLst>
              <a:gd name="adj1" fmla="val 17142475"/>
              <a:gd name="adj2" fmla="val 14430358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b="1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86804124-6346-0C3B-A7D7-533CBF2BE67C}"/>
              </a:ext>
            </a:extLst>
          </p:cNvPr>
          <p:cNvCxnSpPr>
            <a:cxnSpLocks/>
            <a:endCxn id="36" idx="2"/>
          </p:cNvCxnSpPr>
          <p:nvPr/>
        </p:nvCxnSpPr>
        <p:spPr bwMode="auto">
          <a:xfrm>
            <a:off x="8843045" y="5553007"/>
            <a:ext cx="973505" cy="37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9BBC6DBD-B737-EA47-3672-70FB168EA770}"/>
              </a:ext>
            </a:extLst>
          </p:cNvPr>
          <p:cNvSpPr txBox="1"/>
          <p:nvPr/>
        </p:nvSpPr>
        <p:spPr>
          <a:xfrm>
            <a:off x="3359696" y="6314871"/>
            <a:ext cx="6117336" cy="426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连接的优先级比</a:t>
            </a:r>
            <a:r>
              <a:rPr lang="en-US" altLang="zh-CN" sz="20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000" i="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高</a:t>
            </a:r>
            <a:endParaRPr lang="en-US" altLang="zh-CN" sz="2000" i="0" dirty="0">
              <a:solidFill>
                <a:srgbClr val="000000"/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07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 animBg="1"/>
      <p:bldP spid="27" grpId="0" animBg="1"/>
      <p:bldP spid="31" grpId="0" animBg="1"/>
      <p:bldP spid="32" grpId="0"/>
      <p:bldP spid="36" grpId="0" animBg="1"/>
      <p:bldP spid="38" grpId="0"/>
      <p:bldP spid="39" grpId="0" animBg="1"/>
      <p:bldP spid="4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1664" y="260648"/>
            <a:ext cx="9590856" cy="706090"/>
          </a:xfrm>
        </p:spPr>
        <p:txBody>
          <a:bodyPr/>
          <a:lstStyle/>
          <a:p>
            <a:r>
              <a:rPr lang="zh-CN" altLang="en-US" dirty="0"/>
              <a:t>小结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正则表达式基本概念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正则表达式的代数定律</a:t>
                </a:r>
              </a:p>
              <a:p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正则表达式与有穷自动机的转换</a:t>
                </a:r>
              </a:p>
              <a:p>
                <a:pPr lvl="1"/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正则表达式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有穷自动机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有穷自动机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正则表达式：路径迭代法（</a:t>
                </a: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Kleene 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_GB2312" panose="02010609030101010101" pitchFamily="49" charset="-122"/>
                    <a:cs typeface="Times New Roman" panose="02020603050405020304" pitchFamily="18" charset="0"/>
                  </a:rPr>
                  <a:t>构造法）＋状态消除法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KaiTi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8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619564F-3A13-4140-9CFC-3B75A7CC7F9C}" type="slidenum">
              <a:rPr lang="en-US" altLang="zh-CN" smtClean="0"/>
              <a:pPr>
                <a:defRPr/>
              </a:pPr>
              <a:t>38</a:t>
            </a:fld>
            <a:endParaRPr lang="en-US" altLang="zh-CN" sz="16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C012A99-F880-0A48-9EC7-2882AF48F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1" y="4191000"/>
            <a:ext cx="4191000" cy="2667000"/>
          </a:xfrm>
          <a:prstGeom prst="rect">
            <a:avLst/>
          </a:prstGeom>
        </p:spPr>
      </p:pic>
    </p:spTree>
  </p:cSld>
  <p:clrMapOvr>
    <a:masterClrMapping/>
  </p:clrMapOvr>
  <p:transition spd="med" advClick="0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1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1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19443</TotalTime>
  <Words>3016</Words>
  <Application>Microsoft Macintosh PowerPoint</Application>
  <PresentationFormat>宽屏</PresentationFormat>
  <Paragraphs>471</Paragraphs>
  <Slides>38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6" baseType="lpstr">
      <vt:lpstr>华文行楷</vt:lpstr>
      <vt:lpstr>华文行楷</vt:lpstr>
      <vt:lpstr>楷体</vt:lpstr>
      <vt:lpstr>KaiTi_GB2312</vt:lpstr>
      <vt:lpstr>KaiTi_GB2312</vt:lpstr>
      <vt:lpstr>SimSun</vt:lpstr>
      <vt:lpstr>等线</vt:lpstr>
      <vt:lpstr>黑体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Capsules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状态消除法示例</vt:lpstr>
      <vt:lpstr>状态消除法示例</vt:lpstr>
      <vt:lpstr>状态消除法示例</vt:lpstr>
      <vt:lpstr>状态消除法示例</vt:lpstr>
      <vt:lpstr>PowerPoint 演示文稿</vt:lpstr>
      <vt:lpstr>小结</vt:lpstr>
    </vt:vector>
  </TitlesOfParts>
  <Manager/>
  <Company>hitsz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lxb</dc:creator>
  <cp:keywords/>
  <dc:description/>
  <cp:lastModifiedBy>Xuebo Liu</cp:lastModifiedBy>
  <cp:revision>454</cp:revision>
  <dcterms:created xsi:type="dcterms:W3CDTF">2002-02-03T03:17:28Z</dcterms:created>
  <dcterms:modified xsi:type="dcterms:W3CDTF">2026-03-24T07:22:28Z</dcterms:modified>
  <cp:category/>
</cp:coreProperties>
</file>